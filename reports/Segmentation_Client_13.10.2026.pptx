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17324D"/>
                </a:solidFill>
                <a:latin typeface="Segoe UI"/>
              </a:defRPr>
            </a:pPr>
            <a:r>
              <a:rPr sz="1500" b="1" i="0" u="none" strike="noStrike">
                <a:solidFill>
                  <a:srgbClr val="17324D"/>
                </a:solidFill>
                <a:latin typeface="Segoe UI"/>
              </a:rPr>
              <a:t>Variance expliquée cumulée par les composantes principales</a:t>
            </a:r>
          </a:p>
        </c:rich>
      </c:tx>
      <c:layout/>
      <c:overlay val="0"/>
    </c:title>
    <c:autoTitleDeleted val="0"/>
    <c:plotArea>
      <c:layout>
        <c:manualLayout>
          <c:layoutTarget val="inner"/>
          <c:xMode val="edge"/>
          <c:yMode val="edge"/>
          <c:x val="0.085"/>
          <c:y val="0.15"/>
          <c:w val="0.9"/>
          <c:h val="0.72"/>
        </c:manualLayout>
      </c:layout>
      <c:lineChart>
        <c:varyColors val="0"/>
        <c:ser>
          <c:idx val="0"/>
          <c:order val="0"/>
          <c:tx>
            <c:strRef>
              <c:f>Sheet1!$B$1</c:f>
              <c:strCache>
                <c:ptCount val="1"/>
                <c:pt idx="0">
                  <c:v>Variance cumulée (%)</c:v>
                </c:pt>
              </c:strCache>
            </c:strRef>
          </c:tx>
          <c:spPr>
            <a:solidFill>
              <a:srgbClr val="1D4ED8"/>
            </a:solidFill>
            <a:ln w="22860" cap="flat">
              <a:solidFill>
                <a:srgbClr val="1D4ED8"/>
              </a:solidFill>
              <a:prstDash val="solid"/>
              <a:round/>
            </a:ln>
            <a:effectLst/>
          </c:spPr>
          <c:invertIfNegative val="0"/>
          <c:dLbls>
            <c:numFmt formatCode="#,##0" sourceLinked="0"/>
            <c:txPr>
              <a:bodyPr/>
              <a:lstStyle/>
              <a:p>
                <a:pPr>
                  <a:defRPr b="0" i="0" strike="noStrike" sz="1300" u="none">
                    <a:solidFill>
                      <a:srgbClr val="17324D"/>
                    </a:solidFill>
                    <a:latin typeface="Segoe UI"/>
                  </a:defRPr>
                </a:pPr>
              </a:p>
            </c:txPr>
            <c:showLegendKey val="0"/>
            <c:showVal val="0"/>
            <c:showCatName val="0"/>
            <c:showSerName val="0"/>
            <c:showPercent val="0"/>
            <c:showBubbleSize val="0"/>
            <c:showLeaderLines val="0"/>
          </c:dLbls>
          <c:marker>
            <c:symbol val="circle"/>
            <c:size val="5"/>
            <c:spPr>
              <a:solidFill>
                <a:srgbClr val="1D4ED8"/>
              </a:solidFill>
              <a:ln w="9525" cap="flat">
                <a:solidFill>
                  <a:srgbClr val="1D4ED8"/>
                </a:solidFill>
                <a:prstDash val="solid"/>
                <a:round/>
              </a:ln>
              <a:effectLst/>
            </c:spPr>
          </c:marker>
          <c:cat>
            <c:numRef>
              <c:f>Sheet1!$A$2:$A$24</c:f>
              <c:numCache>
                <c:formatCode>General</c:formatCode>
                <c:ptCount val="2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numCache>
            </c:numRef>
          </c:cat>
          <c:val>
            <c:numRef>
              <c:f>Sheet1!$B$2:$B$24</c:f>
              <c:numCache>
                <c:formatCode>General</c:formatCode>
                <c:ptCount val="23"/>
                <c:pt idx="0">
                  <c:v>36.01132126715284</c:v>
                </c:pt>
                <c:pt idx="1">
                  <c:v>48.7111653164961</c:v>
                </c:pt>
                <c:pt idx="2">
                  <c:v>55.30406041071535</c:v>
                </c:pt>
                <c:pt idx="3">
                  <c:v>61.02504555435749</c:v>
                </c:pt>
                <c:pt idx="4">
                  <c:v>65.81552168687595</c:v>
                </c:pt>
                <c:pt idx="5">
                  <c:v>70.18603385706697</c:v>
                </c:pt>
                <c:pt idx="6">
                  <c:v>74.3213928227969</c:v>
                </c:pt>
                <c:pt idx="7">
                  <c:v>77.9652406841165</c:v>
                </c:pt>
                <c:pt idx="8">
                  <c:v>81.29232839373431</c:v>
                </c:pt>
                <c:pt idx="9">
                  <c:v>84.09640086793696</c:v>
                </c:pt>
                <c:pt idx="10">
                  <c:v>86.72075384182739</c:v>
                </c:pt>
                <c:pt idx="11">
                  <c:v>89.12452616086468</c:v>
                </c:pt>
                <c:pt idx="12">
                  <c:v>91.07718941576181</c:v>
                </c:pt>
                <c:pt idx="13">
                  <c:v>92.92163316396216</c:v>
                </c:pt>
                <c:pt idx="14">
                  <c:v>94.6249716065594</c:v>
                </c:pt>
                <c:pt idx="15">
                  <c:v>96.13160803208143</c:v>
                </c:pt>
                <c:pt idx="16">
                  <c:v>97.33838337714236</c:v>
                </c:pt>
                <c:pt idx="17">
                  <c:v>98.37781173023642</c:v>
                </c:pt>
                <c:pt idx="18">
                  <c:v>99.24538597486449</c:v>
                </c:pt>
                <c:pt idx="19">
                  <c:v>99.99999999999997</c:v>
                </c:pt>
                <c:pt idx="20">
                  <c:v>99.99999999999997</c:v>
                </c:pt>
                <c:pt idx="21">
                  <c:v>99.99999999999997</c:v>
                </c:pt>
                <c:pt idx="22">
                  <c:v>99.99999999999997</c:v>
                </c:pt>
              </c:numCache>
            </c:numRef>
          </c:val>
          <c:smooth val="0"/>
        </c:ser>
        <c:dLbls>
          <c:numFmt formatCode="#,##0" sourceLinked="0"/>
          <c:txPr>
            <a:bodyPr/>
            <a:lstStyle/>
            <a:p>
              <a:pPr>
                <a:defRPr b="0" i="0" strike="noStrike" sz="1300" u="none">
                  <a:solidFill>
                    <a:srgbClr val="17324D"/>
                  </a:solidFill>
                  <a:latin typeface="Segoe U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majorGridlines>
          <c:spPr>
            <a:ln w="6350" cap="flat">
              <a:solidFill>
                <a:srgbClr val="F0EEF3"/>
              </a:solidFill>
              <a:prstDash val="solid"/>
              <a:round/>
            </a:ln>
          </c:spPr>
        </c:majorGridlines>
        <c:title>
          <c:tx>
            <c:rich>
              <a:bodyPr/>
              <a:lstStyle/>
              <a:p>
                <a:pPr>
                  <a:defRPr sz="1200" b="0" i="0" u="none" strike="noStrike">
                    <a:solidFill>
                      <a:srgbClr val="334155"/>
                    </a:solidFill>
                    <a:latin typeface="Segoe UI"/>
                  </a:defRPr>
                </a:pPr>
                <a:r>
                  <a:rPr sz="1200" b="0" i="0" u="none" strike="noStrike">
                    <a:solidFill>
                      <a:srgbClr val="334155"/>
                    </a:solidFill>
                    <a:latin typeface="Segoe UI"/>
                  </a:rPr>
                  <a:t>Nombre de composantes</a:t>
                </a:r>
              </a:p>
            </c:rich>
          </c:tx>
          <c:layout/>
          <c:overlay val="0"/>
        </c:title>
        <c:numFmt formatCode="General" sourceLinked="1"/>
        <c:majorTickMark val="none"/>
        <c:minorTickMark val="none"/>
        <c:tickLblPos val="low"/>
        <c:spPr>
          <a:ln w="8890" cap="flat">
            <a:solidFill>
              <a:srgbClr val="D1D5DB"/>
            </a:solidFill>
            <a:prstDash val="solid"/>
            <a:round/>
          </a:ln>
        </c:spPr>
        <c:txPr>
          <a:bodyPr/>
          <a:lstStyle/>
          <a:p>
            <a:pPr>
              <a:defRPr sz="1100" b="0" i="0" u="none" strike="noStrike">
                <a:solidFill>
                  <a:srgbClr val="334155"/>
                </a:solidFill>
                <a:latin typeface="Segoe UI"/>
              </a:defRPr>
            </a:pPr>
            <a:endParaRPr lang="fr-FR"/>
          </a:p>
        </c:txPr>
        <c:crossAx val="2094734552"/>
        <c:crosses val="autoZero"/>
        <c:auto val="1"/>
        <c:lblAlgn val="ctr"/>
        <c:noMultiLvlLbl val="1"/>
      </c:catAx>
      <c:valAx>
        <c:axId val="2094734552"/>
        <c:scaling>
          <c:orientation val="minMax"/>
          <c:max val="100"/>
          <c:min val="0"/>
        </c:scaling>
        <c:delete val="0"/>
        <c:axPos val="l"/>
        <c:majorGridlines>
          <c:spPr>
            <a:ln w="7620" cap="flat">
              <a:solidFill>
                <a:srgbClr val="ECEAF0"/>
              </a:solidFill>
              <a:prstDash val="solid"/>
              <a:round/>
            </a:ln>
          </c:spPr>
        </c:majorGridlines>
        <c:title>
          <c:tx>
            <c:rich>
              <a:bodyPr/>
              <a:lstStyle/>
              <a:p>
                <a:pPr>
                  <a:defRPr sz="1200" b="0" i="0" u="none" strike="noStrike">
                    <a:solidFill>
                      <a:srgbClr val="334155"/>
                    </a:solidFill>
                    <a:latin typeface="Segoe UI"/>
                  </a:defRPr>
                </a:pPr>
                <a:r>
                  <a:rPr sz="1200" b="0" i="0" u="none" strike="noStrike">
                    <a:solidFill>
                      <a:srgbClr val="334155"/>
                    </a:solidFill>
                    <a:latin typeface="Segoe UI"/>
                  </a:rPr>
                  <a:t>Variance expliquée cumulée (%)</a:t>
                </a:r>
              </a:p>
            </c:rich>
          </c:tx>
          <c:layout/>
          <c:overlay val="0"/>
        </c:title>
        <c:numFmt formatCode="General" sourceLinked="0"/>
        <c:majorTickMark val="none"/>
        <c:minorTickMark val="none"/>
        <c:tickLblPos val="nextTo"/>
        <c:spPr>
          <a:ln w="8890" cap="flat">
            <a:solidFill>
              <a:srgbClr val="D1D5DB"/>
            </a:solidFill>
            <a:prstDash val="solid"/>
            <a:round/>
          </a:ln>
        </c:spPr>
        <c:txPr>
          <a:bodyPr/>
          <a:lstStyle/>
          <a:p>
            <a:pPr>
              <a:defRPr sz="1100" b="0" i="0" u="none" strike="noStrike">
                <a:solidFill>
                  <a:srgbClr val="334155"/>
                </a:solidFill>
                <a:latin typeface="Segoe UI"/>
              </a:defRPr>
            </a:pPr>
            <a:endParaRPr lang="fr-FR"/>
          </a:p>
        </c:txPr>
        <c:crossAx val="2094734554"/>
        <c:crosses val="autoZero"/>
        <c:crossBetween val="between"/>
        <c:majorUnit val="10"/>
      </c:valAx>
      <c:spPr>
        <a:solidFill>
          <a:srgbClr val="FFFFFF"/>
        </a:solidFill>
        <a:ln w="12700" cap="flat">
          <a:solidFill>
            <a:srgbClr val="FFFFFF"/>
          </a:solidFill>
        </a:ln>
        <a:effectLst/>
      </c:spPr>
    </c:plotArea>
    <c:plotVisOnly val="1"/>
    <c:dispBlanksAs val="span"/>
  </c:chart>
  <c:spPr>
    <a:solidFill>
      <a:srgbClr val="FFFFFF"/>
    </a:solidFill>
    <a:ln w="12700" cap="flat">
      <a:solidFill>
        <a:srgbClr val="FFFFFF"/>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17324D"/>
                </a:solidFill>
                <a:latin typeface="Segoe UI"/>
              </a:defRPr>
            </a:pPr>
            <a:r>
              <a:rPr sz="1500" b="1" i="0" u="none" strike="noStrike">
                <a:solidFill>
                  <a:srgbClr val="17324D"/>
                </a:solidFill>
                <a:latin typeface="Segoe UI"/>
              </a:rPr>
              <a:t>Méthode du coude (inertie KMeans)</a:t>
            </a:r>
          </a:p>
        </c:rich>
      </c:tx>
      <c:layout/>
      <c:overlay val="0"/>
    </c:title>
    <c:autoTitleDeleted val="0"/>
    <c:plotArea>
      <c:layout>
        <c:manualLayout>
          <c:layoutTarget val="inner"/>
          <c:xMode val="edge"/>
          <c:yMode val="edge"/>
          <c:x val="0.12"/>
          <c:y val="0.12"/>
          <c:w val="0.85"/>
          <c:h val="0.75"/>
        </c:manualLayout>
      </c:layout>
      <c:lineChart>
        <c:varyColors val="0"/>
        <c:ser>
          <c:idx val="0"/>
          <c:order val="0"/>
          <c:tx>
            <c:strRef>
              <c:f>Sheet1!$B$1</c:f>
              <c:strCache>
                <c:ptCount val="1"/>
                <c:pt idx="0">
                  <c:v>Inertie KMeans</c:v>
                </c:pt>
              </c:strCache>
            </c:strRef>
          </c:tx>
          <c:spPr>
            <a:solidFill>
              <a:srgbClr val="1D4ED8"/>
            </a:solidFill>
            <a:ln w="22860" cap="flat">
              <a:solidFill>
                <a:srgbClr val="1D4ED8"/>
              </a:solidFill>
              <a:prstDash val="solid"/>
              <a:round/>
            </a:ln>
            <a:effectLst/>
          </c:spPr>
          <c:invertIfNegative val="0"/>
          <c:dLbls>
            <c:numFmt formatCode="#,##0" sourceLinked="0"/>
            <c:txPr>
              <a:bodyPr/>
              <a:lstStyle/>
              <a:p>
                <a:pPr>
                  <a:defRPr b="0" i="0" strike="noStrike" sz="1300" u="none">
                    <a:solidFill>
                      <a:srgbClr val="17324D"/>
                    </a:solidFill>
                    <a:latin typeface="Segoe UI"/>
                  </a:defRPr>
                </a:pPr>
              </a:p>
            </c:txPr>
            <c:showLegendKey val="0"/>
            <c:showVal val="0"/>
            <c:showCatName val="0"/>
            <c:showSerName val="0"/>
            <c:showPercent val="0"/>
            <c:showBubbleSize val="0"/>
            <c:showLeaderLines val="0"/>
          </c:dLbls>
          <c:marker>
            <c:symbol val="circle"/>
            <c:size val="8"/>
            <c:spPr>
              <a:solidFill>
                <a:srgbClr val="1D4ED8"/>
              </a:solidFill>
              <a:ln w="9525" cap="flat">
                <a:solidFill>
                  <a:srgbClr val="1D4ED8"/>
                </a:solidFill>
                <a:prstDash val="solid"/>
                <a:round/>
              </a:ln>
              <a:effectLst/>
            </c:spPr>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31047.102176234934</c:v>
                </c:pt>
                <c:pt idx="1">
                  <c:v>16821.92309134289</c:v>
                </c:pt>
                <c:pt idx="2">
                  <c:v>12507.132285991182</c:v>
                </c:pt>
                <c:pt idx="3">
                  <c:v>10350.324147211668</c:v>
                </c:pt>
                <c:pt idx="4">
                  <c:v>9377.243882107277</c:v>
                </c:pt>
                <c:pt idx="5">
                  <c:v>8632.748126369002</c:v>
                </c:pt>
                <c:pt idx="6">
                  <c:v>7818.401660041414</c:v>
                </c:pt>
                <c:pt idx="7">
                  <c:v>7083.706390408892</c:v>
                </c:pt>
                <c:pt idx="8">
                  <c:v>6592.8356221189515</c:v>
                </c:pt>
                <c:pt idx="9">
                  <c:v>6236.304462972404</c:v>
                </c:pt>
              </c:numCache>
            </c:numRef>
          </c:val>
          <c:smooth val="0"/>
        </c:ser>
        <c:dLbls>
          <c:numFmt formatCode="#,##0" sourceLinked="0"/>
          <c:txPr>
            <a:bodyPr/>
            <a:lstStyle/>
            <a:p>
              <a:pPr>
                <a:defRPr b="0" i="0" strike="noStrike" sz="1300" u="none">
                  <a:solidFill>
                    <a:srgbClr val="17324D"/>
                  </a:solidFill>
                  <a:latin typeface="Segoe U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majorGridlines>
          <c:spPr>
            <a:ln w="6350" cap="flat">
              <a:solidFill>
                <a:srgbClr val="F0EEF3"/>
              </a:solidFill>
              <a:prstDash val="solid"/>
              <a:round/>
            </a:ln>
          </c:spPr>
        </c:majorGridlines>
        <c:title>
          <c:tx>
            <c:rich>
              <a:bodyPr/>
              <a:lstStyle/>
              <a:p>
                <a:pPr>
                  <a:defRPr sz="1200" b="0" i="0" u="none" strike="noStrike">
                    <a:solidFill>
                      <a:srgbClr val="334155"/>
                    </a:solidFill>
                    <a:latin typeface="Segoe UI"/>
                  </a:defRPr>
                </a:pPr>
                <a:r>
                  <a:rPr sz="1200" b="0" i="0" u="none" strike="noStrike">
                    <a:solidFill>
                      <a:srgbClr val="334155"/>
                    </a:solidFill>
                    <a:latin typeface="Segoe UI"/>
                  </a:rPr>
                  <a:t>Nombre de clusters (k)</a:t>
                </a:r>
              </a:p>
            </c:rich>
          </c:tx>
          <c:layout/>
          <c:overlay val="0"/>
        </c:title>
        <c:numFmt formatCode="General" sourceLinked="1"/>
        <c:majorTickMark val="none"/>
        <c:minorTickMark val="none"/>
        <c:tickLblPos val="low"/>
        <c:spPr>
          <a:ln w="8890" cap="flat">
            <a:solidFill>
              <a:srgbClr val="D1D5DB"/>
            </a:solidFill>
            <a:prstDash val="solid"/>
            <a:round/>
          </a:ln>
        </c:spPr>
        <c:txPr>
          <a:bodyPr/>
          <a:lstStyle/>
          <a:p>
            <a:pPr>
              <a:defRPr sz="1100" b="0" i="0" u="none" strike="noStrike">
                <a:solidFill>
                  <a:srgbClr val="334155"/>
                </a:solidFill>
                <a:latin typeface="Segoe UI"/>
              </a:defRPr>
            </a:pPr>
            <a:endParaRPr lang="fr-FR"/>
          </a:p>
        </c:txPr>
        <c:crossAx val="2094734552"/>
        <c:crosses val="autoZero"/>
        <c:auto val="1"/>
        <c:lblAlgn val="ctr"/>
        <c:noMultiLvlLbl val="1"/>
      </c:catAx>
      <c:valAx>
        <c:axId val="2094734552"/>
        <c:scaling>
          <c:orientation val="minMax"/>
          <c:max val="33000"/>
          <c:min val="5000"/>
        </c:scaling>
        <c:delete val="0"/>
        <c:axPos val="l"/>
        <c:majorGridlines>
          <c:spPr>
            <a:ln w="7620" cap="flat">
              <a:solidFill>
                <a:srgbClr val="ECEAF0"/>
              </a:solidFill>
              <a:prstDash val="solid"/>
              <a:round/>
            </a:ln>
          </c:spPr>
        </c:majorGridlines>
        <c:title>
          <c:tx>
            <c:rich>
              <a:bodyPr/>
              <a:lstStyle/>
              <a:p>
                <a:pPr>
                  <a:defRPr sz="1200" b="0" i="0" u="none" strike="noStrike">
                    <a:solidFill>
                      <a:srgbClr val="334155"/>
                    </a:solidFill>
                    <a:latin typeface="Segoe UI"/>
                  </a:defRPr>
                </a:pPr>
                <a:r>
                  <a:rPr sz="1200" b="0" i="0" u="none" strike="noStrike">
                    <a:solidFill>
                      <a:srgbClr val="334155"/>
                    </a:solidFill>
                    <a:latin typeface="Segoe UI"/>
                  </a:rPr>
                  <a:t>Inertie intra-cluster (KMeans)</a:t>
                </a:r>
              </a:p>
            </c:rich>
          </c:tx>
          <c:layout/>
          <c:overlay val="0"/>
        </c:title>
        <c:numFmt formatCode="General" sourceLinked="0"/>
        <c:majorTickMark val="none"/>
        <c:minorTickMark val="none"/>
        <c:tickLblPos val="nextTo"/>
        <c:spPr>
          <a:ln w="8890" cap="flat">
            <a:solidFill>
              <a:srgbClr val="D1D5DB"/>
            </a:solidFill>
            <a:prstDash val="solid"/>
            <a:round/>
          </a:ln>
        </c:spPr>
        <c:txPr>
          <a:bodyPr/>
          <a:lstStyle/>
          <a:p>
            <a:pPr>
              <a:defRPr sz="1100" b="0" i="0" u="none" strike="noStrike">
                <a:solidFill>
                  <a:srgbClr val="334155"/>
                </a:solidFill>
                <a:latin typeface="Segoe UI"/>
              </a:defRPr>
            </a:pPr>
            <a:endParaRPr lang="fr-FR"/>
          </a:p>
        </c:txPr>
        <c:crossAx val="2094734554"/>
        <c:crosses val="autoZero"/>
        <c:crossBetween val="between"/>
        <c:majorUnit val="5000"/>
      </c:valAx>
      <c:spPr>
        <a:solidFill>
          <a:srgbClr val="FFFFFF"/>
        </a:solidFill>
        <a:ln w="12700" cap="flat">
          <a:solidFill>
            <a:srgbClr val="FFFFFF"/>
          </a:solidFill>
        </a:ln>
        <a:effectLst/>
      </c:spPr>
    </c:plotArea>
    <c:plotVisOnly val="1"/>
    <c:dispBlanksAs val="span"/>
  </c:chart>
  <c:spPr>
    <a:solidFill>
      <a:srgbClr val="FFFFFF"/>
    </a:solidFill>
    <a:ln w="12700" cap="flat">
      <a:solidFill>
        <a:srgbClr val="FFFFFF"/>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17324D"/>
                </a:solidFill>
                <a:latin typeface="Segoe UI"/>
              </a:defRPr>
            </a:pPr>
            <a:r>
              <a:rPr sz="1500" b="1" i="0" u="none" strike="noStrike">
                <a:solidFill>
                  <a:srgbClr val="17324D"/>
                </a:solidFill>
                <a:latin typeface="Segoe UI"/>
              </a:rPr>
              <a:t>Effectifs par cluster</a:t>
            </a:r>
          </a:p>
        </c:rich>
      </c:tx>
      <c:layout/>
      <c:overlay val="0"/>
    </c:title>
    <c:autoTitleDeleted val="0"/>
    <c:plotArea>
      <c:layout>
        <c:manualLayout>
          <c:layoutTarget val="inner"/>
          <c:xMode val="edge"/>
          <c:yMode val="edge"/>
          <c:x val="0.11"/>
          <c:y val="0.14"/>
          <c:w val="0.84"/>
          <c:h val="0.71"/>
        </c:manualLayout>
      </c:layout>
      <c:barChart>
        <c:barDir val="col"/>
        <c:grouping val="clustered"/>
        <c:varyColors val="0"/>
        <c:ser>
          <c:idx val="0"/>
          <c:order val="0"/>
          <c:tx>
            <c:strRef>
              <c:f>Sheet1!$B$1</c:f>
              <c:strCache>
                <c:ptCount val="1"/>
                <c:pt idx="0">
                  <c:v>Effectifs</c:v>
                </c:pt>
              </c:strCache>
            </c:strRef>
          </c:tx>
          <c:spPr>
            <a:solidFill>
              <a:srgbClr val="1D4ED8"/>
            </a:solidFill>
            <a:effectLst/>
          </c:spPr>
          <c:invertIfNegative val="0"/>
          <c:dLbls>
            <c:numFmt formatCode="#,##0" sourceLinked="0"/>
            <c:txPr>
              <a:bodyPr/>
              <a:lstStyle/>
              <a:p>
                <a:pPr>
                  <a:defRPr b="1" i="0" strike="noStrike" sz="1400" u="none">
                    <a:solidFill>
                      <a:srgbClr val="17324D"/>
                    </a:solidFill>
                    <a:latin typeface="Segoe UI"/>
                  </a:defRPr>
                </a:pPr>
              </a:p>
            </c:txPr>
            <c:showLegendKey val="0"/>
            <c:showVal val="1"/>
            <c:showCatName val="0"/>
            <c:showSerName val="0"/>
            <c:showPercent val="0"/>
            <c:showBubbleSize val="0"/>
            <c:showLeaderLines val="0"/>
          </c:dLbls>
          <c:dPt>
            <c:idx val="0"/>
            <c:invertIfNegative val="0"/>
            <c:bubble3D val="0"/>
            <c:spPr>
              <a:solidFill>
                <a:srgbClr val="1D4ED8"/>
              </a:solidFill>
              <a:effectLst/>
            </c:spPr>
          </c:dPt>
          <c:dPt>
            <c:idx val="1"/>
            <c:invertIfNegative val="0"/>
            <c:bubble3D val="0"/>
            <c:spPr>
              <a:solidFill>
                <a:srgbClr val="0F766E"/>
              </a:solidFill>
              <a:effectLst/>
            </c:spPr>
          </c:dPt>
          <c:dPt>
            <c:idx val="2"/>
            <c:invertIfNegative val="0"/>
            <c:bubble3D val="0"/>
            <c:spPr>
              <a:solidFill>
                <a:srgbClr val="B45309"/>
              </a:solidFill>
              <a:effectLst/>
            </c:spPr>
          </c:dPt>
          <c:dPt>
            <c:idx val="3"/>
            <c:invertIfNegative val="0"/>
            <c:bubble3D val="0"/>
            <c:spPr>
              <a:solidFill>
                <a:srgbClr val="6D28D9"/>
              </a:solidFill>
              <a:effectLst/>
            </c:spPr>
          </c:dPt>
          <c:cat>
            <c:strRef>
              <c:f>Sheet1!$A$2:$A$5</c:f>
              <c:strCache>
                <c:ptCount val="4"/>
                <c:pt idx="0">
                  <c:v>0</c:v>
                </c:pt>
                <c:pt idx="1">
                  <c:v>1</c:v>
                </c:pt>
                <c:pt idx="2">
                  <c:v>2</c:v>
                </c:pt>
                <c:pt idx="3">
                  <c:v>3</c:v>
                </c:pt>
              </c:strCache>
            </c:strRef>
          </c:cat>
          <c:val>
            <c:numRef>
              <c:f>Sheet1!$B$2:$B$5</c:f>
              <c:numCache>
                <c:formatCode>0</c:formatCode>
                <c:ptCount val="4"/>
                <c:pt idx="0">
                  <c:v>600</c:v>
                </c:pt>
                <c:pt idx="1">
                  <c:v>509</c:v>
                </c:pt>
                <c:pt idx="2">
                  <c:v>609</c:v>
                </c:pt>
                <c:pt idx="3">
                  <c:v>494</c:v>
                </c:pt>
              </c:numCache>
            </c:numRef>
          </c:val>
        </c:ser>
        <c:dLbls>
          <c:numFmt formatCode="#,##0" sourceLinked="0"/>
          <c:txPr>
            <a:bodyPr/>
            <a:lstStyle/>
            <a:p>
              <a:pPr>
                <a:defRPr b="1" i="0" strike="noStrike" sz="1400" u="none">
                  <a:solidFill>
                    <a:srgbClr val="17324D"/>
                  </a:solidFill>
                  <a:latin typeface="Segoe UI"/>
                </a:defRPr>
              </a:pPr>
            </a:p>
          </c:txPr>
          <c:showLegendKey val="0"/>
          <c:showVal val="1"/>
          <c:showCatName val="0"/>
          <c:showSerName val="0"/>
          <c:showPercent val="0"/>
          <c:showBubbleSize val="0"/>
          <c:showLeaderLines val="0"/>
        </c:dLbls>
        <c:gapWidth val="28"/>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334155"/>
                    </a:solidFill>
                    <a:latin typeface="Segoe UI"/>
                  </a:defRPr>
                </a:pPr>
                <a:r>
                  <a:rPr sz="1200" b="0" i="0" u="none" strike="noStrike">
                    <a:solidFill>
                      <a:srgbClr val="334155"/>
                    </a:solidFill>
                    <a:latin typeface="Segoe UI"/>
                  </a:rPr>
                  <a:t>Clusters</a:t>
                </a:r>
              </a:p>
            </c:rich>
          </c:tx>
          <c:layout/>
          <c:overlay val="0"/>
        </c:title>
        <c:numFmt formatCode="General" sourceLinked="1"/>
        <c:majorTickMark val="none"/>
        <c:minorTickMark val="none"/>
        <c:tickLblPos val="low"/>
        <c:spPr>
          <a:ln w="8890" cap="flat">
            <a:solidFill>
              <a:srgbClr val="D1D5DB"/>
            </a:solidFill>
            <a:prstDash val="solid"/>
            <a:round/>
          </a:ln>
        </c:spPr>
        <c:txPr>
          <a:bodyPr/>
          <a:lstStyle/>
          <a:p>
            <a:pPr>
              <a:defRPr sz="1100" b="0" i="0" u="none" strike="noStrike">
                <a:solidFill>
                  <a:srgbClr val="334155"/>
                </a:solidFill>
                <a:latin typeface="Segoe UI"/>
              </a:defRPr>
            </a:pPr>
            <a:endParaRPr lang="fr-FR"/>
          </a:p>
        </c:txPr>
        <c:crossAx val="2094734552"/>
        <c:crosses val="autoZero"/>
        <c:auto val="1"/>
        <c:lblAlgn val="ctr"/>
        <c:noMultiLvlLbl val="1"/>
      </c:catAx>
      <c:valAx>
        <c:axId val="2094734552"/>
        <c:scaling>
          <c:orientation val="minMax"/>
          <c:max val="700"/>
          <c:min val="0"/>
        </c:scaling>
        <c:delete val="0"/>
        <c:axPos val="l"/>
        <c:majorGridlines>
          <c:spPr>
            <a:ln w="7620" cap="flat">
              <a:solidFill>
                <a:srgbClr val="ECEAF0"/>
              </a:solidFill>
              <a:prstDash val="solid"/>
              <a:round/>
            </a:ln>
          </c:spPr>
        </c:majorGridlines>
        <c:title>
          <c:tx>
            <c:rich>
              <a:bodyPr/>
              <a:lstStyle/>
              <a:p>
                <a:pPr>
                  <a:defRPr sz="1200" b="0" i="0" u="none" strike="noStrike">
                    <a:solidFill>
                      <a:srgbClr val="334155"/>
                    </a:solidFill>
                    <a:latin typeface="Segoe UI"/>
                  </a:defRPr>
                </a:pPr>
                <a:r>
                  <a:rPr sz="1200" b="0" i="0" u="none" strike="noStrike">
                    <a:solidFill>
                      <a:srgbClr val="334155"/>
                    </a:solidFill>
                    <a:latin typeface="Segoe UI"/>
                  </a:rPr>
                  <a:t>Nombre de clients</a:t>
                </a:r>
              </a:p>
            </c:rich>
          </c:tx>
          <c:layout/>
          <c:overlay val="0"/>
        </c:title>
        <c:numFmt formatCode="General" sourceLinked="0"/>
        <c:majorTickMark val="none"/>
        <c:minorTickMark val="none"/>
        <c:tickLblPos val="nextTo"/>
        <c:spPr>
          <a:ln w="8890" cap="flat">
            <a:solidFill>
              <a:srgbClr val="D1D5DB"/>
            </a:solidFill>
            <a:prstDash val="solid"/>
            <a:round/>
          </a:ln>
        </c:spPr>
        <c:txPr>
          <a:bodyPr/>
          <a:lstStyle/>
          <a:p>
            <a:pPr>
              <a:defRPr sz="1100" b="0" i="0" u="none" strike="noStrike">
                <a:solidFill>
                  <a:srgbClr val="334155"/>
                </a:solidFill>
                <a:latin typeface="Segoe UI"/>
              </a:defRPr>
            </a:pPr>
            <a:endParaRPr lang="fr-FR"/>
          </a:p>
        </c:txPr>
        <c:crossAx val="2094734554"/>
        <c:crosses val="autoZero"/>
        <c:crossBetween val="between"/>
        <c:majorUnit val="100"/>
      </c:valAx>
      <c:spPr>
        <a:solidFill>
          <a:srgbClr val="FFFFFF"/>
        </a:solidFill>
        <a:ln w="12700" cap="flat">
          <a:solidFill>
            <a:srgbClr val="FFFFFF"/>
          </a:solidFill>
        </a:ln>
        <a:effectLst/>
      </c:spPr>
    </c:plotArea>
    <c:plotVisOnly val="1"/>
    <c:dispBlanksAs val="span"/>
  </c:chart>
  <c:spPr>
    <a:solidFill>
      <a:srgbClr val="FFFFFF"/>
    </a:solidFill>
    <a:ln w="12700" cap="flat">
      <a:solidFill>
        <a:srgbClr val="FFFFFF"/>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17324D"/>
                </a:solidFill>
                <a:latin typeface="Segoe UI"/>
              </a:defRPr>
            </a:pPr>
            <a:r>
              <a:rPr sz="1500" b="1" i="0" u="none" strike="noStrike">
                <a:solidFill>
                  <a:srgbClr val="17324D"/>
                </a:solidFill>
                <a:latin typeface="Segoe UI"/>
              </a:rPr>
              <a:t>Profil des clusters selon le revenu et les dépenses</a:t>
            </a:r>
          </a:p>
        </c:rich>
      </c:tx>
      <c:layout/>
      <c:overlay val="0"/>
    </c:title>
    <c:autoTitleDeleted val="0"/>
    <c:plotArea>
      <c:layout>
        <c:manualLayout>
          <c:layoutTarget val="inner"/>
          <c:xMode val="edge"/>
          <c:yMode val="edge"/>
          <c:x val="0.12"/>
          <c:y val="0.17"/>
          <c:w val="0.87"/>
          <c:h val="0.65"/>
        </c:manualLayout>
      </c:layout>
      <c:scatterChart>
        <c:scatterStyle val="lineMarker"/>
        <c:varyColors val="0"/>
        <c:ser>
          <c:idx val="0"/>
          <c:order val="0"/>
          <c:tx>
            <c:strRef>
              <c:f>Sheet1!$B$1</c:f>
              <c:strCache>
                <c:ptCount val="1"/>
                <c:pt idx="0">
                  <c:v>C0</c:v>
                </c:pt>
              </c:strCache>
            </c:strRef>
          </c:tx>
          <c:spPr>
            <a:solidFill>
              <a:srgbClr val="1D4ED8"/>
            </a:solidFill>
            <a:ln>
              <a:noFill/>
            </a:ln>
            <a:effectLst/>
          </c:spPr>
          <c:marker>
            <c:symbol val="circle"/>
            <c:size val="4"/>
            <c:spPr>
              <a:solidFill>
                <a:srgbClr val="1D4ED8"/>
              </a:solidFill>
              <a:ln w="3810" cap="flat">
                <a:solidFill>
                  <a:srgbClr val="1D4ED8"/>
                </a:solidFill>
                <a:prstDash val="solid"/>
                <a:round/>
              </a:ln>
              <a:effectLst/>
            </c:spPr>
          </c:marker>
          <c:xVal>
            <c:numRef>
              <c:f>Sheet1!$A$2:$A$601</c:f>
              <c:numCache>
                <c:formatCode>General</c:formatCode>
                <c:ptCount val="600"/>
                <c:pt idx="0">
                  <c:v>53.0</c:v>
                </c:pt>
                <c:pt idx="1">
                  <c:v>169.0</c:v>
                </c:pt>
                <c:pt idx="2">
                  <c:v>46.0</c:v>
                </c:pt>
                <c:pt idx="3">
                  <c:v>61.0</c:v>
                </c:pt>
                <c:pt idx="4">
                  <c:v>46.0</c:v>
                </c:pt>
                <c:pt idx="5">
                  <c:v>317.0</c:v>
                </c:pt>
                <c:pt idx="6">
                  <c:v>133.0</c:v>
                </c:pt>
                <c:pt idx="7">
                  <c:v>316.0</c:v>
                </c:pt>
                <c:pt idx="8">
                  <c:v>75.0</c:v>
                </c:pt>
                <c:pt idx="9">
                  <c:v>131.0</c:v>
                </c:pt>
                <c:pt idx="10">
                  <c:v>30.0</c:v>
                </c:pt>
                <c:pt idx="11">
                  <c:v>318.0</c:v>
                </c:pt>
                <c:pt idx="12">
                  <c:v>81.0</c:v>
                </c:pt>
                <c:pt idx="13">
                  <c:v>53.0</c:v>
                </c:pt>
                <c:pt idx="14">
                  <c:v>31.0</c:v>
                </c:pt>
                <c:pt idx="15">
                  <c:v>122.0</c:v>
                </c:pt>
                <c:pt idx="16">
                  <c:v>55.0</c:v>
                </c:pt>
                <c:pt idx="17">
                  <c:v>72.0</c:v>
                </c:pt>
                <c:pt idx="18">
                  <c:v>29.0</c:v>
                </c:pt>
                <c:pt idx="19">
                  <c:v>34.0</c:v>
                </c:pt>
                <c:pt idx="20">
                  <c:v>65.0</c:v>
                </c:pt>
                <c:pt idx="21">
                  <c:v>13.0</c:v>
                </c:pt>
                <c:pt idx="22">
                  <c:v>18.0</c:v>
                </c:pt>
                <c:pt idx="23">
                  <c:v>165.0</c:v>
                </c:pt>
                <c:pt idx="24">
                  <c:v>16.0</c:v>
                </c:pt>
                <c:pt idx="25">
                  <c:v>79.0</c:v>
                </c:pt>
                <c:pt idx="26">
                  <c:v>318.0</c:v>
                </c:pt>
                <c:pt idx="27">
                  <c:v>32.0</c:v>
                </c:pt>
                <c:pt idx="28">
                  <c:v>43.0</c:v>
                </c:pt>
                <c:pt idx="29">
                  <c:v>45.0</c:v>
                </c:pt>
                <c:pt idx="30">
                  <c:v>410.0</c:v>
                </c:pt>
                <c:pt idx="31">
                  <c:v>29.0</c:v>
                </c:pt>
                <c:pt idx="32">
                  <c:v>145.0</c:v>
                </c:pt>
                <c:pt idx="33">
                  <c:v>1820.0</c:v>
                </c:pt>
                <c:pt idx="34">
                  <c:v>33.0</c:v>
                </c:pt>
                <c:pt idx="35">
                  <c:v>80.0</c:v>
                </c:pt>
                <c:pt idx="36">
                  <c:v>43.0</c:v>
                </c:pt>
                <c:pt idx="37">
                  <c:v>29.0</c:v>
                </c:pt>
                <c:pt idx="38">
                  <c:v>68.0</c:v>
                </c:pt>
                <c:pt idx="39">
                  <c:v>22.0</c:v>
                </c:pt>
                <c:pt idx="40">
                  <c:v>127.0</c:v>
                </c:pt>
                <c:pt idx="41">
                  <c:v>89.0</c:v>
                </c:pt>
                <c:pt idx="42">
                  <c:v>121.0</c:v>
                </c:pt>
                <c:pt idx="43">
                  <c:v>259.0</c:v>
                </c:pt>
                <c:pt idx="44">
                  <c:v>57.0</c:v>
                </c:pt>
                <c:pt idx="45">
                  <c:v>57.0</c:v>
                </c:pt>
                <c:pt idx="46">
                  <c:v>66.0</c:v>
                </c:pt>
                <c:pt idx="47">
                  <c:v>43.0</c:v>
                </c:pt>
                <c:pt idx="48">
                  <c:v>50.0</c:v>
                </c:pt>
                <c:pt idx="49">
                  <c:v>80.0</c:v>
                </c:pt>
                <c:pt idx="50">
                  <c:v>91.0</c:v>
                </c:pt>
                <c:pt idx="51">
                  <c:v>35.0</c:v>
                </c:pt>
                <c:pt idx="52">
                  <c:v>53.0</c:v>
                </c:pt>
                <c:pt idx="53">
                  <c:v>114.0</c:v>
                </c:pt>
                <c:pt idx="54">
                  <c:v>185.0</c:v>
                </c:pt>
                <c:pt idx="55">
                  <c:v>189.0</c:v>
                </c:pt>
                <c:pt idx="56">
                  <c:v>17.0</c:v>
                </c:pt>
                <c:pt idx="57">
                  <c:v>22.0</c:v>
                </c:pt>
                <c:pt idx="58">
                  <c:v>19.0</c:v>
                </c:pt>
                <c:pt idx="59">
                  <c:v>69.0</c:v>
                </c:pt>
                <c:pt idx="60">
                  <c:v>23.0</c:v>
                </c:pt>
                <c:pt idx="61">
                  <c:v>57.0</c:v>
                </c:pt>
                <c:pt idx="62">
                  <c:v>26.0</c:v>
                </c:pt>
                <c:pt idx="63">
                  <c:v>64.0</c:v>
                </c:pt>
                <c:pt idx="64">
                  <c:v>26.0</c:v>
                </c:pt>
                <c:pt idx="65">
                  <c:v>210.0</c:v>
                </c:pt>
                <c:pt idx="66">
                  <c:v>33.0</c:v>
                </c:pt>
                <c:pt idx="67">
                  <c:v>31.0</c:v>
                </c:pt>
                <c:pt idx="68">
                  <c:v>275.0</c:v>
                </c:pt>
                <c:pt idx="69">
                  <c:v>25.0</c:v>
                </c:pt>
                <c:pt idx="70">
                  <c:v>67.0</c:v>
                </c:pt>
                <c:pt idx="71">
                  <c:v>60.0</c:v>
                </c:pt>
                <c:pt idx="72">
                  <c:v>102.0</c:v>
                </c:pt>
                <c:pt idx="73">
                  <c:v>317.0</c:v>
                </c:pt>
                <c:pt idx="74">
                  <c:v>70.0</c:v>
                </c:pt>
                <c:pt idx="75">
                  <c:v>390.0</c:v>
                </c:pt>
                <c:pt idx="76">
                  <c:v>52.0</c:v>
                </c:pt>
                <c:pt idx="77">
                  <c:v>137.0</c:v>
                </c:pt>
                <c:pt idx="78">
                  <c:v>32.0</c:v>
                </c:pt>
                <c:pt idx="79">
                  <c:v>100.0</c:v>
                </c:pt>
                <c:pt idx="80">
                  <c:v>90.0</c:v>
                </c:pt>
                <c:pt idx="81">
                  <c:v>273.0</c:v>
                </c:pt>
                <c:pt idx="82">
                  <c:v>66.0</c:v>
                </c:pt>
                <c:pt idx="83">
                  <c:v>107.0</c:v>
                </c:pt>
                <c:pt idx="84">
                  <c:v>241.0</c:v>
                </c:pt>
                <c:pt idx="85">
                  <c:v>53.0</c:v>
                </c:pt>
                <c:pt idx="86">
                  <c:v>401.0</c:v>
                </c:pt>
                <c:pt idx="87">
                  <c:v>30.0</c:v>
                </c:pt>
                <c:pt idx="88">
                  <c:v>65.0</c:v>
                </c:pt>
                <c:pt idx="89">
                  <c:v>37.0</c:v>
                </c:pt>
                <c:pt idx="90">
                  <c:v>160.0</c:v>
                </c:pt>
                <c:pt idx="91">
                  <c:v>23.0</c:v>
                </c:pt>
                <c:pt idx="92">
                  <c:v>71.0</c:v>
                </c:pt>
                <c:pt idx="93">
                  <c:v>59.0</c:v>
                </c:pt>
                <c:pt idx="94">
                  <c:v>33.0</c:v>
                </c:pt>
                <c:pt idx="95">
                  <c:v>62.0</c:v>
                </c:pt>
                <c:pt idx="96">
                  <c:v>139.0</c:v>
                </c:pt>
                <c:pt idx="97">
                  <c:v>18.0</c:v>
                </c:pt>
                <c:pt idx="98">
                  <c:v>16.0</c:v>
                </c:pt>
                <c:pt idx="99">
                  <c:v>25.0</c:v>
                </c:pt>
                <c:pt idx="100">
                  <c:v>51.0</c:v>
                </c:pt>
                <c:pt idx="101">
                  <c:v>30.0</c:v>
                </c:pt>
                <c:pt idx="102">
                  <c:v>29.0</c:v>
                </c:pt>
                <c:pt idx="103">
                  <c:v>81.0</c:v>
                </c:pt>
                <c:pt idx="104">
                  <c:v>37.0</c:v>
                </c:pt>
                <c:pt idx="105">
                  <c:v>51.0</c:v>
                </c:pt>
                <c:pt idx="106">
                  <c:v>22.0</c:v>
                </c:pt>
                <c:pt idx="107">
                  <c:v>324.0</c:v>
                </c:pt>
                <c:pt idx="108">
                  <c:v>19.0</c:v>
                </c:pt>
                <c:pt idx="109">
                  <c:v>41.0</c:v>
                </c:pt>
                <c:pt idx="110">
                  <c:v>222.0</c:v>
                </c:pt>
                <c:pt idx="111">
                  <c:v>209.0</c:v>
                </c:pt>
                <c:pt idx="112">
                  <c:v>47.0</c:v>
                </c:pt>
                <c:pt idx="113">
                  <c:v>27.0</c:v>
                </c:pt>
                <c:pt idx="114">
                  <c:v>96.0</c:v>
                </c:pt>
                <c:pt idx="115">
                  <c:v>343.0</c:v>
                </c:pt>
                <c:pt idx="116">
                  <c:v>70.0</c:v>
                </c:pt>
                <c:pt idx="117">
                  <c:v>46.0</c:v>
                </c:pt>
                <c:pt idx="118">
                  <c:v>79.0</c:v>
                </c:pt>
                <c:pt idx="119">
                  <c:v>369.0</c:v>
                </c:pt>
                <c:pt idx="120">
                  <c:v>78.0</c:v>
                </c:pt>
                <c:pt idx="121">
                  <c:v>48.0</c:v>
                </c:pt>
                <c:pt idx="122">
                  <c:v>45.0</c:v>
                </c:pt>
                <c:pt idx="123">
                  <c:v>10.0</c:v>
                </c:pt>
                <c:pt idx="124">
                  <c:v>43.0</c:v>
                </c:pt>
                <c:pt idx="125">
                  <c:v>57.0</c:v>
                </c:pt>
                <c:pt idx="126">
                  <c:v>122.0</c:v>
                </c:pt>
                <c:pt idx="127">
                  <c:v>36.0</c:v>
                </c:pt>
                <c:pt idx="128">
                  <c:v>34.0</c:v>
                </c:pt>
                <c:pt idx="129">
                  <c:v>14.0</c:v>
                </c:pt>
                <c:pt idx="130">
                  <c:v>37.0</c:v>
                </c:pt>
                <c:pt idx="131">
                  <c:v>34.0</c:v>
                </c:pt>
                <c:pt idx="132">
                  <c:v>20.0</c:v>
                </c:pt>
                <c:pt idx="133">
                  <c:v>192.0</c:v>
                </c:pt>
                <c:pt idx="134">
                  <c:v>48.0</c:v>
                </c:pt>
                <c:pt idx="135">
                  <c:v>59.0</c:v>
                </c:pt>
                <c:pt idx="136">
                  <c:v>265.0</c:v>
                </c:pt>
                <c:pt idx="137">
                  <c:v>120.0</c:v>
                </c:pt>
                <c:pt idx="138">
                  <c:v>15.0</c:v>
                </c:pt>
                <c:pt idx="139">
                  <c:v>17.0</c:v>
                </c:pt>
                <c:pt idx="140">
                  <c:v>25.0</c:v>
                </c:pt>
                <c:pt idx="141">
                  <c:v>70.0</c:v>
                </c:pt>
                <c:pt idx="142">
                  <c:v>54.0</c:v>
                </c:pt>
                <c:pt idx="143">
                  <c:v>296.0</c:v>
                </c:pt>
                <c:pt idx="144">
                  <c:v>20.0</c:v>
                </c:pt>
                <c:pt idx="145">
                  <c:v>205.0</c:v>
                </c:pt>
                <c:pt idx="146">
                  <c:v>309.0</c:v>
                </c:pt>
                <c:pt idx="147">
                  <c:v>263.0</c:v>
                </c:pt>
                <c:pt idx="148">
                  <c:v>137.0</c:v>
                </c:pt>
                <c:pt idx="149">
                  <c:v>216.0</c:v>
                </c:pt>
                <c:pt idx="150">
                  <c:v>42.0</c:v>
                </c:pt>
                <c:pt idx="151">
                  <c:v>358.0</c:v>
                </c:pt>
                <c:pt idx="152">
                  <c:v>210.0</c:v>
                </c:pt>
                <c:pt idx="153">
                  <c:v>42.0</c:v>
                </c:pt>
                <c:pt idx="154">
                  <c:v>442.0</c:v>
                </c:pt>
                <c:pt idx="155">
                  <c:v>46.0</c:v>
                </c:pt>
                <c:pt idx="156">
                  <c:v>76.0</c:v>
                </c:pt>
                <c:pt idx="157">
                  <c:v>54.0</c:v>
                </c:pt>
                <c:pt idx="158">
                  <c:v>406.0</c:v>
                </c:pt>
                <c:pt idx="159">
                  <c:v>41.0</c:v>
                </c:pt>
                <c:pt idx="160">
                  <c:v>134.0</c:v>
                </c:pt>
                <c:pt idx="161">
                  <c:v>91.0</c:v>
                </c:pt>
                <c:pt idx="162">
                  <c:v>162.0</c:v>
                </c:pt>
                <c:pt idx="163">
                  <c:v>795.0</c:v>
                </c:pt>
                <c:pt idx="164">
                  <c:v>64.0</c:v>
                </c:pt>
                <c:pt idx="165">
                  <c:v>78.0</c:v>
                </c:pt>
                <c:pt idx="166">
                  <c:v>177.0</c:v>
                </c:pt>
                <c:pt idx="167">
                  <c:v>62.0</c:v>
                </c:pt>
                <c:pt idx="168">
                  <c:v>143.0</c:v>
                </c:pt>
                <c:pt idx="169">
                  <c:v>55.0</c:v>
                </c:pt>
                <c:pt idx="170">
                  <c:v>55.0</c:v>
                </c:pt>
                <c:pt idx="171">
                  <c:v>81.0</c:v>
                </c:pt>
                <c:pt idx="172">
                  <c:v>49.0</c:v>
                </c:pt>
                <c:pt idx="173">
                  <c:v>382.0</c:v>
                </c:pt>
                <c:pt idx="174">
                  <c:v>69.0</c:v>
                </c:pt>
                <c:pt idx="175">
                  <c:v>67.0</c:v>
                </c:pt>
                <c:pt idx="176">
                  <c:v>63.0</c:v>
                </c:pt>
                <c:pt idx="177">
                  <c:v>79.0</c:v>
                </c:pt>
                <c:pt idx="178">
                  <c:v>213.0</c:v>
                </c:pt>
                <c:pt idx="179">
                  <c:v>268.0</c:v>
                </c:pt>
                <c:pt idx="180">
                  <c:v>266.0</c:v>
                </c:pt>
                <c:pt idx="181">
                  <c:v>37.0</c:v>
                </c:pt>
                <c:pt idx="182">
                  <c:v>95.0</c:v>
                </c:pt>
                <c:pt idx="183">
                  <c:v>33.0</c:v>
                </c:pt>
                <c:pt idx="184">
                  <c:v>36.0</c:v>
                </c:pt>
                <c:pt idx="185">
                  <c:v>191.0</c:v>
                </c:pt>
                <c:pt idx="186">
                  <c:v>93.0</c:v>
                </c:pt>
                <c:pt idx="187">
                  <c:v>235.0</c:v>
                </c:pt>
                <c:pt idx="188">
                  <c:v>48.0</c:v>
                </c:pt>
                <c:pt idx="189">
                  <c:v>6.0</c:v>
                </c:pt>
                <c:pt idx="190">
                  <c:v>210.0</c:v>
                </c:pt>
                <c:pt idx="191">
                  <c:v>22.0</c:v>
                </c:pt>
                <c:pt idx="192">
                  <c:v>74.0</c:v>
                </c:pt>
                <c:pt idx="193">
                  <c:v>26.0</c:v>
                </c:pt>
                <c:pt idx="194">
                  <c:v>60.0</c:v>
                </c:pt>
                <c:pt idx="195">
                  <c:v>59.0</c:v>
                </c:pt>
                <c:pt idx="196">
                  <c:v>34.0</c:v>
                </c:pt>
                <c:pt idx="197">
                  <c:v>172.0</c:v>
                </c:pt>
                <c:pt idx="198">
                  <c:v>467.0</c:v>
                </c:pt>
                <c:pt idx="199">
                  <c:v>29.0</c:v>
                </c:pt>
                <c:pt idx="200">
                  <c:v>23.0</c:v>
                </c:pt>
                <c:pt idx="201">
                  <c:v>636.0</c:v>
                </c:pt>
                <c:pt idx="202">
                  <c:v>187.0</c:v>
                </c:pt>
                <c:pt idx="203">
                  <c:v>57.0</c:v>
                </c:pt>
                <c:pt idx="204">
                  <c:v>59.0</c:v>
                </c:pt>
                <c:pt idx="205">
                  <c:v>18.0</c:v>
                </c:pt>
                <c:pt idx="206">
                  <c:v>112.0</c:v>
                </c:pt>
                <c:pt idx="207">
                  <c:v>596.0</c:v>
                </c:pt>
                <c:pt idx="208">
                  <c:v>48.0</c:v>
                </c:pt>
                <c:pt idx="209">
                  <c:v>16.0</c:v>
                </c:pt>
                <c:pt idx="210">
                  <c:v>71.0</c:v>
                </c:pt>
                <c:pt idx="211">
                  <c:v>18.0</c:v>
                </c:pt>
                <c:pt idx="212">
                  <c:v>109.0</c:v>
                </c:pt>
                <c:pt idx="213">
                  <c:v>38.0</c:v>
                </c:pt>
                <c:pt idx="214">
                  <c:v>28.0</c:v>
                </c:pt>
                <c:pt idx="215">
                  <c:v>92.0</c:v>
                </c:pt>
                <c:pt idx="216">
                  <c:v>66.0</c:v>
                </c:pt>
                <c:pt idx="217">
                  <c:v>86.0</c:v>
                </c:pt>
                <c:pt idx="218">
                  <c:v>25.0</c:v>
                </c:pt>
                <c:pt idx="219">
                  <c:v>24.0</c:v>
                </c:pt>
                <c:pt idx="220">
                  <c:v>38.0</c:v>
                </c:pt>
                <c:pt idx="221">
                  <c:v>57.0</c:v>
                </c:pt>
                <c:pt idx="222">
                  <c:v>50.0</c:v>
                </c:pt>
                <c:pt idx="223">
                  <c:v>315.0</c:v>
                </c:pt>
                <c:pt idx="224">
                  <c:v>60.0</c:v>
                </c:pt>
                <c:pt idx="225">
                  <c:v>72.0</c:v>
                </c:pt>
                <c:pt idx="226">
                  <c:v>48.0</c:v>
                </c:pt>
                <c:pt idx="227">
                  <c:v>570.0</c:v>
                </c:pt>
                <c:pt idx="228">
                  <c:v>55.0</c:v>
                </c:pt>
                <c:pt idx="229">
                  <c:v>55.0</c:v>
                </c:pt>
                <c:pt idx="230">
                  <c:v>577.0</c:v>
                </c:pt>
                <c:pt idx="231">
                  <c:v>162.0</c:v>
                </c:pt>
                <c:pt idx="232">
                  <c:v>22.0</c:v>
                </c:pt>
                <c:pt idx="233">
                  <c:v>680.0</c:v>
                </c:pt>
                <c:pt idx="234">
                  <c:v>50.0</c:v>
                </c:pt>
                <c:pt idx="235">
                  <c:v>385.0</c:v>
                </c:pt>
                <c:pt idx="236">
                  <c:v>89.0</c:v>
                </c:pt>
                <c:pt idx="237">
                  <c:v>70.0</c:v>
                </c:pt>
                <c:pt idx="238">
                  <c:v>40.0</c:v>
                </c:pt>
                <c:pt idx="239">
                  <c:v>15.0</c:v>
                </c:pt>
                <c:pt idx="240">
                  <c:v>369.0</c:v>
                </c:pt>
                <c:pt idx="241">
                  <c:v>10.0</c:v>
                </c:pt>
                <c:pt idx="242">
                  <c:v>69.0</c:v>
                </c:pt>
                <c:pt idx="243">
                  <c:v>45.0</c:v>
                </c:pt>
                <c:pt idx="244">
                  <c:v>156.0</c:v>
                </c:pt>
                <c:pt idx="245">
                  <c:v>128.0</c:v>
                </c:pt>
                <c:pt idx="246">
                  <c:v>86.0</c:v>
                </c:pt>
                <c:pt idx="247">
                  <c:v>16.0</c:v>
                </c:pt>
                <c:pt idx="248">
                  <c:v>83.0</c:v>
                </c:pt>
                <c:pt idx="249">
                  <c:v>14.0</c:v>
                </c:pt>
                <c:pt idx="250">
                  <c:v>84.0</c:v>
                </c:pt>
                <c:pt idx="251">
                  <c:v>409.0</c:v>
                </c:pt>
                <c:pt idx="252">
                  <c:v>28.0</c:v>
                </c:pt>
                <c:pt idx="253">
                  <c:v>67.0</c:v>
                </c:pt>
                <c:pt idx="254">
                  <c:v>199.0</c:v>
                </c:pt>
                <c:pt idx="255">
                  <c:v>178.0</c:v>
                </c:pt>
                <c:pt idx="256">
                  <c:v>95.0</c:v>
                </c:pt>
                <c:pt idx="257">
                  <c:v>467.0</c:v>
                </c:pt>
                <c:pt idx="258">
                  <c:v>125.0</c:v>
                </c:pt>
                <c:pt idx="259">
                  <c:v>32.0</c:v>
                </c:pt>
                <c:pt idx="260">
                  <c:v>46.0</c:v>
                </c:pt>
                <c:pt idx="261">
                  <c:v>66.0</c:v>
                </c:pt>
                <c:pt idx="262">
                  <c:v>1250.0</c:v>
                </c:pt>
                <c:pt idx="263">
                  <c:v>50.0</c:v>
                </c:pt>
                <c:pt idx="264">
                  <c:v>41.0</c:v>
                </c:pt>
                <c:pt idx="265">
                  <c:v>131.0</c:v>
                </c:pt>
                <c:pt idx="266">
                  <c:v>64.0</c:v>
                </c:pt>
                <c:pt idx="267">
                  <c:v>93.0</c:v>
                </c:pt>
                <c:pt idx="268">
                  <c:v>23.0</c:v>
                </c:pt>
                <c:pt idx="269">
                  <c:v>92.0</c:v>
                </c:pt>
                <c:pt idx="270">
                  <c:v>6.0</c:v>
                </c:pt>
                <c:pt idx="271">
                  <c:v>54.0</c:v>
                </c:pt>
                <c:pt idx="272">
                  <c:v>19.0</c:v>
                </c:pt>
                <c:pt idx="273">
                  <c:v>805.0</c:v>
                </c:pt>
                <c:pt idx="274">
                  <c:v>23.0</c:v>
                </c:pt>
                <c:pt idx="275">
                  <c:v>58.0</c:v>
                </c:pt>
                <c:pt idx="276">
                  <c:v>279.0</c:v>
                </c:pt>
                <c:pt idx="277">
                  <c:v>406.0</c:v>
                </c:pt>
                <c:pt idx="278">
                  <c:v>236.0</c:v>
                </c:pt>
                <c:pt idx="279">
                  <c:v>39.0</c:v>
                </c:pt>
                <c:pt idx="280">
                  <c:v>137.0</c:v>
                </c:pt>
                <c:pt idx="281">
                  <c:v>79.0</c:v>
                </c:pt>
                <c:pt idx="282">
                  <c:v>63.0</c:v>
                </c:pt>
                <c:pt idx="283">
                  <c:v>58.0</c:v>
                </c:pt>
                <c:pt idx="284">
                  <c:v>94.0</c:v>
                </c:pt>
                <c:pt idx="285">
                  <c:v>80.0</c:v>
                </c:pt>
                <c:pt idx="286">
                  <c:v>55.0</c:v>
                </c:pt>
                <c:pt idx="287">
                  <c:v>313.0</c:v>
                </c:pt>
                <c:pt idx="288">
                  <c:v>72.0</c:v>
                </c:pt>
                <c:pt idx="289">
                  <c:v>178.0</c:v>
                </c:pt>
                <c:pt idx="290">
                  <c:v>36.0</c:v>
                </c:pt>
                <c:pt idx="291">
                  <c:v>37.0</c:v>
                </c:pt>
                <c:pt idx="292">
                  <c:v>278.0</c:v>
                </c:pt>
                <c:pt idx="293">
                  <c:v>653.0</c:v>
                </c:pt>
                <c:pt idx="294">
                  <c:v>18.0</c:v>
                </c:pt>
                <c:pt idx="295">
                  <c:v>46.0</c:v>
                </c:pt>
                <c:pt idx="296">
                  <c:v>467.0</c:v>
                </c:pt>
                <c:pt idx="297">
                  <c:v>396.0</c:v>
                </c:pt>
                <c:pt idx="298">
                  <c:v>20.0</c:v>
                </c:pt>
                <c:pt idx="299">
                  <c:v>15.0</c:v>
                </c:pt>
                <c:pt idx="300">
                  <c:v>23.0</c:v>
                </c:pt>
                <c:pt idx="301">
                  <c:v>133.0</c:v>
                </c:pt>
                <c:pt idx="302">
                  <c:v>424.0</c:v>
                </c:pt>
                <c:pt idx="303">
                  <c:v>12.0</c:v>
                </c:pt>
                <c:pt idx="304">
                  <c:v>267.0</c:v>
                </c:pt>
                <c:pt idx="305">
                  <c:v>61.0</c:v>
                </c:pt>
                <c:pt idx="306">
                  <c:v>64.0</c:v>
                </c:pt>
                <c:pt idx="307">
                  <c:v>44.0</c:v>
                </c:pt>
                <c:pt idx="308">
                  <c:v>63.0</c:v>
                </c:pt>
                <c:pt idx="309">
                  <c:v>426.0</c:v>
                </c:pt>
                <c:pt idx="310">
                  <c:v>96.0</c:v>
                </c:pt>
                <c:pt idx="311">
                  <c:v>125.0</c:v>
                </c:pt>
                <c:pt idx="312">
                  <c:v>135.0</c:v>
                </c:pt>
                <c:pt idx="313">
                  <c:v>24.0</c:v>
                </c:pt>
                <c:pt idx="314">
                  <c:v>57.0</c:v>
                </c:pt>
                <c:pt idx="315">
                  <c:v>326.0</c:v>
                </c:pt>
                <c:pt idx="316">
                  <c:v>30.0</c:v>
                </c:pt>
                <c:pt idx="317">
                  <c:v>74.0</c:v>
                </c:pt>
                <c:pt idx="318">
                  <c:v>46.0</c:v>
                </c:pt>
                <c:pt idx="319">
                  <c:v>61.0</c:v>
                </c:pt>
                <c:pt idx="320">
                  <c:v>145.0</c:v>
                </c:pt>
                <c:pt idx="321">
                  <c:v>27.0</c:v>
                </c:pt>
                <c:pt idx="322">
                  <c:v>18.0</c:v>
                </c:pt>
                <c:pt idx="323">
                  <c:v>16.0</c:v>
                </c:pt>
                <c:pt idx="324">
                  <c:v>34.0</c:v>
                </c:pt>
                <c:pt idx="325">
                  <c:v>75.0</c:v>
                </c:pt>
                <c:pt idx="326">
                  <c:v>17.0</c:v>
                </c:pt>
                <c:pt idx="327">
                  <c:v>24.0</c:v>
                </c:pt>
                <c:pt idx="328">
                  <c:v>31.0</c:v>
                </c:pt>
                <c:pt idx="329">
                  <c:v>43.0</c:v>
                </c:pt>
                <c:pt idx="330">
                  <c:v>101.0</c:v>
                </c:pt>
                <c:pt idx="331">
                  <c:v>25.0</c:v>
                </c:pt>
                <c:pt idx="332">
                  <c:v>61.0</c:v>
                </c:pt>
                <c:pt idx="333">
                  <c:v>40.0</c:v>
                </c:pt>
                <c:pt idx="334">
                  <c:v>52.0</c:v>
                </c:pt>
                <c:pt idx="335">
                  <c:v>39.0</c:v>
                </c:pt>
                <c:pt idx="336">
                  <c:v>34.0</c:v>
                </c:pt>
                <c:pt idx="337">
                  <c:v>21.0</c:v>
                </c:pt>
                <c:pt idx="338">
                  <c:v>8.0</c:v>
                </c:pt>
                <c:pt idx="339">
                  <c:v>119.0</c:v>
                </c:pt>
                <c:pt idx="340">
                  <c:v>10.0</c:v>
                </c:pt>
                <c:pt idx="341">
                  <c:v>84.0</c:v>
                </c:pt>
                <c:pt idx="342">
                  <c:v>246.0</c:v>
                </c:pt>
                <c:pt idx="343">
                  <c:v>76.0</c:v>
                </c:pt>
                <c:pt idx="344">
                  <c:v>30.0</c:v>
                </c:pt>
                <c:pt idx="345">
                  <c:v>1229.0</c:v>
                </c:pt>
                <c:pt idx="346">
                  <c:v>485.0</c:v>
                </c:pt>
                <c:pt idx="347">
                  <c:v>434.0</c:v>
                </c:pt>
                <c:pt idx="348">
                  <c:v>44.0</c:v>
                </c:pt>
                <c:pt idx="349">
                  <c:v>17.0</c:v>
                </c:pt>
                <c:pt idx="350">
                  <c:v>26.0</c:v>
                </c:pt>
                <c:pt idx="351">
                  <c:v>76.0</c:v>
                </c:pt>
                <c:pt idx="352">
                  <c:v>49.0</c:v>
                </c:pt>
                <c:pt idx="353">
                  <c:v>37.0</c:v>
                </c:pt>
                <c:pt idx="354">
                  <c:v>61.0</c:v>
                </c:pt>
                <c:pt idx="355">
                  <c:v>50.0</c:v>
                </c:pt>
                <c:pt idx="356">
                  <c:v>58.0</c:v>
                </c:pt>
                <c:pt idx="357">
                  <c:v>170.0</c:v>
                </c:pt>
                <c:pt idx="358">
                  <c:v>373.0</c:v>
                </c:pt>
                <c:pt idx="359">
                  <c:v>101.0</c:v>
                </c:pt>
                <c:pt idx="360">
                  <c:v>129.0</c:v>
                </c:pt>
                <c:pt idx="361">
                  <c:v>299.0</c:v>
                </c:pt>
                <c:pt idx="362">
                  <c:v>85.0</c:v>
                </c:pt>
                <c:pt idx="363">
                  <c:v>24.0</c:v>
                </c:pt>
                <c:pt idx="364">
                  <c:v>112.0</c:v>
                </c:pt>
                <c:pt idx="365">
                  <c:v>410.0</c:v>
                </c:pt>
                <c:pt idx="366">
                  <c:v>28.0</c:v>
                </c:pt>
                <c:pt idx="367">
                  <c:v>103.0</c:v>
                </c:pt>
                <c:pt idx="368">
                  <c:v>62.0</c:v>
                </c:pt>
                <c:pt idx="369">
                  <c:v>30.0</c:v>
                </c:pt>
                <c:pt idx="370">
                  <c:v>187.0</c:v>
                </c:pt>
                <c:pt idx="371">
                  <c:v>68.0</c:v>
                </c:pt>
                <c:pt idx="372">
                  <c:v>45.0</c:v>
                </c:pt>
                <c:pt idx="373">
                  <c:v>95.0</c:v>
                </c:pt>
                <c:pt idx="374">
                  <c:v>42.0</c:v>
                </c:pt>
                <c:pt idx="375">
                  <c:v>20.0</c:v>
                </c:pt>
                <c:pt idx="376">
                  <c:v>59.0</c:v>
                </c:pt>
                <c:pt idx="377">
                  <c:v>209.0</c:v>
                </c:pt>
                <c:pt idx="378">
                  <c:v>545.0</c:v>
                </c:pt>
                <c:pt idx="379">
                  <c:v>96.0</c:v>
                </c:pt>
                <c:pt idx="380">
                  <c:v>222.0</c:v>
                </c:pt>
                <c:pt idx="381">
                  <c:v>60.0</c:v>
                </c:pt>
                <c:pt idx="382">
                  <c:v>78.0</c:v>
                </c:pt>
                <c:pt idx="383">
                  <c:v>23.0</c:v>
                </c:pt>
                <c:pt idx="384">
                  <c:v>19.0</c:v>
                </c:pt>
                <c:pt idx="385">
                  <c:v>449.0</c:v>
                </c:pt>
                <c:pt idx="386">
                  <c:v>37.0</c:v>
                </c:pt>
                <c:pt idx="387">
                  <c:v>38.0</c:v>
                </c:pt>
                <c:pt idx="388">
                  <c:v>30.0</c:v>
                </c:pt>
                <c:pt idx="389">
                  <c:v>125.0</c:v>
                </c:pt>
                <c:pt idx="390">
                  <c:v>156.0</c:v>
                </c:pt>
                <c:pt idx="391">
                  <c:v>65.0</c:v>
                </c:pt>
                <c:pt idx="392">
                  <c:v>310.0</c:v>
                </c:pt>
                <c:pt idx="393">
                  <c:v>57.0</c:v>
                </c:pt>
                <c:pt idx="394">
                  <c:v>529.0</c:v>
                </c:pt>
                <c:pt idx="395">
                  <c:v>534.0</c:v>
                </c:pt>
                <c:pt idx="396">
                  <c:v>44.0</c:v>
                </c:pt>
                <c:pt idx="397">
                  <c:v>47.0</c:v>
                </c:pt>
                <c:pt idx="398">
                  <c:v>175.0</c:v>
                </c:pt>
                <c:pt idx="399">
                  <c:v>217.0</c:v>
                </c:pt>
                <c:pt idx="400">
                  <c:v>32.0</c:v>
                </c:pt>
                <c:pt idx="401">
                  <c:v>46.0</c:v>
                </c:pt>
                <c:pt idx="402">
                  <c:v>75.0</c:v>
                </c:pt>
                <c:pt idx="403">
                  <c:v>55.0</c:v>
                </c:pt>
                <c:pt idx="404">
                  <c:v>38.0</c:v>
                </c:pt>
                <c:pt idx="405">
                  <c:v>928.0</c:v>
                </c:pt>
                <c:pt idx="406">
                  <c:v>73.0</c:v>
                </c:pt>
                <c:pt idx="407">
                  <c:v>275.0</c:v>
                </c:pt>
                <c:pt idx="408">
                  <c:v>78.0</c:v>
                </c:pt>
                <c:pt idx="409">
                  <c:v>106.0</c:v>
                </c:pt>
                <c:pt idx="410">
                  <c:v>106.0</c:v>
                </c:pt>
                <c:pt idx="411">
                  <c:v>84.0</c:v>
                </c:pt>
                <c:pt idx="412">
                  <c:v>48.0</c:v>
                </c:pt>
                <c:pt idx="413">
                  <c:v>5.0</c:v>
                </c:pt>
                <c:pt idx="414">
                  <c:v>103.0</c:v>
                </c:pt>
                <c:pt idx="415">
                  <c:v>269.0</c:v>
                </c:pt>
                <c:pt idx="416">
                  <c:v>22.0</c:v>
                </c:pt>
                <c:pt idx="417">
                  <c:v>72.0</c:v>
                </c:pt>
                <c:pt idx="418">
                  <c:v>100.0</c:v>
                </c:pt>
                <c:pt idx="419">
                  <c:v>80.0</c:v>
                </c:pt>
                <c:pt idx="420">
                  <c:v>167.0</c:v>
                </c:pt>
                <c:pt idx="421">
                  <c:v>20.0</c:v>
                </c:pt>
                <c:pt idx="422">
                  <c:v>156.0</c:v>
                </c:pt>
                <c:pt idx="423">
                  <c:v>17.0</c:v>
                </c:pt>
                <c:pt idx="424">
                  <c:v>92.0</c:v>
                </c:pt>
                <c:pt idx="425">
                  <c:v>52.0</c:v>
                </c:pt>
                <c:pt idx="426">
                  <c:v>137.0</c:v>
                </c:pt>
                <c:pt idx="427">
                  <c:v>299.0</c:v>
                </c:pt>
                <c:pt idx="428">
                  <c:v>221.0</c:v>
                </c:pt>
                <c:pt idx="429">
                  <c:v>58.0</c:v>
                </c:pt>
                <c:pt idx="430">
                  <c:v>339.0</c:v>
                </c:pt>
                <c:pt idx="431">
                  <c:v>35.0</c:v>
                </c:pt>
                <c:pt idx="432">
                  <c:v>710.0</c:v>
                </c:pt>
                <c:pt idx="433">
                  <c:v>57.0</c:v>
                </c:pt>
                <c:pt idx="434">
                  <c:v>270.0</c:v>
                </c:pt>
                <c:pt idx="435">
                  <c:v>16.0</c:v>
                </c:pt>
                <c:pt idx="436">
                  <c:v>311.0</c:v>
                </c:pt>
                <c:pt idx="437">
                  <c:v>77.0</c:v>
                </c:pt>
                <c:pt idx="438">
                  <c:v>601.0</c:v>
                </c:pt>
                <c:pt idx="439">
                  <c:v>54.0</c:v>
                </c:pt>
                <c:pt idx="440">
                  <c:v>78.0</c:v>
                </c:pt>
                <c:pt idx="441">
                  <c:v>244.0</c:v>
                </c:pt>
                <c:pt idx="442">
                  <c:v>15.0</c:v>
                </c:pt>
                <c:pt idx="443">
                  <c:v>31.0</c:v>
                </c:pt>
                <c:pt idx="444">
                  <c:v>29.0</c:v>
                </c:pt>
                <c:pt idx="445">
                  <c:v>20.0</c:v>
                </c:pt>
                <c:pt idx="446">
                  <c:v>55.0</c:v>
                </c:pt>
                <c:pt idx="447">
                  <c:v>67.0</c:v>
                </c:pt>
                <c:pt idx="448">
                  <c:v>71.0</c:v>
                </c:pt>
                <c:pt idx="449">
                  <c:v>76.0</c:v>
                </c:pt>
                <c:pt idx="450">
                  <c:v>265.0</c:v>
                </c:pt>
                <c:pt idx="451">
                  <c:v>82.0</c:v>
                </c:pt>
                <c:pt idx="452">
                  <c:v>244.0</c:v>
                </c:pt>
                <c:pt idx="453">
                  <c:v>36.0</c:v>
                </c:pt>
                <c:pt idx="454">
                  <c:v>71.0</c:v>
                </c:pt>
                <c:pt idx="455">
                  <c:v>10.0</c:v>
                </c:pt>
                <c:pt idx="456">
                  <c:v>21.0</c:v>
                </c:pt>
                <c:pt idx="457">
                  <c:v>31.0</c:v>
                </c:pt>
                <c:pt idx="458">
                  <c:v>67.0</c:v>
                </c:pt>
                <c:pt idx="459">
                  <c:v>57.0</c:v>
                </c:pt>
                <c:pt idx="460">
                  <c:v>103.0</c:v>
                </c:pt>
                <c:pt idx="461">
                  <c:v>153.0</c:v>
                </c:pt>
                <c:pt idx="462">
                  <c:v>64.0</c:v>
                </c:pt>
                <c:pt idx="463">
                  <c:v>11.0</c:v>
                </c:pt>
                <c:pt idx="464">
                  <c:v>324.0</c:v>
                </c:pt>
                <c:pt idx="465">
                  <c:v>69.0</c:v>
                </c:pt>
                <c:pt idx="466">
                  <c:v>60.0</c:v>
                </c:pt>
                <c:pt idx="467">
                  <c:v>42.0</c:v>
                </c:pt>
                <c:pt idx="468">
                  <c:v>145.0</c:v>
                </c:pt>
                <c:pt idx="469">
                  <c:v>28.0</c:v>
                </c:pt>
                <c:pt idx="470">
                  <c:v>48.0</c:v>
                </c:pt>
                <c:pt idx="471">
                  <c:v>167.0</c:v>
                </c:pt>
                <c:pt idx="472">
                  <c:v>48.0</c:v>
                </c:pt>
                <c:pt idx="473">
                  <c:v>55.0</c:v>
                </c:pt>
                <c:pt idx="474">
                  <c:v>20.0</c:v>
                </c:pt>
                <c:pt idx="475">
                  <c:v>43.0</c:v>
                </c:pt>
                <c:pt idx="476">
                  <c:v>101.0</c:v>
                </c:pt>
                <c:pt idx="477">
                  <c:v>209.0</c:v>
                </c:pt>
                <c:pt idx="478">
                  <c:v>165.0</c:v>
                </c:pt>
                <c:pt idx="479">
                  <c:v>269.0</c:v>
                </c:pt>
                <c:pt idx="480">
                  <c:v>102.0</c:v>
                </c:pt>
                <c:pt idx="481">
                  <c:v>47.0</c:v>
                </c:pt>
                <c:pt idx="482">
                  <c:v>119.0</c:v>
                </c:pt>
                <c:pt idx="483">
                  <c:v>84.0</c:v>
                </c:pt>
                <c:pt idx="484">
                  <c:v>76.0</c:v>
                </c:pt>
                <c:pt idx="485">
                  <c:v>27.0</c:v>
                </c:pt>
                <c:pt idx="486">
                  <c:v>37.0</c:v>
                </c:pt>
                <c:pt idx="487">
                  <c:v>173.0</c:v>
                </c:pt>
                <c:pt idx="488">
                  <c:v>99.0</c:v>
                </c:pt>
                <c:pt idx="489">
                  <c:v>219.0</c:v>
                </c:pt>
                <c:pt idx="490">
                  <c:v>159.0</c:v>
                </c:pt>
                <c:pt idx="491">
                  <c:v>35.0</c:v>
                </c:pt>
                <c:pt idx="492">
                  <c:v>557.0</c:v>
                </c:pt>
                <c:pt idx="493">
                  <c:v>69.0</c:v>
                </c:pt>
                <c:pt idx="494">
                  <c:v>34.0</c:v>
                </c:pt>
                <c:pt idx="495">
                  <c:v>13.0</c:v>
                </c:pt>
                <c:pt idx="496">
                  <c:v>84.0</c:v>
                </c:pt>
                <c:pt idx="497">
                  <c:v>14.0</c:v>
                </c:pt>
                <c:pt idx="498">
                  <c:v>424.0</c:v>
                </c:pt>
                <c:pt idx="499">
                  <c:v>20.0</c:v>
                </c:pt>
                <c:pt idx="500">
                  <c:v>42.0</c:v>
                </c:pt>
                <c:pt idx="501">
                  <c:v>43.0</c:v>
                </c:pt>
                <c:pt idx="502">
                  <c:v>835.0</c:v>
                </c:pt>
                <c:pt idx="503">
                  <c:v>34.0</c:v>
                </c:pt>
                <c:pt idx="504">
                  <c:v>28.0</c:v>
                </c:pt>
                <c:pt idx="505">
                  <c:v>450.0</c:v>
                </c:pt>
                <c:pt idx="506">
                  <c:v>72.0</c:v>
                </c:pt>
                <c:pt idx="507">
                  <c:v>80.0</c:v>
                </c:pt>
                <c:pt idx="508">
                  <c:v>49.0</c:v>
                </c:pt>
                <c:pt idx="509">
                  <c:v>397.0</c:v>
                </c:pt>
                <c:pt idx="510">
                  <c:v>39.0</c:v>
                </c:pt>
                <c:pt idx="511">
                  <c:v>70.0</c:v>
                </c:pt>
                <c:pt idx="512">
                  <c:v>46.0</c:v>
                </c:pt>
                <c:pt idx="513">
                  <c:v>51.0</c:v>
                </c:pt>
                <c:pt idx="514">
                  <c:v>85.0</c:v>
                </c:pt>
                <c:pt idx="515">
                  <c:v>47.0</c:v>
                </c:pt>
                <c:pt idx="516">
                  <c:v>137.0</c:v>
                </c:pt>
                <c:pt idx="517">
                  <c:v>24.0</c:v>
                </c:pt>
                <c:pt idx="518">
                  <c:v>44.0</c:v>
                </c:pt>
                <c:pt idx="519">
                  <c:v>38.0</c:v>
                </c:pt>
                <c:pt idx="520">
                  <c:v>42.0</c:v>
                </c:pt>
                <c:pt idx="521">
                  <c:v>162.0</c:v>
                </c:pt>
                <c:pt idx="522">
                  <c:v>157.0</c:v>
                </c:pt>
                <c:pt idx="523">
                  <c:v>463.0</c:v>
                </c:pt>
                <c:pt idx="524">
                  <c:v>20.0</c:v>
                </c:pt>
                <c:pt idx="525">
                  <c:v>44.0</c:v>
                </c:pt>
                <c:pt idx="526">
                  <c:v>576.0</c:v>
                </c:pt>
                <c:pt idx="527">
                  <c:v>63.0</c:v>
                </c:pt>
                <c:pt idx="528">
                  <c:v>27.0</c:v>
                </c:pt>
                <c:pt idx="529">
                  <c:v>193.0</c:v>
                </c:pt>
                <c:pt idx="530">
                  <c:v>101.0</c:v>
                </c:pt>
                <c:pt idx="531">
                  <c:v>393.0</c:v>
                </c:pt>
                <c:pt idx="532">
                  <c:v>147.0</c:v>
                </c:pt>
                <c:pt idx="533">
                  <c:v>331.0</c:v>
                </c:pt>
                <c:pt idx="534">
                  <c:v>25.0</c:v>
                </c:pt>
                <c:pt idx="535">
                  <c:v>13.0</c:v>
                </c:pt>
                <c:pt idx="536">
                  <c:v>115.0</c:v>
                </c:pt>
                <c:pt idx="537">
                  <c:v>16.0</c:v>
                </c:pt>
                <c:pt idx="538">
                  <c:v>165.0</c:v>
                </c:pt>
                <c:pt idx="539">
                  <c:v>66.0</c:v>
                </c:pt>
                <c:pt idx="540">
                  <c:v>78.0</c:v>
                </c:pt>
                <c:pt idx="541">
                  <c:v>79.0</c:v>
                </c:pt>
                <c:pt idx="542">
                  <c:v>46.0</c:v>
                </c:pt>
                <c:pt idx="543">
                  <c:v>46.0</c:v>
                </c:pt>
                <c:pt idx="544">
                  <c:v>100.0</c:v>
                </c:pt>
                <c:pt idx="545">
                  <c:v>45.0</c:v>
                </c:pt>
                <c:pt idx="546">
                  <c:v>79.0</c:v>
                </c:pt>
                <c:pt idx="547">
                  <c:v>692.0</c:v>
                </c:pt>
                <c:pt idx="548">
                  <c:v>44.0</c:v>
                </c:pt>
                <c:pt idx="549">
                  <c:v>50.0</c:v>
                </c:pt>
                <c:pt idx="550">
                  <c:v>223.0</c:v>
                </c:pt>
                <c:pt idx="551">
                  <c:v>129.0</c:v>
                </c:pt>
                <c:pt idx="552">
                  <c:v>137.0</c:v>
                </c:pt>
                <c:pt idx="553">
                  <c:v>100.0</c:v>
                </c:pt>
                <c:pt idx="554">
                  <c:v>98.0</c:v>
                </c:pt>
                <c:pt idx="555">
                  <c:v>48.0</c:v>
                </c:pt>
                <c:pt idx="556">
                  <c:v>37.0</c:v>
                </c:pt>
                <c:pt idx="557">
                  <c:v>653.0</c:v>
                </c:pt>
                <c:pt idx="558">
                  <c:v>602.0</c:v>
                </c:pt>
                <c:pt idx="559">
                  <c:v>26.0</c:v>
                </c:pt>
                <c:pt idx="560">
                  <c:v>102.0</c:v>
                </c:pt>
                <c:pt idx="561">
                  <c:v>176.0</c:v>
                </c:pt>
                <c:pt idx="562">
                  <c:v>56.0</c:v>
                </c:pt>
                <c:pt idx="563">
                  <c:v>26.0</c:v>
                </c:pt>
                <c:pt idx="564">
                  <c:v>51.0</c:v>
                </c:pt>
                <c:pt idx="565">
                  <c:v>75.0</c:v>
                </c:pt>
                <c:pt idx="566">
                  <c:v>57.0</c:v>
                </c:pt>
                <c:pt idx="567">
                  <c:v>1021.0</c:v>
                </c:pt>
                <c:pt idx="568">
                  <c:v>57.0</c:v>
                </c:pt>
                <c:pt idx="569">
                  <c:v>28.0</c:v>
                </c:pt>
                <c:pt idx="570">
                  <c:v>123.0</c:v>
                </c:pt>
                <c:pt idx="571">
                  <c:v>43.0</c:v>
                </c:pt>
                <c:pt idx="572">
                  <c:v>8.0</c:v>
                </c:pt>
                <c:pt idx="573">
                  <c:v>103.0</c:v>
                </c:pt>
                <c:pt idx="574">
                  <c:v>25.0</c:v>
                </c:pt>
                <c:pt idx="575">
                  <c:v>22.0</c:v>
                </c:pt>
                <c:pt idx="576">
                  <c:v>81.0</c:v>
                </c:pt>
                <c:pt idx="577">
                  <c:v>38.0</c:v>
                </c:pt>
                <c:pt idx="578">
                  <c:v>68.0</c:v>
                </c:pt>
                <c:pt idx="579">
                  <c:v>31.0</c:v>
                </c:pt>
                <c:pt idx="580">
                  <c:v>66.0</c:v>
                </c:pt>
                <c:pt idx="581">
                  <c:v>312.0</c:v>
                </c:pt>
                <c:pt idx="582">
                  <c:v>29.0</c:v>
                </c:pt>
                <c:pt idx="583">
                  <c:v>94.0</c:v>
                </c:pt>
                <c:pt idx="584">
                  <c:v>56.0</c:v>
                </c:pt>
                <c:pt idx="585">
                  <c:v>125.0</c:v>
                </c:pt>
                <c:pt idx="586">
                  <c:v>69.0</c:v>
                </c:pt>
                <c:pt idx="587">
                  <c:v>46.0</c:v>
                </c:pt>
                <c:pt idx="588">
                  <c:v>17.0</c:v>
                </c:pt>
                <c:pt idx="589">
                  <c:v>141.0</c:v>
                </c:pt>
                <c:pt idx="590">
                  <c:v>106.0</c:v>
                </c:pt>
                <c:pt idx="591">
                  <c:v>85.0</c:v>
                </c:pt>
                <c:pt idx="592">
                  <c:v>32.0</c:v>
                </c:pt>
                <c:pt idx="593">
                  <c:v>52.0</c:v>
                </c:pt>
                <c:pt idx="594">
                  <c:v>15.0</c:v>
                </c:pt>
                <c:pt idx="595">
                  <c:v>53.0</c:v>
                </c:pt>
                <c:pt idx="596">
                  <c:v>84.0</c:v>
                </c:pt>
                <c:pt idx="597">
                  <c:v>1049.0</c:v>
                </c:pt>
                <c:pt idx="598">
                  <c:v>22.0</c:v>
                </c:pt>
                <c:pt idx="599">
                  <c:v>30.0</c:v>
                </c:pt>
              </c:numCache>
            </c:numRef>
          </c:xVal>
          <c:yVal>
            <c:numRef>
              <c:f>Sheet1!$B$2:$B$601</c:f>
              <c:numCache>
                <c:formatCode>General</c:formatCode>
                <c:ptCount val="600"/>
                <c:pt idx="0">
                  <c:v>26646.0</c:v>
                </c:pt>
                <c:pt idx="1">
                  <c:v>33454.0</c:v>
                </c:pt>
                <c:pt idx="2">
                  <c:v>30351.0</c:v>
                </c:pt>
                <c:pt idx="3">
                  <c:v>7500.0</c:v>
                </c:pt>
                <c:pt idx="4">
                  <c:v>17323.0</c:v>
                </c:pt>
                <c:pt idx="5">
                  <c:v>37760.0</c:v>
                </c:pt>
                <c:pt idx="6">
                  <c:v>33812.0</c:v>
                </c:pt>
                <c:pt idx="7">
                  <c:v>37040.0</c:v>
                </c:pt>
                <c:pt idx="8">
                  <c:v>18589.0</c:v>
                </c:pt>
                <c:pt idx="9">
                  <c:v>38360.0</c:v>
                </c:pt>
                <c:pt idx="10">
                  <c:v>10979.0</c:v>
                </c:pt>
                <c:pt idx="11">
                  <c:v>38620.0</c:v>
                </c:pt>
                <c:pt idx="12">
                  <c:v>23718.0</c:v>
                </c:pt>
                <c:pt idx="13">
                  <c:v>20559.0</c:v>
                </c:pt>
                <c:pt idx="14">
                  <c:v>7500.0</c:v>
                </c:pt>
                <c:pt idx="15">
                  <c:v>7500.0</c:v>
                </c:pt>
                <c:pt idx="16">
                  <c:v>41728.0</c:v>
                </c:pt>
                <c:pt idx="17">
                  <c:v>35790.0</c:v>
                </c:pt>
                <c:pt idx="18">
                  <c:v>27938.0</c:v>
                </c:pt>
                <c:pt idx="19">
                  <c:v>25721.0</c:v>
                </c:pt>
                <c:pt idx="20">
                  <c:v>28332.0</c:v>
                </c:pt>
                <c:pt idx="21">
                  <c:v>40246.0</c:v>
                </c:pt>
                <c:pt idx="22">
                  <c:v>26326.0</c:v>
                </c:pt>
                <c:pt idx="23">
                  <c:v>29760.0</c:v>
                </c:pt>
                <c:pt idx="24">
                  <c:v>26304.0</c:v>
                </c:pt>
                <c:pt idx="25">
                  <c:v>23559.0</c:v>
                </c:pt>
                <c:pt idx="26">
                  <c:v>38620.0</c:v>
                </c:pt>
                <c:pt idx="27">
                  <c:v>42394.0</c:v>
                </c:pt>
                <c:pt idx="28">
                  <c:v>23626.0</c:v>
                </c:pt>
                <c:pt idx="29">
                  <c:v>30096.0</c:v>
                </c:pt>
                <c:pt idx="30">
                  <c:v>50150.0</c:v>
                </c:pt>
                <c:pt idx="31">
                  <c:v>24594.0</c:v>
                </c:pt>
                <c:pt idx="32">
                  <c:v>38557.0</c:v>
                </c:pt>
                <c:pt idx="33">
                  <c:v>68126.0</c:v>
                </c:pt>
                <c:pt idx="34">
                  <c:v>21918.0</c:v>
                </c:pt>
                <c:pt idx="35">
                  <c:v>32557.0</c:v>
                </c:pt>
                <c:pt idx="36">
                  <c:v>30992.0</c:v>
                </c:pt>
                <c:pt idx="37">
                  <c:v>9548.0</c:v>
                </c:pt>
                <c:pt idx="38">
                  <c:v>23957.0</c:v>
                </c:pt>
                <c:pt idx="39">
                  <c:v>38547.0</c:v>
                </c:pt>
                <c:pt idx="40">
                  <c:v>49605.0</c:v>
                </c:pt>
                <c:pt idx="41">
                  <c:v>34176.0</c:v>
                </c:pt>
                <c:pt idx="42">
                  <c:v>23228.0</c:v>
                </c:pt>
                <c:pt idx="43">
                  <c:v>52332.0</c:v>
                </c:pt>
                <c:pt idx="44">
                  <c:v>28718.0</c:v>
                </c:pt>
                <c:pt idx="45">
                  <c:v>16248.0</c:v>
                </c:pt>
                <c:pt idx="46">
                  <c:v>30477.0</c:v>
                </c:pt>
                <c:pt idx="47">
                  <c:v>28249.0</c:v>
                </c:pt>
                <c:pt idx="48">
                  <c:v>25271.0</c:v>
                </c:pt>
                <c:pt idx="49">
                  <c:v>24882.0</c:v>
                </c:pt>
                <c:pt idx="50">
                  <c:v>38872.0</c:v>
                </c:pt>
                <c:pt idx="51">
                  <c:v>18890.0</c:v>
                </c:pt>
                <c:pt idx="52">
                  <c:v>29604.0</c:v>
                </c:pt>
                <c:pt idx="53">
                  <c:v>45204.0</c:v>
                </c:pt>
                <c:pt idx="54">
                  <c:v>30732.0</c:v>
                </c:pt>
                <c:pt idx="55">
                  <c:v>42011.0</c:v>
                </c:pt>
                <c:pt idx="56">
                  <c:v>34320.0</c:v>
                </c:pt>
                <c:pt idx="57">
                  <c:v>38590.0</c:v>
                </c:pt>
                <c:pt idx="58">
                  <c:v>15033.0</c:v>
                </c:pt>
                <c:pt idx="59">
                  <c:v>22212.0</c:v>
                </c:pt>
                <c:pt idx="60">
                  <c:v>23661.0</c:v>
                </c:pt>
                <c:pt idx="61">
                  <c:v>7500.0</c:v>
                </c:pt>
                <c:pt idx="62">
                  <c:v>22804.0</c:v>
                </c:pt>
                <c:pt idx="63">
                  <c:v>31160.0</c:v>
                </c:pt>
                <c:pt idx="64">
                  <c:v>29938.0</c:v>
                </c:pt>
                <c:pt idx="65">
                  <c:v>26490.0</c:v>
                </c:pt>
                <c:pt idx="66">
                  <c:v>30899.0</c:v>
                </c:pt>
                <c:pt idx="67">
                  <c:v>15287.0</c:v>
                </c:pt>
                <c:pt idx="68">
                  <c:v>44159.0</c:v>
                </c:pt>
                <c:pt idx="69">
                  <c:v>37717.0</c:v>
                </c:pt>
                <c:pt idx="70">
                  <c:v>22070.0</c:v>
                </c:pt>
                <c:pt idx="71">
                  <c:v>31788.0</c:v>
                </c:pt>
                <c:pt idx="72">
                  <c:v>24480.0</c:v>
                </c:pt>
                <c:pt idx="73">
                  <c:v>37760.0</c:v>
                </c:pt>
                <c:pt idx="74">
                  <c:v>30631.0</c:v>
                </c:pt>
                <c:pt idx="75">
                  <c:v>35416.0</c:v>
                </c:pt>
                <c:pt idx="76">
                  <c:v>32414.0</c:v>
                </c:pt>
                <c:pt idx="77">
                  <c:v>38361.0</c:v>
                </c:pt>
                <c:pt idx="78">
                  <c:v>35388.0</c:v>
                </c:pt>
                <c:pt idx="79">
                  <c:v>42386.0</c:v>
                </c:pt>
                <c:pt idx="80">
                  <c:v>46377.0</c:v>
                </c:pt>
                <c:pt idx="81">
                  <c:v>39747.0</c:v>
                </c:pt>
                <c:pt idx="82">
                  <c:v>23976.0</c:v>
                </c:pt>
                <c:pt idx="83">
                  <c:v>27038.0</c:v>
                </c:pt>
                <c:pt idx="84">
                  <c:v>42670.0</c:v>
                </c:pt>
                <c:pt idx="85">
                  <c:v>12571.0</c:v>
                </c:pt>
                <c:pt idx="86">
                  <c:v>66503.0</c:v>
                </c:pt>
                <c:pt idx="87">
                  <c:v>34421.0</c:v>
                </c:pt>
                <c:pt idx="88">
                  <c:v>14849.0</c:v>
                </c:pt>
                <c:pt idx="89">
                  <c:v>27255.0</c:v>
                </c:pt>
                <c:pt idx="90">
                  <c:v>29999.0</c:v>
                </c:pt>
                <c:pt idx="91">
                  <c:v>24072.0</c:v>
                </c:pt>
                <c:pt idx="92">
                  <c:v>33996.0</c:v>
                </c:pt>
                <c:pt idx="93">
                  <c:v>35178.0</c:v>
                </c:pt>
                <c:pt idx="94">
                  <c:v>22010.0</c:v>
                </c:pt>
                <c:pt idx="95">
                  <c:v>30675.0</c:v>
                </c:pt>
                <c:pt idx="96">
                  <c:v>41411.0</c:v>
                </c:pt>
                <c:pt idx="97">
                  <c:v>27190.0</c:v>
                </c:pt>
                <c:pt idx="98">
                  <c:v>33181.0</c:v>
                </c:pt>
                <c:pt idx="99">
                  <c:v>37717.0</c:v>
                </c:pt>
                <c:pt idx="100">
                  <c:v>31615.0</c:v>
                </c:pt>
                <c:pt idx="101">
                  <c:v>35684.0</c:v>
                </c:pt>
                <c:pt idx="102">
                  <c:v>29548.0</c:v>
                </c:pt>
                <c:pt idx="103">
                  <c:v>22585.0</c:v>
                </c:pt>
                <c:pt idx="104">
                  <c:v>30279.0</c:v>
                </c:pt>
                <c:pt idx="105">
                  <c:v>30822.0</c:v>
                </c:pt>
                <c:pt idx="106">
                  <c:v>19986.0</c:v>
                </c:pt>
                <c:pt idx="107">
                  <c:v>27421.0</c:v>
                </c:pt>
                <c:pt idx="108">
                  <c:v>36143.0</c:v>
                </c:pt>
                <c:pt idx="109">
                  <c:v>10245.0</c:v>
                </c:pt>
                <c:pt idx="110">
                  <c:v>62499.0</c:v>
                </c:pt>
                <c:pt idx="111">
                  <c:v>51012.0</c:v>
                </c:pt>
                <c:pt idx="112">
                  <c:v>15345.0</c:v>
                </c:pt>
                <c:pt idx="113">
                  <c:v>23442.0</c:v>
                </c:pt>
                <c:pt idx="114">
                  <c:v>14515.0</c:v>
                </c:pt>
                <c:pt idx="115">
                  <c:v>30507.0</c:v>
                </c:pt>
                <c:pt idx="116">
                  <c:v>27213.0</c:v>
                </c:pt>
                <c:pt idx="117">
                  <c:v>30351.0</c:v>
                </c:pt>
                <c:pt idx="118">
                  <c:v>23616.0</c:v>
                </c:pt>
                <c:pt idx="119">
                  <c:v>46923.0</c:v>
                </c:pt>
                <c:pt idx="120">
                  <c:v>19789.0</c:v>
                </c:pt>
                <c:pt idx="121">
                  <c:v>37401.0</c:v>
                </c:pt>
                <c:pt idx="122">
                  <c:v>30096.0</c:v>
                </c:pt>
                <c:pt idx="123">
                  <c:v>18492.0</c:v>
                </c:pt>
                <c:pt idx="124">
                  <c:v>10404.0</c:v>
                </c:pt>
                <c:pt idx="125">
                  <c:v>30015.0</c:v>
                </c:pt>
                <c:pt idx="126">
                  <c:v>32011.0</c:v>
                </c:pt>
                <c:pt idx="127">
                  <c:v>7500.0</c:v>
                </c:pt>
                <c:pt idx="128">
                  <c:v>28691.0</c:v>
                </c:pt>
                <c:pt idx="129">
                  <c:v>18100.0</c:v>
                </c:pt>
                <c:pt idx="130">
                  <c:v>30279.0</c:v>
                </c:pt>
                <c:pt idx="131">
                  <c:v>20130.0</c:v>
                </c:pt>
                <c:pt idx="132">
                  <c:v>23295.0</c:v>
                </c:pt>
                <c:pt idx="133">
                  <c:v>42618.0</c:v>
                </c:pt>
                <c:pt idx="134">
                  <c:v>24027.0</c:v>
                </c:pt>
                <c:pt idx="135">
                  <c:v>36230.0</c:v>
                </c:pt>
                <c:pt idx="136">
                  <c:v>42207.0</c:v>
                </c:pt>
                <c:pt idx="137">
                  <c:v>33183.0</c:v>
                </c:pt>
                <c:pt idx="138">
                  <c:v>31880.0</c:v>
                </c:pt>
                <c:pt idx="139">
                  <c:v>37406.0</c:v>
                </c:pt>
                <c:pt idx="140">
                  <c:v>20518.0</c:v>
                </c:pt>
                <c:pt idx="141">
                  <c:v>38961.0</c:v>
                </c:pt>
                <c:pt idx="142">
                  <c:v>37760.0</c:v>
                </c:pt>
                <c:pt idx="143">
                  <c:v>32233.0</c:v>
                </c:pt>
                <c:pt idx="144">
                  <c:v>14045.0</c:v>
                </c:pt>
                <c:pt idx="145">
                  <c:v>28457.0</c:v>
                </c:pt>
                <c:pt idx="146">
                  <c:v>46310.0</c:v>
                </c:pt>
                <c:pt idx="147">
                  <c:v>24279.0</c:v>
                </c:pt>
                <c:pt idx="148">
                  <c:v>34935.0</c:v>
                </c:pt>
                <c:pt idx="149">
                  <c:v>39665.0</c:v>
                </c:pt>
                <c:pt idx="150">
                  <c:v>26095.0</c:v>
                </c:pt>
                <c:pt idx="151">
                  <c:v>42691.0</c:v>
                </c:pt>
                <c:pt idx="152">
                  <c:v>25545.0</c:v>
                </c:pt>
                <c:pt idx="153">
                  <c:v>32880.0</c:v>
                </c:pt>
                <c:pt idx="154">
                  <c:v>50353.0</c:v>
                </c:pt>
                <c:pt idx="155">
                  <c:v>28567.0</c:v>
                </c:pt>
                <c:pt idx="156">
                  <c:v>22944.0</c:v>
                </c:pt>
                <c:pt idx="157">
                  <c:v>25315.0</c:v>
                </c:pt>
                <c:pt idx="158">
                  <c:v>42710.0</c:v>
                </c:pt>
                <c:pt idx="159">
                  <c:v>24683.0</c:v>
                </c:pt>
                <c:pt idx="160">
                  <c:v>47850.0</c:v>
                </c:pt>
                <c:pt idx="161">
                  <c:v>21474.0</c:v>
                </c:pt>
                <c:pt idx="162">
                  <c:v>22419.0</c:v>
                </c:pt>
                <c:pt idx="163">
                  <c:v>54880.0</c:v>
                </c:pt>
                <c:pt idx="164">
                  <c:v>15315.0</c:v>
                </c:pt>
                <c:pt idx="165">
                  <c:v>33039.0</c:v>
                </c:pt>
                <c:pt idx="166">
                  <c:v>38593.0</c:v>
                </c:pt>
                <c:pt idx="167">
                  <c:v>36959.0</c:v>
                </c:pt>
                <c:pt idx="168">
                  <c:v>27450.0</c:v>
                </c:pt>
                <c:pt idx="169">
                  <c:v>39453.0</c:v>
                </c:pt>
                <c:pt idx="170">
                  <c:v>24221.0</c:v>
                </c:pt>
                <c:pt idx="171">
                  <c:v>39684.0</c:v>
                </c:pt>
                <c:pt idx="172">
                  <c:v>33178.0</c:v>
                </c:pt>
                <c:pt idx="173">
                  <c:v>59973.0</c:v>
                </c:pt>
                <c:pt idx="174">
                  <c:v>17459.0</c:v>
                </c:pt>
                <c:pt idx="175">
                  <c:v>23910.0</c:v>
                </c:pt>
                <c:pt idx="176">
                  <c:v>26224.0</c:v>
                </c:pt>
                <c:pt idx="177">
                  <c:v>31089.0</c:v>
                </c:pt>
                <c:pt idx="178">
                  <c:v>21888.0</c:v>
                </c:pt>
                <c:pt idx="179">
                  <c:v>26877.0</c:v>
                </c:pt>
                <c:pt idx="180">
                  <c:v>45006.0</c:v>
                </c:pt>
                <c:pt idx="181">
                  <c:v>18978.0</c:v>
                </c:pt>
                <c:pt idx="182">
                  <c:v>31632.0</c:v>
                </c:pt>
                <c:pt idx="183">
                  <c:v>36975.0</c:v>
                </c:pt>
                <c:pt idx="184">
                  <c:v>13624.0</c:v>
                </c:pt>
                <c:pt idx="185">
                  <c:v>28769.0</c:v>
                </c:pt>
                <c:pt idx="186">
                  <c:v>32218.0</c:v>
                </c:pt>
                <c:pt idx="187">
                  <c:v>55282.0</c:v>
                </c:pt>
                <c:pt idx="188">
                  <c:v>29103.0</c:v>
                </c:pt>
                <c:pt idx="189">
                  <c:v>153924.0</c:v>
                </c:pt>
                <c:pt idx="190">
                  <c:v>26490.0</c:v>
                </c:pt>
                <c:pt idx="191">
                  <c:v>19986.0</c:v>
                </c:pt>
                <c:pt idx="192">
                  <c:v>25965.0</c:v>
                </c:pt>
                <c:pt idx="193">
                  <c:v>14661.0</c:v>
                </c:pt>
                <c:pt idx="194">
                  <c:v>18690.0</c:v>
                </c:pt>
                <c:pt idx="195">
                  <c:v>21063.0</c:v>
                </c:pt>
                <c:pt idx="196">
                  <c:v>29187.0</c:v>
                </c:pt>
                <c:pt idx="197">
                  <c:v>36145.0</c:v>
                </c:pt>
                <c:pt idx="198">
                  <c:v>41039.0</c:v>
                </c:pt>
                <c:pt idx="199">
                  <c:v>13084.0</c:v>
                </c:pt>
                <c:pt idx="200">
                  <c:v>34824.0</c:v>
                </c:pt>
                <c:pt idx="201">
                  <c:v>45938.0</c:v>
                </c:pt>
                <c:pt idx="202">
                  <c:v>41335.0</c:v>
                </c:pt>
                <c:pt idx="203">
                  <c:v>35682.0</c:v>
                </c:pt>
                <c:pt idx="204">
                  <c:v>35178.0</c:v>
                </c:pt>
                <c:pt idx="205">
                  <c:v>25252.0</c:v>
                </c:pt>
                <c:pt idx="206">
                  <c:v>33249.0</c:v>
                </c:pt>
                <c:pt idx="207">
                  <c:v>58398.0</c:v>
                </c:pt>
                <c:pt idx="208">
                  <c:v>25851.0</c:v>
                </c:pt>
                <c:pt idx="209">
                  <c:v>18988.0</c:v>
                </c:pt>
                <c:pt idx="210">
                  <c:v>7500.0</c:v>
                </c:pt>
                <c:pt idx="211">
                  <c:v>17487.0</c:v>
                </c:pt>
                <c:pt idx="212">
                  <c:v>38702.0</c:v>
                </c:pt>
                <c:pt idx="213">
                  <c:v>17003.0</c:v>
                </c:pt>
                <c:pt idx="214">
                  <c:v>33697.0</c:v>
                </c:pt>
                <c:pt idx="215">
                  <c:v>40662.0</c:v>
                </c:pt>
                <c:pt idx="216">
                  <c:v>35523.0</c:v>
                </c:pt>
                <c:pt idx="217">
                  <c:v>31626.0</c:v>
                </c:pt>
                <c:pt idx="218">
                  <c:v>20587.0</c:v>
                </c:pt>
                <c:pt idx="219">
                  <c:v>30467.0</c:v>
                </c:pt>
                <c:pt idx="220">
                  <c:v>31590.0</c:v>
                </c:pt>
                <c:pt idx="221">
                  <c:v>20425.0</c:v>
                </c:pt>
                <c:pt idx="222">
                  <c:v>16813.0</c:v>
                </c:pt>
                <c:pt idx="223">
                  <c:v>45183.0</c:v>
                </c:pt>
                <c:pt idx="224">
                  <c:v>19329.0</c:v>
                </c:pt>
                <c:pt idx="225">
                  <c:v>26872.0</c:v>
                </c:pt>
                <c:pt idx="226">
                  <c:v>21359.0</c:v>
                </c:pt>
                <c:pt idx="227">
                  <c:v>22507.0</c:v>
                </c:pt>
                <c:pt idx="228">
                  <c:v>25804.0</c:v>
                </c:pt>
                <c:pt idx="229">
                  <c:v>22063.0</c:v>
                </c:pt>
                <c:pt idx="230">
                  <c:v>57091.0</c:v>
                </c:pt>
                <c:pt idx="231">
                  <c:v>22419.0</c:v>
                </c:pt>
                <c:pt idx="232">
                  <c:v>16529.0</c:v>
                </c:pt>
                <c:pt idx="233">
                  <c:v>48789.0</c:v>
                </c:pt>
                <c:pt idx="234">
                  <c:v>25130.0</c:v>
                </c:pt>
                <c:pt idx="235">
                  <c:v>49494.0</c:v>
                </c:pt>
                <c:pt idx="236">
                  <c:v>34176.0</c:v>
                </c:pt>
                <c:pt idx="237">
                  <c:v>19419.0</c:v>
                </c:pt>
                <c:pt idx="238">
                  <c:v>23228.0</c:v>
                </c:pt>
                <c:pt idx="239">
                  <c:v>7500.0</c:v>
                </c:pt>
                <c:pt idx="240">
                  <c:v>49514.0</c:v>
                </c:pt>
                <c:pt idx="241">
                  <c:v>19485.0</c:v>
                </c:pt>
                <c:pt idx="242">
                  <c:v>30545.0</c:v>
                </c:pt>
                <c:pt idx="243">
                  <c:v>21675.0</c:v>
                </c:pt>
                <c:pt idx="244">
                  <c:v>39922.0</c:v>
                </c:pt>
                <c:pt idx="245">
                  <c:v>17117.0</c:v>
                </c:pt>
                <c:pt idx="246">
                  <c:v>24762.0</c:v>
                </c:pt>
                <c:pt idx="247">
                  <c:v>36627.0</c:v>
                </c:pt>
                <c:pt idx="248">
                  <c:v>31814.0</c:v>
                </c:pt>
                <c:pt idx="249">
                  <c:v>26868.0</c:v>
                </c:pt>
                <c:pt idx="250">
                  <c:v>21846.0</c:v>
                </c:pt>
                <c:pt idx="251">
                  <c:v>57100.0</c:v>
                </c:pt>
                <c:pt idx="252">
                  <c:v>45684.0</c:v>
                </c:pt>
                <c:pt idx="253">
                  <c:v>47889.0</c:v>
                </c:pt>
                <c:pt idx="254">
                  <c:v>45921.0</c:v>
                </c:pt>
                <c:pt idx="255">
                  <c:v>35641.0</c:v>
                </c:pt>
                <c:pt idx="256">
                  <c:v>39858.0</c:v>
                </c:pt>
                <c:pt idx="257">
                  <c:v>24401.0</c:v>
                </c:pt>
                <c:pt idx="258">
                  <c:v>46107.0</c:v>
                </c:pt>
                <c:pt idx="259">
                  <c:v>25443.0</c:v>
                </c:pt>
                <c:pt idx="260">
                  <c:v>32892.0</c:v>
                </c:pt>
                <c:pt idx="261">
                  <c:v>14906.0</c:v>
                </c:pt>
                <c:pt idx="262">
                  <c:v>51563.0</c:v>
                </c:pt>
                <c:pt idx="263">
                  <c:v>39771.0</c:v>
                </c:pt>
                <c:pt idx="264">
                  <c:v>27922.0</c:v>
                </c:pt>
                <c:pt idx="265">
                  <c:v>42767.0</c:v>
                </c:pt>
                <c:pt idx="266">
                  <c:v>41021.0</c:v>
                </c:pt>
                <c:pt idx="267">
                  <c:v>33471.0</c:v>
                </c:pt>
                <c:pt idx="268">
                  <c:v>34596.0</c:v>
                </c:pt>
                <c:pt idx="269">
                  <c:v>15716.0</c:v>
                </c:pt>
                <c:pt idx="270">
                  <c:v>4861.0</c:v>
                </c:pt>
                <c:pt idx="271">
                  <c:v>33462.0</c:v>
                </c:pt>
                <c:pt idx="272">
                  <c:v>24884.0</c:v>
                </c:pt>
                <c:pt idx="273">
                  <c:v>64449.0</c:v>
                </c:pt>
                <c:pt idx="274">
                  <c:v>34824.0</c:v>
                </c:pt>
                <c:pt idx="275">
                  <c:v>22434.0</c:v>
                </c:pt>
                <c:pt idx="276">
                  <c:v>30168.0</c:v>
                </c:pt>
                <c:pt idx="277">
                  <c:v>59412.0</c:v>
                </c:pt>
                <c:pt idx="278">
                  <c:v>54165.0</c:v>
                </c:pt>
                <c:pt idx="279">
                  <c:v>32300.0</c:v>
                </c:pt>
                <c:pt idx="280">
                  <c:v>20180.0</c:v>
                </c:pt>
                <c:pt idx="281">
                  <c:v>34961.0</c:v>
                </c:pt>
                <c:pt idx="282">
                  <c:v>28440.0</c:v>
                </c:pt>
                <c:pt idx="283">
                  <c:v>17345.0</c:v>
                </c:pt>
                <c:pt idx="284">
                  <c:v>28647.0</c:v>
                </c:pt>
                <c:pt idx="285">
                  <c:v>15038.0</c:v>
                </c:pt>
                <c:pt idx="286">
                  <c:v>31056.0</c:v>
                </c:pt>
                <c:pt idx="287">
                  <c:v>28071.0</c:v>
                </c:pt>
                <c:pt idx="288">
                  <c:v>37126.0</c:v>
                </c:pt>
                <c:pt idx="289">
                  <c:v>8028.0</c:v>
                </c:pt>
                <c:pt idx="290">
                  <c:v>34728.0</c:v>
                </c:pt>
                <c:pt idx="291">
                  <c:v>27100.0</c:v>
                </c:pt>
                <c:pt idx="292">
                  <c:v>53312.0</c:v>
                </c:pt>
                <c:pt idx="293">
                  <c:v>42000.0</c:v>
                </c:pt>
                <c:pt idx="294">
                  <c:v>22304.0</c:v>
                </c:pt>
                <c:pt idx="295">
                  <c:v>32892.0</c:v>
                </c:pt>
                <c:pt idx="296">
                  <c:v>46610.0</c:v>
                </c:pt>
                <c:pt idx="297">
                  <c:v>50014.0</c:v>
                </c:pt>
                <c:pt idx="298">
                  <c:v>41014.0</c:v>
                </c:pt>
                <c:pt idx="299">
                  <c:v>40479.0</c:v>
                </c:pt>
                <c:pt idx="300">
                  <c:v>43776.0</c:v>
                </c:pt>
                <c:pt idx="301">
                  <c:v>39190.0</c:v>
                </c:pt>
                <c:pt idx="302">
                  <c:v>61825.0</c:v>
                </c:pt>
                <c:pt idx="303">
                  <c:v>27590.0</c:v>
                </c:pt>
                <c:pt idx="304">
                  <c:v>53187.0</c:v>
                </c:pt>
                <c:pt idx="305">
                  <c:v>30023.0</c:v>
                </c:pt>
                <c:pt idx="306">
                  <c:v>15315.0</c:v>
                </c:pt>
                <c:pt idx="307">
                  <c:v>16269.0</c:v>
                </c:pt>
                <c:pt idx="308">
                  <c:v>33569.0</c:v>
                </c:pt>
                <c:pt idx="309">
                  <c:v>36262.0</c:v>
                </c:pt>
                <c:pt idx="310">
                  <c:v>22634.0</c:v>
                </c:pt>
                <c:pt idx="311">
                  <c:v>31605.0</c:v>
                </c:pt>
                <c:pt idx="312">
                  <c:v>48526.0</c:v>
                </c:pt>
                <c:pt idx="313">
                  <c:v>16581.0</c:v>
                </c:pt>
                <c:pt idx="314">
                  <c:v>42693.0</c:v>
                </c:pt>
                <c:pt idx="315">
                  <c:v>49669.0</c:v>
                </c:pt>
                <c:pt idx="316">
                  <c:v>10979.0</c:v>
                </c:pt>
                <c:pt idx="317">
                  <c:v>37155.0</c:v>
                </c:pt>
                <c:pt idx="318">
                  <c:v>21282.0</c:v>
                </c:pt>
                <c:pt idx="319">
                  <c:v>21255.0</c:v>
                </c:pt>
                <c:pt idx="320">
                  <c:v>42162.0</c:v>
                </c:pt>
                <c:pt idx="321">
                  <c:v>26576.0</c:v>
                </c:pt>
                <c:pt idx="322">
                  <c:v>7500.0</c:v>
                </c:pt>
                <c:pt idx="323">
                  <c:v>14421.0</c:v>
                </c:pt>
                <c:pt idx="324">
                  <c:v>20130.0</c:v>
                </c:pt>
                <c:pt idx="325">
                  <c:v>23724.0</c:v>
                </c:pt>
                <c:pt idx="326">
                  <c:v>26954.0</c:v>
                </c:pt>
                <c:pt idx="327">
                  <c:v>22327.0</c:v>
                </c:pt>
                <c:pt idx="328">
                  <c:v>15287.0</c:v>
                </c:pt>
                <c:pt idx="329">
                  <c:v>18351.0</c:v>
                </c:pt>
                <c:pt idx="330">
                  <c:v>8940.0</c:v>
                </c:pt>
                <c:pt idx="331">
                  <c:v>26228.0</c:v>
                </c:pt>
                <c:pt idx="332">
                  <c:v>22518.0</c:v>
                </c:pt>
                <c:pt idx="333">
                  <c:v>38197.0</c:v>
                </c:pt>
                <c:pt idx="334">
                  <c:v>28427.0</c:v>
                </c:pt>
                <c:pt idx="335">
                  <c:v>37395.0</c:v>
                </c:pt>
                <c:pt idx="336">
                  <c:v>28691.0</c:v>
                </c:pt>
                <c:pt idx="337">
                  <c:v>25707.0</c:v>
                </c:pt>
                <c:pt idx="338">
                  <c:v>1730.0</c:v>
                </c:pt>
                <c:pt idx="339">
                  <c:v>7500.0</c:v>
                </c:pt>
                <c:pt idx="340">
                  <c:v>20427.0</c:v>
                </c:pt>
                <c:pt idx="341">
                  <c:v>19656.0</c:v>
                </c:pt>
                <c:pt idx="342">
                  <c:v>38808.0</c:v>
                </c:pt>
                <c:pt idx="343">
                  <c:v>23748.0</c:v>
                </c:pt>
                <c:pt idx="344">
                  <c:v>37368.0</c:v>
                </c:pt>
                <c:pt idx="345">
                  <c:v>49118.0</c:v>
                </c:pt>
                <c:pt idx="346">
                  <c:v>39767.0</c:v>
                </c:pt>
                <c:pt idx="347">
                  <c:v>26997.0</c:v>
                </c:pt>
                <c:pt idx="348">
                  <c:v>33986.0</c:v>
                </c:pt>
                <c:pt idx="349">
                  <c:v>15759.0</c:v>
                </c:pt>
                <c:pt idx="350">
                  <c:v>22804.0</c:v>
                </c:pt>
                <c:pt idx="351">
                  <c:v>43050.0</c:v>
                </c:pt>
                <c:pt idx="352">
                  <c:v>34043.0</c:v>
                </c:pt>
                <c:pt idx="353">
                  <c:v>23148.0</c:v>
                </c:pt>
                <c:pt idx="354">
                  <c:v>37235.0</c:v>
                </c:pt>
                <c:pt idx="355">
                  <c:v>18393.0</c:v>
                </c:pt>
                <c:pt idx="356">
                  <c:v>24711.0</c:v>
                </c:pt>
                <c:pt idx="357">
                  <c:v>45503.0</c:v>
                </c:pt>
                <c:pt idx="358">
                  <c:v>6560.0</c:v>
                </c:pt>
                <c:pt idx="359">
                  <c:v>27244.0</c:v>
                </c:pt>
                <c:pt idx="360">
                  <c:v>35876.0</c:v>
                </c:pt>
                <c:pt idx="361">
                  <c:v>39660.0</c:v>
                </c:pt>
                <c:pt idx="362">
                  <c:v>18929.0</c:v>
                </c:pt>
                <c:pt idx="363">
                  <c:v>24367.0</c:v>
                </c:pt>
                <c:pt idx="364">
                  <c:v>33249.0</c:v>
                </c:pt>
                <c:pt idx="365">
                  <c:v>50150.0</c:v>
                </c:pt>
                <c:pt idx="366">
                  <c:v>18227.0</c:v>
                </c:pt>
                <c:pt idx="367">
                  <c:v>38136.0</c:v>
                </c:pt>
                <c:pt idx="368">
                  <c:v>17256.0</c:v>
                </c:pt>
                <c:pt idx="369">
                  <c:v>37971.0</c:v>
                </c:pt>
                <c:pt idx="370">
                  <c:v>41335.0</c:v>
                </c:pt>
                <c:pt idx="371">
                  <c:v>21355.0</c:v>
                </c:pt>
                <c:pt idx="372">
                  <c:v>20895.0</c:v>
                </c:pt>
                <c:pt idx="373">
                  <c:v>22682.0</c:v>
                </c:pt>
                <c:pt idx="374">
                  <c:v>38887.0</c:v>
                </c:pt>
                <c:pt idx="375">
                  <c:v>29791.0</c:v>
                </c:pt>
                <c:pt idx="376">
                  <c:v>26759.0</c:v>
                </c:pt>
                <c:pt idx="377">
                  <c:v>34412.0</c:v>
                </c:pt>
                <c:pt idx="378">
                  <c:v>57537.0</c:v>
                </c:pt>
                <c:pt idx="379">
                  <c:v>22634.0</c:v>
                </c:pt>
                <c:pt idx="380">
                  <c:v>51315.0</c:v>
                </c:pt>
                <c:pt idx="381">
                  <c:v>18690.0</c:v>
                </c:pt>
                <c:pt idx="382">
                  <c:v>28164.0</c:v>
                </c:pt>
                <c:pt idx="383">
                  <c:v>34596.0</c:v>
                </c:pt>
                <c:pt idx="384">
                  <c:v>43269.0</c:v>
                </c:pt>
                <c:pt idx="385">
                  <c:v>31907.0</c:v>
                </c:pt>
                <c:pt idx="386">
                  <c:v>27100.0</c:v>
                </c:pt>
                <c:pt idx="387">
                  <c:v>31163.0</c:v>
                </c:pt>
                <c:pt idx="388">
                  <c:v>20491.0</c:v>
                </c:pt>
                <c:pt idx="389">
                  <c:v>42523.0</c:v>
                </c:pt>
                <c:pt idx="390">
                  <c:v>39922.0</c:v>
                </c:pt>
                <c:pt idx="391">
                  <c:v>21645.0</c:v>
                </c:pt>
                <c:pt idx="392">
                  <c:v>51876.0</c:v>
                </c:pt>
                <c:pt idx="393">
                  <c:v>40304.0</c:v>
                </c:pt>
                <c:pt idx="394">
                  <c:v>32727.0</c:v>
                </c:pt>
                <c:pt idx="395">
                  <c:v>38410.0</c:v>
                </c:pt>
                <c:pt idx="396">
                  <c:v>16531.0</c:v>
                </c:pt>
                <c:pt idx="397">
                  <c:v>28072.0</c:v>
                </c:pt>
                <c:pt idx="398">
                  <c:v>34380.0</c:v>
                </c:pt>
                <c:pt idx="399">
                  <c:v>41020.0</c:v>
                </c:pt>
                <c:pt idx="400">
                  <c:v>19414.0</c:v>
                </c:pt>
                <c:pt idx="401">
                  <c:v>19107.0</c:v>
                </c:pt>
                <c:pt idx="402">
                  <c:v>35765.0</c:v>
                </c:pt>
                <c:pt idx="403">
                  <c:v>32952.0</c:v>
                </c:pt>
                <c:pt idx="404">
                  <c:v>31163.0</c:v>
                </c:pt>
                <c:pt idx="405">
                  <c:v>63206.0</c:v>
                </c:pt>
                <c:pt idx="406">
                  <c:v>20981.0</c:v>
                </c:pt>
                <c:pt idx="407">
                  <c:v>51766.0</c:v>
                </c:pt>
                <c:pt idx="408">
                  <c:v>33039.0</c:v>
                </c:pt>
                <c:pt idx="409">
                  <c:v>37787.0</c:v>
                </c:pt>
                <c:pt idx="410">
                  <c:v>27242.0</c:v>
                </c:pt>
                <c:pt idx="411">
                  <c:v>37697.0</c:v>
                </c:pt>
                <c:pt idx="412">
                  <c:v>37401.0</c:v>
                </c:pt>
                <c:pt idx="413">
                  <c:v>3502.0</c:v>
                </c:pt>
                <c:pt idx="414">
                  <c:v>23331.0</c:v>
                </c:pt>
                <c:pt idx="415">
                  <c:v>23331.0</c:v>
                </c:pt>
                <c:pt idx="416">
                  <c:v>9255.0</c:v>
                </c:pt>
                <c:pt idx="417">
                  <c:v>31928.0</c:v>
                </c:pt>
                <c:pt idx="418">
                  <c:v>42386.0</c:v>
                </c:pt>
                <c:pt idx="419">
                  <c:v>30390.0</c:v>
                </c:pt>
                <c:pt idx="420">
                  <c:v>30983.0</c:v>
                </c:pt>
                <c:pt idx="421">
                  <c:v>31859.0</c:v>
                </c:pt>
                <c:pt idx="422">
                  <c:v>39922.0</c:v>
                </c:pt>
                <c:pt idx="423">
                  <c:v>24645.0</c:v>
                </c:pt>
                <c:pt idx="424">
                  <c:v>44322.0</c:v>
                </c:pt>
                <c:pt idx="425">
                  <c:v>27161.0</c:v>
                </c:pt>
                <c:pt idx="426">
                  <c:v>34935.0</c:v>
                </c:pt>
                <c:pt idx="427">
                  <c:v>61482.0</c:v>
                </c:pt>
                <c:pt idx="428">
                  <c:v>34968.0</c:v>
                </c:pt>
                <c:pt idx="429">
                  <c:v>13724.0</c:v>
                </c:pt>
                <c:pt idx="430">
                  <c:v>36108.0</c:v>
                </c:pt>
                <c:pt idx="431">
                  <c:v>36663.0</c:v>
                </c:pt>
                <c:pt idx="432">
                  <c:v>51250.0</c:v>
                </c:pt>
                <c:pt idx="433">
                  <c:v>12393.0</c:v>
                </c:pt>
                <c:pt idx="434">
                  <c:v>33955.0</c:v>
                </c:pt>
                <c:pt idx="435">
                  <c:v>28359.0</c:v>
                </c:pt>
                <c:pt idx="436">
                  <c:v>57100.0</c:v>
                </c:pt>
                <c:pt idx="437">
                  <c:v>18793.0</c:v>
                </c:pt>
                <c:pt idx="438">
                  <c:v>41003.0</c:v>
                </c:pt>
                <c:pt idx="439">
                  <c:v>19444.0</c:v>
                </c:pt>
                <c:pt idx="440">
                  <c:v>36301.0</c:v>
                </c:pt>
                <c:pt idx="441">
                  <c:v>42731.0</c:v>
                </c:pt>
                <c:pt idx="442">
                  <c:v>22775.0</c:v>
                </c:pt>
                <c:pt idx="443">
                  <c:v>30560.0</c:v>
                </c:pt>
                <c:pt idx="444">
                  <c:v>24594.0</c:v>
                </c:pt>
                <c:pt idx="445">
                  <c:v>39228.0</c:v>
                </c:pt>
                <c:pt idx="446">
                  <c:v>22448.0</c:v>
                </c:pt>
                <c:pt idx="447">
                  <c:v>35544.0</c:v>
                </c:pt>
                <c:pt idx="448">
                  <c:v>33996.0</c:v>
                </c:pt>
                <c:pt idx="449">
                  <c:v>41473.0</c:v>
                </c:pt>
                <c:pt idx="450">
                  <c:v>37929.0</c:v>
                </c:pt>
                <c:pt idx="451">
                  <c:v>20193.0</c:v>
                </c:pt>
                <c:pt idx="452">
                  <c:v>27573.0</c:v>
                </c:pt>
                <c:pt idx="453">
                  <c:v>15862.0</c:v>
                </c:pt>
                <c:pt idx="454">
                  <c:v>33228.0</c:v>
                </c:pt>
                <c:pt idx="455">
                  <c:v>23536.0</c:v>
                </c:pt>
                <c:pt idx="456">
                  <c:v>18169.0</c:v>
                </c:pt>
                <c:pt idx="457">
                  <c:v>24336.0</c:v>
                </c:pt>
                <c:pt idx="458">
                  <c:v>18222.0</c:v>
                </c:pt>
                <c:pt idx="459">
                  <c:v>18358.0</c:v>
                </c:pt>
                <c:pt idx="460">
                  <c:v>9722.0</c:v>
                </c:pt>
                <c:pt idx="461">
                  <c:v>38175.0</c:v>
                </c:pt>
                <c:pt idx="462">
                  <c:v>18746.0</c:v>
                </c:pt>
                <c:pt idx="463">
                  <c:v>17688.0</c:v>
                </c:pt>
                <c:pt idx="464">
                  <c:v>38513.0</c:v>
                </c:pt>
                <c:pt idx="465">
                  <c:v>16653.0</c:v>
                </c:pt>
                <c:pt idx="466">
                  <c:v>18690.0</c:v>
                </c:pt>
                <c:pt idx="467">
                  <c:v>42403.0</c:v>
                </c:pt>
                <c:pt idx="468">
                  <c:v>45576.0</c:v>
                </c:pt>
                <c:pt idx="469">
                  <c:v>28389.0</c:v>
                </c:pt>
                <c:pt idx="470">
                  <c:v>31859.0</c:v>
                </c:pt>
                <c:pt idx="471">
                  <c:v>39763.0</c:v>
                </c:pt>
                <c:pt idx="472">
                  <c:v>13533.0</c:v>
                </c:pt>
                <c:pt idx="473">
                  <c:v>21955.0</c:v>
                </c:pt>
                <c:pt idx="474">
                  <c:v>36802.0</c:v>
                </c:pt>
                <c:pt idx="475">
                  <c:v>28249.0</c:v>
                </c:pt>
                <c:pt idx="476">
                  <c:v>25509.0</c:v>
                </c:pt>
                <c:pt idx="477">
                  <c:v>51012.0</c:v>
                </c:pt>
                <c:pt idx="478">
                  <c:v>29760.0</c:v>
                </c:pt>
                <c:pt idx="479">
                  <c:v>28973.0</c:v>
                </c:pt>
                <c:pt idx="480">
                  <c:v>39435.0</c:v>
                </c:pt>
                <c:pt idx="481">
                  <c:v>20194.0</c:v>
                </c:pt>
                <c:pt idx="482">
                  <c:v>36075.0</c:v>
                </c:pt>
                <c:pt idx="483">
                  <c:v>37697.0</c:v>
                </c:pt>
                <c:pt idx="484">
                  <c:v>36273.0</c:v>
                </c:pt>
                <c:pt idx="485">
                  <c:v>21840.0</c:v>
                </c:pt>
                <c:pt idx="486">
                  <c:v>25293.0</c:v>
                </c:pt>
                <c:pt idx="487">
                  <c:v>22669.0</c:v>
                </c:pt>
                <c:pt idx="488">
                  <c:v>29236.0</c:v>
                </c:pt>
                <c:pt idx="489">
                  <c:v>48186.0</c:v>
                </c:pt>
                <c:pt idx="490">
                  <c:v>32313.0</c:v>
                </c:pt>
                <c:pt idx="491">
                  <c:v>27071.0</c:v>
                </c:pt>
                <c:pt idx="492">
                  <c:v>86836.0</c:v>
                </c:pt>
                <c:pt idx="493">
                  <c:v>30093.0</c:v>
                </c:pt>
                <c:pt idx="494">
                  <c:v>25008.0</c:v>
                </c:pt>
                <c:pt idx="495">
                  <c:v>22280.0</c:v>
                </c:pt>
                <c:pt idx="496">
                  <c:v>21024.0</c:v>
                </c:pt>
                <c:pt idx="497">
                  <c:v>11448.0</c:v>
                </c:pt>
                <c:pt idx="498">
                  <c:v>61825.0</c:v>
                </c:pt>
                <c:pt idx="499">
                  <c:v>34738.0</c:v>
                </c:pt>
                <c:pt idx="500">
                  <c:v>26642.0</c:v>
                </c:pt>
                <c:pt idx="501">
                  <c:v>23830.0</c:v>
                </c:pt>
                <c:pt idx="502">
                  <c:v>33051.0</c:v>
                </c:pt>
                <c:pt idx="503">
                  <c:v>30396.0</c:v>
                </c:pt>
                <c:pt idx="504">
                  <c:v>30298.0</c:v>
                </c:pt>
                <c:pt idx="505">
                  <c:v>52413.0</c:v>
                </c:pt>
                <c:pt idx="506">
                  <c:v>31158.0</c:v>
                </c:pt>
                <c:pt idx="507">
                  <c:v>24882.0</c:v>
                </c:pt>
                <c:pt idx="508">
                  <c:v>22148.0</c:v>
                </c:pt>
                <c:pt idx="509">
                  <c:v>73395.0</c:v>
                </c:pt>
                <c:pt idx="510">
                  <c:v>29819.0</c:v>
                </c:pt>
                <c:pt idx="511">
                  <c:v>33235.0</c:v>
                </c:pt>
                <c:pt idx="512">
                  <c:v>35701.0</c:v>
                </c:pt>
                <c:pt idx="513">
                  <c:v>31535.0</c:v>
                </c:pt>
                <c:pt idx="514">
                  <c:v>18929.0</c:v>
                </c:pt>
                <c:pt idx="515">
                  <c:v>36038.0</c:v>
                </c:pt>
                <c:pt idx="516">
                  <c:v>20180.0</c:v>
                </c:pt>
                <c:pt idx="517">
                  <c:v>22701.0</c:v>
                </c:pt>
                <c:pt idx="518">
                  <c:v>21059.0</c:v>
                </c:pt>
                <c:pt idx="519">
                  <c:v>25410.0</c:v>
                </c:pt>
                <c:pt idx="520">
                  <c:v>23763.0</c:v>
                </c:pt>
                <c:pt idx="521">
                  <c:v>34529.0</c:v>
                </c:pt>
                <c:pt idx="522">
                  <c:v>51141.0</c:v>
                </c:pt>
                <c:pt idx="523">
                  <c:v>61798.0</c:v>
                </c:pt>
                <c:pt idx="524">
                  <c:v>29478.0</c:v>
                </c:pt>
                <c:pt idx="525">
                  <c:v>39062.0</c:v>
                </c:pt>
                <c:pt idx="526">
                  <c:v>32632.0</c:v>
                </c:pt>
                <c:pt idx="527">
                  <c:v>36781.0</c:v>
                </c:pt>
                <c:pt idx="528">
                  <c:v>31385.0</c:v>
                </c:pt>
                <c:pt idx="529">
                  <c:v>24570.0</c:v>
                </c:pt>
                <c:pt idx="530">
                  <c:v>25509.0</c:v>
                </c:pt>
                <c:pt idx="531">
                  <c:v>51373.0</c:v>
                </c:pt>
                <c:pt idx="532">
                  <c:v>23477.0</c:v>
                </c:pt>
                <c:pt idx="533">
                  <c:v>67506.0</c:v>
                </c:pt>
                <c:pt idx="534">
                  <c:v>24206.0</c:v>
                </c:pt>
                <c:pt idx="535">
                  <c:v>28420.0</c:v>
                </c:pt>
                <c:pt idx="536">
                  <c:v>22979.0</c:v>
                </c:pt>
                <c:pt idx="537">
                  <c:v>33279.0</c:v>
                </c:pt>
                <c:pt idx="538">
                  <c:v>39146.0</c:v>
                </c:pt>
                <c:pt idx="539">
                  <c:v>36790.0</c:v>
                </c:pt>
                <c:pt idx="540">
                  <c:v>28587.0</c:v>
                </c:pt>
                <c:pt idx="541">
                  <c:v>43815.0</c:v>
                </c:pt>
                <c:pt idx="542">
                  <c:v>32765.0</c:v>
                </c:pt>
                <c:pt idx="543">
                  <c:v>23272.0</c:v>
                </c:pt>
                <c:pt idx="544">
                  <c:v>7500.0</c:v>
                </c:pt>
                <c:pt idx="545">
                  <c:v>17649.0</c:v>
                </c:pt>
                <c:pt idx="546">
                  <c:v>38680.0</c:v>
                </c:pt>
                <c:pt idx="547">
                  <c:v>49767.0</c:v>
                </c:pt>
                <c:pt idx="548">
                  <c:v>29009.0</c:v>
                </c:pt>
                <c:pt idx="549">
                  <c:v>45057.0</c:v>
                </c:pt>
                <c:pt idx="550">
                  <c:v>43020.0</c:v>
                </c:pt>
                <c:pt idx="551">
                  <c:v>23478.0</c:v>
                </c:pt>
                <c:pt idx="552">
                  <c:v>38361.0</c:v>
                </c:pt>
                <c:pt idx="553">
                  <c:v>42192.0</c:v>
                </c:pt>
                <c:pt idx="554">
                  <c:v>31761.0</c:v>
                </c:pt>
                <c:pt idx="555">
                  <c:v>34350.0</c:v>
                </c:pt>
                <c:pt idx="556">
                  <c:v>25293.0</c:v>
                </c:pt>
                <c:pt idx="557">
                  <c:v>42000.0</c:v>
                </c:pt>
                <c:pt idx="558">
                  <c:v>64713.0</c:v>
                </c:pt>
                <c:pt idx="559">
                  <c:v>27889.0</c:v>
                </c:pt>
                <c:pt idx="560">
                  <c:v>22123.0</c:v>
                </c:pt>
                <c:pt idx="561">
                  <c:v>27803.0</c:v>
                </c:pt>
                <c:pt idx="562">
                  <c:v>30828.0</c:v>
                </c:pt>
                <c:pt idx="563">
                  <c:v>22390.0</c:v>
                </c:pt>
                <c:pt idx="564">
                  <c:v>14796.0</c:v>
                </c:pt>
                <c:pt idx="565">
                  <c:v>14188.0</c:v>
                </c:pt>
                <c:pt idx="566">
                  <c:v>20425.0</c:v>
                </c:pt>
                <c:pt idx="567">
                  <c:v>44953.0</c:v>
                </c:pt>
                <c:pt idx="568">
                  <c:v>27733.0</c:v>
                </c:pt>
                <c:pt idx="569">
                  <c:v>25818.0</c:v>
                </c:pt>
                <c:pt idx="570">
                  <c:v>37509.0</c:v>
                </c:pt>
                <c:pt idx="571">
                  <c:v>30992.0</c:v>
                </c:pt>
                <c:pt idx="572">
                  <c:v>156924.0</c:v>
                </c:pt>
                <c:pt idx="573">
                  <c:v>16005.0</c:v>
                </c:pt>
                <c:pt idx="574">
                  <c:v>20587.0</c:v>
                </c:pt>
                <c:pt idx="575">
                  <c:v>19346.0</c:v>
                </c:pt>
                <c:pt idx="576">
                  <c:v>23539.0</c:v>
                </c:pt>
                <c:pt idx="577">
                  <c:v>29732.0</c:v>
                </c:pt>
                <c:pt idx="578">
                  <c:v>17148.0</c:v>
                </c:pt>
                <c:pt idx="579">
                  <c:v>30560.0</c:v>
                </c:pt>
                <c:pt idx="580">
                  <c:v>32146.0</c:v>
                </c:pt>
                <c:pt idx="581">
                  <c:v>62994.0</c:v>
                </c:pt>
                <c:pt idx="582">
                  <c:v>15253.0</c:v>
                </c:pt>
                <c:pt idx="583">
                  <c:v>31560.0</c:v>
                </c:pt>
                <c:pt idx="584">
                  <c:v>26067.0</c:v>
                </c:pt>
                <c:pt idx="585">
                  <c:v>42523.0</c:v>
                </c:pt>
                <c:pt idx="586">
                  <c:v>26487.0</c:v>
                </c:pt>
                <c:pt idx="587">
                  <c:v>25224.0</c:v>
                </c:pt>
                <c:pt idx="588">
                  <c:v>27469.0</c:v>
                </c:pt>
                <c:pt idx="589">
                  <c:v>43322.0</c:v>
                </c:pt>
                <c:pt idx="590">
                  <c:v>16185.0</c:v>
                </c:pt>
                <c:pt idx="591">
                  <c:v>18929.0</c:v>
                </c:pt>
                <c:pt idx="592">
                  <c:v>5305.0</c:v>
                </c:pt>
                <c:pt idx="593">
                  <c:v>28427.0</c:v>
                </c:pt>
                <c:pt idx="594">
                  <c:v>22775.0</c:v>
                </c:pt>
                <c:pt idx="595">
                  <c:v>7500.0</c:v>
                </c:pt>
                <c:pt idx="596">
                  <c:v>11012.0</c:v>
                </c:pt>
                <c:pt idx="597">
                  <c:v>44802.0</c:v>
                </c:pt>
                <c:pt idx="598">
                  <c:v>26816.0</c:v>
                </c:pt>
                <c:pt idx="599">
                  <c:v>34421.0</c:v>
                </c:pt>
              </c:numCache>
            </c:numRef>
          </c:yVal>
          <c:smooth val="0"/>
        </c:ser>
        <c:ser>
          <c:idx val="1"/>
          <c:order val="1"/>
          <c:tx>
            <c:strRef>
              <c:f>Sheet1!$B$603</c:f>
              <c:strCache>
                <c:ptCount val="1"/>
                <c:pt idx="0">
                  <c:v>C1</c:v>
                </c:pt>
              </c:strCache>
            </c:strRef>
          </c:tx>
          <c:spPr>
            <a:solidFill>
              <a:srgbClr val="0F766E"/>
            </a:solidFill>
            <a:ln>
              <a:noFill/>
            </a:ln>
            <a:effectLst/>
          </c:spPr>
          <c:marker>
            <c:symbol val="circle"/>
            <c:size val="4"/>
            <c:spPr>
              <a:solidFill>
                <a:srgbClr val="0F766E"/>
              </a:solidFill>
              <a:ln w="3810" cap="flat">
                <a:solidFill>
                  <a:srgbClr val="0F766E"/>
                </a:solidFill>
                <a:prstDash val="solid"/>
                <a:round/>
              </a:ln>
              <a:effectLst/>
            </c:spPr>
          </c:marker>
          <c:xVal>
            <c:numRef>
              <c:f>Sheet1!$A$604:$A$1112</c:f>
              <c:numCache>
                <c:formatCode>General</c:formatCode>
                <c:ptCount val="509"/>
                <c:pt idx="0">
                  <c:v>27.0</c:v>
                </c:pt>
                <c:pt idx="1">
                  <c:v>49.0</c:v>
                </c:pt>
                <c:pt idx="2">
                  <c:v>96.0</c:v>
                </c:pt>
                <c:pt idx="3">
                  <c:v>257.0</c:v>
                </c:pt>
                <c:pt idx="4">
                  <c:v>120.0</c:v>
                </c:pt>
                <c:pt idx="5">
                  <c:v>65.0</c:v>
                </c:pt>
                <c:pt idx="6">
                  <c:v>67.0</c:v>
                </c:pt>
                <c:pt idx="7">
                  <c:v>22.0</c:v>
                </c:pt>
                <c:pt idx="8">
                  <c:v>11.0</c:v>
                </c:pt>
                <c:pt idx="9">
                  <c:v>56.0</c:v>
                </c:pt>
                <c:pt idx="10">
                  <c:v>151.0</c:v>
                </c:pt>
                <c:pt idx="11">
                  <c:v>372.0</c:v>
                </c:pt>
                <c:pt idx="12">
                  <c:v>194.0</c:v>
                </c:pt>
                <c:pt idx="13">
                  <c:v>63.0</c:v>
                </c:pt>
                <c:pt idx="14">
                  <c:v>72.0</c:v>
                </c:pt>
                <c:pt idx="15">
                  <c:v>55.0</c:v>
                </c:pt>
                <c:pt idx="16">
                  <c:v>187.0</c:v>
                </c:pt>
                <c:pt idx="17">
                  <c:v>114.0</c:v>
                </c:pt>
                <c:pt idx="18">
                  <c:v>81.0</c:v>
                </c:pt>
                <c:pt idx="19">
                  <c:v>30.0</c:v>
                </c:pt>
                <c:pt idx="20">
                  <c:v>90.0</c:v>
                </c:pt>
                <c:pt idx="21">
                  <c:v>279.0</c:v>
                </c:pt>
                <c:pt idx="22">
                  <c:v>106.0</c:v>
                </c:pt>
                <c:pt idx="23">
                  <c:v>49.0</c:v>
                </c:pt>
                <c:pt idx="24">
                  <c:v>38.0</c:v>
                </c:pt>
                <c:pt idx="25">
                  <c:v>211.0</c:v>
                </c:pt>
                <c:pt idx="26">
                  <c:v>18.0</c:v>
                </c:pt>
                <c:pt idx="27">
                  <c:v>162.0</c:v>
                </c:pt>
                <c:pt idx="28">
                  <c:v>13.0</c:v>
                </c:pt>
                <c:pt idx="29">
                  <c:v>88.0</c:v>
                </c:pt>
                <c:pt idx="30">
                  <c:v>89.0</c:v>
                </c:pt>
                <c:pt idx="31">
                  <c:v>36.0</c:v>
                </c:pt>
                <c:pt idx="32">
                  <c:v>148.0</c:v>
                </c:pt>
                <c:pt idx="33">
                  <c:v>93.0</c:v>
                </c:pt>
                <c:pt idx="34">
                  <c:v>119.0</c:v>
                </c:pt>
                <c:pt idx="35">
                  <c:v>45.0</c:v>
                </c:pt>
                <c:pt idx="36">
                  <c:v>10.0</c:v>
                </c:pt>
                <c:pt idx="37">
                  <c:v>191.0</c:v>
                </c:pt>
                <c:pt idx="38">
                  <c:v>39.0</c:v>
                </c:pt>
                <c:pt idx="39">
                  <c:v>68.0</c:v>
                </c:pt>
                <c:pt idx="40">
                  <c:v>315.0</c:v>
                </c:pt>
                <c:pt idx="41">
                  <c:v>31.0</c:v>
                </c:pt>
                <c:pt idx="42">
                  <c:v>263.0</c:v>
                </c:pt>
                <c:pt idx="43">
                  <c:v>38.0</c:v>
                </c:pt>
                <c:pt idx="44">
                  <c:v>293.0</c:v>
                </c:pt>
                <c:pt idx="45">
                  <c:v>65.0</c:v>
                </c:pt>
                <c:pt idx="46">
                  <c:v>264.0</c:v>
                </c:pt>
                <c:pt idx="47">
                  <c:v>17.0</c:v>
                </c:pt>
                <c:pt idx="48">
                  <c:v>285.0</c:v>
                </c:pt>
                <c:pt idx="49">
                  <c:v>17.0</c:v>
                </c:pt>
                <c:pt idx="50">
                  <c:v>44.0</c:v>
                </c:pt>
                <c:pt idx="51">
                  <c:v>17.0</c:v>
                </c:pt>
                <c:pt idx="52">
                  <c:v>275.0</c:v>
                </c:pt>
                <c:pt idx="53">
                  <c:v>90.0</c:v>
                </c:pt>
                <c:pt idx="54">
                  <c:v>184.0</c:v>
                </c:pt>
                <c:pt idx="55">
                  <c:v>231.0</c:v>
                </c:pt>
                <c:pt idx="56">
                  <c:v>48.0</c:v>
                </c:pt>
                <c:pt idx="57">
                  <c:v>99.0</c:v>
                </c:pt>
                <c:pt idx="58">
                  <c:v>461.0</c:v>
                </c:pt>
                <c:pt idx="59">
                  <c:v>37.0</c:v>
                </c:pt>
                <c:pt idx="60">
                  <c:v>68.0</c:v>
                </c:pt>
                <c:pt idx="61">
                  <c:v>25.0</c:v>
                </c:pt>
                <c:pt idx="62">
                  <c:v>62.0</c:v>
                </c:pt>
                <c:pt idx="63">
                  <c:v>37.0</c:v>
                </c:pt>
                <c:pt idx="64">
                  <c:v>235.0</c:v>
                </c:pt>
                <c:pt idx="65">
                  <c:v>32.0</c:v>
                </c:pt>
                <c:pt idx="66">
                  <c:v>102.0</c:v>
                </c:pt>
                <c:pt idx="67">
                  <c:v>28.0</c:v>
                </c:pt>
                <c:pt idx="68">
                  <c:v>20.0</c:v>
                </c:pt>
                <c:pt idx="69">
                  <c:v>38.0</c:v>
                </c:pt>
                <c:pt idx="70">
                  <c:v>42.0</c:v>
                </c:pt>
                <c:pt idx="71">
                  <c:v>44.0</c:v>
                </c:pt>
                <c:pt idx="72">
                  <c:v>49.0</c:v>
                </c:pt>
                <c:pt idx="73">
                  <c:v>99.0</c:v>
                </c:pt>
                <c:pt idx="74">
                  <c:v>57.0</c:v>
                </c:pt>
                <c:pt idx="75">
                  <c:v>254.0</c:v>
                </c:pt>
                <c:pt idx="76">
                  <c:v>73.0</c:v>
                </c:pt>
                <c:pt idx="77">
                  <c:v>120.0</c:v>
                </c:pt>
                <c:pt idx="78">
                  <c:v>17.0</c:v>
                </c:pt>
                <c:pt idx="79">
                  <c:v>211.0</c:v>
                </c:pt>
                <c:pt idx="80">
                  <c:v>114.0</c:v>
                </c:pt>
                <c:pt idx="81">
                  <c:v>186.0</c:v>
                </c:pt>
                <c:pt idx="82">
                  <c:v>64.0</c:v>
                </c:pt>
                <c:pt idx="83">
                  <c:v>163.0</c:v>
                </c:pt>
                <c:pt idx="84">
                  <c:v>446.0</c:v>
                </c:pt>
                <c:pt idx="85">
                  <c:v>41.0</c:v>
                </c:pt>
                <c:pt idx="86">
                  <c:v>272.0</c:v>
                </c:pt>
                <c:pt idx="87">
                  <c:v>490.0</c:v>
                </c:pt>
                <c:pt idx="88">
                  <c:v>20.0</c:v>
                </c:pt>
                <c:pt idx="89">
                  <c:v>46.0</c:v>
                </c:pt>
                <c:pt idx="90">
                  <c:v>156.0</c:v>
                </c:pt>
                <c:pt idx="91">
                  <c:v>428.0</c:v>
                </c:pt>
                <c:pt idx="92">
                  <c:v>348.0</c:v>
                </c:pt>
                <c:pt idx="93">
                  <c:v>270.0</c:v>
                </c:pt>
                <c:pt idx="94">
                  <c:v>135.0</c:v>
                </c:pt>
                <c:pt idx="95">
                  <c:v>44.0</c:v>
                </c:pt>
                <c:pt idx="96">
                  <c:v>31.0</c:v>
                </c:pt>
                <c:pt idx="97">
                  <c:v>518.0</c:v>
                </c:pt>
                <c:pt idx="98">
                  <c:v>43.0</c:v>
                </c:pt>
                <c:pt idx="99">
                  <c:v>64.0</c:v>
                </c:pt>
                <c:pt idx="100">
                  <c:v>32.0</c:v>
                </c:pt>
                <c:pt idx="101">
                  <c:v>46.0</c:v>
                </c:pt>
                <c:pt idx="102">
                  <c:v>347.0</c:v>
                </c:pt>
                <c:pt idx="103">
                  <c:v>138.0</c:v>
                </c:pt>
                <c:pt idx="104">
                  <c:v>52.0</c:v>
                </c:pt>
                <c:pt idx="105">
                  <c:v>411.0</c:v>
                </c:pt>
                <c:pt idx="106">
                  <c:v>493.0</c:v>
                </c:pt>
                <c:pt idx="107">
                  <c:v>260.0</c:v>
                </c:pt>
                <c:pt idx="108">
                  <c:v>96.0</c:v>
                </c:pt>
                <c:pt idx="109">
                  <c:v>232.0</c:v>
                </c:pt>
                <c:pt idx="110">
                  <c:v>69.0</c:v>
                </c:pt>
                <c:pt idx="111">
                  <c:v>21.0</c:v>
                </c:pt>
                <c:pt idx="112">
                  <c:v>54.0</c:v>
                </c:pt>
                <c:pt idx="113">
                  <c:v>240.0</c:v>
                </c:pt>
                <c:pt idx="114">
                  <c:v>331.0</c:v>
                </c:pt>
                <c:pt idx="115">
                  <c:v>265.0</c:v>
                </c:pt>
                <c:pt idx="116">
                  <c:v>11.0</c:v>
                </c:pt>
                <c:pt idx="117">
                  <c:v>21.0</c:v>
                </c:pt>
                <c:pt idx="118">
                  <c:v>17.0</c:v>
                </c:pt>
                <c:pt idx="119">
                  <c:v>38.0</c:v>
                </c:pt>
                <c:pt idx="120">
                  <c:v>279.0</c:v>
                </c:pt>
                <c:pt idx="121">
                  <c:v>182.0</c:v>
                </c:pt>
                <c:pt idx="122">
                  <c:v>49.0</c:v>
                </c:pt>
                <c:pt idx="123">
                  <c:v>75.0</c:v>
                </c:pt>
                <c:pt idx="124">
                  <c:v>227.0</c:v>
                </c:pt>
                <c:pt idx="125">
                  <c:v>215.0</c:v>
                </c:pt>
                <c:pt idx="126">
                  <c:v>47.0</c:v>
                </c:pt>
                <c:pt idx="127">
                  <c:v>63.0</c:v>
                </c:pt>
                <c:pt idx="128">
                  <c:v>30.0</c:v>
                </c:pt>
                <c:pt idx="129">
                  <c:v>42.0</c:v>
                </c:pt>
                <c:pt idx="130">
                  <c:v>129.0</c:v>
                </c:pt>
                <c:pt idx="131">
                  <c:v>67.0</c:v>
                </c:pt>
                <c:pt idx="132">
                  <c:v>28.0</c:v>
                </c:pt>
                <c:pt idx="133">
                  <c:v>45.0</c:v>
                </c:pt>
                <c:pt idx="134">
                  <c:v>37.0</c:v>
                </c:pt>
                <c:pt idx="135">
                  <c:v>373.0</c:v>
                </c:pt>
                <c:pt idx="136">
                  <c:v>35.0</c:v>
                </c:pt>
                <c:pt idx="137">
                  <c:v>107.0</c:v>
                </c:pt>
                <c:pt idx="138">
                  <c:v>42.0</c:v>
                </c:pt>
                <c:pt idx="139">
                  <c:v>103.0</c:v>
                </c:pt>
                <c:pt idx="140">
                  <c:v>16.0</c:v>
                </c:pt>
                <c:pt idx="141">
                  <c:v>235.0</c:v>
                </c:pt>
                <c:pt idx="142">
                  <c:v>67.0</c:v>
                </c:pt>
                <c:pt idx="143">
                  <c:v>165.0</c:v>
                </c:pt>
                <c:pt idx="144">
                  <c:v>223.0</c:v>
                </c:pt>
                <c:pt idx="145">
                  <c:v>20.0</c:v>
                </c:pt>
                <c:pt idx="146">
                  <c:v>198.0</c:v>
                </c:pt>
                <c:pt idx="147">
                  <c:v>11.0</c:v>
                </c:pt>
                <c:pt idx="148">
                  <c:v>257.0</c:v>
                </c:pt>
                <c:pt idx="149">
                  <c:v>270.0</c:v>
                </c:pt>
                <c:pt idx="150">
                  <c:v>121.0</c:v>
                </c:pt>
                <c:pt idx="151">
                  <c:v>126.0</c:v>
                </c:pt>
                <c:pt idx="152">
                  <c:v>57.0</c:v>
                </c:pt>
                <c:pt idx="153">
                  <c:v>21.0</c:v>
                </c:pt>
                <c:pt idx="154">
                  <c:v>65.0</c:v>
                </c:pt>
                <c:pt idx="155">
                  <c:v>411.0</c:v>
                </c:pt>
                <c:pt idx="156">
                  <c:v>11.0</c:v>
                </c:pt>
                <c:pt idx="157">
                  <c:v>284.0</c:v>
                </c:pt>
                <c:pt idx="158">
                  <c:v>334.0</c:v>
                </c:pt>
                <c:pt idx="159">
                  <c:v>97.0</c:v>
                </c:pt>
                <c:pt idx="160">
                  <c:v>63.0</c:v>
                </c:pt>
                <c:pt idx="161">
                  <c:v>449.0</c:v>
                </c:pt>
                <c:pt idx="162">
                  <c:v>99.0</c:v>
                </c:pt>
                <c:pt idx="163">
                  <c:v>183.0</c:v>
                </c:pt>
                <c:pt idx="164">
                  <c:v>81.0</c:v>
                </c:pt>
                <c:pt idx="165">
                  <c:v>137.0</c:v>
                </c:pt>
                <c:pt idx="166">
                  <c:v>16.0</c:v>
                </c:pt>
                <c:pt idx="167">
                  <c:v>93.0</c:v>
                </c:pt>
                <c:pt idx="168">
                  <c:v>43.0</c:v>
                </c:pt>
                <c:pt idx="169">
                  <c:v>29.0</c:v>
                </c:pt>
                <c:pt idx="170">
                  <c:v>47.0</c:v>
                </c:pt>
                <c:pt idx="171">
                  <c:v>270.0</c:v>
                </c:pt>
                <c:pt idx="172">
                  <c:v>177.0</c:v>
                </c:pt>
                <c:pt idx="173">
                  <c:v>41.0</c:v>
                </c:pt>
                <c:pt idx="174">
                  <c:v>170.0</c:v>
                </c:pt>
                <c:pt idx="175">
                  <c:v>458.0</c:v>
                </c:pt>
                <c:pt idx="176">
                  <c:v>63.0</c:v>
                </c:pt>
                <c:pt idx="177">
                  <c:v>405.0</c:v>
                </c:pt>
                <c:pt idx="178">
                  <c:v>495.0</c:v>
                </c:pt>
                <c:pt idx="179">
                  <c:v>20.0</c:v>
                </c:pt>
                <c:pt idx="180">
                  <c:v>36.0</c:v>
                </c:pt>
                <c:pt idx="181">
                  <c:v>63.0</c:v>
                </c:pt>
                <c:pt idx="182">
                  <c:v>39.0</c:v>
                </c:pt>
                <c:pt idx="183">
                  <c:v>46.0</c:v>
                </c:pt>
                <c:pt idx="184">
                  <c:v>76.0</c:v>
                </c:pt>
                <c:pt idx="185">
                  <c:v>195.0</c:v>
                </c:pt>
                <c:pt idx="186">
                  <c:v>53.0</c:v>
                </c:pt>
                <c:pt idx="187">
                  <c:v>35.0</c:v>
                </c:pt>
                <c:pt idx="188">
                  <c:v>41.0</c:v>
                </c:pt>
                <c:pt idx="189">
                  <c:v>40.0</c:v>
                </c:pt>
                <c:pt idx="190">
                  <c:v>292.0</c:v>
                </c:pt>
                <c:pt idx="191">
                  <c:v>401.0</c:v>
                </c:pt>
                <c:pt idx="192">
                  <c:v>182.0</c:v>
                </c:pt>
                <c:pt idx="193">
                  <c:v>68.0</c:v>
                </c:pt>
                <c:pt idx="194">
                  <c:v>55.0</c:v>
                </c:pt>
                <c:pt idx="195">
                  <c:v>263.0</c:v>
                </c:pt>
                <c:pt idx="196">
                  <c:v>55.0</c:v>
                </c:pt>
                <c:pt idx="197">
                  <c:v>203.0</c:v>
                </c:pt>
                <c:pt idx="198">
                  <c:v>282.0</c:v>
                </c:pt>
                <c:pt idx="199">
                  <c:v>350.0</c:v>
                </c:pt>
                <c:pt idx="200">
                  <c:v>46.0</c:v>
                </c:pt>
                <c:pt idx="201">
                  <c:v>62.0</c:v>
                </c:pt>
                <c:pt idx="202">
                  <c:v>77.0</c:v>
                </c:pt>
                <c:pt idx="203">
                  <c:v>171.0</c:v>
                </c:pt>
                <c:pt idx="204">
                  <c:v>54.0</c:v>
                </c:pt>
                <c:pt idx="205">
                  <c:v>53.0</c:v>
                </c:pt>
                <c:pt idx="206">
                  <c:v>96.0</c:v>
                </c:pt>
                <c:pt idx="207">
                  <c:v>149.0</c:v>
                </c:pt>
                <c:pt idx="208">
                  <c:v>231.0</c:v>
                </c:pt>
                <c:pt idx="209">
                  <c:v>81.0</c:v>
                </c:pt>
                <c:pt idx="210">
                  <c:v>411.0</c:v>
                </c:pt>
                <c:pt idx="211">
                  <c:v>94.0</c:v>
                </c:pt>
                <c:pt idx="212">
                  <c:v>23.0</c:v>
                </c:pt>
                <c:pt idx="213">
                  <c:v>405.0</c:v>
                </c:pt>
                <c:pt idx="214">
                  <c:v>45.0</c:v>
                </c:pt>
                <c:pt idx="215">
                  <c:v>108.0</c:v>
                </c:pt>
                <c:pt idx="216">
                  <c:v>89.0</c:v>
                </c:pt>
                <c:pt idx="217">
                  <c:v>343.0</c:v>
                </c:pt>
                <c:pt idx="218">
                  <c:v>69.0</c:v>
                </c:pt>
                <c:pt idx="219">
                  <c:v>17.0</c:v>
                </c:pt>
                <c:pt idx="220">
                  <c:v>116.0</c:v>
                </c:pt>
                <c:pt idx="221">
                  <c:v>103.0</c:v>
                </c:pt>
                <c:pt idx="222">
                  <c:v>44.0</c:v>
                </c:pt>
                <c:pt idx="223">
                  <c:v>71.0</c:v>
                </c:pt>
                <c:pt idx="224">
                  <c:v>22.0</c:v>
                </c:pt>
                <c:pt idx="225">
                  <c:v>62.0</c:v>
                </c:pt>
                <c:pt idx="226">
                  <c:v>92.0</c:v>
                </c:pt>
                <c:pt idx="227">
                  <c:v>54.0</c:v>
                </c:pt>
                <c:pt idx="228">
                  <c:v>122.0</c:v>
                </c:pt>
                <c:pt idx="229">
                  <c:v>12.0</c:v>
                </c:pt>
                <c:pt idx="230">
                  <c:v>56.0</c:v>
                </c:pt>
                <c:pt idx="231">
                  <c:v>270.0</c:v>
                </c:pt>
                <c:pt idx="232">
                  <c:v>49.0</c:v>
                </c:pt>
                <c:pt idx="233">
                  <c:v>506.0</c:v>
                </c:pt>
                <c:pt idx="234">
                  <c:v>38.0</c:v>
                </c:pt>
                <c:pt idx="235">
                  <c:v>47.0</c:v>
                </c:pt>
                <c:pt idx="236">
                  <c:v>22.0</c:v>
                </c:pt>
                <c:pt idx="237">
                  <c:v>17.0</c:v>
                </c:pt>
                <c:pt idx="238">
                  <c:v>73.0</c:v>
                </c:pt>
                <c:pt idx="239">
                  <c:v>121.0</c:v>
                </c:pt>
                <c:pt idx="240">
                  <c:v>63.0</c:v>
                </c:pt>
                <c:pt idx="241">
                  <c:v>312.0</c:v>
                </c:pt>
                <c:pt idx="242">
                  <c:v>16.0</c:v>
                </c:pt>
                <c:pt idx="243">
                  <c:v>332.0</c:v>
                </c:pt>
                <c:pt idx="244">
                  <c:v>78.0</c:v>
                </c:pt>
                <c:pt idx="245">
                  <c:v>15.0</c:v>
                </c:pt>
                <c:pt idx="246">
                  <c:v>77.0</c:v>
                </c:pt>
                <c:pt idx="247">
                  <c:v>86.0</c:v>
                </c:pt>
                <c:pt idx="248">
                  <c:v>237.0</c:v>
                </c:pt>
                <c:pt idx="249">
                  <c:v>48.0</c:v>
                </c:pt>
                <c:pt idx="250">
                  <c:v>301.0</c:v>
                </c:pt>
                <c:pt idx="251">
                  <c:v>218.0</c:v>
                </c:pt>
                <c:pt idx="252">
                  <c:v>75.0</c:v>
                </c:pt>
                <c:pt idx="253">
                  <c:v>106.0</c:v>
                </c:pt>
                <c:pt idx="254">
                  <c:v>438.0</c:v>
                </c:pt>
                <c:pt idx="255">
                  <c:v>225.0</c:v>
                </c:pt>
                <c:pt idx="256">
                  <c:v>18.0</c:v>
                </c:pt>
                <c:pt idx="257">
                  <c:v>91.0</c:v>
                </c:pt>
                <c:pt idx="258">
                  <c:v>88.0</c:v>
                </c:pt>
                <c:pt idx="259">
                  <c:v>60.0</c:v>
                </c:pt>
                <c:pt idx="260">
                  <c:v>155.0</c:v>
                </c:pt>
                <c:pt idx="261">
                  <c:v>51.0</c:v>
                </c:pt>
                <c:pt idx="262">
                  <c:v>96.0</c:v>
                </c:pt>
                <c:pt idx="263">
                  <c:v>160.0</c:v>
                </c:pt>
                <c:pt idx="264">
                  <c:v>139.0</c:v>
                </c:pt>
                <c:pt idx="265">
                  <c:v>183.0</c:v>
                </c:pt>
                <c:pt idx="266">
                  <c:v>174.0</c:v>
                </c:pt>
                <c:pt idx="267">
                  <c:v>195.0</c:v>
                </c:pt>
                <c:pt idx="268">
                  <c:v>49.0</c:v>
                </c:pt>
                <c:pt idx="269">
                  <c:v>133.0</c:v>
                </c:pt>
                <c:pt idx="270">
                  <c:v>140.0</c:v>
                </c:pt>
                <c:pt idx="271">
                  <c:v>152.0</c:v>
                </c:pt>
                <c:pt idx="272">
                  <c:v>87.0</c:v>
                </c:pt>
                <c:pt idx="273">
                  <c:v>90.0</c:v>
                </c:pt>
                <c:pt idx="274">
                  <c:v>72.0</c:v>
                </c:pt>
                <c:pt idx="275">
                  <c:v>189.0</c:v>
                </c:pt>
                <c:pt idx="276">
                  <c:v>63.0</c:v>
                </c:pt>
                <c:pt idx="277">
                  <c:v>130.0</c:v>
                </c:pt>
                <c:pt idx="278">
                  <c:v>152.0</c:v>
                </c:pt>
                <c:pt idx="279">
                  <c:v>71.0</c:v>
                </c:pt>
                <c:pt idx="280">
                  <c:v>21.0</c:v>
                </c:pt>
                <c:pt idx="281">
                  <c:v>23.0</c:v>
                </c:pt>
                <c:pt idx="282">
                  <c:v>49.0</c:v>
                </c:pt>
                <c:pt idx="283">
                  <c:v>48.0</c:v>
                </c:pt>
                <c:pt idx="284">
                  <c:v>83.0</c:v>
                </c:pt>
                <c:pt idx="285">
                  <c:v>183.0</c:v>
                </c:pt>
                <c:pt idx="286">
                  <c:v>99.0</c:v>
                </c:pt>
                <c:pt idx="287">
                  <c:v>38.0</c:v>
                </c:pt>
                <c:pt idx="288">
                  <c:v>78.0</c:v>
                </c:pt>
                <c:pt idx="289">
                  <c:v>15.0</c:v>
                </c:pt>
                <c:pt idx="290">
                  <c:v>62.0</c:v>
                </c:pt>
                <c:pt idx="291">
                  <c:v>198.0</c:v>
                </c:pt>
                <c:pt idx="292">
                  <c:v>57.0</c:v>
                </c:pt>
                <c:pt idx="293">
                  <c:v>59.0</c:v>
                </c:pt>
                <c:pt idx="294">
                  <c:v>310.0</c:v>
                </c:pt>
                <c:pt idx="295">
                  <c:v>57.0</c:v>
                </c:pt>
                <c:pt idx="296">
                  <c:v>44.0</c:v>
                </c:pt>
                <c:pt idx="297">
                  <c:v>102.0</c:v>
                </c:pt>
                <c:pt idx="298">
                  <c:v>32.0</c:v>
                </c:pt>
                <c:pt idx="299">
                  <c:v>320.0</c:v>
                </c:pt>
                <c:pt idx="300">
                  <c:v>30.0</c:v>
                </c:pt>
                <c:pt idx="301">
                  <c:v>227.0</c:v>
                </c:pt>
                <c:pt idx="302">
                  <c:v>131.0</c:v>
                </c:pt>
                <c:pt idx="303">
                  <c:v>251.0</c:v>
                </c:pt>
                <c:pt idx="304">
                  <c:v>237.0</c:v>
                </c:pt>
                <c:pt idx="305">
                  <c:v>91.0</c:v>
                </c:pt>
                <c:pt idx="306">
                  <c:v>35.0</c:v>
                </c:pt>
                <c:pt idx="307">
                  <c:v>396.0</c:v>
                </c:pt>
                <c:pt idx="308">
                  <c:v>222.0</c:v>
                </c:pt>
                <c:pt idx="309">
                  <c:v>177.0</c:v>
                </c:pt>
                <c:pt idx="310">
                  <c:v>22.0</c:v>
                </c:pt>
                <c:pt idx="311">
                  <c:v>41.0</c:v>
                </c:pt>
                <c:pt idx="312">
                  <c:v>325.0</c:v>
                </c:pt>
                <c:pt idx="313">
                  <c:v>72.0</c:v>
                </c:pt>
                <c:pt idx="314">
                  <c:v>15.0</c:v>
                </c:pt>
                <c:pt idx="315">
                  <c:v>289.0</c:v>
                </c:pt>
                <c:pt idx="316">
                  <c:v>188.0</c:v>
                </c:pt>
                <c:pt idx="317">
                  <c:v>146.0</c:v>
                </c:pt>
                <c:pt idx="318">
                  <c:v>152.0</c:v>
                </c:pt>
                <c:pt idx="319">
                  <c:v>20.0</c:v>
                </c:pt>
                <c:pt idx="320">
                  <c:v>61.0</c:v>
                </c:pt>
                <c:pt idx="321">
                  <c:v>44.0</c:v>
                </c:pt>
                <c:pt idx="322">
                  <c:v>8.0</c:v>
                </c:pt>
                <c:pt idx="323">
                  <c:v>42.0</c:v>
                </c:pt>
                <c:pt idx="324">
                  <c:v>61.0</c:v>
                </c:pt>
                <c:pt idx="325">
                  <c:v>34.0</c:v>
                </c:pt>
                <c:pt idx="326">
                  <c:v>48.0</c:v>
                </c:pt>
                <c:pt idx="327">
                  <c:v>289.0</c:v>
                </c:pt>
                <c:pt idx="328">
                  <c:v>70.0</c:v>
                </c:pt>
                <c:pt idx="329">
                  <c:v>22.0</c:v>
                </c:pt>
                <c:pt idx="330">
                  <c:v>77.0</c:v>
                </c:pt>
                <c:pt idx="331">
                  <c:v>46.0</c:v>
                </c:pt>
                <c:pt idx="332">
                  <c:v>13.0</c:v>
                </c:pt>
                <c:pt idx="333">
                  <c:v>65.0</c:v>
                </c:pt>
                <c:pt idx="334">
                  <c:v>40.0</c:v>
                </c:pt>
                <c:pt idx="335">
                  <c:v>134.0</c:v>
                </c:pt>
                <c:pt idx="336">
                  <c:v>87.0</c:v>
                </c:pt>
                <c:pt idx="337">
                  <c:v>444.0</c:v>
                </c:pt>
                <c:pt idx="338">
                  <c:v>269.0</c:v>
                </c:pt>
                <c:pt idx="339">
                  <c:v>120.0</c:v>
                </c:pt>
                <c:pt idx="340">
                  <c:v>112.0</c:v>
                </c:pt>
                <c:pt idx="341">
                  <c:v>55.0</c:v>
                </c:pt>
                <c:pt idx="342">
                  <c:v>271.0</c:v>
                </c:pt>
                <c:pt idx="343">
                  <c:v>120.0</c:v>
                </c:pt>
                <c:pt idx="344">
                  <c:v>18.0</c:v>
                </c:pt>
                <c:pt idx="345">
                  <c:v>23.0</c:v>
                </c:pt>
                <c:pt idx="346">
                  <c:v>92.0</c:v>
                </c:pt>
                <c:pt idx="347">
                  <c:v>25.0</c:v>
                </c:pt>
                <c:pt idx="348">
                  <c:v>240.0</c:v>
                </c:pt>
                <c:pt idx="349">
                  <c:v>102.0</c:v>
                </c:pt>
                <c:pt idx="350">
                  <c:v>458.0</c:v>
                </c:pt>
                <c:pt idx="351">
                  <c:v>54.0</c:v>
                </c:pt>
                <c:pt idx="352">
                  <c:v>147.0</c:v>
                </c:pt>
                <c:pt idx="353">
                  <c:v>15.0</c:v>
                </c:pt>
                <c:pt idx="354">
                  <c:v>66.0</c:v>
                </c:pt>
                <c:pt idx="355">
                  <c:v>49.0</c:v>
                </c:pt>
                <c:pt idx="356">
                  <c:v>169.0</c:v>
                </c:pt>
                <c:pt idx="357">
                  <c:v>155.0</c:v>
                </c:pt>
                <c:pt idx="358">
                  <c:v>95.0</c:v>
                </c:pt>
                <c:pt idx="359">
                  <c:v>47.0</c:v>
                </c:pt>
                <c:pt idx="360">
                  <c:v>32.0</c:v>
                </c:pt>
                <c:pt idx="361">
                  <c:v>41.0</c:v>
                </c:pt>
                <c:pt idx="362">
                  <c:v>39.0</c:v>
                </c:pt>
                <c:pt idx="363">
                  <c:v>506.0</c:v>
                </c:pt>
                <c:pt idx="364">
                  <c:v>31.0</c:v>
                </c:pt>
                <c:pt idx="365">
                  <c:v>227.0</c:v>
                </c:pt>
                <c:pt idx="366">
                  <c:v>122.0</c:v>
                </c:pt>
                <c:pt idx="367">
                  <c:v>211.0</c:v>
                </c:pt>
                <c:pt idx="368">
                  <c:v>233.0</c:v>
                </c:pt>
                <c:pt idx="369">
                  <c:v>116.0</c:v>
                </c:pt>
                <c:pt idx="370">
                  <c:v>41.0</c:v>
                </c:pt>
                <c:pt idx="371">
                  <c:v>34.0</c:v>
                </c:pt>
                <c:pt idx="372">
                  <c:v>396.0</c:v>
                </c:pt>
                <c:pt idx="373">
                  <c:v>138.0</c:v>
                </c:pt>
                <c:pt idx="374">
                  <c:v>117.0</c:v>
                </c:pt>
                <c:pt idx="375">
                  <c:v>32.0</c:v>
                </c:pt>
                <c:pt idx="376">
                  <c:v>231.0</c:v>
                </c:pt>
                <c:pt idx="377">
                  <c:v>68.0</c:v>
                </c:pt>
                <c:pt idx="378">
                  <c:v>47.0</c:v>
                </c:pt>
                <c:pt idx="379">
                  <c:v>122.0</c:v>
                </c:pt>
                <c:pt idx="380">
                  <c:v>41.0</c:v>
                </c:pt>
                <c:pt idx="381">
                  <c:v>304.0</c:v>
                </c:pt>
                <c:pt idx="382">
                  <c:v>37.0</c:v>
                </c:pt>
                <c:pt idx="383">
                  <c:v>25.0</c:v>
                </c:pt>
                <c:pt idx="384">
                  <c:v>32.0</c:v>
                </c:pt>
                <c:pt idx="385">
                  <c:v>72.0</c:v>
                </c:pt>
                <c:pt idx="386">
                  <c:v>264.0</c:v>
                </c:pt>
                <c:pt idx="387">
                  <c:v>69.0</c:v>
                </c:pt>
                <c:pt idx="388">
                  <c:v>31.0</c:v>
                </c:pt>
                <c:pt idx="389">
                  <c:v>211.0</c:v>
                </c:pt>
                <c:pt idx="390">
                  <c:v>252.0</c:v>
                </c:pt>
                <c:pt idx="391">
                  <c:v>54.0</c:v>
                </c:pt>
                <c:pt idx="392">
                  <c:v>68.0</c:v>
                </c:pt>
                <c:pt idx="393">
                  <c:v>55.0</c:v>
                </c:pt>
                <c:pt idx="394">
                  <c:v>358.0</c:v>
                </c:pt>
                <c:pt idx="395">
                  <c:v>184.0</c:v>
                </c:pt>
                <c:pt idx="396">
                  <c:v>44.0</c:v>
                </c:pt>
                <c:pt idx="397">
                  <c:v>38.0</c:v>
                </c:pt>
                <c:pt idx="398">
                  <c:v>81.0</c:v>
                </c:pt>
                <c:pt idx="399">
                  <c:v>45.0</c:v>
                </c:pt>
                <c:pt idx="400">
                  <c:v>224.0</c:v>
                </c:pt>
                <c:pt idx="401">
                  <c:v>24.0</c:v>
                </c:pt>
                <c:pt idx="402">
                  <c:v>252.0</c:v>
                </c:pt>
                <c:pt idx="403">
                  <c:v>144.0</c:v>
                </c:pt>
                <c:pt idx="404">
                  <c:v>318.0</c:v>
                </c:pt>
                <c:pt idx="405">
                  <c:v>253.0</c:v>
                </c:pt>
                <c:pt idx="406">
                  <c:v>76.0</c:v>
                </c:pt>
                <c:pt idx="407">
                  <c:v>62.0</c:v>
                </c:pt>
                <c:pt idx="408">
                  <c:v>255.0</c:v>
                </c:pt>
                <c:pt idx="409">
                  <c:v>43.0</c:v>
                </c:pt>
                <c:pt idx="410">
                  <c:v>185.0</c:v>
                </c:pt>
                <c:pt idx="411">
                  <c:v>34.0</c:v>
                </c:pt>
                <c:pt idx="412">
                  <c:v>44.0</c:v>
                </c:pt>
                <c:pt idx="413">
                  <c:v>40.0</c:v>
                </c:pt>
                <c:pt idx="414">
                  <c:v>9.0</c:v>
                </c:pt>
                <c:pt idx="415">
                  <c:v>68.0</c:v>
                </c:pt>
                <c:pt idx="416">
                  <c:v>131.0</c:v>
                </c:pt>
                <c:pt idx="417">
                  <c:v>174.0</c:v>
                </c:pt>
                <c:pt idx="418">
                  <c:v>92.0</c:v>
                </c:pt>
                <c:pt idx="419">
                  <c:v>395.0</c:v>
                </c:pt>
                <c:pt idx="420">
                  <c:v>9.0</c:v>
                </c:pt>
                <c:pt idx="421">
                  <c:v>103.0</c:v>
                </c:pt>
                <c:pt idx="422">
                  <c:v>55.0</c:v>
                </c:pt>
                <c:pt idx="423">
                  <c:v>48.0</c:v>
                </c:pt>
                <c:pt idx="424">
                  <c:v>39.0</c:v>
                </c:pt>
                <c:pt idx="425">
                  <c:v>149.0</c:v>
                </c:pt>
                <c:pt idx="426">
                  <c:v>46.0</c:v>
                </c:pt>
                <c:pt idx="427">
                  <c:v>236.0</c:v>
                </c:pt>
                <c:pt idx="428">
                  <c:v>68.0</c:v>
                </c:pt>
                <c:pt idx="429">
                  <c:v>306.0</c:v>
                </c:pt>
                <c:pt idx="430">
                  <c:v>21.0</c:v>
                </c:pt>
                <c:pt idx="431">
                  <c:v>70.0</c:v>
                </c:pt>
                <c:pt idx="432">
                  <c:v>91.0</c:v>
                </c:pt>
                <c:pt idx="433">
                  <c:v>63.0</c:v>
                </c:pt>
                <c:pt idx="434">
                  <c:v>38.0</c:v>
                </c:pt>
                <c:pt idx="435">
                  <c:v>15.0</c:v>
                </c:pt>
                <c:pt idx="436">
                  <c:v>43.0</c:v>
                </c:pt>
                <c:pt idx="437">
                  <c:v>74.0</c:v>
                </c:pt>
                <c:pt idx="438">
                  <c:v>134.0</c:v>
                </c:pt>
                <c:pt idx="439">
                  <c:v>138.0</c:v>
                </c:pt>
                <c:pt idx="440">
                  <c:v>45.0</c:v>
                </c:pt>
                <c:pt idx="441">
                  <c:v>161.0</c:v>
                </c:pt>
                <c:pt idx="442">
                  <c:v>144.0</c:v>
                </c:pt>
                <c:pt idx="443">
                  <c:v>318.0</c:v>
                </c:pt>
                <c:pt idx="444">
                  <c:v>198.0</c:v>
                </c:pt>
                <c:pt idx="445">
                  <c:v>88.0</c:v>
                </c:pt>
                <c:pt idx="446">
                  <c:v>140.0</c:v>
                </c:pt>
                <c:pt idx="447">
                  <c:v>22.0</c:v>
                </c:pt>
                <c:pt idx="448">
                  <c:v>263.0</c:v>
                </c:pt>
                <c:pt idx="449">
                  <c:v>443.0</c:v>
                </c:pt>
                <c:pt idx="450">
                  <c:v>174.0</c:v>
                </c:pt>
                <c:pt idx="451">
                  <c:v>25.0</c:v>
                </c:pt>
                <c:pt idx="452">
                  <c:v>92.0</c:v>
                </c:pt>
                <c:pt idx="453">
                  <c:v>52.0</c:v>
                </c:pt>
                <c:pt idx="454">
                  <c:v>283.0</c:v>
                </c:pt>
                <c:pt idx="455">
                  <c:v>23.0</c:v>
                </c:pt>
                <c:pt idx="456">
                  <c:v>37.0</c:v>
                </c:pt>
                <c:pt idx="457">
                  <c:v>21.0</c:v>
                </c:pt>
                <c:pt idx="458">
                  <c:v>22.0</c:v>
                </c:pt>
                <c:pt idx="459">
                  <c:v>265.0</c:v>
                </c:pt>
                <c:pt idx="460">
                  <c:v>25.0</c:v>
                </c:pt>
                <c:pt idx="461">
                  <c:v>392.0</c:v>
                </c:pt>
                <c:pt idx="462">
                  <c:v>158.0</c:v>
                </c:pt>
                <c:pt idx="463">
                  <c:v>43.0</c:v>
                </c:pt>
                <c:pt idx="464">
                  <c:v>71.0</c:v>
                </c:pt>
                <c:pt idx="465">
                  <c:v>54.0</c:v>
                </c:pt>
                <c:pt idx="466">
                  <c:v>41.0</c:v>
                </c:pt>
                <c:pt idx="467">
                  <c:v>22.0</c:v>
                </c:pt>
                <c:pt idx="468">
                  <c:v>400.0</c:v>
                </c:pt>
                <c:pt idx="469">
                  <c:v>350.0</c:v>
                </c:pt>
                <c:pt idx="470">
                  <c:v>40.0</c:v>
                </c:pt>
                <c:pt idx="471">
                  <c:v>45.0</c:v>
                </c:pt>
                <c:pt idx="472">
                  <c:v>140.0</c:v>
                </c:pt>
                <c:pt idx="473">
                  <c:v>22.0</c:v>
                </c:pt>
                <c:pt idx="474">
                  <c:v>133.0</c:v>
                </c:pt>
                <c:pt idx="475">
                  <c:v>13.0</c:v>
                </c:pt>
                <c:pt idx="476">
                  <c:v>132.0</c:v>
                </c:pt>
                <c:pt idx="477">
                  <c:v>66.0</c:v>
                </c:pt>
                <c:pt idx="478">
                  <c:v>8.0</c:v>
                </c:pt>
                <c:pt idx="479">
                  <c:v>395.0</c:v>
                </c:pt>
                <c:pt idx="480">
                  <c:v>258.0</c:v>
                </c:pt>
                <c:pt idx="481">
                  <c:v>185.0</c:v>
                </c:pt>
                <c:pt idx="482">
                  <c:v>180.0</c:v>
                </c:pt>
                <c:pt idx="483">
                  <c:v>44.0</c:v>
                </c:pt>
                <c:pt idx="484">
                  <c:v>94.0</c:v>
                </c:pt>
                <c:pt idx="485">
                  <c:v>61.0</c:v>
                </c:pt>
                <c:pt idx="486">
                  <c:v>300.0</c:v>
                </c:pt>
                <c:pt idx="487">
                  <c:v>88.0</c:v>
                </c:pt>
                <c:pt idx="488">
                  <c:v>54.0</c:v>
                </c:pt>
                <c:pt idx="489">
                  <c:v>258.0</c:v>
                </c:pt>
                <c:pt idx="490">
                  <c:v>174.0</c:v>
                </c:pt>
                <c:pt idx="491">
                  <c:v>28.0</c:v>
                </c:pt>
                <c:pt idx="492">
                  <c:v>274.0</c:v>
                </c:pt>
                <c:pt idx="493">
                  <c:v>54.0</c:v>
                </c:pt>
                <c:pt idx="494">
                  <c:v>257.0</c:v>
                </c:pt>
                <c:pt idx="495">
                  <c:v>40.0</c:v>
                </c:pt>
                <c:pt idx="496">
                  <c:v>59.0</c:v>
                </c:pt>
                <c:pt idx="497">
                  <c:v>35.0</c:v>
                </c:pt>
                <c:pt idx="498">
                  <c:v>61.0</c:v>
                </c:pt>
                <c:pt idx="499">
                  <c:v>199.0</c:v>
                </c:pt>
                <c:pt idx="500">
                  <c:v>54.0</c:v>
                </c:pt>
                <c:pt idx="501">
                  <c:v>43.0</c:v>
                </c:pt>
                <c:pt idx="502">
                  <c:v>53.0</c:v>
                </c:pt>
                <c:pt idx="503">
                  <c:v>45.0</c:v>
                </c:pt>
                <c:pt idx="504">
                  <c:v>16.0</c:v>
                </c:pt>
                <c:pt idx="505">
                  <c:v>51.0</c:v>
                </c:pt>
                <c:pt idx="506">
                  <c:v>50.0</c:v>
                </c:pt>
                <c:pt idx="507">
                  <c:v>444.0</c:v>
                </c:pt>
                <c:pt idx="508">
                  <c:v>172.0</c:v>
                </c:pt>
              </c:numCache>
            </c:numRef>
          </c:xVal>
          <c:yVal>
            <c:numRef>
              <c:f>Sheet1!$B$604:$B$1112</c:f>
              <c:numCache>
                <c:formatCode>General</c:formatCode>
                <c:ptCount val="509"/>
                <c:pt idx="0">
                  <c:v>46344.0</c:v>
                </c:pt>
                <c:pt idx="1">
                  <c:v>5648.0</c:v>
                </c:pt>
                <c:pt idx="2">
                  <c:v>41850.0</c:v>
                </c:pt>
                <c:pt idx="3">
                  <c:v>53359.0</c:v>
                </c:pt>
                <c:pt idx="4">
                  <c:v>40548.0</c:v>
                </c:pt>
                <c:pt idx="5">
                  <c:v>49389.0</c:v>
                </c:pt>
                <c:pt idx="6">
                  <c:v>42429.0</c:v>
                </c:pt>
                <c:pt idx="7">
                  <c:v>21994.0</c:v>
                </c:pt>
                <c:pt idx="8">
                  <c:v>32474.0</c:v>
                </c:pt>
                <c:pt idx="9">
                  <c:v>29440.0</c:v>
                </c:pt>
                <c:pt idx="10">
                  <c:v>36138.0</c:v>
                </c:pt>
                <c:pt idx="11">
                  <c:v>50388.0</c:v>
                </c:pt>
                <c:pt idx="12">
                  <c:v>54178.0</c:v>
                </c:pt>
                <c:pt idx="13">
                  <c:v>51813.0</c:v>
                </c:pt>
                <c:pt idx="14">
                  <c:v>47823.0</c:v>
                </c:pt>
                <c:pt idx="15">
                  <c:v>34554.0</c:v>
                </c:pt>
                <c:pt idx="16">
                  <c:v>49096.0</c:v>
                </c:pt>
                <c:pt idx="17">
                  <c:v>50785.0</c:v>
                </c:pt>
                <c:pt idx="18">
                  <c:v>30753.0</c:v>
                </c:pt>
                <c:pt idx="19">
                  <c:v>19510.0</c:v>
                </c:pt>
                <c:pt idx="20">
                  <c:v>54348.0</c:v>
                </c:pt>
                <c:pt idx="21">
                  <c:v>41551.0</c:v>
                </c:pt>
                <c:pt idx="22">
                  <c:v>33762.0</c:v>
                </c:pt>
                <c:pt idx="23">
                  <c:v>35860.0</c:v>
                </c:pt>
                <c:pt idx="24">
                  <c:v>36921.0</c:v>
                </c:pt>
                <c:pt idx="25">
                  <c:v>35688.0</c:v>
                </c:pt>
                <c:pt idx="26">
                  <c:v>60199.0</c:v>
                </c:pt>
                <c:pt idx="27">
                  <c:v>55375.0</c:v>
                </c:pt>
                <c:pt idx="28">
                  <c:v>30523.0</c:v>
                </c:pt>
                <c:pt idx="29">
                  <c:v>43482.0</c:v>
                </c:pt>
                <c:pt idx="30">
                  <c:v>26091.0</c:v>
                </c:pt>
                <c:pt idx="31">
                  <c:v>33456.0</c:v>
                </c:pt>
                <c:pt idx="32">
                  <c:v>50447.0</c:v>
                </c:pt>
                <c:pt idx="33">
                  <c:v>53537.0</c:v>
                </c:pt>
                <c:pt idx="34">
                  <c:v>52074.0</c:v>
                </c:pt>
                <c:pt idx="35">
                  <c:v>38853.0</c:v>
                </c:pt>
                <c:pt idx="36">
                  <c:v>38285.0</c:v>
                </c:pt>
                <c:pt idx="37">
                  <c:v>51650.0</c:v>
                </c:pt>
                <c:pt idx="38">
                  <c:v>32303.0</c:v>
                </c:pt>
                <c:pt idx="39">
                  <c:v>45759.0</c:v>
                </c:pt>
                <c:pt idx="40">
                  <c:v>51148.0</c:v>
                </c:pt>
                <c:pt idx="41">
                  <c:v>31353.0</c:v>
                </c:pt>
                <c:pt idx="42">
                  <c:v>46854.0</c:v>
                </c:pt>
                <c:pt idx="43">
                  <c:v>40637.0</c:v>
                </c:pt>
                <c:pt idx="44">
                  <c:v>48721.0</c:v>
                </c:pt>
                <c:pt idx="45">
                  <c:v>44794.0</c:v>
                </c:pt>
                <c:pt idx="46">
                  <c:v>44377.0</c:v>
                </c:pt>
                <c:pt idx="47">
                  <c:v>52195.0</c:v>
                </c:pt>
                <c:pt idx="48">
                  <c:v>44551.0</c:v>
                </c:pt>
                <c:pt idx="49">
                  <c:v>31686.0</c:v>
                </c:pt>
                <c:pt idx="50">
                  <c:v>18701.0</c:v>
                </c:pt>
                <c:pt idx="51">
                  <c:v>40737.0</c:v>
                </c:pt>
                <c:pt idx="52">
                  <c:v>43776.0</c:v>
                </c:pt>
                <c:pt idx="53">
                  <c:v>38179.0</c:v>
                </c:pt>
                <c:pt idx="54">
                  <c:v>38097.0</c:v>
                </c:pt>
                <c:pt idx="55">
                  <c:v>61905.0</c:v>
                </c:pt>
                <c:pt idx="56">
                  <c:v>29315.0</c:v>
                </c:pt>
                <c:pt idx="57">
                  <c:v>33378.0</c:v>
                </c:pt>
                <c:pt idx="58">
                  <c:v>65640.0</c:v>
                </c:pt>
                <c:pt idx="59">
                  <c:v>44319.0</c:v>
                </c:pt>
                <c:pt idx="60">
                  <c:v>16626.0</c:v>
                </c:pt>
                <c:pt idx="61">
                  <c:v>29672.0</c:v>
                </c:pt>
                <c:pt idx="62">
                  <c:v>35246.0</c:v>
                </c:pt>
                <c:pt idx="63">
                  <c:v>22574.0</c:v>
                </c:pt>
                <c:pt idx="64">
                  <c:v>54198.0</c:v>
                </c:pt>
                <c:pt idx="65">
                  <c:v>28839.0</c:v>
                </c:pt>
                <c:pt idx="66">
                  <c:v>40321.0</c:v>
                </c:pt>
                <c:pt idx="67">
                  <c:v>30833.0</c:v>
                </c:pt>
                <c:pt idx="68">
                  <c:v>47025.0</c:v>
                </c:pt>
                <c:pt idx="69">
                  <c:v>54432.0</c:v>
                </c:pt>
                <c:pt idx="70">
                  <c:v>44300.0</c:v>
                </c:pt>
                <c:pt idx="71">
                  <c:v>30372.0</c:v>
                </c:pt>
                <c:pt idx="72">
                  <c:v>38643.0</c:v>
                </c:pt>
                <c:pt idx="73">
                  <c:v>50737.0</c:v>
                </c:pt>
                <c:pt idx="74">
                  <c:v>28442.0</c:v>
                </c:pt>
                <c:pt idx="75">
                  <c:v>48178.0</c:v>
                </c:pt>
                <c:pt idx="76">
                  <c:v>38578.0</c:v>
                </c:pt>
                <c:pt idx="77">
                  <c:v>46098.0</c:v>
                </c:pt>
                <c:pt idx="78">
                  <c:v>33581.0</c:v>
                </c:pt>
                <c:pt idx="79">
                  <c:v>35688.0</c:v>
                </c:pt>
                <c:pt idx="80">
                  <c:v>38823.0</c:v>
                </c:pt>
                <c:pt idx="81">
                  <c:v>43824.0</c:v>
                </c:pt>
                <c:pt idx="82">
                  <c:v>31395.0</c:v>
                </c:pt>
                <c:pt idx="83">
                  <c:v>42373.0</c:v>
                </c:pt>
                <c:pt idx="84">
                  <c:v>55521.0</c:v>
                </c:pt>
                <c:pt idx="85">
                  <c:v>48006.0</c:v>
                </c:pt>
                <c:pt idx="86">
                  <c:v>65808.0</c:v>
                </c:pt>
                <c:pt idx="87">
                  <c:v>50437.0</c:v>
                </c:pt>
                <c:pt idx="88">
                  <c:v>48686.0</c:v>
                </c:pt>
                <c:pt idx="89">
                  <c:v>50943.0</c:v>
                </c:pt>
                <c:pt idx="90">
                  <c:v>56223.0</c:v>
                </c:pt>
                <c:pt idx="91">
                  <c:v>55707.0</c:v>
                </c:pt>
                <c:pt idx="92">
                  <c:v>38988.0</c:v>
                </c:pt>
                <c:pt idx="93">
                  <c:v>50300.0</c:v>
                </c:pt>
                <c:pt idx="94">
                  <c:v>50520.0</c:v>
                </c:pt>
                <c:pt idx="95">
                  <c:v>38415.0</c:v>
                </c:pt>
                <c:pt idx="96">
                  <c:v>41644.0</c:v>
                </c:pt>
                <c:pt idx="97">
                  <c:v>55842.0</c:v>
                </c:pt>
                <c:pt idx="98">
                  <c:v>55563.0</c:v>
                </c:pt>
                <c:pt idx="99">
                  <c:v>27203.0</c:v>
                </c:pt>
                <c:pt idx="100">
                  <c:v>48330.0</c:v>
                </c:pt>
                <c:pt idx="101">
                  <c:v>50943.0</c:v>
                </c:pt>
                <c:pt idx="102">
                  <c:v>48920.0</c:v>
                </c:pt>
                <c:pt idx="103">
                  <c:v>36443.0</c:v>
                </c:pt>
                <c:pt idx="104">
                  <c:v>30630.0</c:v>
                </c:pt>
                <c:pt idx="105">
                  <c:v>49154.0</c:v>
                </c:pt>
                <c:pt idx="106">
                  <c:v>57954.0</c:v>
                </c:pt>
                <c:pt idx="107">
                  <c:v>65316.0</c:v>
                </c:pt>
                <c:pt idx="108">
                  <c:v>44931.0</c:v>
                </c:pt>
                <c:pt idx="109">
                  <c:v>57247.0</c:v>
                </c:pt>
                <c:pt idx="110">
                  <c:v>19514.0</c:v>
                </c:pt>
                <c:pt idx="111">
                  <c:v>27159.0</c:v>
                </c:pt>
                <c:pt idx="112">
                  <c:v>39548.0</c:v>
                </c:pt>
                <c:pt idx="113">
                  <c:v>43462.0</c:v>
                </c:pt>
                <c:pt idx="114">
                  <c:v>48799.0</c:v>
                </c:pt>
                <c:pt idx="115">
                  <c:v>52157.0</c:v>
                </c:pt>
                <c:pt idx="116">
                  <c:v>29298.0</c:v>
                </c:pt>
                <c:pt idx="117">
                  <c:v>47691.0</c:v>
                </c:pt>
                <c:pt idx="118">
                  <c:v>38200.0</c:v>
                </c:pt>
                <c:pt idx="119">
                  <c:v>38443.0</c:v>
                </c:pt>
                <c:pt idx="120">
                  <c:v>64413.0</c:v>
                </c:pt>
                <c:pt idx="121">
                  <c:v>51287.0</c:v>
                </c:pt>
                <c:pt idx="122">
                  <c:v>13260.0</c:v>
                </c:pt>
                <c:pt idx="123">
                  <c:v>47472.0</c:v>
                </c:pt>
                <c:pt idx="124">
                  <c:v>54603.0</c:v>
                </c:pt>
                <c:pt idx="125">
                  <c:v>45207.0</c:v>
                </c:pt>
                <c:pt idx="126">
                  <c:v>47821.0</c:v>
                </c:pt>
                <c:pt idx="127">
                  <c:v>26850.0</c:v>
                </c:pt>
                <c:pt idx="128">
                  <c:v>42169.0</c:v>
                </c:pt>
                <c:pt idx="129">
                  <c:v>30081.0</c:v>
                </c:pt>
                <c:pt idx="130">
                  <c:v>49618.0</c:v>
                </c:pt>
                <c:pt idx="131">
                  <c:v>42429.0</c:v>
                </c:pt>
                <c:pt idx="132">
                  <c:v>26150.0</c:v>
                </c:pt>
                <c:pt idx="133">
                  <c:v>30801.0</c:v>
                </c:pt>
                <c:pt idx="134">
                  <c:v>22574.0</c:v>
                </c:pt>
                <c:pt idx="135">
                  <c:v>45837.0</c:v>
                </c:pt>
                <c:pt idx="136">
                  <c:v>35791.0</c:v>
                </c:pt>
                <c:pt idx="137">
                  <c:v>162397.0</c:v>
                </c:pt>
                <c:pt idx="138">
                  <c:v>54162.0</c:v>
                </c:pt>
                <c:pt idx="139">
                  <c:v>34487.0</c:v>
                </c:pt>
                <c:pt idx="140">
                  <c:v>46102.0</c:v>
                </c:pt>
                <c:pt idx="141">
                  <c:v>46463.0</c:v>
                </c:pt>
                <c:pt idx="142">
                  <c:v>50616.0</c:v>
                </c:pt>
                <c:pt idx="143">
                  <c:v>61278.0</c:v>
                </c:pt>
                <c:pt idx="144">
                  <c:v>46734.0</c:v>
                </c:pt>
                <c:pt idx="145">
                  <c:v>45068.0</c:v>
                </c:pt>
                <c:pt idx="146">
                  <c:v>54690.0</c:v>
                </c:pt>
                <c:pt idx="147">
                  <c:v>26751.0</c:v>
                </c:pt>
                <c:pt idx="148">
                  <c:v>38946.0</c:v>
                </c:pt>
                <c:pt idx="149">
                  <c:v>42315.0</c:v>
                </c:pt>
                <c:pt idx="150">
                  <c:v>47570.0</c:v>
                </c:pt>
                <c:pt idx="151">
                  <c:v>61923.0</c:v>
                </c:pt>
                <c:pt idx="152">
                  <c:v>26518.0</c:v>
                </c:pt>
                <c:pt idx="153">
                  <c:v>45160.0</c:v>
                </c:pt>
                <c:pt idx="154">
                  <c:v>44794.0</c:v>
                </c:pt>
                <c:pt idx="155">
                  <c:v>56962.0</c:v>
                </c:pt>
                <c:pt idx="156">
                  <c:v>35946.0</c:v>
                </c:pt>
                <c:pt idx="157">
                  <c:v>45072.0</c:v>
                </c:pt>
                <c:pt idx="158">
                  <c:v>70545.0</c:v>
                </c:pt>
                <c:pt idx="159">
                  <c:v>34941.0</c:v>
                </c:pt>
                <c:pt idx="160">
                  <c:v>48767.0</c:v>
                </c:pt>
                <c:pt idx="161">
                  <c:v>51518.0</c:v>
                </c:pt>
                <c:pt idx="162">
                  <c:v>38829.0</c:v>
                </c:pt>
                <c:pt idx="163">
                  <c:v>46891.0</c:v>
                </c:pt>
                <c:pt idx="164">
                  <c:v>33622.0</c:v>
                </c:pt>
                <c:pt idx="165">
                  <c:v>6835.0</c:v>
                </c:pt>
                <c:pt idx="166">
                  <c:v>41452.0</c:v>
                </c:pt>
                <c:pt idx="167">
                  <c:v>40760.0</c:v>
                </c:pt>
                <c:pt idx="168">
                  <c:v>51124.0</c:v>
                </c:pt>
                <c:pt idx="169">
                  <c:v>36283.0</c:v>
                </c:pt>
                <c:pt idx="170">
                  <c:v>17144.0</c:v>
                </c:pt>
                <c:pt idx="171">
                  <c:v>51267.0</c:v>
                </c:pt>
                <c:pt idx="172">
                  <c:v>46524.0</c:v>
                </c:pt>
                <c:pt idx="173">
                  <c:v>46984.0</c:v>
                </c:pt>
                <c:pt idx="174">
                  <c:v>34838.0</c:v>
                </c:pt>
                <c:pt idx="175">
                  <c:v>49681.0</c:v>
                </c:pt>
                <c:pt idx="176">
                  <c:v>56850.0</c:v>
                </c:pt>
                <c:pt idx="177">
                  <c:v>55267.0</c:v>
                </c:pt>
                <c:pt idx="178">
                  <c:v>65968.0</c:v>
                </c:pt>
                <c:pt idx="179">
                  <c:v>30772.0</c:v>
                </c:pt>
                <c:pt idx="180">
                  <c:v>37859.0</c:v>
                </c:pt>
                <c:pt idx="181">
                  <c:v>55412.0</c:v>
                </c:pt>
                <c:pt idx="182">
                  <c:v>35441.0</c:v>
                </c:pt>
                <c:pt idx="183">
                  <c:v>45889.0</c:v>
                </c:pt>
                <c:pt idx="184">
                  <c:v>34026.0</c:v>
                </c:pt>
                <c:pt idx="185">
                  <c:v>49980.0</c:v>
                </c:pt>
                <c:pt idx="186">
                  <c:v>15072.0</c:v>
                </c:pt>
                <c:pt idx="187">
                  <c:v>30843.0</c:v>
                </c:pt>
                <c:pt idx="188">
                  <c:v>38576.0</c:v>
                </c:pt>
                <c:pt idx="189">
                  <c:v>37758.0</c:v>
                </c:pt>
                <c:pt idx="190">
                  <c:v>44602.0</c:v>
                </c:pt>
                <c:pt idx="191">
                  <c:v>57906.0</c:v>
                </c:pt>
                <c:pt idx="192">
                  <c:v>42395.0</c:v>
                </c:pt>
                <c:pt idx="193">
                  <c:v>35797.0</c:v>
                </c:pt>
                <c:pt idx="194">
                  <c:v>51111.0</c:v>
                </c:pt>
                <c:pt idx="195">
                  <c:v>46231.0</c:v>
                </c:pt>
                <c:pt idx="196">
                  <c:v>42243.0</c:v>
                </c:pt>
                <c:pt idx="197">
                  <c:v>54137.0</c:v>
                </c:pt>
                <c:pt idx="198">
                  <c:v>58917.0</c:v>
                </c:pt>
                <c:pt idx="199">
                  <c:v>42607.0</c:v>
                </c:pt>
                <c:pt idx="200">
                  <c:v>46015.0</c:v>
                </c:pt>
                <c:pt idx="201">
                  <c:v>34469.0</c:v>
                </c:pt>
                <c:pt idx="202">
                  <c:v>52190.0</c:v>
                </c:pt>
                <c:pt idx="203">
                  <c:v>44051.0</c:v>
                </c:pt>
                <c:pt idx="204">
                  <c:v>46106.0</c:v>
                </c:pt>
                <c:pt idx="205">
                  <c:v>16927.0</c:v>
                </c:pt>
                <c:pt idx="206">
                  <c:v>59041.0</c:v>
                </c:pt>
                <c:pt idx="207">
                  <c:v>40233.0</c:v>
                </c:pt>
                <c:pt idx="208">
                  <c:v>50183.0</c:v>
                </c:pt>
                <c:pt idx="209">
                  <c:v>40706.0</c:v>
                </c:pt>
                <c:pt idx="210">
                  <c:v>56962.0</c:v>
                </c:pt>
                <c:pt idx="211">
                  <c:v>35704.0</c:v>
                </c:pt>
                <c:pt idx="212">
                  <c:v>46779.0</c:v>
                </c:pt>
                <c:pt idx="213">
                  <c:v>65352.0</c:v>
                </c:pt>
                <c:pt idx="214">
                  <c:v>35340.0</c:v>
                </c:pt>
                <c:pt idx="215">
                  <c:v>64587.0</c:v>
                </c:pt>
                <c:pt idx="216">
                  <c:v>26091.0</c:v>
                </c:pt>
                <c:pt idx="217">
                  <c:v>46086.0</c:v>
                </c:pt>
                <c:pt idx="218">
                  <c:v>19514.0</c:v>
                </c:pt>
                <c:pt idx="219">
                  <c:v>36736.0</c:v>
                </c:pt>
                <c:pt idx="220">
                  <c:v>49187.0</c:v>
                </c:pt>
                <c:pt idx="221">
                  <c:v>34053.0</c:v>
                </c:pt>
                <c:pt idx="222">
                  <c:v>38196.0</c:v>
                </c:pt>
                <c:pt idx="223">
                  <c:v>33564.0</c:v>
                </c:pt>
                <c:pt idx="224">
                  <c:v>32173.0</c:v>
                </c:pt>
                <c:pt idx="225">
                  <c:v>37334.0</c:v>
                </c:pt>
                <c:pt idx="226">
                  <c:v>46423.0</c:v>
                </c:pt>
                <c:pt idx="227">
                  <c:v>38998.0</c:v>
                </c:pt>
                <c:pt idx="228">
                  <c:v>33585.0</c:v>
                </c:pt>
                <c:pt idx="229">
                  <c:v>28764.0</c:v>
                </c:pt>
                <c:pt idx="230">
                  <c:v>25959.0</c:v>
                </c:pt>
                <c:pt idx="231">
                  <c:v>42557.0</c:v>
                </c:pt>
                <c:pt idx="232">
                  <c:v>35860.0</c:v>
                </c:pt>
                <c:pt idx="233">
                  <c:v>65526.0</c:v>
                </c:pt>
                <c:pt idx="234">
                  <c:v>16860.0</c:v>
                </c:pt>
                <c:pt idx="235">
                  <c:v>39722.0</c:v>
                </c:pt>
                <c:pt idx="236">
                  <c:v>26907.0</c:v>
                </c:pt>
                <c:pt idx="237">
                  <c:v>24163.0</c:v>
                </c:pt>
                <c:pt idx="238">
                  <c:v>38578.0</c:v>
                </c:pt>
                <c:pt idx="239">
                  <c:v>57236.0</c:v>
                </c:pt>
                <c:pt idx="240">
                  <c:v>50870.0</c:v>
                </c:pt>
                <c:pt idx="241">
                  <c:v>66480.0</c:v>
                </c:pt>
                <c:pt idx="242">
                  <c:v>54466.0</c:v>
                </c:pt>
                <c:pt idx="243">
                  <c:v>52034.0</c:v>
                </c:pt>
                <c:pt idx="244">
                  <c:v>46931.0</c:v>
                </c:pt>
                <c:pt idx="245">
                  <c:v>25930.0</c:v>
                </c:pt>
                <c:pt idx="246">
                  <c:v>36778.0</c:v>
                </c:pt>
                <c:pt idx="247">
                  <c:v>33419.0</c:v>
                </c:pt>
                <c:pt idx="248">
                  <c:v>54197.0</c:v>
                </c:pt>
                <c:pt idx="249">
                  <c:v>23091.0</c:v>
                </c:pt>
                <c:pt idx="250">
                  <c:v>44375.0</c:v>
                </c:pt>
                <c:pt idx="251">
                  <c:v>40344.0</c:v>
                </c:pt>
                <c:pt idx="252">
                  <c:v>48985.0</c:v>
                </c:pt>
                <c:pt idx="253">
                  <c:v>35322.0</c:v>
                </c:pt>
                <c:pt idx="254">
                  <c:v>66726.0</c:v>
                </c:pt>
                <c:pt idx="255">
                  <c:v>47353.0</c:v>
                </c:pt>
                <c:pt idx="256">
                  <c:v>33444.0</c:v>
                </c:pt>
                <c:pt idx="257">
                  <c:v>28510.0</c:v>
                </c:pt>
                <c:pt idx="258">
                  <c:v>15056.0</c:v>
                </c:pt>
                <c:pt idx="259">
                  <c:v>44393.0</c:v>
                </c:pt>
                <c:pt idx="260">
                  <c:v>31497.0</c:v>
                </c:pt>
                <c:pt idx="261">
                  <c:v>45894.0</c:v>
                </c:pt>
                <c:pt idx="262">
                  <c:v>58401.0</c:v>
                </c:pt>
                <c:pt idx="263">
                  <c:v>62307.0</c:v>
                </c:pt>
                <c:pt idx="264">
                  <c:v>43641.0</c:v>
                </c:pt>
                <c:pt idx="265">
                  <c:v>46891.0</c:v>
                </c:pt>
                <c:pt idx="266">
                  <c:v>54809.0</c:v>
                </c:pt>
                <c:pt idx="267">
                  <c:v>51412.0</c:v>
                </c:pt>
                <c:pt idx="268">
                  <c:v>40451.0</c:v>
                </c:pt>
                <c:pt idx="269">
                  <c:v>36317.0</c:v>
                </c:pt>
                <c:pt idx="270">
                  <c:v>42160.0</c:v>
                </c:pt>
                <c:pt idx="271">
                  <c:v>33629.0</c:v>
                </c:pt>
                <c:pt idx="272">
                  <c:v>40211.0</c:v>
                </c:pt>
                <c:pt idx="273">
                  <c:v>33438.0</c:v>
                </c:pt>
                <c:pt idx="274">
                  <c:v>38452.0</c:v>
                </c:pt>
                <c:pt idx="275">
                  <c:v>44421.0</c:v>
                </c:pt>
                <c:pt idx="276">
                  <c:v>41986.0</c:v>
                </c:pt>
                <c:pt idx="277">
                  <c:v>55249.0</c:v>
                </c:pt>
                <c:pt idx="278">
                  <c:v>44213.0</c:v>
                </c:pt>
                <c:pt idx="279">
                  <c:v>59062.0</c:v>
                </c:pt>
                <c:pt idx="280">
                  <c:v>40521.0</c:v>
                </c:pt>
                <c:pt idx="281">
                  <c:v>39356.0</c:v>
                </c:pt>
                <c:pt idx="282">
                  <c:v>35860.0</c:v>
                </c:pt>
                <c:pt idx="283">
                  <c:v>31454.0</c:v>
                </c:pt>
                <c:pt idx="284">
                  <c:v>47139.0</c:v>
                </c:pt>
                <c:pt idx="285">
                  <c:v>45579.0</c:v>
                </c:pt>
                <c:pt idx="286">
                  <c:v>40800.0</c:v>
                </c:pt>
                <c:pt idx="287">
                  <c:v>37633.0</c:v>
                </c:pt>
                <c:pt idx="288">
                  <c:v>46831.0</c:v>
                </c:pt>
                <c:pt idx="289">
                  <c:v>42997.0</c:v>
                </c:pt>
                <c:pt idx="290">
                  <c:v>48918.0</c:v>
                </c:pt>
                <c:pt idx="291">
                  <c:v>60033.0</c:v>
                </c:pt>
                <c:pt idx="292">
                  <c:v>7500.0</c:v>
                </c:pt>
                <c:pt idx="293">
                  <c:v>157733.0</c:v>
                </c:pt>
                <c:pt idx="294">
                  <c:v>44267.0</c:v>
                </c:pt>
                <c:pt idx="295">
                  <c:v>27238.0</c:v>
                </c:pt>
                <c:pt idx="296">
                  <c:v>46094.0</c:v>
                </c:pt>
                <c:pt idx="297">
                  <c:v>40321.0</c:v>
                </c:pt>
                <c:pt idx="298">
                  <c:v>40049.0</c:v>
                </c:pt>
                <c:pt idx="299">
                  <c:v>50127.0</c:v>
                </c:pt>
                <c:pt idx="300">
                  <c:v>26887.0</c:v>
                </c:pt>
                <c:pt idx="301">
                  <c:v>69139.0</c:v>
                </c:pt>
                <c:pt idx="302">
                  <c:v>33316.0</c:v>
                </c:pt>
                <c:pt idx="303">
                  <c:v>67267.0</c:v>
                </c:pt>
                <c:pt idx="304">
                  <c:v>57338.0</c:v>
                </c:pt>
                <c:pt idx="305">
                  <c:v>50523.0</c:v>
                </c:pt>
                <c:pt idx="306">
                  <c:v>35791.0</c:v>
                </c:pt>
                <c:pt idx="307">
                  <c:v>56243.0</c:v>
                </c:pt>
                <c:pt idx="308">
                  <c:v>46390.0</c:v>
                </c:pt>
                <c:pt idx="309">
                  <c:v>54342.0</c:v>
                </c:pt>
                <c:pt idx="310">
                  <c:v>26907.0</c:v>
                </c:pt>
                <c:pt idx="311">
                  <c:v>44964.0</c:v>
                </c:pt>
                <c:pt idx="312">
                  <c:v>53761.0</c:v>
                </c:pt>
                <c:pt idx="313">
                  <c:v>41658.0</c:v>
                </c:pt>
                <c:pt idx="314">
                  <c:v>39996.0</c:v>
                </c:pt>
                <c:pt idx="315">
                  <c:v>60544.0</c:v>
                </c:pt>
                <c:pt idx="316">
                  <c:v>37716.0</c:v>
                </c:pt>
                <c:pt idx="317">
                  <c:v>36947.0</c:v>
                </c:pt>
                <c:pt idx="318">
                  <c:v>36957.0</c:v>
                </c:pt>
                <c:pt idx="319">
                  <c:v>43142.0</c:v>
                </c:pt>
                <c:pt idx="320">
                  <c:v>36026.0</c:v>
                </c:pt>
                <c:pt idx="321">
                  <c:v>24639.0</c:v>
                </c:pt>
                <c:pt idx="322">
                  <c:v>34578.0</c:v>
                </c:pt>
                <c:pt idx="323">
                  <c:v>54132.0</c:v>
                </c:pt>
                <c:pt idx="324">
                  <c:v>38741.0</c:v>
                </c:pt>
                <c:pt idx="325">
                  <c:v>34853.0</c:v>
                </c:pt>
                <c:pt idx="326">
                  <c:v>31086.0</c:v>
                </c:pt>
                <c:pt idx="327">
                  <c:v>60544.0</c:v>
                </c:pt>
                <c:pt idx="328">
                  <c:v>33402.0</c:v>
                </c:pt>
                <c:pt idx="329">
                  <c:v>36408.0</c:v>
                </c:pt>
                <c:pt idx="330">
                  <c:v>26290.0</c:v>
                </c:pt>
                <c:pt idx="331">
                  <c:v>46015.0</c:v>
                </c:pt>
                <c:pt idx="332">
                  <c:v>41145.0</c:v>
                </c:pt>
                <c:pt idx="333">
                  <c:v>23162.0</c:v>
                </c:pt>
                <c:pt idx="334">
                  <c:v>34704.0</c:v>
                </c:pt>
                <c:pt idx="335">
                  <c:v>39898.0</c:v>
                </c:pt>
                <c:pt idx="336">
                  <c:v>59892.0</c:v>
                </c:pt>
                <c:pt idx="337">
                  <c:v>64014.0</c:v>
                </c:pt>
                <c:pt idx="338">
                  <c:v>42873.0</c:v>
                </c:pt>
                <c:pt idx="339">
                  <c:v>46098.0</c:v>
                </c:pt>
                <c:pt idx="340">
                  <c:v>28087.0</c:v>
                </c:pt>
                <c:pt idx="341">
                  <c:v>19740.0</c:v>
                </c:pt>
                <c:pt idx="342">
                  <c:v>53083.0</c:v>
                </c:pt>
                <c:pt idx="343">
                  <c:v>46098.0</c:v>
                </c:pt>
                <c:pt idx="344">
                  <c:v>51411.0</c:v>
                </c:pt>
                <c:pt idx="345">
                  <c:v>37284.0</c:v>
                </c:pt>
                <c:pt idx="346">
                  <c:v>57530.0</c:v>
                </c:pt>
                <c:pt idx="347">
                  <c:v>37054.0</c:v>
                </c:pt>
                <c:pt idx="348">
                  <c:v>47175.0</c:v>
                </c:pt>
                <c:pt idx="349">
                  <c:v>27215.0</c:v>
                </c:pt>
                <c:pt idx="350">
                  <c:v>49681.0</c:v>
                </c:pt>
                <c:pt idx="351">
                  <c:v>38998.0</c:v>
                </c:pt>
                <c:pt idx="352">
                  <c:v>45203.0</c:v>
                </c:pt>
                <c:pt idx="353">
                  <c:v>34633.0</c:v>
                </c:pt>
                <c:pt idx="354">
                  <c:v>45903.0</c:v>
                </c:pt>
                <c:pt idx="355">
                  <c:v>35860.0</c:v>
                </c:pt>
                <c:pt idx="356">
                  <c:v>40442.0</c:v>
                </c:pt>
                <c:pt idx="357">
                  <c:v>31497.0</c:v>
                </c:pt>
                <c:pt idx="358">
                  <c:v>52569.0</c:v>
                </c:pt>
                <c:pt idx="359">
                  <c:v>17144.0</c:v>
                </c:pt>
                <c:pt idx="360">
                  <c:v>44512.0</c:v>
                </c:pt>
                <c:pt idx="361">
                  <c:v>27116.0</c:v>
                </c:pt>
                <c:pt idx="362">
                  <c:v>54072.0</c:v>
                </c:pt>
                <c:pt idx="363">
                  <c:v>65526.0</c:v>
                </c:pt>
                <c:pt idx="364">
                  <c:v>31353.0</c:v>
                </c:pt>
                <c:pt idx="365">
                  <c:v>69139.0</c:v>
                </c:pt>
                <c:pt idx="366">
                  <c:v>51717.0</c:v>
                </c:pt>
                <c:pt idx="367">
                  <c:v>54414.0</c:v>
                </c:pt>
                <c:pt idx="368">
                  <c:v>54549.0</c:v>
                </c:pt>
                <c:pt idx="369">
                  <c:v>52854.0</c:v>
                </c:pt>
                <c:pt idx="370">
                  <c:v>44078.0</c:v>
                </c:pt>
                <c:pt idx="371">
                  <c:v>35924.0</c:v>
                </c:pt>
                <c:pt idx="372">
                  <c:v>58494.0</c:v>
                </c:pt>
                <c:pt idx="373">
                  <c:v>56551.0</c:v>
                </c:pt>
                <c:pt idx="374">
                  <c:v>34213.0</c:v>
                </c:pt>
                <c:pt idx="375">
                  <c:v>25358.0</c:v>
                </c:pt>
                <c:pt idx="376">
                  <c:v>34916.0</c:v>
                </c:pt>
                <c:pt idx="377">
                  <c:v>43602.0</c:v>
                </c:pt>
                <c:pt idx="378">
                  <c:v>36732.0</c:v>
                </c:pt>
                <c:pt idx="379">
                  <c:v>38232.0</c:v>
                </c:pt>
                <c:pt idx="380">
                  <c:v>22554.0</c:v>
                </c:pt>
                <c:pt idx="381">
                  <c:v>49413.0</c:v>
                </c:pt>
                <c:pt idx="382">
                  <c:v>42231.0</c:v>
                </c:pt>
                <c:pt idx="383">
                  <c:v>42033.0</c:v>
                </c:pt>
                <c:pt idx="384">
                  <c:v>41437.0</c:v>
                </c:pt>
                <c:pt idx="385">
                  <c:v>38452.0</c:v>
                </c:pt>
                <c:pt idx="386">
                  <c:v>54222.0</c:v>
                </c:pt>
                <c:pt idx="387">
                  <c:v>41154.0</c:v>
                </c:pt>
                <c:pt idx="388">
                  <c:v>22108.0</c:v>
                </c:pt>
                <c:pt idx="389">
                  <c:v>44392.0</c:v>
                </c:pt>
                <c:pt idx="390">
                  <c:v>42586.0</c:v>
                </c:pt>
                <c:pt idx="391">
                  <c:v>23529.0</c:v>
                </c:pt>
                <c:pt idx="392">
                  <c:v>46910.0</c:v>
                </c:pt>
                <c:pt idx="393">
                  <c:v>37244.0</c:v>
                </c:pt>
                <c:pt idx="394">
                  <c:v>54984.0</c:v>
                </c:pt>
                <c:pt idx="395">
                  <c:v>55761.0</c:v>
                </c:pt>
                <c:pt idx="396">
                  <c:v>30372.0</c:v>
                </c:pt>
                <c:pt idx="397">
                  <c:v>16014.0</c:v>
                </c:pt>
                <c:pt idx="398">
                  <c:v>41120.0</c:v>
                </c:pt>
                <c:pt idx="399">
                  <c:v>38725.0</c:v>
                </c:pt>
                <c:pt idx="400">
                  <c:v>47808.0</c:v>
                </c:pt>
                <c:pt idx="401">
                  <c:v>42664.0</c:v>
                </c:pt>
                <c:pt idx="402">
                  <c:v>42586.0</c:v>
                </c:pt>
                <c:pt idx="403">
                  <c:v>42473.0</c:v>
                </c:pt>
                <c:pt idx="404">
                  <c:v>34600.0</c:v>
                </c:pt>
                <c:pt idx="405">
                  <c:v>46904.0</c:v>
                </c:pt>
                <c:pt idx="406">
                  <c:v>34026.0</c:v>
                </c:pt>
                <c:pt idx="407">
                  <c:v>48918.0</c:v>
                </c:pt>
                <c:pt idx="408">
                  <c:v>34074.0</c:v>
                </c:pt>
                <c:pt idx="409">
                  <c:v>28520.0</c:v>
                </c:pt>
                <c:pt idx="410">
                  <c:v>59385.0</c:v>
                </c:pt>
                <c:pt idx="411">
                  <c:v>44689.0</c:v>
                </c:pt>
                <c:pt idx="412">
                  <c:v>18701.0</c:v>
                </c:pt>
                <c:pt idx="413">
                  <c:v>37758.0</c:v>
                </c:pt>
                <c:pt idx="414">
                  <c:v>32583.0</c:v>
                </c:pt>
                <c:pt idx="415">
                  <c:v>44635.0</c:v>
                </c:pt>
                <c:pt idx="416">
                  <c:v>33316.0</c:v>
                </c:pt>
                <c:pt idx="417">
                  <c:v>54809.0</c:v>
                </c:pt>
                <c:pt idx="418">
                  <c:v>41580.0</c:v>
                </c:pt>
                <c:pt idx="419">
                  <c:v>65735.0</c:v>
                </c:pt>
                <c:pt idx="420">
                  <c:v>4023.0</c:v>
                </c:pt>
                <c:pt idx="421">
                  <c:v>58217.0</c:v>
                </c:pt>
                <c:pt idx="422">
                  <c:v>32889.0</c:v>
                </c:pt>
                <c:pt idx="423">
                  <c:v>44503.0</c:v>
                </c:pt>
                <c:pt idx="424">
                  <c:v>49638.0</c:v>
                </c:pt>
                <c:pt idx="425">
                  <c:v>50616.0</c:v>
                </c:pt>
                <c:pt idx="426">
                  <c:v>44155.0</c:v>
                </c:pt>
                <c:pt idx="427">
                  <c:v>49160.0</c:v>
                </c:pt>
                <c:pt idx="428">
                  <c:v>45759.0</c:v>
                </c:pt>
                <c:pt idx="429">
                  <c:v>45688.0</c:v>
                </c:pt>
                <c:pt idx="430">
                  <c:v>34230.0</c:v>
                </c:pt>
                <c:pt idx="431">
                  <c:v>31878.0</c:v>
                </c:pt>
                <c:pt idx="432">
                  <c:v>61917.0</c:v>
                </c:pt>
                <c:pt idx="433">
                  <c:v>29543.0</c:v>
                </c:pt>
                <c:pt idx="434">
                  <c:v>34984.0</c:v>
                </c:pt>
                <c:pt idx="435">
                  <c:v>34242.0</c:v>
                </c:pt>
                <c:pt idx="436">
                  <c:v>28320.0</c:v>
                </c:pt>
                <c:pt idx="437">
                  <c:v>36065.0</c:v>
                </c:pt>
                <c:pt idx="438">
                  <c:v>39898.0</c:v>
                </c:pt>
                <c:pt idx="439">
                  <c:v>56551.0</c:v>
                </c:pt>
                <c:pt idx="440">
                  <c:v>44359.0</c:v>
                </c:pt>
                <c:pt idx="441">
                  <c:v>40887.0</c:v>
                </c:pt>
                <c:pt idx="442">
                  <c:v>48877.0</c:v>
                </c:pt>
                <c:pt idx="443">
                  <c:v>34600.0</c:v>
                </c:pt>
                <c:pt idx="444">
                  <c:v>54690.0</c:v>
                </c:pt>
                <c:pt idx="445">
                  <c:v>38236.0</c:v>
                </c:pt>
                <c:pt idx="446">
                  <c:v>58646.0</c:v>
                </c:pt>
                <c:pt idx="447">
                  <c:v>21994.0</c:v>
                </c:pt>
                <c:pt idx="448">
                  <c:v>57113.0</c:v>
                </c:pt>
                <c:pt idx="449">
                  <c:v>58116.0</c:v>
                </c:pt>
                <c:pt idx="450">
                  <c:v>39791.0</c:v>
                </c:pt>
                <c:pt idx="451">
                  <c:v>13672.0</c:v>
                </c:pt>
                <c:pt idx="452">
                  <c:v>46423.0</c:v>
                </c:pt>
                <c:pt idx="453">
                  <c:v>30368.0</c:v>
                </c:pt>
                <c:pt idx="454">
                  <c:v>68805.0</c:v>
                </c:pt>
                <c:pt idx="455">
                  <c:v>37284.0</c:v>
                </c:pt>
                <c:pt idx="456">
                  <c:v>27943.0</c:v>
                </c:pt>
                <c:pt idx="457">
                  <c:v>22263.0</c:v>
                </c:pt>
                <c:pt idx="458">
                  <c:v>30261.0</c:v>
                </c:pt>
                <c:pt idx="459">
                  <c:v>48195.0</c:v>
                </c:pt>
                <c:pt idx="460">
                  <c:v>29672.0</c:v>
                </c:pt>
                <c:pt idx="461">
                  <c:v>60905.0</c:v>
                </c:pt>
                <c:pt idx="462">
                  <c:v>53154.0</c:v>
                </c:pt>
                <c:pt idx="463">
                  <c:v>32871.0</c:v>
                </c:pt>
                <c:pt idx="464">
                  <c:v>36927.0</c:v>
                </c:pt>
                <c:pt idx="465">
                  <c:v>48794.0</c:v>
                </c:pt>
                <c:pt idx="466">
                  <c:v>42554.0</c:v>
                </c:pt>
                <c:pt idx="467">
                  <c:v>34109.0</c:v>
                </c:pt>
                <c:pt idx="468">
                  <c:v>53367.0</c:v>
                </c:pt>
                <c:pt idx="469">
                  <c:v>71322.0</c:v>
                </c:pt>
                <c:pt idx="470">
                  <c:v>48699.0</c:v>
                </c:pt>
                <c:pt idx="471">
                  <c:v>53204.0</c:v>
                </c:pt>
                <c:pt idx="472">
                  <c:v>58646.0</c:v>
                </c:pt>
                <c:pt idx="473">
                  <c:v>34587.0</c:v>
                </c:pt>
                <c:pt idx="474">
                  <c:v>43018.0</c:v>
                </c:pt>
                <c:pt idx="475">
                  <c:v>25176.0</c:v>
                </c:pt>
                <c:pt idx="476">
                  <c:v>43586.0</c:v>
                </c:pt>
                <c:pt idx="477">
                  <c:v>50116.0</c:v>
                </c:pt>
                <c:pt idx="478">
                  <c:v>33590.0</c:v>
                </c:pt>
                <c:pt idx="479">
                  <c:v>58692.0</c:v>
                </c:pt>
                <c:pt idx="480">
                  <c:v>40590.0</c:v>
                </c:pt>
                <c:pt idx="481">
                  <c:v>62637.0</c:v>
                </c:pt>
                <c:pt idx="482">
                  <c:v>29435.0</c:v>
                </c:pt>
                <c:pt idx="483">
                  <c:v>35788.0</c:v>
                </c:pt>
                <c:pt idx="484">
                  <c:v>36997.0</c:v>
                </c:pt>
                <c:pt idx="485">
                  <c:v>41275.0</c:v>
                </c:pt>
                <c:pt idx="486">
                  <c:v>63516.0</c:v>
                </c:pt>
                <c:pt idx="487">
                  <c:v>42769.0</c:v>
                </c:pt>
                <c:pt idx="488">
                  <c:v>49572.0</c:v>
                </c:pt>
                <c:pt idx="489">
                  <c:v>40590.0</c:v>
                </c:pt>
                <c:pt idx="490">
                  <c:v>41713.0</c:v>
                </c:pt>
                <c:pt idx="491">
                  <c:v>34176.0</c:v>
                </c:pt>
                <c:pt idx="492">
                  <c:v>59686.0</c:v>
                </c:pt>
                <c:pt idx="493">
                  <c:v>41967.0</c:v>
                </c:pt>
                <c:pt idx="494">
                  <c:v>38946.0</c:v>
                </c:pt>
                <c:pt idx="495">
                  <c:v>53233.0</c:v>
                </c:pt>
                <c:pt idx="496">
                  <c:v>40851.0</c:v>
                </c:pt>
                <c:pt idx="497">
                  <c:v>8820.0</c:v>
                </c:pt>
                <c:pt idx="498">
                  <c:v>37085.0</c:v>
                </c:pt>
                <c:pt idx="499">
                  <c:v>35893.0</c:v>
                </c:pt>
                <c:pt idx="500">
                  <c:v>32144.0</c:v>
                </c:pt>
                <c:pt idx="501">
                  <c:v>14918.0</c:v>
                </c:pt>
                <c:pt idx="502">
                  <c:v>45146.0</c:v>
                </c:pt>
                <c:pt idx="503">
                  <c:v>38054.0</c:v>
                </c:pt>
                <c:pt idx="504">
                  <c:v>36807.0</c:v>
                </c:pt>
                <c:pt idx="505">
                  <c:v>33562.0</c:v>
                </c:pt>
                <c:pt idx="506">
                  <c:v>24434.0</c:v>
                </c:pt>
                <c:pt idx="507">
                  <c:v>64014.0</c:v>
                </c:pt>
                <c:pt idx="508">
                  <c:v>52869.0</c:v>
                </c:pt>
              </c:numCache>
            </c:numRef>
          </c:yVal>
          <c:smooth val="0"/>
        </c:ser>
        <c:ser>
          <c:idx val="2"/>
          <c:order val="2"/>
          <c:tx>
            <c:strRef>
              <c:f>Sheet1!$B$1114</c:f>
              <c:strCache>
                <c:ptCount val="1"/>
                <c:pt idx="0">
                  <c:v>C2</c:v>
                </c:pt>
              </c:strCache>
            </c:strRef>
          </c:tx>
          <c:spPr>
            <a:solidFill>
              <a:srgbClr val="B45309"/>
            </a:solidFill>
            <a:ln>
              <a:noFill/>
            </a:ln>
            <a:effectLst/>
          </c:spPr>
          <c:marker>
            <c:symbol val="circle"/>
            <c:size val="4"/>
            <c:spPr>
              <a:solidFill>
                <a:srgbClr val="B45309"/>
              </a:solidFill>
              <a:ln w="3810" cap="flat">
                <a:solidFill>
                  <a:srgbClr val="B45309"/>
                </a:solidFill>
                <a:prstDash val="solid"/>
                <a:round/>
              </a:ln>
              <a:effectLst/>
            </c:spPr>
          </c:marker>
          <c:xVal>
            <c:numRef>
              <c:f>Sheet1!$A$1115:$A$1723</c:f>
              <c:numCache>
                <c:formatCode>General</c:formatCode>
                <c:ptCount val="609"/>
                <c:pt idx="0">
                  <c:v>422.0</c:v>
                </c:pt>
                <c:pt idx="1">
                  <c:v>716.0</c:v>
                </c:pt>
                <c:pt idx="2">
                  <c:v>590.0</c:v>
                </c:pt>
                <c:pt idx="3">
                  <c:v>310.0</c:v>
                </c:pt>
                <c:pt idx="4">
                  <c:v>1782.0</c:v>
                </c:pt>
                <c:pt idx="5">
                  <c:v>1730.0</c:v>
                </c:pt>
                <c:pt idx="6">
                  <c:v>972.0</c:v>
                </c:pt>
                <c:pt idx="7">
                  <c:v>544.0</c:v>
                </c:pt>
                <c:pt idx="8">
                  <c:v>444.0</c:v>
                </c:pt>
                <c:pt idx="9">
                  <c:v>302.0</c:v>
                </c:pt>
                <c:pt idx="10">
                  <c:v>913.0</c:v>
                </c:pt>
                <c:pt idx="11">
                  <c:v>1395.0</c:v>
                </c:pt>
                <c:pt idx="12">
                  <c:v>1319.0</c:v>
                </c:pt>
                <c:pt idx="13">
                  <c:v>507.0</c:v>
                </c:pt>
                <c:pt idx="14">
                  <c:v>606.0</c:v>
                </c:pt>
                <c:pt idx="15">
                  <c:v>518.0</c:v>
                </c:pt>
                <c:pt idx="16">
                  <c:v>612.0</c:v>
                </c:pt>
                <c:pt idx="17">
                  <c:v>884.0</c:v>
                </c:pt>
                <c:pt idx="18">
                  <c:v>606.0</c:v>
                </c:pt>
                <c:pt idx="19">
                  <c:v>653.0</c:v>
                </c:pt>
                <c:pt idx="20">
                  <c:v>1562.0</c:v>
                </c:pt>
                <c:pt idx="21">
                  <c:v>863.0</c:v>
                </c:pt>
                <c:pt idx="22">
                  <c:v>661.0</c:v>
                </c:pt>
                <c:pt idx="23">
                  <c:v>692.0</c:v>
                </c:pt>
                <c:pt idx="24">
                  <c:v>606.0</c:v>
                </c:pt>
                <c:pt idx="25">
                  <c:v>1169.0</c:v>
                </c:pt>
                <c:pt idx="26">
                  <c:v>910.0</c:v>
                </c:pt>
                <c:pt idx="27">
                  <c:v>969.0</c:v>
                </c:pt>
                <c:pt idx="28">
                  <c:v>608.0</c:v>
                </c:pt>
                <c:pt idx="29">
                  <c:v>551.0</c:v>
                </c:pt>
                <c:pt idx="30">
                  <c:v>577.0</c:v>
                </c:pt>
                <c:pt idx="31">
                  <c:v>660.0</c:v>
                </c:pt>
                <c:pt idx="32">
                  <c:v>661.0</c:v>
                </c:pt>
                <c:pt idx="33">
                  <c:v>463.0</c:v>
                </c:pt>
                <c:pt idx="34">
                  <c:v>632.0</c:v>
                </c:pt>
                <c:pt idx="35">
                  <c:v>1053.0</c:v>
                </c:pt>
                <c:pt idx="36">
                  <c:v>871.0</c:v>
                </c:pt>
                <c:pt idx="37">
                  <c:v>312.0</c:v>
                </c:pt>
                <c:pt idx="38">
                  <c:v>877.0</c:v>
                </c:pt>
                <c:pt idx="39">
                  <c:v>459.0</c:v>
                </c:pt>
                <c:pt idx="40">
                  <c:v>460.0</c:v>
                </c:pt>
                <c:pt idx="41">
                  <c:v>429.0</c:v>
                </c:pt>
                <c:pt idx="42">
                  <c:v>1021.0</c:v>
                </c:pt>
                <c:pt idx="43">
                  <c:v>306.0</c:v>
                </c:pt>
                <c:pt idx="44">
                  <c:v>1608.0</c:v>
                </c:pt>
                <c:pt idx="45">
                  <c:v>1835.0</c:v>
                </c:pt>
                <c:pt idx="46">
                  <c:v>608.0</c:v>
                </c:pt>
                <c:pt idx="47">
                  <c:v>535.0</c:v>
                </c:pt>
                <c:pt idx="48">
                  <c:v>1150.0</c:v>
                </c:pt>
                <c:pt idx="49">
                  <c:v>1804.0</c:v>
                </c:pt>
                <c:pt idx="50">
                  <c:v>241.0</c:v>
                </c:pt>
                <c:pt idx="51">
                  <c:v>541.0</c:v>
                </c:pt>
                <c:pt idx="52">
                  <c:v>482.0</c:v>
                </c:pt>
                <c:pt idx="53">
                  <c:v>1135.0</c:v>
                </c:pt>
                <c:pt idx="54">
                  <c:v>714.0</c:v>
                </c:pt>
                <c:pt idx="55">
                  <c:v>1245.0</c:v>
                </c:pt>
                <c:pt idx="56">
                  <c:v>576.0</c:v>
                </c:pt>
                <c:pt idx="57">
                  <c:v>1103.0</c:v>
                </c:pt>
                <c:pt idx="58">
                  <c:v>433.0</c:v>
                </c:pt>
                <c:pt idx="59">
                  <c:v>1117.0</c:v>
                </c:pt>
                <c:pt idx="60">
                  <c:v>605.0</c:v>
                </c:pt>
                <c:pt idx="61">
                  <c:v>1009.0</c:v>
                </c:pt>
                <c:pt idx="62">
                  <c:v>1102.0</c:v>
                </c:pt>
                <c:pt idx="63">
                  <c:v>1690.0</c:v>
                </c:pt>
                <c:pt idx="64">
                  <c:v>1390.0</c:v>
                </c:pt>
                <c:pt idx="65">
                  <c:v>1531.0</c:v>
                </c:pt>
                <c:pt idx="66">
                  <c:v>1148.0</c:v>
                </c:pt>
                <c:pt idx="67">
                  <c:v>1101.0</c:v>
                </c:pt>
                <c:pt idx="68">
                  <c:v>322.0</c:v>
                </c:pt>
                <c:pt idx="69">
                  <c:v>845.0</c:v>
                </c:pt>
                <c:pt idx="70">
                  <c:v>770.0</c:v>
                </c:pt>
                <c:pt idx="71">
                  <c:v>908.0</c:v>
                </c:pt>
                <c:pt idx="72">
                  <c:v>576.0</c:v>
                </c:pt>
                <c:pt idx="73">
                  <c:v>859.0</c:v>
                </c:pt>
                <c:pt idx="74">
                  <c:v>1374.0</c:v>
                </c:pt>
                <c:pt idx="75">
                  <c:v>916.0</c:v>
                </c:pt>
                <c:pt idx="76">
                  <c:v>728.0</c:v>
                </c:pt>
                <c:pt idx="77">
                  <c:v>546.0</c:v>
                </c:pt>
                <c:pt idx="78">
                  <c:v>680.0</c:v>
                </c:pt>
                <c:pt idx="79">
                  <c:v>1307.0</c:v>
                </c:pt>
                <c:pt idx="80">
                  <c:v>630.0</c:v>
                </c:pt>
                <c:pt idx="81">
                  <c:v>1161.0</c:v>
                </c:pt>
                <c:pt idx="82">
                  <c:v>946.0</c:v>
                </c:pt>
                <c:pt idx="83">
                  <c:v>1182.0</c:v>
                </c:pt>
                <c:pt idx="84">
                  <c:v>507.0</c:v>
                </c:pt>
                <c:pt idx="85">
                  <c:v>835.0</c:v>
                </c:pt>
                <c:pt idx="86">
                  <c:v>1443.0</c:v>
                </c:pt>
                <c:pt idx="87">
                  <c:v>1277.0</c:v>
                </c:pt>
                <c:pt idx="88">
                  <c:v>425.0</c:v>
                </c:pt>
                <c:pt idx="89">
                  <c:v>636.0</c:v>
                </c:pt>
                <c:pt idx="90">
                  <c:v>494.0</c:v>
                </c:pt>
                <c:pt idx="91">
                  <c:v>693.0</c:v>
                </c:pt>
                <c:pt idx="92">
                  <c:v>990.0</c:v>
                </c:pt>
                <c:pt idx="93">
                  <c:v>1371.0</c:v>
                </c:pt>
                <c:pt idx="94">
                  <c:v>1377.0</c:v>
                </c:pt>
                <c:pt idx="95">
                  <c:v>492.0</c:v>
                </c:pt>
                <c:pt idx="96">
                  <c:v>1005.0</c:v>
                </c:pt>
                <c:pt idx="97">
                  <c:v>1173.0</c:v>
                </c:pt>
                <c:pt idx="98">
                  <c:v>787.0</c:v>
                </c:pt>
                <c:pt idx="99">
                  <c:v>915.0</c:v>
                </c:pt>
                <c:pt idx="100">
                  <c:v>1485.0</c:v>
                </c:pt>
                <c:pt idx="101">
                  <c:v>1073.0</c:v>
                </c:pt>
                <c:pt idx="102">
                  <c:v>751.0</c:v>
                </c:pt>
                <c:pt idx="103">
                  <c:v>1188.0</c:v>
                </c:pt>
                <c:pt idx="104">
                  <c:v>1008.0</c:v>
                </c:pt>
                <c:pt idx="105">
                  <c:v>684.0</c:v>
                </c:pt>
                <c:pt idx="106">
                  <c:v>1082.0</c:v>
                </c:pt>
                <c:pt idx="107">
                  <c:v>1068.0</c:v>
                </c:pt>
                <c:pt idx="108">
                  <c:v>733.0</c:v>
                </c:pt>
                <c:pt idx="109">
                  <c:v>467.0</c:v>
                </c:pt>
                <c:pt idx="110">
                  <c:v>868.0</c:v>
                </c:pt>
                <c:pt idx="111">
                  <c:v>1001.0</c:v>
                </c:pt>
                <c:pt idx="112">
                  <c:v>431.0</c:v>
                </c:pt>
                <c:pt idx="113">
                  <c:v>971.0</c:v>
                </c:pt>
                <c:pt idx="114">
                  <c:v>893.0</c:v>
                </c:pt>
                <c:pt idx="115">
                  <c:v>542.0</c:v>
                </c:pt>
                <c:pt idx="116">
                  <c:v>890.0</c:v>
                </c:pt>
                <c:pt idx="117">
                  <c:v>1388.0</c:v>
                </c:pt>
                <c:pt idx="118">
                  <c:v>906.0</c:v>
                </c:pt>
                <c:pt idx="119">
                  <c:v>973.0</c:v>
                </c:pt>
                <c:pt idx="120">
                  <c:v>530.0</c:v>
                </c:pt>
                <c:pt idx="121">
                  <c:v>506.0</c:v>
                </c:pt>
                <c:pt idx="122">
                  <c:v>266.0</c:v>
                </c:pt>
                <c:pt idx="123">
                  <c:v>1053.0</c:v>
                </c:pt>
                <c:pt idx="124">
                  <c:v>735.0</c:v>
                </c:pt>
                <c:pt idx="125">
                  <c:v>2092.0</c:v>
                </c:pt>
                <c:pt idx="126">
                  <c:v>900.0</c:v>
                </c:pt>
                <c:pt idx="127">
                  <c:v>663.0</c:v>
                </c:pt>
                <c:pt idx="128">
                  <c:v>1816.0</c:v>
                </c:pt>
                <c:pt idx="129">
                  <c:v>976.0</c:v>
                </c:pt>
                <c:pt idx="130">
                  <c:v>1445.0</c:v>
                </c:pt>
                <c:pt idx="131">
                  <c:v>945.0</c:v>
                </c:pt>
                <c:pt idx="132">
                  <c:v>730.0</c:v>
                </c:pt>
                <c:pt idx="133">
                  <c:v>397.0</c:v>
                </c:pt>
                <c:pt idx="134">
                  <c:v>521.0</c:v>
                </c:pt>
                <c:pt idx="135">
                  <c:v>319.0</c:v>
                </c:pt>
                <c:pt idx="136">
                  <c:v>201.0</c:v>
                </c:pt>
                <c:pt idx="137">
                  <c:v>662.0</c:v>
                </c:pt>
                <c:pt idx="138">
                  <c:v>526.0</c:v>
                </c:pt>
                <c:pt idx="139">
                  <c:v>1957.0</c:v>
                </c:pt>
                <c:pt idx="140">
                  <c:v>795.0</c:v>
                </c:pt>
                <c:pt idx="141">
                  <c:v>889.0</c:v>
                </c:pt>
                <c:pt idx="142">
                  <c:v>1065.0</c:v>
                </c:pt>
                <c:pt idx="143">
                  <c:v>369.0</c:v>
                </c:pt>
                <c:pt idx="144">
                  <c:v>1230.0</c:v>
                </c:pt>
                <c:pt idx="145">
                  <c:v>444.0</c:v>
                </c:pt>
                <c:pt idx="146">
                  <c:v>611.0</c:v>
                </c:pt>
                <c:pt idx="147">
                  <c:v>473.0</c:v>
                </c:pt>
                <c:pt idx="148">
                  <c:v>819.0</c:v>
                </c:pt>
                <c:pt idx="149">
                  <c:v>594.0</c:v>
                </c:pt>
                <c:pt idx="150">
                  <c:v>326.0</c:v>
                </c:pt>
                <c:pt idx="151">
                  <c:v>404.0</c:v>
                </c:pt>
                <c:pt idx="152">
                  <c:v>1825.0</c:v>
                </c:pt>
                <c:pt idx="153">
                  <c:v>1586.0</c:v>
                </c:pt>
                <c:pt idx="154">
                  <c:v>889.0</c:v>
                </c:pt>
                <c:pt idx="155">
                  <c:v>393.0</c:v>
                </c:pt>
                <c:pt idx="156">
                  <c:v>1477.0</c:v>
                </c:pt>
                <c:pt idx="157">
                  <c:v>1179.0</c:v>
                </c:pt>
                <c:pt idx="158">
                  <c:v>1005.0</c:v>
                </c:pt>
                <c:pt idx="159">
                  <c:v>1307.0</c:v>
                </c:pt>
                <c:pt idx="160">
                  <c:v>486.0</c:v>
                </c:pt>
                <c:pt idx="161">
                  <c:v>1092.0</c:v>
                </c:pt>
                <c:pt idx="162">
                  <c:v>599.0</c:v>
                </c:pt>
                <c:pt idx="163">
                  <c:v>1174.0</c:v>
                </c:pt>
                <c:pt idx="164">
                  <c:v>365.0</c:v>
                </c:pt>
                <c:pt idx="165">
                  <c:v>1095.0</c:v>
                </c:pt>
                <c:pt idx="166">
                  <c:v>597.0</c:v>
                </c:pt>
                <c:pt idx="167">
                  <c:v>1048.0</c:v>
                </c:pt>
                <c:pt idx="168">
                  <c:v>574.0</c:v>
                </c:pt>
                <c:pt idx="169">
                  <c:v>670.0</c:v>
                </c:pt>
                <c:pt idx="170">
                  <c:v>990.0</c:v>
                </c:pt>
                <c:pt idx="171">
                  <c:v>1241.0</c:v>
                </c:pt>
                <c:pt idx="172">
                  <c:v>928.0</c:v>
                </c:pt>
                <c:pt idx="173">
                  <c:v>689.0</c:v>
                </c:pt>
                <c:pt idx="174">
                  <c:v>493.0</c:v>
                </c:pt>
                <c:pt idx="175">
                  <c:v>734.0</c:v>
                </c:pt>
                <c:pt idx="176">
                  <c:v>614.0</c:v>
                </c:pt>
                <c:pt idx="177">
                  <c:v>1453.0</c:v>
                </c:pt>
                <c:pt idx="178">
                  <c:v>1443.0</c:v>
                </c:pt>
                <c:pt idx="179">
                  <c:v>637.0</c:v>
                </c:pt>
                <c:pt idx="180">
                  <c:v>948.0</c:v>
                </c:pt>
                <c:pt idx="181">
                  <c:v>903.0</c:v>
                </c:pt>
                <c:pt idx="182">
                  <c:v>233.0</c:v>
                </c:pt>
                <c:pt idx="183">
                  <c:v>1185.0</c:v>
                </c:pt>
                <c:pt idx="184">
                  <c:v>965.0</c:v>
                </c:pt>
                <c:pt idx="185">
                  <c:v>480.0</c:v>
                </c:pt>
                <c:pt idx="186">
                  <c:v>606.0</c:v>
                </c:pt>
                <c:pt idx="187">
                  <c:v>1472.0</c:v>
                </c:pt>
                <c:pt idx="188">
                  <c:v>1335.0</c:v>
                </c:pt>
                <c:pt idx="189">
                  <c:v>1338.0</c:v>
                </c:pt>
                <c:pt idx="190">
                  <c:v>1099.0</c:v>
                </c:pt>
                <c:pt idx="191">
                  <c:v>1226.0</c:v>
                </c:pt>
                <c:pt idx="192">
                  <c:v>1171.0</c:v>
                </c:pt>
                <c:pt idx="193">
                  <c:v>564.0</c:v>
                </c:pt>
                <c:pt idx="194">
                  <c:v>242.0</c:v>
                </c:pt>
                <c:pt idx="195">
                  <c:v>450.0</c:v>
                </c:pt>
                <c:pt idx="196">
                  <c:v>758.0</c:v>
                </c:pt>
                <c:pt idx="197">
                  <c:v>654.0</c:v>
                </c:pt>
                <c:pt idx="198">
                  <c:v>813.0</c:v>
                </c:pt>
                <c:pt idx="199">
                  <c:v>629.0</c:v>
                </c:pt>
                <c:pt idx="200">
                  <c:v>377.0</c:v>
                </c:pt>
                <c:pt idx="201">
                  <c:v>767.0</c:v>
                </c:pt>
                <c:pt idx="202">
                  <c:v>1071.0</c:v>
                </c:pt>
                <c:pt idx="203">
                  <c:v>573.0</c:v>
                </c:pt>
                <c:pt idx="204">
                  <c:v>1027.0</c:v>
                </c:pt>
                <c:pt idx="205">
                  <c:v>860.0</c:v>
                </c:pt>
                <c:pt idx="206">
                  <c:v>769.0</c:v>
                </c:pt>
                <c:pt idx="207">
                  <c:v>1957.0</c:v>
                </c:pt>
                <c:pt idx="208">
                  <c:v>1616.0</c:v>
                </c:pt>
                <c:pt idx="209">
                  <c:v>542.0</c:v>
                </c:pt>
                <c:pt idx="210">
                  <c:v>1043.0</c:v>
                </c:pt>
                <c:pt idx="211">
                  <c:v>761.0</c:v>
                </c:pt>
                <c:pt idx="212">
                  <c:v>290.0</c:v>
                </c:pt>
                <c:pt idx="213">
                  <c:v>764.0</c:v>
                </c:pt>
                <c:pt idx="214">
                  <c:v>368.0</c:v>
                </c:pt>
                <c:pt idx="215">
                  <c:v>544.0</c:v>
                </c:pt>
                <c:pt idx="216">
                  <c:v>446.0</c:v>
                </c:pt>
                <c:pt idx="217">
                  <c:v>1180.0</c:v>
                </c:pt>
                <c:pt idx="218">
                  <c:v>727.0</c:v>
                </c:pt>
                <c:pt idx="219">
                  <c:v>341.0</c:v>
                </c:pt>
                <c:pt idx="220">
                  <c:v>393.0</c:v>
                </c:pt>
                <c:pt idx="221">
                  <c:v>486.0</c:v>
                </c:pt>
                <c:pt idx="222">
                  <c:v>995.0</c:v>
                </c:pt>
                <c:pt idx="223">
                  <c:v>989.0</c:v>
                </c:pt>
                <c:pt idx="224">
                  <c:v>595.0</c:v>
                </c:pt>
                <c:pt idx="225">
                  <c:v>564.0</c:v>
                </c:pt>
                <c:pt idx="226">
                  <c:v>353.0</c:v>
                </c:pt>
                <c:pt idx="227">
                  <c:v>1139.0</c:v>
                </c:pt>
                <c:pt idx="228">
                  <c:v>797.0</c:v>
                </c:pt>
                <c:pt idx="229">
                  <c:v>401.0</c:v>
                </c:pt>
                <c:pt idx="230">
                  <c:v>1198.0</c:v>
                </c:pt>
                <c:pt idx="231">
                  <c:v>1761.0</c:v>
                </c:pt>
                <c:pt idx="232">
                  <c:v>1416.0</c:v>
                </c:pt>
                <c:pt idx="233">
                  <c:v>966.0</c:v>
                </c:pt>
                <c:pt idx="234">
                  <c:v>1829.0</c:v>
                </c:pt>
                <c:pt idx="235">
                  <c:v>779.0</c:v>
                </c:pt>
                <c:pt idx="236">
                  <c:v>811.0</c:v>
                </c:pt>
                <c:pt idx="237">
                  <c:v>1120.0</c:v>
                </c:pt>
                <c:pt idx="238">
                  <c:v>725.0</c:v>
                </c:pt>
                <c:pt idx="239">
                  <c:v>683.0</c:v>
                </c:pt>
                <c:pt idx="240">
                  <c:v>305.0</c:v>
                </c:pt>
                <c:pt idx="241">
                  <c:v>995.0</c:v>
                </c:pt>
                <c:pt idx="242">
                  <c:v>475.0</c:v>
                </c:pt>
                <c:pt idx="243">
                  <c:v>694.0</c:v>
                </c:pt>
                <c:pt idx="244">
                  <c:v>361.0</c:v>
                </c:pt>
                <c:pt idx="245">
                  <c:v>578.0</c:v>
                </c:pt>
                <c:pt idx="246">
                  <c:v>728.0</c:v>
                </c:pt>
                <c:pt idx="247">
                  <c:v>662.0</c:v>
                </c:pt>
                <c:pt idx="248">
                  <c:v>491.0</c:v>
                </c:pt>
                <c:pt idx="249">
                  <c:v>1085.0</c:v>
                </c:pt>
                <c:pt idx="250">
                  <c:v>1150.0</c:v>
                </c:pt>
                <c:pt idx="251">
                  <c:v>573.0</c:v>
                </c:pt>
                <c:pt idx="252">
                  <c:v>936.0</c:v>
                </c:pt>
                <c:pt idx="253">
                  <c:v>528.0</c:v>
                </c:pt>
                <c:pt idx="254">
                  <c:v>724.0</c:v>
                </c:pt>
                <c:pt idx="255">
                  <c:v>297.0</c:v>
                </c:pt>
                <c:pt idx="256">
                  <c:v>488.0</c:v>
                </c:pt>
                <c:pt idx="257">
                  <c:v>859.0</c:v>
                </c:pt>
                <c:pt idx="258">
                  <c:v>2194.0</c:v>
                </c:pt>
                <c:pt idx="259">
                  <c:v>1314.0</c:v>
                </c:pt>
                <c:pt idx="260">
                  <c:v>702.0</c:v>
                </c:pt>
                <c:pt idx="261">
                  <c:v>1211.0</c:v>
                </c:pt>
                <c:pt idx="262">
                  <c:v>655.0</c:v>
                </c:pt>
                <c:pt idx="263">
                  <c:v>704.0</c:v>
                </c:pt>
                <c:pt idx="264">
                  <c:v>122.0</c:v>
                </c:pt>
                <c:pt idx="265">
                  <c:v>1123.0</c:v>
                </c:pt>
                <c:pt idx="266">
                  <c:v>497.0</c:v>
                </c:pt>
                <c:pt idx="267">
                  <c:v>691.0</c:v>
                </c:pt>
                <c:pt idx="268">
                  <c:v>1178.0</c:v>
                </c:pt>
                <c:pt idx="269">
                  <c:v>1155.0</c:v>
                </c:pt>
                <c:pt idx="270">
                  <c:v>1826.0</c:v>
                </c:pt>
                <c:pt idx="271">
                  <c:v>1477.0</c:v>
                </c:pt>
                <c:pt idx="272">
                  <c:v>766.0</c:v>
                </c:pt>
                <c:pt idx="273">
                  <c:v>357.0</c:v>
                </c:pt>
                <c:pt idx="274">
                  <c:v>981.0</c:v>
                </c:pt>
                <c:pt idx="275">
                  <c:v>868.0</c:v>
                </c:pt>
                <c:pt idx="276">
                  <c:v>937.0</c:v>
                </c:pt>
                <c:pt idx="277">
                  <c:v>367.0</c:v>
                </c:pt>
                <c:pt idx="278">
                  <c:v>443.0</c:v>
                </c:pt>
                <c:pt idx="279">
                  <c:v>562.0</c:v>
                </c:pt>
                <c:pt idx="280">
                  <c:v>1574.0</c:v>
                </c:pt>
                <c:pt idx="281">
                  <c:v>635.0</c:v>
                </c:pt>
                <c:pt idx="282">
                  <c:v>757.0</c:v>
                </c:pt>
                <c:pt idx="283">
                  <c:v>330.0</c:v>
                </c:pt>
                <c:pt idx="284">
                  <c:v>384.0</c:v>
                </c:pt>
                <c:pt idx="285">
                  <c:v>1722.0</c:v>
                </c:pt>
                <c:pt idx="286">
                  <c:v>957.0</c:v>
                </c:pt>
                <c:pt idx="287">
                  <c:v>1956.0</c:v>
                </c:pt>
                <c:pt idx="288">
                  <c:v>315.0</c:v>
                </c:pt>
                <c:pt idx="289">
                  <c:v>660.0</c:v>
                </c:pt>
                <c:pt idx="290">
                  <c:v>684.0</c:v>
                </c:pt>
                <c:pt idx="291">
                  <c:v>411.0</c:v>
                </c:pt>
                <c:pt idx="292">
                  <c:v>1459.0</c:v>
                </c:pt>
                <c:pt idx="293">
                  <c:v>515.0</c:v>
                </c:pt>
                <c:pt idx="294">
                  <c:v>1026.0</c:v>
                </c:pt>
                <c:pt idx="295">
                  <c:v>684.0</c:v>
                </c:pt>
                <c:pt idx="296">
                  <c:v>499.0</c:v>
                </c:pt>
                <c:pt idx="297">
                  <c:v>606.0</c:v>
                </c:pt>
                <c:pt idx="298">
                  <c:v>470.0</c:v>
                </c:pt>
                <c:pt idx="299">
                  <c:v>504.0</c:v>
                </c:pt>
                <c:pt idx="300">
                  <c:v>235.0</c:v>
                </c:pt>
                <c:pt idx="301">
                  <c:v>1232.0</c:v>
                </c:pt>
                <c:pt idx="302">
                  <c:v>1020.0</c:v>
                </c:pt>
                <c:pt idx="303">
                  <c:v>1461.0</c:v>
                </c:pt>
                <c:pt idx="304">
                  <c:v>908.0</c:v>
                </c:pt>
                <c:pt idx="305">
                  <c:v>1161.0</c:v>
                </c:pt>
                <c:pt idx="306">
                  <c:v>758.0</c:v>
                </c:pt>
                <c:pt idx="307">
                  <c:v>685.0</c:v>
                </c:pt>
                <c:pt idx="308">
                  <c:v>363.0</c:v>
                </c:pt>
                <c:pt idx="309">
                  <c:v>545.0</c:v>
                </c:pt>
                <c:pt idx="310">
                  <c:v>1065.0</c:v>
                </c:pt>
                <c:pt idx="311">
                  <c:v>296.0</c:v>
                </c:pt>
                <c:pt idx="312">
                  <c:v>530.0</c:v>
                </c:pt>
                <c:pt idx="313">
                  <c:v>114.0</c:v>
                </c:pt>
                <c:pt idx="314">
                  <c:v>1215.0</c:v>
                </c:pt>
                <c:pt idx="315">
                  <c:v>405.0</c:v>
                </c:pt>
                <c:pt idx="316">
                  <c:v>805.0</c:v>
                </c:pt>
                <c:pt idx="317">
                  <c:v>351.0</c:v>
                </c:pt>
                <c:pt idx="318">
                  <c:v>973.0</c:v>
                </c:pt>
                <c:pt idx="319">
                  <c:v>992.0</c:v>
                </c:pt>
                <c:pt idx="320">
                  <c:v>1529.0</c:v>
                </c:pt>
                <c:pt idx="321">
                  <c:v>860.0</c:v>
                </c:pt>
                <c:pt idx="322">
                  <c:v>928.0</c:v>
                </c:pt>
                <c:pt idx="323">
                  <c:v>418.0</c:v>
                </c:pt>
                <c:pt idx="324">
                  <c:v>587.0</c:v>
                </c:pt>
                <c:pt idx="325">
                  <c:v>641.0</c:v>
                </c:pt>
                <c:pt idx="326">
                  <c:v>793.0</c:v>
                </c:pt>
                <c:pt idx="327">
                  <c:v>825.0</c:v>
                </c:pt>
                <c:pt idx="328">
                  <c:v>610.0</c:v>
                </c:pt>
                <c:pt idx="329">
                  <c:v>1286.0</c:v>
                </c:pt>
                <c:pt idx="330">
                  <c:v>362.0</c:v>
                </c:pt>
                <c:pt idx="331">
                  <c:v>496.0</c:v>
                </c:pt>
                <c:pt idx="332">
                  <c:v>802.0</c:v>
                </c:pt>
                <c:pt idx="333">
                  <c:v>832.0</c:v>
                </c:pt>
                <c:pt idx="334">
                  <c:v>401.0</c:v>
                </c:pt>
                <c:pt idx="335">
                  <c:v>1194.0</c:v>
                </c:pt>
                <c:pt idx="336">
                  <c:v>656.0</c:v>
                </c:pt>
                <c:pt idx="337">
                  <c:v>311.0</c:v>
                </c:pt>
                <c:pt idx="338">
                  <c:v>820.0</c:v>
                </c:pt>
                <c:pt idx="339">
                  <c:v>274.0</c:v>
                </c:pt>
                <c:pt idx="340">
                  <c:v>448.0</c:v>
                </c:pt>
                <c:pt idx="341">
                  <c:v>397.0</c:v>
                </c:pt>
                <c:pt idx="342">
                  <c:v>1121.0</c:v>
                </c:pt>
                <c:pt idx="343">
                  <c:v>473.0</c:v>
                </c:pt>
                <c:pt idx="344">
                  <c:v>1678.0</c:v>
                </c:pt>
                <c:pt idx="345">
                  <c:v>316.0</c:v>
                </c:pt>
                <c:pt idx="346">
                  <c:v>1400.0</c:v>
                </c:pt>
                <c:pt idx="347">
                  <c:v>844.0</c:v>
                </c:pt>
                <c:pt idx="348">
                  <c:v>311.0</c:v>
                </c:pt>
                <c:pt idx="349">
                  <c:v>441.0</c:v>
                </c:pt>
                <c:pt idx="350">
                  <c:v>1178.0</c:v>
                </c:pt>
                <c:pt idx="351">
                  <c:v>800.0</c:v>
                </c:pt>
                <c:pt idx="352">
                  <c:v>586.0</c:v>
                </c:pt>
                <c:pt idx="353">
                  <c:v>447.0</c:v>
                </c:pt>
                <c:pt idx="354">
                  <c:v>797.0</c:v>
                </c:pt>
                <c:pt idx="355">
                  <c:v>415.0</c:v>
                </c:pt>
                <c:pt idx="356">
                  <c:v>493.0</c:v>
                </c:pt>
                <c:pt idx="357">
                  <c:v>971.0</c:v>
                </c:pt>
                <c:pt idx="358">
                  <c:v>371.0</c:v>
                </c:pt>
                <c:pt idx="359">
                  <c:v>322.0</c:v>
                </c:pt>
                <c:pt idx="360">
                  <c:v>789.0</c:v>
                </c:pt>
                <c:pt idx="361">
                  <c:v>908.0</c:v>
                </c:pt>
                <c:pt idx="362">
                  <c:v>417.0</c:v>
                </c:pt>
                <c:pt idx="363">
                  <c:v>769.0</c:v>
                </c:pt>
                <c:pt idx="364">
                  <c:v>354.0</c:v>
                </c:pt>
                <c:pt idx="365">
                  <c:v>727.0</c:v>
                </c:pt>
                <c:pt idx="366">
                  <c:v>319.0</c:v>
                </c:pt>
                <c:pt idx="367">
                  <c:v>794.0</c:v>
                </c:pt>
                <c:pt idx="368">
                  <c:v>454.0</c:v>
                </c:pt>
                <c:pt idx="369">
                  <c:v>797.0</c:v>
                </c:pt>
                <c:pt idx="370">
                  <c:v>1690.0</c:v>
                </c:pt>
                <c:pt idx="371">
                  <c:v>1371.0</c:v>
                </c:pt>
                <c:pt idx="372">
                  <c:v>294.0</c:v>
                </c:pt>
                <c:pt idx="373">
                  <c:v>879.0</c:v>
                </c:pt>
                <c:pt idx="374">
                  <c:v>690.0</c:v>
                </c:pt>
                <c:pt idx="375">
                  <c:v>209.0</c:v>
                </c:pt>
                <c:pt idx="376">
                  <c:v>180.0</c:v>
                </c:pt>
                <c:pt idx="377">
                  <c:v>556.0</c:v>
                </c:pt>
                <c:pt idx="378">
                  <c:v>637.0</c:v>
                </c:pt>
                <c:pt idx="379">
                  <c:v>795.0</c:v>
                </c:pt>
                <c:pt idx="380">
                  <c:v>586.0</c:v>
                </c:pt>
                <c:pt idx="381">
                  <c:v>1471.0</c:v>
                </c:pt>
                <c:pt idx="382">
                  <c:v>1078.0</c:v>
                </c:pt>
                <c:pt idx="383">
                  <c:v>1115.0</c:v>
                </c:pt>
                <c:pt idx="384">
                  <c:v>1034.0</c:v>
                </c:pt>
                <c:pt idx="385">
                  <c:v>1180.0</c:v>
                </c:pt>
                <c:pt idx="386">
                  <c:v>819.0</c:v>
                </c:pt>
                <c:pt idx="387">
                  <c:v>1159.0</c:v>
                </c:pt>
                <c:pt idx="388">
                  <c:v>860.0</c:v>
                </c:pt>
                <c:pt idx="389">
                  <c:v>1910.0</c:v>
                </c:pt>
                <c:pt idx="390">
                  <c:v>380.0</c:v>
                </c:pt>
                <c:pt idx="391">
                  <c:v>736.0</c:v>
                </c:pt>
                <c:pt idx="392">
                  <c:v>612.0</c:v>
                </c:pt>
                <c:pt idx="393">
                  <c:v>1064.0</c:v>
                </c:pt>
                <c:pt idx="394">
                  <c:v>1443.0</c:v>
                </c:pt>
                <c:pt idx="395">
                  <c:v>436.0</c:v>
                </c:pt>
                <c:pt idx="396">
                  <c:v>436.0</c:v>
                </c:pt>
                <c:pt idx="397">
                  <c:v>747.0</c:v>
                </c:pt>
                <c:pt idx="398">
                  <c:v>642.0</c:v>
                </c:pt>
                <c:pt idx="399">
                  <c:v>1048.0</c:v>
                </c:pt>
                <c:pt idx="400">
                  <c:v>907.0</c:v>
                </c:pt>
                <c:pt idx="401">
                  <c:v>1658.0</c:v>
                </c:pt>
                <c:pt idx="402">
                  <c:v>854.0</c:v>
                </c:pt>
                <c:pt idx="403">
                  <c:v>733.0</c:v>
                </c:pt>
                <c:pt idx="404">
                  <c:v>1513.0</c:v>
                </c:pt>
                <c:pt idx="405">
                  <c:v>904.0</c:v>
                </c:pt>
                <c:pt idx="406">
                  <c:v>1086.0</c:v>
                </c:pt>
                <c:pt idx="407">
                  <c:v>1128.0</c:v>
                </c:pt>
                <c:pt idx="408">
                  <c:v>964.0</c:v>
                </c:pt>
                <c:pt idx="409">
                  <c:v>793.0</c:v>
                </c:pt>
                <c:pt idx="410">
                  <c:v>677.0</c:v>
                </c:pt>
                <c:pt idx="411">
                  <c:v>1106.0</c:v>
                </c:pt>
                <c:pt idx="412">
                  <c:v>1174.0</c:v>
                </c:pt>
                <c:pt idx="413">
                  <c:v>1034.0</c:v>
                </c:pt>
                <c:pt idx="414">
                  <c:v>407.0</c:v>
                </c:pt>
                <c:pt idx="415">
                  <c:v>1269.0</c:v>
                </c:pt>
                <c:pt idx="416">
                  <c:v>841.0</c:v>
                </c:pt>
                <c:pt idx="417">
                  <c:v>633.0</c:v>
                </c:pt>
                <c:pt idx="418">
                  <c:v>1019.0</c:v>
                </c:pt>
                <c:pt idx="419">
                  <c:v>436.0</c:v>
                </c:pt>
                <c:pt idx="420">
                  <c:v>268.0</c:v>
                </c:pt>
                <c:pt idx="421">
                  <c:v>507.0</c:v>
                </c:pt>
                <c:pt idx="422">
                  <c:v>311.0</c:v>
                </c:pt>
                <c:pt idx="423">
                  <c:v>424.0</c:v>
                </c:pt>
                <c:pt idx="424">
                  <c:v>1410.0</c:v>
                </c:pt>
                <c:pt idx="425">
                  <c:v>562.0</c:v>
                </c:pt>
                <c:pt idx="426">
                  <c:v>1141.0</c:v>
                </c:pt>
                <c:pt idx="427">
                  <c:v>401.0</c:v>
                </c:pt>
                <c:pt idx="428">
                  <c:v>882.0</c:v>
                </c:pt>
                <c:pt idx="429">
                  <c:v>1152.0</c:v>
                </c:pt>
                <c:pt idx="430">
                  <c:v>561.0</c:v>
                </c:pt>
                <c:pt idx="431">
                  <c:v>1092.0</c:v>
                </c:pt>
                <c:pt idx="432">
                  <c:v>1095.0</c:v>
                </c:pt>
                <c:pt idx="433">
                  <c:v>425.0</c:v>
                </c:pt>
                <c:pt idx="434">
                  <c:v>734.0</c:v>
                </c:pt>
                <c:pt idx="435">
                  <c:v>638.0</c:v>
                </c:pt>
                <c:pt idx="436">
                  <c:v>1750.0</c:v>
                </c:pt>
                <c:pt idx="437">
                  <c:v>612.0</c:v>
                </c:pt>
                <c:pt idx="438">
                  <c:v>823.0</c:v>
                </c:pt>
                <c:pt idx="439">
                  <c:v>335.0</c:v>
                </c:pt>
                <c:pt idx="440">
                  <c:v>825.0</c:v>
                </c:pt>
                <c:pt idx="441">
                  <c:v>694.0</c:v>
                </c:pt>
                <c:pt idx="442">
                  <c:v>496.0</c:v>
                </c:pt>
                <c:pt idx="443">
                  <c:v>902.0</c:v>
                </c:pt>
                <c:pt idx="444">
                  <c:v>772.0</c:v>
                </c:pt>
                <c:pt idx="445">
                  <c:v>1586.0</c:v>
                </c:pt>
                <c:pt idx="446">
                  <c:v>1529.0</c:v>
                </c:pt>
                <c:pt idx="447">
                  <c:v>1533.0</c:v>
                </c:pt>
                <c:pt idx="448">
                  <c:v>404.0</c:v>
                </c:pt>
                <c:pt idx="449">
                  <c:v>815.0</c:v>
                </c:pt>
                <c:pt idx="450">
                  <c:v>1001.0</c:v>
                </c:pt>
                <c:pt idx="451">
                  <c:v>688.0</c:v>
                </c:pt>
                <c:pt idx="452">
                  <c:v>708.0</c:v>
                </c:pt>
                <c:pt idx="453">
                  <c:v>1695.0</c:v>
                </c:pt>
                <c:pt idx="454">
                  <c:v>1080.0</c:v>
                </c:pt>
                <c:pt idx="455">
                  <c:v>660.0</c:v>
                </c:pt>
                <c:pt idx="456">
                  <c:v>1220.0</c:v>
                </c:pt>
                <c:pt idx="457">
                  <c:v>279.0</c:v>
                </c:pt>
                <c:pt idx="458">
                  <c:v>745.0</c:v>
                </c:pt>
                <c:pt idx="459">
                  <c:v>1526.0</c:v>
                </c:pt>
                <c:pt idx="460">
                  <c:v>497.0</c:v>
                </c:pt>
                <c:pt idx="461">
                  <c:v>1067.0</c:v>
                </c:pt>
                <c:pt idx="462">
                  <c:v>877.0</c:v>
                </c:pt>
                <c:pt idx="463">
                  <c:v>964.0</c:v>
                </c:pt>
                <c:pt idx="464">
                  <c:v>1327.0</c:v>
                </c:pt>
                <c:pt idx="465">
                  <c:v>563.0</c:v>
                </c:pt>
                <c:pt idx="466">
                  <c:v>1504.0</c:v>
                </c:pt>
                <c:pt idx="467">
                  <c:v>564.0</c:v>
                </c:pt>
                <c:pt idx="468">
                  <c:v>460.0</c:v>
                </c:pt>
                <c:pt idx="469">
                  <c:v>792.0</c:v>
                </c:pt>
                <c:pt idx="470">
                  <c:v>882.0</c:v>
                </c:pt>
                <c:pt idx="471">
                  <c:v>1101.0</c:v>
                </c:pt>
                <c:pt idx="472">
                  <c:v>369.0</c:v>
                </c:pt>
                <c:pt idx="473">
                  <c:v>467.0</c:v>
                </c:pt>
                <c:pt idx="474">
                  <c:v>664.0</c:v>
                </c:pt>
                <c:pt idx="475">
                  <c:v>622.0</c:v>
                </c:pt>
                <c:pt idx="476">
                  <c:v>461.0</c:v>
                </c:pt>
                <c:pt idx="477">
                  <c:v>1073.0</c:v>
                </c:pt>
                <c:pt idx="478">
                  <c:v>976.0</c:v>
                </c:pt>
                <c:pt idx="479">
                  <c:v>917.0</c:v>
                </c:pt>
                <c:pt idx="480">
                  <c:v>502.0</c:v>
                </c:pt>
                <c:pt idx="481">
                  <c:v>1250.0</c:v>
                </c:pt>
                <c:pt idx="482">
                  <c:v>969.0</c:v>
                </c:pt>
                <c:pt idx="483">
                  <c:v>398.0</c:v>
                </c:pt>
                <c:pt idx="484">
                  <c:v>902.0</c:v>
                </c:pt>
                <c:pt idx="485">
                  <c:v>823.0</c:v>
                </c:pt>
                <c:pt idx="486">
                  <c:v>1179.0</c:v>
                </c:pt>
                <c:pt idx="487">
                  <c:v>1921.0</c:v>
                </c:pt>
                <c:pt idx="488">
                  <c:v>433.0</c:v>
                </c:pt>
                <c:pt idx="489">
                  <c:v>907.0</c:v>
                </c:pt>
                <c:pt idx="490">
                  <c:v>416.0</c:v>
                </c:pt>
                <c:pt idx="491">
                  <c:v>1143.0</c:v>
                </c:pt>
                <c:pt idx="492">
                  <c:v>763.0</c:v>
                </c:pt>
                <c:pt idx="493">
                  <c:v>525.0</c:v>
                </c:pt>
                <c:pt idx="494">
                  <c:v>953.0</c:v>
                </c:pt>
                <c:pt idx="495">
                  <c:v>882.0</c:v>
                </c:pt>
                <c:pt idx="496">
                  <c:v>388.0</c:v>
                </c:pt>
                <c:pt idx="497">
                  <c:v>215.0</c:v>
                </c:pt>
                <c:pt idx="498">
                  <c:v>929.0</c:v>
                </c:pt>
                <c:pt idx="499">
                  <c:v>275.0</c:v>
                </c:pt>
                <c:pt idx="500">
                  <c:v>587.0</c:v>
                </c:pt>
                <c:pt idx="501">
                  <c:v>1662.0</c:v>
                </c:pt>
                <c:pt idx="502">
                  <c:v>486.0</c:v>
                </c:pt>
                <c:pt idx="503">
                  <c:v>1217.0</c:v>
                </c:pt>
                <c:pt idx="504">
                  <c:v>581.0</c:v>
                </c:pt>
                <c:pt idx="505">
                  <c:v>928.0</c:v>
                </c:pt>
                <c:pt idx="506">
                  <c:v>960.0</c:v>
                </c:pt>
                <c:pt idx="507">
                  <c:v>656.0</c:v>
                </c:pt>
                <c:pt idx="508">
                  <c:v>367.0</c:v>
                </c:pt>
                <c:pt idx="509">
                  <c:v>685.0</c:v>
                </c:pt>
                <c:pt idx="510">
                  <c:v>1039.0</c:v>
                </c:pt>
                <c:pt idx="511">
                  <c:v>946.0</c:v>
                </c:pt>
                <c:pt idx="512">
                  <c:v>820.0</c:v>
                </c:pt>
                <c:pt idx="513">
                  <c:v>382.0</c:v>
                </c:pt>
                <c:pt idx="514">
                  <c:v>732.0</c:v>
                </c:pt>
                <c:pt idx="515">
                  <c:v>507.0</c:v>
                </c:pt>
                <c:pt idx="516">
                  <c:v>1028.0</c:v>
                </c:pt>
                <c:pt idx="517">
                  <c:v>1815.0</c:v>
                </c:pt>
                <c:pt idx="518">
                  <c:v>1198.0</c:v>
                </c:pt>
                <c:pt idx="519">
                  <c:v>416.0</c:v>
                </c:pt>
                <c:pt idx="520">
                  <c:v>909.0</c:v>
                </c:pt>
                <c:pt idx="521">
                  <c:v>1191.0</c:v>
                </c:pt>
                <c:pt idx="522">
                  <c:v>1182.0</c:v>
                </c:pt>
                <c:pt idx="523">
                  <c:v>749.0</c:v>
                </c:pt>
                <c:pt idx="524">
                  <c:v>414.0</c:v>
                </c:pt>
                <c:pt idx="525">
                  <c:v>901.0</c:v>
                </c:pt>
                <c:pt idx="526">
                  <c:v>455.0</c:v>
                </c:pt>
                <c:pt idx="527">
                  <c:v>775.0</c:v>
                </c:pt>
                <c:pt idx="528">
                  <c:v>816.0</c:v>
                </c:pt>
                <c:pt idx="529">
                  <c:v>561.0</c:v>
                </c:pt>
                <c:pt idx="530">
                  <c:v>377.0</c:v>
                </c:pt>
                <c:pt idx="531">
                  <c:v>1012.0</c:v>
                </c:pt>
                <c:pt idx="532">
                  <c:v>823.0</c:v>
                </c:pt>
                <c:pt idx="533">
                  <c:v>1138.0</c:v>
                </c:pt>
                <c:pt idx="534">
                  <c:v>982.0</c:v>
                </c:pt>
                <c:pt idx="535">
                  <c:v>434.0</c:v>
                </c:pt>
                <c:pt idx="536">
                  <c:v>359.0</c:v>
                </c:pt>
                <c:pt idx="537">
                  <c:v>415.0</c:v>
                </c:pt>
                <c:pt idx="538">
                  <c:v>484.0</c:v>
                </c:pt>
                <c:pt idx="539">
                  <c:v>413.0</c:v>
                </c:pt>
                <c:pt idx="540">
                  <c:v>1464.0</c:v>
                </c:pt>
                <c:pt idx="541">
                  <c:v>441.0</c:v>
                </c:pt>
                <c:pt idx="542">
                  <c:v>747.0</c:v>
                </c:pt>
                <c:pt idx="543">
                  <c:v>1175.0</c:v>
                </c:pt>
                <c:pt idx="544">
                  <c:v>1305.0</c:v>
                </c:pt>
                <c:pt idx="545">
                  <c:v>874.0</c:v>
                </c:pt>
                <c:pt idx="546">
                  <c:v>930.0</c:v>
                </c:pt>
                <c:pt idx="547">
                  <c:v>868.0</c:v>
                </c:pt>
                <c:pt idx="548">
                  <c:v>1260.0</c:v>
                </c:pt>
                <c:pt idx="549">
                  <c:v>414.0</c:v>
                </c:pt>
                <c:pt idx="550">
                  <c:v>1109.0</c:v>
                </c:pt>
                <c:pt idx="551">
                  <c:v>639.0</c:v>
                </c:pt>
                <c:pt idx="552">
                  <c:v>1392.0</c:v>
                </c:pt>
                <c:pt idx="553">
                  <c:v>467.0</c:v>
                </c:pt>
                <c:pt idx="554">
                  <c:v>527.0</c:v>
                </c:pt>
                <c:pt idx="555">
                  <c:v>932.0</c:v>
                </c:pt>
                <c:pt idx="556">
                  <c:v>1034.0</c:v>
                </c:pt>
                <c:pt idx="557">
                  <c:v>1088.0</c:v>
                </c:pt>
                <c:pt idx="558">
                  <c:v>1174.0</c:v>
                </c:pt>
                <c:pt idx="559">
                  <c:v>993.0</c:v>
                </c:pt>
                <c:pt idx="560">
                  <c:v>1680.0</c:v>
                </c:pt>
                <c:pt idx="561">
                  <c:v>519.0</c:v>
                </c:pt>
                <c:pt idx="562">
                  <c:v>715.0</c:v>
                </c:pt>
                <c:pt idx="563">
                  <c:v>433.0</c:v>
                </c:pt>
                <c:pt idx="564">
                  <c:v>1001.0</c:v>
                </c:pt>
                <c:pt idx="565">
                  <c:v>1518.0</c:v>
                </c:pt>
                <c:pt idx="566">
                  <c:v>874.0</c:v>
                </c:pt>
                <c:pt idx="567">
                  <c:v>264.0</c:v>
                </c:pt>
                <c:pt idx="568">
                  <c:v>2053.0</c:v>
                </c:pt>
                <c:pt idx="569">
                  <c:v>1376.0</c:v>
                </c:pt>
                <c:pt idx="570">
                  <c:v>976.0</c:v>
                </c:pt>
                <c:pt idx="571">
                  <c:v>1264.0</c:v>
                </c:pt>
                <c:pt idx="572">
                  <c:v>497.0</c:v>
                </c:pt>
                <c:pt idx="573">
                  <c:v>266.0</c:v>
                </c:pt>
                <c:pt idx="574">
                  <c:v>615.0</c:v>
                </c:pt>
                <c:pt idx="575">
                  <c:v>437.0</c:v>
                </c:pt>
                <c:pt idx="576">
                  <c:v>1013.0</c:v>
                </c:pt>
                <c:pt idx="577">
                  <c:v>1038.0</c:v>
                </c:pt>
                <c:pt idx="578">
                  <c:v>732.0</c:v>
                </c:pt>
                <c:pt idx="579">
                  <c:v>608.0</c:v>
                </c:pt>
                <c:pt idx="580">
                  <c:v>798.0</c:v>
                </c:pt>
                <c:pt idx="581">
                  <c:v>731.0</c:v>
                </c:pt>
                <c:pt idx="582">
                  <c:v>1701.0</c:v>
                </c:pt>
                <c:pt idx="583">
                  <c:v>414.0</c:v>
                </c:pt>
                <c:pt idx="584">
                  <c:v>568.0</c:v>
                </c:pt>
                <c:pt idx="585">
                  <c:v>873.0</c:v>
                </c:pt>
                <c:pt idx="586">
                  <c:v>1213.0</c:v>
                </c:pt>
                <c:pt idx="587">
                  <c:v>731.0</c:v>
                </c:pt>
                <c:pt idx="588">
                  <c:v>424.0</c:v>
                </c:pt>
                <c:pt idx="589">
                  <c:v>575.0</c:v>
                </c:pt>
                <c:pt idx="590">
                  <c:v>542.0</c:v>
                </c:pt>
                <c:pt idx="591">
                  <c:v>1016.0</c:v>
                </c:pt>
                <c:pt idx="592">
                  <c:v>907.0</c:v>
                </c:pt>
                <c:pt idx="593">
                  <c:v>1528.0</c:v>
                </c:pt>
                <c:pt idx="594">
                  <c:v>546.0</c:v>
                </c:pt>
                <c:pt idx="595">
                  <c:v>500.0</c:v>
                </c:pt>
                <c:pt idx="596">
                  <c:v>704.0</c:v>
                </c:pt>
                <c:pt idx="597">
                  <c:v>424.0</c:v>
                </c:pt>
                <c:pt idx="598">
                  <c:v>849.0</c:v>
                </c:pt>
                <c:pt idx="599">
                  <c:v>1147.0</c:v>
                </c:pt>
                <c:pt idx="600">
                  <c:v>521.0</c:v>
                </c:pt>
                <c:pt idx="601">
                  <c:v>415.0</c:v>
                </c:pt>
                <c:pt idx="602">
                  <c:v>470.0</c:v>
                </c:pt>
                <c:pt idx="603">
                  <c:v>679.0</c:v>
                </c:pt>
                <c:pt idx="604">
                  <c:v>586.0</c:v>
                </c:pt>
                <c:pt idx="605">
                  <c:v>653.0</c:v>
                </c:pt>
                <c:pt idx="606">
                  <c:v>468.0</c:v>
                </c:pt>
                <c:pt idx="607">
                  <c:v>1341.0</c:v>
                </c:pt>
                <c:pt idx="608">
                  <c:v>843.0</c:v>
                </c:pt>
              </c:numCache>
            </c:numRef>
          </c:xVal>
          <c:yVal>
            <c:numRef>
              <c:f>Sheet1!$B$1115:$B$1723</c:f>
              <c:numCache>
                <c:formatCode>General</c:formatCode>
                <c:ptCount val="609"/>
                <c:pt idx="0">
                  <c:v>58293.0</c:v>
                </c:pt>
                <c:pt idx="1">
                  <c:v>62513.0</c:v>
                </c:pt>
                <c:pt idx="2">
                  <c:v>55635.0</c:v>
                </c:pt>
                <c:pt idx="3">
                  <c:v>59354.0</c:v>
                </c:pt>
                <c:pt idx="4">
                  <c:v>76995.0</c:v>
                </c:pt>
                <c:pt idx="5">
                  <c:v>2447.0</c:v>
                </c:pt>
                <c:pt idx="6">
                  <c:v>58607.0</c:v>
                </c:pt>
                <c:pt idx="7">
                  <c:v>65324.0</c:v>
                </c:pt>
                <c:pt idx="8">
                  <c:v>40689.0</c:v>
                </c:pt>
                <c:pt idx="9">
                  <c:v>46610.0</c:v>
                </c:pt>
                <c:pt idx="10">
                  <c:v>67353.0</c:v>
                </c:pt>
                <c:pt idx="11">
                  <c:v>80011.0</c:v>
                </c:pt>
                <c:pt idx="12">
                  <c:v>72550.0</c:v>
                </c:pt>
                <c:pt idx="13">
                  <c:v>65486.0</c:v>
                </c:pt>
                <c:pt idx="14">
                  <c:v>66373.0</c:v>
                </c:pt>
                <c:pt idx="15">
                  <c:v>55954.0</c:v>
                </c:pt>
                <c:pt idx="16">
                  <c:v>66653.0</c:v>
                </c:pt>
                <c:pt idx="17">
                  <c:v>61823.0</c:v>
                </c:pt>
                <c:pt idx="18">
                  <c:v>67680.0</c:v>
                </c:pt>
                <c:pt idx="19">
                  <c:v>69096.0</c:v>
                </c:pt>
                <c:pt idx="20">
                  <c:v>74854.0</c:v>
                </c:pt>
                <c:pt idx="21">
                  <c:v>65031.0</c:v>
                </c:pt>
                <c:pt idx="22">
                  <c:v>60631.0</c:v>
                </c:pt>
                <c:pt idx="23">
                  <c:v>56046.0</c:v>
                </c:pt>
                <c:pt idx="24">
                  <c:v>47916.0</c:v>
                </c:pt>
                <c:pt idx="25">
                  <c:v>85693.0</c:v>
                </c:pt>
                <c:pt idx="26">
                  <c:v>52413.0</c:v>
                </c:pt>
                <c:pt idx="27">
                  <c:v>77298.0</c:v>
                </c:pt>
                <c:pt idx="28">
                  <c:v>57288.0</c:v>
                </c:pt>
                <c:pt idx="29">
                  <c:v>43974.0</c:v>
                </c:pt>
                <c:pt idx="30">
                  <c:v>36550.0</c:v>
                </c:pt>
                <c:pt idx="31">
                  <c:v>56129.0</c:v>
                </c:pt>
                <c:pt idx="32">
                  <c:v>77376.0</c:v>
                </c:pt>
                <c:pt idx="33">
                  <c:v>62998.0</c:v>
                </c:pt>
                <c:pt idx="34">
                  <c:v>61331.0</c:v>
                </c:pt>
                <c:pt idx="35">
                  <c:v>65104.0</c:v>
                </c:pt>
                <c:pt idx="36">
                  <c:v>68352.0</c:v>
                </c:pt>
                <c:pt idx="37">
                  <c:v>41883.0</c:v>
                </c:pt>
                <c:pt idx="38">
                  <c:v>59809.0</c:v>
                </c:pt>
                <c:pt idx="39">
                  <c:v>59354.0</c:v>
                </c:pt>
                <c:pt idx="40">
                  <c:v>65747.0</c:v>
                </c:pt>
                <c:pt idx="41">
                  <c:v>46344.0</c:v>
                </c:pt>
                <c:pt idx="42">
                  <c:v>61010.0</c:v>
                </c:pt>
                <c:pt idx="43">
                  <c:v>49967.0</c:v>
                </c:pt>
                <c:pt idx="44">
                  <c:v>157243.0</c:v>
                </c:pt>
                <c:pt idx="45">
                  <c:v>80427.0</c:v>
                </c:pt>
                <c:pt idx="46">
                  <c:v>61286.0</c:v>
                </c:pt>
                <c:pt idx="47">
                  <c:v>69142.0</c:v>
                </c:pt>
                <c:pt idx="48">
                  <c:v>63693.0</c:v>
                </c:pt>
                <c:pt idx="49">
                  <c:v>64497.0</c:v>
                </c:pt>
                <c:pt idx="50">
                  <c:v>46097.0</c:v>
                </c:pt>
                <c:pt idx="51">
                  <c:v>46014.0</c:v>
                </c:pt>
                <c:pt idx="52">
                  <c:v>41443.0</c:v>
                </c:pt>
                <c:pt idx="53">
                  <c:v>69508.0</c:v>
                </c:pt>
                <c:pt idx="54">
                  <c:v>77622.0</c:v>
                </c:pt>
                <c:pt idx="55">
                  <c:v>63887.0</c:v>
                </c:pt>
                <c:pt idx="56">
                  <c:v>51369.0</c:v>
                </c:pt>
                <c:pt idx="57">
                  <c:v>51537.0</c:v>
                </c:pt>
                <c:pt idx="58">
                  <c:v>37070.0</c:v>
                </c:pt>
                <c:pt idx="59">
                  <c:v>62745.0</c:v>
                </c:pt>
                <c:pt idx="60">
                  <c:v>79761.0</c:v>
                </c:pt>
                <c:pt idx="61">
                  <c:v>64961.0</c:v>
                </c:pt>
                <c:pt idx="62">
                  <c:v>61074.0</c:v>
                </c:pt>
                <c:pt idx="63">
                  <c:v>80134.0</c:v>
                </c:pt>
                <c:pt idx="64">
                  <c:v>75027.0</c:v>
                </c:pt>
                <c:pt idx="65">
                  <c:v>65176.0</c:v>
                </c:pt>
                <c:pt idx="66">
                  <c:v>75702.0</c:v>
                </c:pt>
                <c:pt idx="67">
                  <c:v>63342.0</c:v>
                </c:pt>
                <c:pt idx="68">
                  <c:v>45989.0</c:v>
                </c:pt>
                <c:pt idx="69">
                  <c:v>69674.0</c:v>
                </c:pt>
                <c:pt idx="70">
                  <c:v>66313.0</c:v>
                </c:pt>
                <c:pt idx="71">
                  <c:v>63841.0</c:v>
                </c:pt>
                <c:pt idx="72">
                  <c:v>51369.0</c:v>
                </c:pt>
                <c:pt idx="73">
                  <c:v>50898.0</c:v>
                </c:pt>
                <c:pt idx="74">
                  <c:v>55951.0</c:v>
                </c:pt>
                <c:pt idx="75">
                  <c:v>57912.0</c:v>
                </c:pt>
                <c:pt idx="76">
                  <c:v>58821.0</c:v>
                </c:pt>
                <c:pt idx="77">
                  <c:v>64100.0</c:v>
                </c:pt>
                <c:pt idx="78">
                  <c:v>64795.0</c:v>
                </c:pt>
                <c:pt idx="79">
                  <c:v>64325.0</c:v>
                </c:pt>
                <c:pt idx="80">
                  <c:v>40464.0</c:v>
                </c:pt>
                <c:pt idx="81">
                  <c:v>66334.0</c:v>
                </c:pt>
                <c:pt idx="82">
                  <c:v>62204.0</c:v>
                </c:pt>
                <c:pt idx="83">
                  <c:v>55212.0</c:v>
                </c:pt>
                <c:pt idx="84">
                  <c:v>59292.0</c:v>
                </c:pt>
                <c:pt idx="85">
                  <c:v>71113.0</c:v>
                </c:pt>
                <c:pt idx="86">
                  <c:v>71952.0</c:v>
                </c:pt>
                <c:pt idx="87">
                  <c:v>60000.0</c:v>
                </c:pt>
                <c:pt idx="88">
                  <c:v>46681.0</c:v>
                </c:pt>
                <c:pt idx="89">
                  <c:v>62187.0</c:v>
                </c:pt>
                <c:pt idx="90">
                  <c:v>51479.0</c:v>
                </c:pt>
                <c:pt idx="91">
                  <c:v>54803.0</c:v>
                </c:pt>
                <c:pt idx="92">
                  <c:v>52614.0</c:v>
                </c:pt>
                <c:pt idx="93">
                  <c:v>63810.0</c:v>
                </c:pt>
                <c:pt idx="94">
                  <c:v>66426.0</c:v>
                </c:pt>
                <c:pt idx="95">
                  <c:v>43795.0</c:v>
                </c:pt>
                <c:pt idx="96">
                  <c:v>63381.0</c:v>
                </c:pt>
                <c:pt idx="97">
                  <c:v>83664.0</c:v>
                </c:pt>
                <c:pt idx="98">
                  <c:v>70777.0</c:v>
                </c:pt>
                <c:pt idx="99">
                  <c:v>53858.0</c:v>
                </c:pt>
                <c:pt idx="100">
                  <c:v>66465.0</c:v>
                </c:pt>
                <c:pt idx="101">
                  <c:v>75072.0</c:v>
                </c:pt>
                <c:pt idx="102">
                  <c:v>49505.0</c:v>
                </c:pt>
                <c:pt idx="103">
                  <c:v>75433.0</c:v>
                </c:pt>
                <c:pt idx="104">
                  <c:v>61314.0</c:v>
                </c:pt>
                <c:pt idx="105">
                  <c:v>42387.0</c:v>
                </c:pt>
                <c:pt idx="106">
                  <c:v>67309.0</c:v>
                </c:pt>
                <c:pt idx="107">
                  <c:v>75236.0</c:v>
                </c:pt>
                <c:pt idx="108">
                  <c:v>67272.0</c:v>
                </c:pt>
                <c:pt idx="109">
                  <c:v>51529.0</c:v>
                </c:pt>
                <c:pt idx="110">
                  <c:v>57959.0</c:v>
                </c:pt>
                <c:pt idx="111">
                  <c:v>56796.0</c:v>
                </c:pt>
                <c:pt idx="112">
                  <c:v>70829.0</c:v>
                </c:pt>
                <c:pt idx="113">
                  <c:v>65991.0</c:v>
                </c:pt>
                <c:pt idx="114">
                  <c:v>60597.0</c:v>
                </c:pt>
                <c:pt idx="115">
                  <c:v>53790.0</c:v>
                </c:pt>
                <c:pt idx="116">
                  <c:v>49269.0</c:v>
                </c:pt>
                <c:pt idx="117">
                  <c:v>61456.0</c:v>
                </c:pt>
                <c:pt idx="118">
                  <c:v>56937.0</c:v>
                </c:pt>
                <c:pt idx="119">
                  <c:v>62503.0</c:v>
                </c:pt>
                <c:pt idx="120">
                  <c:v>62010.0</c:v>
                </c:pt>
                <c:pt idx="121">
                  <c:v>41124.0</c:v>
                </c:pt>
                <c:pt idx="122">
                  <c:v>43057.0</c:v>
                </c:pt>
                <c:pt idx="123">
                  <c:v>65104.0</c:v>
                </c:pt>
                <c:pt idx="124">
                  <c:v>60093.0</c:v>
                </c:pt>
                <c:pt idx="125">
                  <c:v>78952.0</c:v>
                </c:pt>
                <c:pt idx="126">
                  <c:v>58308.0</c:v>
                </c:pt>
                <c:pt idx="127">
                  <c:v>59432.0</c:v>
                </c:pt>
                <c:pt idx="128">
                  <c:v>78642.0</c:v>
                </c:pt>
                <c:pt idx="129">
                  <c:v>67911.0</c:v>
                </c:pt>
                <c:pt idx="130">
                  <c:v>64355.0</c:v>
                </c:pt>
                <c:pt idx="131">
                  <c:v>65665.0</c:v>
                </c:pt>
                <c:pt idx="132">
                  <c:v>61250.0</c:v>
                </c:pt>
                <c:pt idx="133">
                  <c:v>44124.0</c:v>
                </c:pt>
                <c:pt idx="134">
                  <c:v>47682.0</c:v>
                </c:pt>
                <c:pt idx="135">
                  <c:v>47352.0</c:v>
                </c:pt>
                <c:pt idx="136">
                  <c:v>43638.0</c:v>
                </c:pt>
                <c:pt idx="137">
                  <c:v>54058.0</c:v>
                </c:pt>
                <c:pt idx="138">
                  <c:v>60504.0</c:v>
                </c:pt>
                <c:pt idx="139">
                  <c:v>87771.0</c:v>
                </c:pt>
                <c:pt idx="140">
                  <c:v>71499.0</c:v>
                </c:pt>
                <c:pt idx="141">
                  <c:v>62466.0</c:v>
                </c:pt>
                <c:pt idx="142">
                  <c:v>66565.0</c:v>
                </c:pt>
                <c:pt idx="143">
                  <c:v>44989.0</c:v>
                </c:pt>
                <c:pt idx="144">
                  <c:v>61996.0</c:v>
                </c:pt>
                <c:pt idx="145">
                  <c:v>40689.0</c:v>
                </c:pt>
                <c:pt idx="146">
                  <c:v>61794.0</c:v>
                </c:pt>
                <c:pt idx="147">
                  <c:v>53863.0</c:v>
                </c:pt>
                <c:pt idx="148">
                  <c:v>62807.0</c:v>
                </c:pt>
                <c:pt idx="149">
                  <c:v>61467.0</c:v>
                </c:pt>
                <c:pt idx="150">
                  <c:v>30522.0</c:v>
                </c:pt>
                <c:pt idx="151">
                  <c:v>54456.0</c:v>
                </c:pt>
                <c:pt idx="152">
                  <c:v>70971.0</c:v>
                </c:pt>
                <c:pt idx="153">
                  <c:v>69084.0</c:v>
                </c:pt>
                <c:pt idx="154">
                  <c:v>62466.0</c:v>
                </c:pt>
                <c:pt idx="155">
                  <c:v>56181.0</c:v>
                </c:pt>
                <c:pt idx="156">
                  <c:v>63120.0</c:v>
                </c:pt>
                <c:pt idx="157">
                  <c:v>73691.0</c:v>
                </c:pt>
                <c:pt idx="158">
                  <c:v>63381.0</c:v>
                </c:pt>
                <c:pt idx="159">
                  <c:v>62859.0</c:v>
                </c:pt>
                <c:pt idx="160">
                  <c:v>45906.0</c:v>
                </c:pt>
                <c:pt idx="161">
                  <c:v>78710.0</c:v>
                </c:pt>
                <c:pt idx="162">
                  <c:v>66886.0</c:v>
                </c:pt>
                <c:pt idx="163">
                  <c:v>67445.0</c:v>
                </c:pt>
                <c:pt idx="164">
                  <c:v>49431.0</c:v>
                </c:pt>
                <c:pt idx="165">
                  <c:v>73059.0</c:v>
                </c:pt>
                <c:pt idx="166">
                  <c:v>56253.0</c:v>
                </c:pt>
                <c:pt idx="167">
                  <c:v>59304.0</c:v>
                </c:pt>
                <c:pt idx="168">
                  <c:v>59247.0</c:v>
                </c:pt>
                <c:pt idx="169">
                  <c:v>77353.0</c:v>
                </c:pt>
                <c:pt idx="170">
                  <c:v>52614.0</c:v>
                </c:pt>
                <c:pt idx="171">
                  <c:v>81300.0</c:v>
                </c:pt>
                <c:pt idx="172">
                  <c:v>68118.0</c:v>
                </c:pt>
                <c:pt idx="173">
                  <c:v>66476.0</c:v>
                </c:pt>
                <c:pt idx="174">
                  <c:v>50611.0</c:v>
                </c:pt>
                <c:pt idx="175">
                  <c:v>78901.0</c:v>
                </c:pt>
                <c:pt idx="176">
                  <c:v>71427.0</c:v>
                </c:pt>
                <c:pt idx="177">
                  <c:v>71022.0</c:v>
                </c:pt>
                <c:pt idx="178">
                  <c:v>71952.0</c:v>
                </c:pt>
                <c:pt idx="179">
                  <c:v>43185.0</c:v>
                </c:pt>
                <c:pt idx="180">
                  <c:v>66375.0</c:v>
                </c:pt>
                <c:pt idx="181">
                  <c:v>55250.0</c:v>
                </c:pt>
                <c:pt idx="182">
                  <c:v>50272.0</c:v>
                </c:pt>
                <c:pt idx="183">
                  <c:v>58710.0</c:v>
                </c:pt>
                <c:pt idx="184">
                  <c:v>74806.0</c:v>
                </c:pt>
                <c:pt idx="185">
                  <c:v>53593.0</c:v>
                </c:pt>
                <c:pt idx="186">
                  <c:v>66373.0</c:v>
                </c:pt>
                <c:pt idx="187">
                  <c:v>89694.0</c:v>
                </c:pt>
                <c:pt idx="188">
                  <c:v>67432.0</c:v>
                </c:pt>
                <c:pt idx="189">
                  <c:v>62882.0</c:v>
                </c:pt>
                <c:pt idx="190">
                  <c:v>64108.0</c:v>
                </c:pt>
                <c:pt idx="191">
                  <c:v>62220.0</c:v>
                </c:pt>
                <c:pt idx="192">
                  <c:v>58512.0</c:v>
                </c:pt>
                <c:pt idx="193">
                  <c:v>79146.0</c:v>
                </c:pt>
                <c:pt idx="194">
                  <c:v>48726.0</c:v>
                </c:pt>
                <c:pt idx="195">
                  <c:v>62058.0</c:v>
                </c:pt>
                <c:pt idx="196">
                  <c:v>72063.0</c:v>
                </c:pt>
                <c:pt idx="197">
                  <c:v>42720.0</c:v>
                </c:pt>
                <c:pt idx="198">
                  <c:v>42564.0</c:v>
                </c:pt>
                <c:pt idx="199">
                  <c:v>43783.0</c:v>
                </c:pt>
                <c:pt idx="200">
                  <c:v>40780.0</c:v>
                </c:pt>
                <c:pt idx="201">
                  <c:v>70421.0</c:v>
                </c:pt>
                <c:pt idx="202">
                  <c:v>60161.0</c:v>
                </c:pt>
                <c:pt idx="203">
                  <c:v>61872.0</c:v>
                </c:pt>
                <c:pt idx="204">
                  <c:v>59666.0</c:v>
                </c:pt>
                <c:pt idx="205">
                  <c:v>52750.0</c:v>
                </c:pt>
                <c:pt idx="206">
                  <c:v>65685.0</c:v>
                </c:pt>
                <c:pt idx="207">
                  <c:v>87771.0</c:v>
                </c:pt>
                <c:pt idx="208">
                  <c:v>93404.0</c:v>
                </c:pt>
                <c:pt idx="209">
                  <c:v>56575.0</c:v>
                </c:pt>
                <c:pt idx="210">
                  <c:v>71391.0</c:v>
                </c:pt>
                <c:pt idx="211">
                  <c:v>56628.0</c:v>
                </c:pt>
                <c:pt idx="212">
                  <c:v>40049.0</c:v>
                </c:pt>
                <c:pt idx="213">
                  <c:v>55284.0</c:v>
                </c:pt>
                <c:pt idx="214">
                  <c:v>49166.0</c:v>
                </c:pt>
                <c:pt idx="215">
                  <c:v>65324.0</c:v>
                </c:pt>
                <c:pt idx="216">
                  <c:v>46374.0</c:v>
                </c:pt>
                <c:pt idx="217">
                  <c:v>60474.0</c:v>
                </c:pt>
                <c:pt idx="218">
                  <c:v>55357.0</c:v>
                </c:pt>
                <c:pt idx="219">
                  <c:v>38683.0</c:v>
                </c:pt>
                <c:pt idx="220">
                  <c:v>43456.0</c:v>
                </c:pt>
                <c:pt idx="221">
                  <c:v>53172.0</c:v>
                </c:pt>
                <c:pt idx="222">
                  <c:v>62450.0</c:v>
                </c:pt>
                <c:pt idx="223">
                  <c:v>61346.0</c:v>
                </c:pt>
                <c:pt idx="224">
                  <c:v>42835.0</c:v>
                </c:pt>
                <c:pt idx="225">
                  <c:v>51195.0</c:v>
                </c:pt>
                <c:pt idx="226">
                  <c:v>51390.0</c:v>
                </c:pt>
                <c:pt idx="227">
                  <c:v>55260.0</c:v>
                </c:pt>
                <c:pt idx="228">
                  <c:v>64090.0</c:v>
                </c:pt>
                <c:pt idx="229">
                  <c:v>37087.0</c:v>
                </c:pt>
                <c:pt idx="230">
                  <c:v>52278.0</c:v>
                </c:pt>
                <c:pt idx="231">
                  <c:v>83033.0</c:v>
                </c:pt>
                <c:pt idx="232">
                  <c:v>68397.0</c:v>
                </c:pt>
                <c:pt idx="233">
                  <c:v>64950.0</c:v>
                </c:pt>
                <c:pt idx="234">
                  <c:v>67536.0</c:v>
                </c:pt>
                <c:pt idx="235">
                  <c:v>55239.0</c:v>
                </c:pt>
                <c:pt idx="236">
                  <c:v>60554.0</c:v>
                </c:pt>
                <c:pt idx="237">
                  <c:v>64831.0</c:v>
                </c:pt>
                <c:pt idx="238">
                  <c:v>56067.0</c:v>
                </c:pt>
                <c:pt idx="239">
                  <c:v>57937.0</c:v>
                </c:pt>
                <c:pt idx="240">
                  <c:v>68274.0</c:v>
                </c:pt>
                <c:pt idx="241">
                  <c:v>67893.0</c:v>
                </c:pt>
                <c:pt idx="242">
                  <c:v>59754.0</c:v>
                </c:pt>
                <c:pt idx="243">
                  <c:v>53700.0</c:v>
                </c:pt>
                <c:pt idx="244">
                  <c:v>54237.0</c:v>
                </c:pt>
                <c:pt idx="245">
                  <c:v>52597.0</c:v>
                </c:pt>
                <c:pt idx="246">
                  <c:v>54753.0</c:v>
                </c:pt>
                <c:pt idx="247">
                  <c:v>44010.0</c:v>
                </c:pt>
                <c:pt idx="248">
                  <c:v>59052.0</c:v>
                </c:pt>
                <c:pt idx="249">
                  <c:v>53103.0</c:v>
                </c:pt>
                <c:pt idx="250">
                  <c:v>63693.0</c:v>
                </c:pt>
                <c:pt idx="251">
                  <c:v>42021.0</c:v>
                </c:pt>
                <c:pt idx="252">
                  <c:v>52845.0</c:v>
                </c:pt>
                <c:pt idx="253">
                  <c:v>78028.0</c:v>
                </c:pt>
                <c:pt idx="254">
                  <c:v>56337.0</c:v>
                </c:pt>
                <c:pt idx="255">
                  <c:v>36930.0</c:v>
                </c:pt>
                <c:pt idx="256">
                  <c:v>36130.0</c:v>
                </c:pt>
                <c:pt idx="257">
                  <c:v>65569.0</c:v>
                </c:pt>
                <c:pt idx="258">
                  <c:v>77568.0</c:v>
                </c:pt>
                <c:pt idx="259">
                  <c:v>64504.0</c:v>
                </c:pt>
                <c:pt idx="260">
                  <c:v>56320.0</c:v>
                </c:pt>
                <c:pt idx="261">
                  <c:v>68316.0</c:v>
                </c:pt>
                <c:pt idx="262">
                  <c:v>47703.0</c:v>
                </c:pt>
                <c:pt idx="263">
                  <c:v>61180.0</c:v>
                </c:pt>
                <c:pt idx="264">
                  <c:v>33168.0</c:v>
                </c:pt>
                <c:pt idx="265">
                  <c:v>77037.0</c:v>
                </c:pt>
                <c:pt idx="266">
                  <c:v>35196.0</c:v>
                </c:pt>
                <c:pt idx="267">
                  <c:v>44529.0</c:v>
                </c:pt>
                <c:pt idx="268">
                  <c:v>62845.0</c:v>
                </c:pt>
                <c:pt idx="269">
                  <c:v>65196.0</c:v>
                </c:pt>
                <c:pt idx="270">
                  <c:v>64176.0</c:v>
                </c:pt>
                <c:pt idx="271">
                  <c:v>70713.0</c:v>
                </c:pt>
                <c:pt idx="272">
                  <c:v>59925.0</c:v>
                </c:pt>
                <c:pt idx="273">
                  <c:v>36715.0</c:v>
                </c:pt>
                <c:pt idx="274">
                  <c:v>54233.0</c:v>
                </c:pt>
                <c:pt idx="275">
                  <c:v>79803.0</c:v>
                </c:pt>
                <c:pt idx="276">
                  <c:v>56775.0</c:v>
                </c:pt>
                <c:pt idx="277">
                  <c:v>54210.0</c:v>
                </c:pt>
                <c:pt idx="278">
                  <c:v>38508.0</c:v>
                </c:pt>
                <c:pt idx="279">
                  <c:v>65463.0</c:v>
                </c:pt>
                <c:pt idx="280">
                  <c:v>71819.0</c:v>
                </c:pt>
                <c:pt idx="281">
                  <c:v>47025.0</c:v>
                </c:pt>
                <c:pt idx="282">
                  <c:v>70566.0</c:v>
                </c:pt>
                <c:pt idx="283">
                  <c:v>46734.0</c:v>
                </c:pt>
                <c:pt idx="284">
                  <c:v>39552.0</c:v>
                </c:pt>
                <c:pt idx="285">
                  <c:v>86358.0</c:v>
                </c:pt>
                <c:pt idx="286">
                  <c:v>67381.0</c:v>
                </c:pt>
                <c:pt idx="287">
                  <c:v>85606.0</c:v>
                </c:pt>
                <c:pt idx="288">
                  <c:v>49678.0</c:v>
                </c:pt>
                <c:pt idx="289">
                  <c:v>56129.0</c:v>
                </c:pt>
                <c:pt idx="290">
                  <c:v>54450.0</c:v>
                </c:pt>
                <c:pt idx="291">
                  <c:v>57744.0</c:v>
                </c:pt>
                <c:pt idx="292">
                  <c:v>68142.0</c:v>
                </c:pt>
                <c:pt idx="293">
                  <c:v>46049.0</c:v>
                </c:pt>
                <c:pt idx="294">
                  <c:v>57304.0</c:v>
                </c:pt>
                <c:pt idx="295">
                  <c:v>54450.0</c:v>
                </c:pt>
                <c:pt idx="296">
                  <c:v>59594.0</c:v>
                </c:pt>
                <c:pt idx="297">
                  <c:v>62710.0</c:v>
                </c:pt>
                <c:pt idx="298">
                  <c:v>54386.0</c:v>
                </c:pt>
                <c:pt idx="299">
                  <c:v>48070.0</c:v>
                </c:pt>
                <c:pt idx="300">
                  <c:v>43140.0</c:v>
                </c:pt>
                <c:pt idx="301">
                  <c:v>54959.0</c:v>
                </c:pt>
                <c:pt idx="302">
                  <c:v>62000.0</c:v>
                </c:pt>
                <c:pt idx="303">
                  <c:v>67369.0</c:v>
                </c:pt>
                <c:pt idx="304">
                  <c:v>63841.0</c:v>
                </c:pt>
                <c:pt idx="305">
                  <c:v>70091.0</c:v>
                </c:pt>
                <c:pt idx="306">
                  <c:v>58113.0</c:v>
                </c:pt>
                <c:pt idx="307">
                  <c:v>50965.0</c:v>
                </c:pt>
                <c:pt idx="308">
                  <c:v>42213.0</c:v>
                </c:pt>
                <c:pt idx="309">
                  <c:v>65748.0</c:v>
                </c:pt>
                <c:pt idx="310">
                  <c:v>77044.0</c:v>
                </c:pt>
                <c:pt idx="311">
                  <c:v>56721.0</c:v>
                </c:pt>
                <c:pt idx="312">
                  <c:v>61559.0</c:v>
                </c:pt>
                <c:pt idx="313">
                  <c:v>34377.0</c:v>
                </c:pt>
                <c:pt idx="314">
                  <c:v>75032.0</c:v>
                </c:pt>
                <c:pt idx="315">
                  <c:v>54730.0</c:v>
                </c:pt>
                <c:pt idx="316">
                  <c:v>64722.0</c:v>
                </c:pt>
                <c:pt idx="317">
                  <c:v>27683.0</c:v>
                </c:pt>
                <c:pt idx="318">
                  <c:v>65106.0</c:v>
                </c:pt>
                <c:pt idx="319">
                  <c:v>67433.0</c:v>
                </c:pt>
                <c:pt idx="320">
                  <c:v>77766.0</c:v>
                </c:pt>
                <c:pt idx="321">
                  <c:v>74716.0</c:v>
                </c:pt>
                <c:pt idx="322">
                  <c:v>68118.0</c:v>
                </c:pt>
                <c:pt idx="323">
                  <c:v>55158.0</c:v>
                </c:pt>
                <c:pt idx="324">
                  <c:v>62972.0</c:v>
                </c:pt>
                <c:pt idx="325">
                  <c:v>74190.0</c:v>
                </c:pt>
                <c:pt idx="326">
                  <c:v>53378.0</c:v>
                </c:pt>
                <c:pt idx="327">
                  <c:v>64191.0</c:v>
                </c:pt>
                <c:pt idx="328">
                  <c:v>57183.0</c:v>
                </c:pt>
                <c:pt idx="329">
                  <c:v>66303.0</c:v>
                </c:pt>
                <c:pt idx="330">
                  <c:v>46149.0</c:v>
                </c:pt>
                <c:pt idx="331">
                  <c:v>57091.0</c:v>
                </c:pt>
                <c:pt idx="332">
                  <c:v>57811.0</c:v>
                </c:pt>
                <c:pt idx="333">
                  <c:v>60894.0</c:v>
                </c:pt>
                <c:pt idx="334">
                  <c:v>50200.0</c:v>
                </c:pt>
                <c:pt idx="335">
                  <c:v>59868.0</c:v>
                </c:pt>
                <c:pt idx="336">
                  <c:v>65695.0</c:v>
                </c:pt>
                <c:pt idx="337">
                  <c:v>45143.0</c:v>
                </c:pt>
                <c:pt idx="338">
                  <c:v>74805.0</c:v>
                </c:pt>
                <c:pt idx="339">
                  <c:v>59060.0</c:v>
                </c:pt>
                <c:pt idx="340">
                  <c:v>47009.0</c:v>
                </c:pt>
                <c:pt idx="341">
                  <c:v>46692.0</c:v>
                </c:pt>
                <c:pt idx="342">
                  <c:v>77382.0</c:v>
                </c:pt>
                <c:pt idx="343">
                  <c:v>37774.0</c:v>
                </c:pt>
                <c:pt idx="344">
                  <c:v>72828.0</c:v>
                </c:pt>
                <c:pt idx="345">
                  <c:v>48752.0</c:v>
                </c:pt>
                <c:pt idx="346">
                  <c:v>71434.0</c:v>
                </c:pt>
                <c:pt idx="347">
                  <c:v>88097.0</c:v>
                </c:pt>
                <c:pt idx="348">
                  <c:v>51948.0</c:v>
                </c:pt>
                <c:pt idx="349">
                  <c:v>43263.0</c:v>
                </c:pt>
                <c:pt idx="350">
                  <c:v>62845.0</c:v>
                </c:pt>
                <c:pt idx="351">
                  <c:v>62061.0</c:v>
                </c:pt>
                <c:pt idx="352">
                  <c:v>58554.0</c:v>
                </c:pt>
                <c:pt idx="353">
                  <c:v>53034.0</c:v>
                </c:pt>
                <c:pt idx="354">
                  <c:v>59601.0</c:v>
                </c:pt>
                <c:pt idx="355">
                  <c:v>47025.0</c:v>
                </c:pt>
                <c:pt idx="356">
                  <c:v>50611.0</c:v>
                </c:pt>
                <c:pt idx="357">
                  <c:v>56242.0</c:v>
                </c:pt>
                <c:pt idx="358">
                  <c:v>48904.0</c:v>
                </c:pt>
                <c:pt idx="359">
                  <c:v>57420.0</c:v>
                </c:pt>
                <c:pt idx="360">
                  <c:v>63915.0</c:v>
                </c:pt>
                <c:pt idx="361">
                  <c:v>63841.0</c:v>
                </c:pt>
                <c:pt idx="362">
                  <c:v>51039.0</c:v>
                </c:pt>
                <c:pt idx="363">
                  <c:v>65685.0</c:v>
                </c:pt>
                <c:pt idx="364">
                  <c:v>36864.0</c:v>
                </c:pt>
                <c:pt idx="365">
                  <c:v>44511.0</c:v>
                </c:pt>
                <c:pt idx="366">
                  <c:v>47352.0</c:v>
                </c:pt>
                <c:pt idx="367">
                  <c:v>67087.0</c:v>
                </c:pt>
                <c:pt idx="368">
                  <c:v>57045.0</c:v>
                </c:pt>
                <c:pt idx="369">
                  <c:v>69389.0</c:v>
                </c:pt>
                <c:pt idx="370">
                  <c:v>80134.0</c:v>
                </c:pt>
                <c:pt idx="371">
                  <c:v>63810.0</c:v>
                </c:pt>
                <c:pt idx="372">
                  <c:v>70844.0</c:v>
                </c:pt>
                <c:pt idx="373">
                  <c:v>52852.0</c:v>
                </c:pt>
                <c:pt idx="374">
                  <c:v>69401.0</c:v>
                </c:pt>
                <c:pt idx="375">
                  <c:v>46053.0</c:v>
                </c:pt>
                <c:pt idx="376">
                  <c:v>43300.0</c:v>
                </c:pt>
                <c:pt idx="377">
                  <c:v>64866.0</c:v>
                </c:pt>
                <c:pt idx="378">
                  <c:v>57957.0</c:v>
                </c:pt>
                <c:pt idx="379">
                  <c:v>49476.0</c:v>
                </c:pt>
                <c:pt idx="380">
                  <c:v>50725.0</c:v>
                </c:pt>
                <c:pt idx="381">
                  <c:v>67419.0</c:v>
                </c:pt>
                <c:pt idx="382">
                  <c:v>94871.0</c:v>
                </c:pt>
                <c:pt idx="383">
                  <c:v>65148.0</c:v>
                </c:pt>
                <c:pt idx="384">
                  <c:v>57072.0</c:v>
                </c:pt>
                <c:pt idx="385">
                  <c:v>60474.0</c:v>
                </c:pt>
                <c:pt idx="386">
                  <c:v>62807.0</c:v>
                </c:pt>
                <c:pt idx="387">
                  <c:v>75484.0</c:v>
                </c:pt>
                <c:pt idx="388">
                  <c:v>70379.0</c:v>
                </c:pt>
                <c:pt idx="389">
                  <c:v>76998.0</c:v>
                </c:pt>
                <c:pt idx="390">
                  <c:v>49854.0</c:v>
                </c:pt>
                <c:pt idx="391">
                  <c:v>60585.0</c:v>
                </c:pt>
                <c:pt idx="392">
                  <c:v>57867.0</c:v>
                </c:pt>
                <c:pt idx="393">
                  <c:v>53374.0</c:v>
                </c:pt>
                <c:pt idx="394">
                  <c:v>71706.0</c:v>
                </c:pt>
                <c:pt idx="395">
                  <c:v>53253.0</c:v>
                </c:pt>
                <c:pt idx="396">
                  <c:v>42014.0</c:v>
                </c:pt>
                <c:pt idx="397">
                  <c:v>54108.0</c:v>
                </c:pt>
                <c:pt idx="398">
                  <c:v>57136.0</c:v>
                </c:pt>
                <c:pt idx="399">
                  <c:v>46772.0</c:v>
                </c:pt>
                <c:pt idx="400">
                  <c:v>53977.0</c:v>
                </c:pt>
                <c:pt idx="401">
                  <c:v>73538.0</c:v>
                </c:pt>
                <c:pt idx="402">
                  <c:v>55759.0</c:v>
                </c:pt>
                <c:pt idx="403">
                  <c:v>58597.0</c:v>
                </c:pt>
                <c:pt idx="404">
                  <c:v>57036.0</c:v>
                </c:pt>
                <c:pt idx="405">
                  <c:v>69283.0</c:v>
                </c:pt>
                <c:pt idx="406">
                  <c:v>71969.0</c:v>
                </c:pt>
                <c:pt idx="407">
                  <c:v>59235.0</c:v>
                </c:pt>
                <c:pt idx="408">
                  <c:v>74881.0</c:v>
                </c:pt>
                <c:pt idx="409">
                  <c:v>51983.0</c:v>
                </c:pt>
                <c:pt idx="410">
                  <c:v>66033.0</c:v>
                </c:pt>
                <c:pt idx="411">
                  <c:v>63943.0</c:v>
                </c:pt>
                <c:pt idx="412">
                  <c:v>67445.0</c:v>
                </c:pt>
                <c:pt idx="413">
                  <c:v>70179.0</c:v>
                </c:pt>
                <c:pt idx="414">
                  <c:v>47958.0</c:v>
                </c:pt>
                <c:pt idx="415">
                  <c:v>63972.0</c:v>
                </c:pt>
                <c:pt idx="416">
                  <c:v>75315.0</c:v>
                </c:pt>
                <c:pt idx="417">
                  <c:v>55517.0</c:v>
                </c:pt>
                <c:pt idx="418">
                  <c:v>75283.0</c:v>
                </c:pt>
                <c:pt idx="419">
                  <c:v>42014.0</c:v>
                </c:pt>
                <c:pt idx="420">
                  <c:v>38201.0</c:v>
                </c:pt>
                <c:pt idx="421">
                  <c:v>60482.0</c:v>
                </c:pt>
                <c:pt idx="422">
                  <c:v>45143.0</c:v>
                </c:pt>
                <c:pt idx="423">
                  <c:v>48432.0</c:v>
                </c:pt>
                <c:pt idx="424">
                  <c:v>76445.0</c:v>
                </c:pt>
                <c:pt idx="425">
                  <c:v>53843.0</c:v>
                </c:pt>
                <c:pt idx="426">
                  <c:v>71855.0</c:v>
                </c:pt>
                <c:pt idx="427">
                  <c:v>60432.0</c:v>
                </c:pt>
                <c:pt idx="428">
                  <c:v>55434.0</c:v>
                </c:pt>
                <c:pt idx="429">
                  <c:v>52973.0</c:v>
                </c:pt>
                <c:pt idx="430">
                  <c:v>50664.0</c:v>
                </c:pt>
                <c:pt idx="431">
                  <c:v>47111.0</c:v>
                </c:pt>
                <c:pt idx="432">
                  <c:v>73059.0</c:v>
                </c:pt>
                <c:pt idx="433">
                  <c:v>46681.0</c:v>
                </c:pt>
                <c:pt idx="434">
                  <c:v>59821.0</c:v>
                </c:pt>
                <c:pt idx="435">
                  <c:v>50002.0</c:v>
                </c:pt>
                <c:pt idx="436">
                  <c:v>64140.0</c:v>
                </c:pt>
                <c:pt idx="437">
                  <c:v>56386.0</c:v>
                </c:pt>
                <c:pt idx="438">
                  <c:v>75774.0</c:v>
                </c:pt>
                <c:pt idx="439">
                  <c:v>36634.0</c:v>
                </c:pt>
                <c:pt idx="440">
                  <c:v>62670.0</c:v>
                </c:pt>
                <c:pt idx="441">
                  <c:v>50334.0</c:v>
                </c:pt>
                <c:pt idx="442">
                  <c:v>50729.0</c:v>
                </c:pt>
                <c:pt idx="443">
                  <c:v>64892.0</c:v>
                </c:pt>
                <c:pt idx="444">
                  <c:v>63246.0</c:v>
                </c:pt>
                <c:pt idx="445">
                  <c:v>69084.0</c:v>
                </c:pt>
                <c:pt idx="446">
                  <c:v>77766.0</c:v>
                </c:pt>
                <c:pt idx="447">
                  <c:v>69016.0</c:v>
                </c:pt>
                <c:pt idx="448">
                  <c:v>49544.0</c:v>
                </c:pt>
                <c:pt idx="449">
                  <c:v>56534.0</c:v>
                </c:pt>
                <c:pt idx="450">
                  <c:v>58350.0</c:v>
                </c:pt>
                <c:pt idx="451">
                  <c:v>49090.0</c:v>
                </c:pt>
                <c:pt idx="452">
                  <c:v>62335.0</c:v>
                </c:pt>
                <c:pt idx="453">
                  <c:v>73705.0</c:v>
                </c:pt>
                <c:pt idx="454">
                  <c:v>61064.0</c:v>
                </c:pt>
                <c:pt idx="455">
                  <c:v>55012.0</c:v>
                </c:pt>
                <c:pt idx="456">
                  <c:v>58656.0</c:v>
                </c:pt>
                <c:pt idx="457">
                  <c:v>52117.0</c:v>
                </c:pt>
                <c:pt idx="458">
                  <c:v>64813.0</c:v>
                </c:pt>
                <c:pt idx="459">
                  <c:v>77520.0</c:v>
                </c:pt>
                <c:pt idx="460">
                  <c:v>35196.0</c:v>
                </c:pt>
                <c:pt idx="461">
                  <c:v>60230.0</c:v>
                </c:pt>
                <c:pt idx="462">
                  <c:v>55424.0</c:v>
                </c:pt>
                <c:pt idx="463">
                  <c:v>74881.0</c:v>
                </c:pt>
                <c:pt idx="464">
                  <c:v>71107.0</c:v>
                </c:pt>
                <c:pt idx="465">
                  <c:v>75342.0</c:v>
                </c:pt>
                <c:pt idx="466">
                  <c:v>70044.0</c:v>
                </c:pt>
                <c:pt idx="467">
                  <c:v>79146.0</c:v>
                </c:pt>
                <c:pt idx="468">
                  <c:v>37292.0</c:v>
                </c:pt>
                <c:pt idx="469">
                  <c:v>58086.0</c:v>
                </c:pt>
                <c:pt idx="470">
                  <c:v>69901.0</c:v>
                </c:pt>
                <c:pt idx="471">
                  <c:v>63342.0</c:v>
                </c:pt>
                <c:pt idx="472">
                  <c:v>44989.0</c:v>
                </c:pt>
                <c:pt idx="473">
                  <c:v>51569.0</c:v>
                </c:pt>
                <c:pt idx="474">
                  <c:v>77981.0</c:v>
                </c:pt>
                <c:pt idx="475">
                  <c:v>62905.0</c:v>
                </c:pt>
                <c:pt idx="476">
                  <c:v>59481.0</c:v>
                </c:pt>
                <c:pt idx="477">
                  <c:v>72117.0</c:v>
                </c:pt>
                <c:pt idx="478">
                  <c:v>67131.0</c:v>
                </c:pt>
                <c:pt idx="479">
                  <c:v>71232.0</c:v>
                </c:pt>
                <c:pt idx="480">
                  <c:v>49094.0</c:v>
                </c:pt>
                <c:pt idx="481">
                  <c:v>60839.0</c:v>
                </c:pt>
                <c:pt idx="482">
                  <c:v>77298.0</c:v>
                </c:pt>
                <c:pt idx="483">
                  <c:v>62535.0</c:v>
                </c:pt>
                <c:pt idx="484">
                  <c:v>63404.0</c:v>
                </c:pt>
                <c:pt idx="485">
                  <c:v>75774.0</c:v>
                </c:pt>
                <c:pt idx="486">
                  <c:v>78416.0</c:v>
                </c:pt>
                <c:pt idx="487">
                  <c:v>75702.0</c:v>
                </c:pt>
                <c:pt idx="488">
                  <c:v>37070.0</c:v>
                </c:pt>
                <c:pt idx="489">
                  <c:v>53977.0</c:v>
                </c:pt>
                <c:pt idx="490">
                  <c:v>7144.0</c:v>
                </c:pt>
                <c:pt idx="491">
                  <c:v>46757.0</c:v>
                </c:pt>
                <c:pt idx="492">
                  <c:v>58582.0</c:v>
                </c:pt>
                <c:pt idx="493">
                  <c:v>50387.0</c:v>
                </c:pt>
                <c:pt idx="494">
                  <c:v>62568.0</c:v>
                </c:pt>
                <c:pt idx="495">
                  <c:v>63967.0</c:v>
                </c:pt>
                <c:pt idx="496">
                  <c:v>54111.0</c:v>
                </c:pt>
                <c:pt idx="497">
                  <c:v>44911.0</c:v>
                </c:pt>
                <c:pt idx="498">
                  <c:v>54693.0</c:v>
                </c:pt>
                <c:pt idx="499">
                  <c:v>47743.0</c:v>
                </c:pt>
                <c:pt idx="500">
                  <c:v>62972.0</c:v>
                </c:pt>
                <c:pt idx="501">
                  <c:v>57333.0</c:v>
                </c:pt>
                <c:pt idx="502">
                  <c:v>57705.0</c:v>
                </c:pt>
                <c:pt idx="503">
                  <c:v>74290.0</c:v>
                </c:pt>
                <c:pt idx="504">
                  <c:v>54006.0</c:v>
                </c:pt>
                <c:pt idx="505">
                  <c:v>69063.0</c:v>
                </c:pt>
                <c:pt idx="506">
                  <c:v>70886.0</c:v>
                </c:pt>
                <c:pt idx="507">
                  <c:v>60208.0</c:v>
                </c:pt>
                <c:pt idx="508">
                  <c:v>30538.0</c:v>
                </c:pt>
                <c:pt idx="509">
                  <c:v>60200.0</c:v>
                </c:pt>
                <c:pt idx="510">
                  <c:v>69702.0</c:v>
                </c:pt>
                <c:pt idx="511">
                  <c:v>62772.0</c:v>
                </c:pt>
                <c:pt idx="512">
                  <c:v>76532.0</c:v>
                </c:pt>
                <c:pt idx="513">
                  <c:v>42081.0</c:v>
                </c:pt>
                <c:pt idx="514">
                  <c:v>61671.0</c:v>
                </c:pt>
                <c:pt idx="515">
                  <c:v>59292.0</c:v>
                </c:pt>
                <c:pt idx="516">
                  <c:v>60491.0</c:v>
                </c:pt>
                <c:pt idx="517">
                  <c:v>77870.0</c:v>
                </c:pt>
                <c:pt idx="518">
                  <c:v>52278.0</c:v>
                </c:pt>
                <c:pt idx="519">
                  <c:v>57107.0</c:v>
                </c:pt>
                <c:pt idx="520">
                  <c:v>70932.0</c:v>
                </c:pt>
                <c:pt idx="521">
                  <c:v>80982.0</c:v>
                </c:pt>
                <c:pt idx="522">
                  <c:v>55212.0</c:v>
                </c:pt>
                <c:pt idx="523">
                  <c:v>62694.0</c:v>
                </c:pt>
                <c:pt idx="524">
                  <c:v>67472.0</c:v>
                </c:pt>
                <c:pt idx="525">
                  <c:v>75903.0</c:v>
                </c:pt>
                <c:pt idx="526">
                  <c:v>54998.0</c:v>
                </c:pt>
                <c:pt idx="527">
                  <c:v>54356.0</c:v>
                </c:pt>
                <c:pt idx="528">
                  <c:v>83891.0</c:v>
                </c:pt>
                <c:pt idx="529">
                  <c:v>56939.0</c:v>
                </c:pt>
                <c:pt idx="530">
                  <c:v>46998.0</c:v>
                </c:pt>
                <c:pt idx="531">
                  <c:v>70053.0</c:v>
                </c:pt>
                <c:pt idx="532">
                  <c:v>64474.0</c:v>
                </c:pt>
                <c:pt idx="533">
                  <c:v>77226.0</c:v>
                </c:pt>
                <c:pt idx="534">
                  <c:v>55686.0</c:v>
                </c:pt>
                <c:pt idx="535">
                  <c:v>40794.0</c:v>
                </c:pt>
                <c:pt idx="536">
                  <c:v>4428.0</c:v>
                </c:pt>
                <c:pt idx="537">
                  <c:v>53201.0</c:v>
                </c:pt>
                <c:pt idx="538">
                  <c:v>56559.0</c:v>
                </c:pt>
                <c:pt idx="539">
                  <c:v>32644.0</c:v>
                </c:pt>
                <c:pt idx="540">
                  <c:v>63684.0</c:v>
                </c:pt>
                <c:pt idx="541">
                  <c:v>41638.0</c:v>
                </c:pt>
                <c:pt idx="542">
                  <c:v>65814.0</c:v>
                </c:pt>
                <c:pt idx="543">
                  <c:v>77027.0</c:v>
                </c:pt>
                <c:pt idx="544">
                  <c:v>71322.0</c:v>
                </c:pt>
                <c:pt idx="545">
                  <c:v>49912.0</c:v>
                </c:pt>
                <c:pt idx="546">
                  <c:v>68117.0</c:v>
                </c:pt>
                <c:pt idx="547">
                  <c:v>67225.0</c:v>
                </c:pt>
                <c:pt idx="548">
                  <c:v>55914.0</c:v>
                </c:pt>
                <c:pt idx="549">
                  <c:v>40059.0</c:v>
                </c:pt>
                <c:pt idx="550">
                  <c:v>75330.0</c:v>
                </c:pt>
                <c:pt idx="551">
                  <c:v>60689.0</c:v>
                </c:pt>
                <c:pt idx="552">
                  <c:v>83273.0</c:v>
                </c:pt>
                <c:pt idx="553">
                  <c:v>37150.0</c:v>
                </c:pt>
                <c:pt idx="554">
                  <c:v>55801.0</c:v>
                </c:pt>
                <c:pt idx="555">
                  <c:v>76320.0</c:v>
                </c:pt>
                <c:pt idx="556">
                  <c:v>70179.0</c:v>
                </c:pt>
                <c:pt idx="557">
                  <c:v>59462.0</c:v>
                </c:pt>
                <c:pt idx="558">
                  <c:v>67445.0</c:v>
                </c:pt>
                <c:pt idx="559">
                  <c:v>67046.0</c:v>
                </c:pt>
                <c:pt idx="560">
                  <c:v>77610.0</c:v>
                </c:pt>
                <c:pt idx="561">
                  <c:v>54591.0</c:v>
                </c:pt>
                <c:pt idx="562">
                  <c:v>71866.0</c:v>
                </c:pt>
                <c:pt idx="563">
                  <c:v>51651.0</c:v>
                </c:pt>
                <c:pt idx="564">
                  <c:v>56796.0</c:v>
                </c:pt>
                <c:pt idx="565">
                  <c:v>79823.0</c:v>
                </c:pt>
                <c:pt idx="566">
                  <c:v>49912.0</c:v>
                </c:pt>
                <c:pt idx="567">
                  <c:v>54252.0</c:v>
                </c:pt>
                <c:pt idx="568">
                  <c:v>81929.0</c:v>
                </c:pt>
                <c:pt idx="569">
                  <c:v>76068.0</c:v>
                </c:pt>
                <c:pt idx="570">
                  <c:v>67911.0</c:v>
                </c:pt>
                <c:pt idx="571">
                  <c:v>78128.0</c:v>
                </c:pt>
                <c:pt idx="572">
                  <c:v>72967.0</c:v>
                </c:pt>
                <c:pt idx="573">
                  <c:v>48150.0</c:v>
                </c:pt>
                <c:pt idx="574">
                  <c:v>58275.0</c:v>
                </c:pt>
                <c:pt idx="575">
                  <c:v>45736.0</c:v>
                </c:pt>
                <c:pt idx="576">
                  <c:v>66476.0</c:v>
                </c:pt>
                <c:pt idx="577">
                  <c:v>69805.0</c:v>
                </c:pt>
                <c:pt idx="578">
                  <c:v>53230.0</c:v>
                </c:pt>
                <c:pt idx="579">
                  <c:v>61286.0</c:v>
                </c:pt>
                <c:pt idx="580">
                  <c:v>65333.0</c:v>
                </c:pt>
                <c:pt idx="581">
                  <c:v>58482.0</c:v>
                </c:pt>
                <c:pt idx="582">
                  <c:v>60896.0</c:v>
                </c:pt>
                <c:pt idx="583">
                  <c:v>47320.0</c:v>
                </c:pt>
                <c:pt idx="584">
                  <c:v>69263.0</c:v>
                </c:pt>
                <c:pt idx="585">
                  <c:v>60934.0</c:v>
                </c:pt>
                <c:pt idx="586">
                  <c:v>71965.0</c:v>
                </c:pt>
                <c:pt idx="587">
                  <c:v>65210.0</c:v>
                </c:pt>
                <c:pt idx="588">
                  <c:v>48432.0</c:v>
                </c:pt>
                <c:pt idx="589">
                  <c:v>52914.0</c:v>
                </c:pt>
                <c:pt idx="590">
                  <c:v>44325.0</c:v>
                </c:pt>
                <c:pt idx="591">
                  <c:v>67716.0</c:v>
                </c:pt>
                <c:pt idx="592">
                  <c:v>76234.0</c:v>
                </c:pt>
                <c:pt idx="593">
                  <c:v>73803.0</c:v>
                </c:pt>
                <c:pt idx="594">
                  <c:v>55593.0</c:v>
                </c:pt>
                <c:pt idx="595">
                  <c:v>50501.0</c:v>
                </c:pt>
                <c:pt idx="596">
                  <c:v>57731.0</c:v>
                </c:pt>
                <c:pt idx="597">
                  <c:v>48432.0</c:v>
                </c:pt>
                <c:pt idx="598">
                  <c:v>73807.0</c:v>
                </c:pt>
                <c:pt idx="599">
                  <c:v>61014.0</c:v>
                </c:pt>
                <c:pt idx="600">
                  <c:v>41769.0</c:v>
                </c:pt>
                <c:pt idx="601">
                  <c:v>40101.0</c:v>
                </c:pt>
                <c:pt idx="602">
                  <c:v>58025.0</c:v>
                </c:pt>
                <c:pt idx="603">
                  <c:v>57642.0</c:v>
                </c:pt>
                <c:pt idx="604">
                  <c:v>58554.0</c:v>
                </c:pt>
                <c:pt idx="605">
                  <c:v>63777.0</c:v>
                </c:pt>
                <c:pt idx="606">
                  <c:v>57967.0</c:v>
                </c:pt>
                <c:pt idx="607">
                  <c:v>61223.0</c:v>
                </c:pt>
                <c:pt idx="608">
                  <c:v>69245.0</c:v>
                </c:pt>
              </c:numCache>
            </c:numRef>
          </c:yVal>
          <c:smooth val="0"/>
        </c:ser>
        <c:ser>
          <c:idx val="3"/>
          <c:order val="3"/>
          <c:tx>
            <c:strRef>
              <c:f>Sheet1!$B$1725</c:f>
              <c:strCache>
                <c:ptCount val="1"/>
                <c:pt idx="0">
                  <c:v>C3</c:v>
                </c:pt>
              </c:strCache>
            </c:strRef>
          </c:tx>
          <c:spPr>
            <a:solidFill>
              <a:srgbClr val="6D28D9"/>
            </a:solidFill>
            <a:ln>
              <a:noFill/>
            </a:ln>
            <a:effectLst/>
          </c:spPr>
          <c:marker>
            <c:symbol val="circle"/>
            <c:size val="4"/>
            <c:spPr>
              <a:solidFill>
                <a:srgbClr val="6D28D9"/>
              </a:solidFill>
              <a:ln w="3810" cap="flat">
                <a:solidFill>
                  <a:srgbClr val="6D28D9"/>
                </a:solidFill>
                <a:prstDash val="solid"/>
                <a:round/>
              </a:ln>
              <a:effectLst/>
            </c:spPr>
          </c:marker>
          <c:xVal>
            <c:numRef>
              <c:f>Sheet1!$A$1726:$A$2219</c:f>
              <c:numCache>
                <c:formatCode>General</c:formatCode>
                <c:ptCount val="494"/>
                <c:pt idx="0">
                  <c:v>1617.0</c:v>
                </c:pt>
                <c:pt idx="1">
                  <c:v>776.0</c:v>
                </c:pt>
                <c:pt idx="2">
                  <c:v>1102.0</c:v>
                </c:pt>
                <c:pt idx="3">
                  <c:v>1315.0</c:v>
                </c:pt>
                <c:pt idx="4">
                  <c:v>1672.0</c:v>
                </c:pt>
                <c:pt idx="5">
                  <c:v>1196.0</c:v>
                </c:pt>
                <c:pt idx="6">
                  <c:v>902.0</c:v>
                </c:pt>
                <c:pt idx="7">
                  <c:v>984.0</c:v>
                </c:pt>
                <c:pt idx="8">
                  <c:v>1693.0</c:v>
                </c:pt>
                <c:pt idx="9">
                  <c:v>1617.0</c:v>
                </c:pt>
                <c:pt idx="10">
                  <c:v>1957.0</c:v>
                </c:pt>
                <c:pt idx="11">
                  <c:v>1093.0</c:v>
                </c:pt>
                <c:pt idx="12">
                  <c:v>1438.0</c:v>
                </c:pt>
                <c:pt idx="13">
                  <c:v>1076.0</c:v>
                </c:pt>
                <c:pt idx="14">
                  <c:v>1274.0</c:v>
                </c:pt>
                <c:pt idx="15">
                  <c:v>1253.0</c:v>
                </c:pt>
                <c:pt idx="16">
                  <c:v>1890.0</c:v>
                </c:pt>
                <c:pt idx="17">
                  <c:v>2209.0</c:v>
                </c:pt>
                <c:pt idx="18">
                  <c:v>778.0</c:v>
                </c:pt>
                <c:pt idx="19">
                  <c:v>1366.0</c:v>
                </c:pt>
                <c:pt idx="20">
                  <c:v>978.0</c:v>
                </c:pt>
                <c:pt idx="21">
                  <c:v>1120.0</c:v>
                </c:pt>
                <c:pt idx="22">
                  <c:v>1097.0</c:v>
                </c:pt>
                <c:pt idx="23">
                  <c:v>850.0</c:v>
                </c:pt>
                <c:pt idx="24">
                  <c:v>730.0</c:v>
                </c:pt>
                <c:pt idx="25">
                  <c:v>1724.0</c:v>
                </c:pt>
                <c:pt idx="26">
                  <c:v>1135.0</c:v>
                </c:pt>
                <c:pt idx="27">
                  <c:v>559.0</c:v>
                </c:pt>
                <c:pt idx="28">
                  <c:v>1923.0</c:v>
                </c:pt>
                <c:pt idx="29">
                  <c:v>725.0</c:v>
                </c:pt>
                <c:pt idx="30">
                  <c:v>1482.0</c:v>
                </c:pt>
                <c:pt idx="31">
                  <c:v>2077.0</c:v>
                </c:pt>
                <c:pt idx="32">
                  <c:v>1385.0</c:v>
                </c:pt>
                <c:pt idx="33">
                  <c:v>1381.0</c:v>
                </c:pt>
                <c:pt idx="34">
                  <c:v>1231.0</c:v>
                </c:pt>
                <c:pt idx="35">
                  <c:v>1706.0</c:v>
                </c:pt>
                <c:pt idx="36">
                  <c:v>1293.0</c:v>
                </c:pt>
                <c:pt idx="37">
                  <c:v>421.0</c:v>
                </c:pt>
                <c:pt idx="38">
                  <c:v>1117.0</c:v>
                </c:pt>
                <c:pt idx="39">
                  <c:v>1318.0</c:v>
                </c:pt>
                <c:pt idx="40">
                  <c:v>978.0</c:v>
                </c:pt>
                <c:pt idx="41">
                  <c:v>1033.0</c:v>
                </c:pt>
                <c:pt idx="42">
                  <c:v>1581.0</c:v>
                </c:pt>
                <c:pt idx="43">
                  <c:v>1282.0</c:v>
                </c:pt>
                <c:pt idx="44">
                  <c:v>834.0</c:v>
                </c:pt>
                <c:pt idx="45">
                  <c:v>1600.0</c:v>
                </c:pt>
                <c:pt idx="46">
                  <c:v>1270.0</c:v>
                </c:pt>
                <c:pt idx="47">
                  <c:v>1295.0</c:v>
                </c:pt>
                <c:pt idx="48">
                  <c:v>1240.0</c:v>
                </c:pt>
                <c:pt idx="49">
                  <c:v>1101.0</c:v>
                </c:pt>
                <c:pt idx="50">
                  <c:v>1198.0</c:v>
                </c:pt>
                <c:pt idx="51">
                  <c:v>1615.0</c:v>
                </c:pt>
                <c:pt idx="52">
                  <c:v>1047.0</c:v>
                </c:pt>
                <c:pt idx="53">
                  <c:v>1753.0</c:v>
                </c:pt>
                <c:pt idx="54">
                  <c:v>1588.0</c:v>
                </c:pt>
                <c:pt idx="55">
                  <c:v>2088.0</c:v>
                </c:pt>
                <c:pt idx="56">
                  <c:v>1627.0</c:v>
                </c:pt>
                <c:pt idx="57">
                  <c:v>2126.0</c:v>
                </c:pt>
                <c:pt idx="58">
                  <c:v>1112.0</c:v>
                </c:pt>
                <c:pt idx="59">
                  <c:v>1495.0</c:v>
                </c:pt>
                <c:pt idx="60">
                  <c:v>981.0</c:v>
                </c:pt>
                <c:pt idx="61">
                  <c:v>1635.0</c:v>
                </c:pt>
                <c:pt idx="62">
                  <c:v>957.0</c:v>
                </c:pt>
                <c:pt idx="63">
                  <c:v>818.0</c:v>
                </c:pt>
                <c:pt idx="64">
                  <c:v>925.0</c:v>
                </c:pt>
                <c:pt idx="65">
                  <c:v>930.0</c:v>
                </c:pt>
                <c:pt idx="66">
                  <c:v>1478.0</c:v>
                </c:pt>
                <c:pt idx="67">
                  <c:v>1919.0</c:v>
                </c:pt>
                <c:pt idx="68">
                  <c:v>825.0</c:v>
                </c:pt>
                <c:pt idx="69">
                  <c:v>1213.0</c:v>
                </c:pt>
                <c:pt idx="70">
                  <c:v>1157.0</c:v>
                </c:pt>
                <c:pt idx="71">
                  <c:v>1508.0</c:v>
                </c:pt>
                <c:pt idx="72">
                  <c:v>1283.0</c:v>
                </c:pt>
                <c:pt idx="73">
                  <c:v>1442.0</c:v>
                </c:pt>
                <c:pt idx="74">
                  <c:v>1674.0</c:v>
                </c:pt>
                <c:pt idx="75">
                  <c:v>1538.0</c:v>
                </c:pt>
                <c:pt idx="76">
                  <c:v>940.0</c:v>
                </c:pt>
                <c:pt idx="77">
                  <c:v>1190.0</c:v>
                </c:pt>
                <c:pt idx="78">
                  <c:v>1029.0</c:v>
                </c:pt>
                <c:pt idx="79">
                  <c:v>1188.0</c:v>
                </c:pt>
                <c:pt idx="80">
                  <c:v>1670.0</c:v>
                </c:pt>
                <c:pt idx="81">
                  <c:v>900.0</c:v>
                </c:pt>
                <c:pt idx="82">
                  <c:v>2153.0</c:v>
                </c:pt>
                <c:pt idx="83">
                  <c:v>1348.0</c:v>
                </c:pt>
                <c:pt idx="84">
                  <c:v>1932.0</c:v>
                </c:pt>
                <c:pt idx="85">
                  <c:v>1738.0</c:v>
                </c:pt>
                <c:pt idx="86">
                  <c:v>1127.0</c:v>
                </c:pt>
                <c:pt idx="87">
                  <c:v>1598.0</c:v>
                </c:pt>
                <c:pt idx="88">
                  <c:v>1040.0</c:v>
                </c:pt>
                <c:pt idx="89">
                  <c:v>1242.0</c:v>
                </c:pt>
                <c:pt idx="90">
                  <c:v>1378.0</c:v>
                </c:pt>
                <c:pt idx="91">
                  <c:v>1474.0</c:v>
                </c:pt>
                <c:pt idx="92">
                  <c:v>1435.0</c:v>
                </c:pt>
                <c:pt idx="93">
                  <c:v>2119.0</c:v>
                </c:pt>
                <c:pt idx="94">
                  <c:v>1795.0</c:v>
                </c:pt>
                <c:pt idx="95">
                  <c:v>1688.0</c:v>
                </c:pt>
                <c:pt idx="96">
                  <c:v>1379.0</c:v>
                </c:pt>
                <c:pt idx="97">
                  <c:v>2059.0</c:v>
                </c:pt>
                <c:pt idx="98">
                  <c:v>1289.0</c:v>
                </c:pt>
                <c:pt idx="99">
                  <c:v>926.0</c:v>
                </c:pt>
                <c:pt idx="100">
                  <c:v>1495.0</c:v>
                </c:pt>
                <c:pt idx="101">
                  <c:v>1288.0</c:v>
                </c:pt>
                <c:pt idx="102">
                  <c:v>1743.0</c:v>
                </c:pt>
                <c:pt idx="103">
                  <c:v>747.0</c:v>
                </c:pt>
                <c:pt idx="104">
                  <c:v>895.0</c:v>
                </c:pt>
                <c:pt idx="105">
                  <c:v>1722.0</c:v>
                </c:pt>
                <c:pt idx="106">
                  <c:v>682.0</c:v>
                </c:pt>
                <c:pt idx="107">
                  <c:v>746.0</c:v>
                </c:pt>
                <c:pt idx="108">
                  <c:v>1210.0</c:v>
                </c:pt>
                <c:pt idx="109">
                  <c:v>1157.0</c:v>
                </c:pt>
                <c:pt idx="110">
                  <c:v>943.0</c:v>
                </c:pt>
                <c:pt idx="111">
                  <c:v>1924.0</c:v>
                </c:pt>
                <c:pt idx="112">
                  <c:v>2089.0</c:v>
                </c:pt>
                <c:pt idx="113">
                  <c:v>777.0</c:v>
                </c:pt>
                <c:pt idx="114">
                  <c:v>1902.0</c:v>
                </c:pt>
                <c:pt idx="115">
                  <c:v>1651.0</c:v>
                </c:pt>
                <c:pt idx="116">
                  <c:v>1727.0</c:v>
                </c:pt>
                <c:pt idx="117">
                  <c:v>1291.0</c:v>
                </c:pt>
                <c:pt idx="118">
                  <c:v>1895.0</c:v>
                </c:pt>
                <c:pt idx="119">
                  <c:v>1168.0</c:v>
                </c:pt>
                <c:pt idx="120">
                  <c:v>1062.0</c:v>
                </c:pt>
                <c:pt idx="121">
                  <c:v>1919.0</c:v>
                </c:pt>
                <c:pt idx="122">
                  <c:v>1600.0</c:v>
                </c:pt>
                <c:pt idx="123">
                  <c:v>1008.0</c:v>
                </c:pt>
                <c:pt idx="124">
                  <c:v>1772.0</c:v>
                </c:pt>
                <c:pt idx="125">
                  <c:v>1572.0</c:v>
                </c:pt>
                <c:pt idx="126">
                  <c:v>1867.0</c:v>
                </c:pt>
                <c:pt idx="127">
                  <c:v>2086.0</c:v>
                </c:pt>
                <c:pt idx="128">
                  <c:v>1478.0</c:v>
                </c:pt>
                <c:pt idx="129">
                  <c:v>1151.0</c:v>
                </c:pt>
                <c:pt idx="130">
                  <c:v>1193.0</c:v>
                </c:pt>
                <c:pt idx="131">
                  <c:v>882.0</c:v>
                </c:pt>
                <c:pt idx="132">
                  <c:v>939.0</c:v>
                </c:pt>
                <c:pt idx="133">
                  <c:v>981.0</c:v>
                </c:pt>
                <c:pt idx="134">
                  <c:v>1237.0</c:v>
                </c:pt>
                <c:pt idx="135">
                  <c:v>963.0</c:v>
                </c:pt>
                <c:pt idx="136">
                  <c:v>1587.0</c:v>
                </c:pt>
                <c:pt idx="137">
                  <c:v>1375.0</c:v>
                </c:pt>
                <c:pt idx="138">
                  <c:v>1348.0</c:v>
                </c:pt>
                <c:pt idx="139">
                  <c:v>2252.0</c:v>
                </c:pt>
                <c:pt idx="140">
                  <c:v>1724.0</c:v>
                </c:pt>
                <c:pt idx="141">
                  <c:v>2008.0</c:v>
                </c:pt>
                <c:pt idx="142">
                  <c:v>1064.0</c:v>
                </c:pt>
                <c:pt idx="143">
                  <c:v>1029.0</c:v>
                </c:pt>
                <c:pt idx="144">
                  <c:v>576.0</c:v>
                </c:pt>
                <c:pt idx="145">
                  <c:v>664.0</c:v>
                </c:pt>
                <c:pt idx="146">
                  <c:v>2074.0</c:v>
                </c:pt>
                <c:pt idx="147">
                  <c:v>1146.0</c:v>
                </c:pt>
                <c:pt idx="148">
                  <c:v>2114.0</c:v>
                </c:pt>
                <c:pt idx="149">
                  <c:v>1717.0</c:v>
                </c:pt>
                <c:pt idx="150">
                  <c:v>1346.0</c:v>
                </c:pt>
                <c:pt idx="151">
                  <c:v>1044.0</c:v>
                </c:pt>
                <c:pt idx="152">
                  <c:v>957.0</c:v>
                </c:pt>
                <c:pt idx="153">
                  <c:v>1004.0</c:v>
                </c:pt>
                <c:pt idx="154">
                  <c:v>1621.0</c:v>
                </c:pt>
                <c:pt idx="155">
                  <c:v>1511.0</c:v>
                </c:pt>
                <c:pt idx="156">
                  <c:v>1152.0</c:v>
                </c:pt>
                <c:pt idx="157">
                  <c:v>869.0</c:v>
                </c:pt>
                <c:pt idx="158">
                  <c:v>1947.0</c:v>
                </c:pt>
                <c:pt idx="159">
                  <c:v>1380.0</c:v>
                </c:pt>
                <c:pt idx="160">
                  <c:v>1027.0</c:v>
                </c:pt>
                <c:pt idx="161">
                  <c:v>836.0</c:v>
                </c:pt>
                <c:pt idx="162">
                  <c:v>1677.0</c:v>
                </c:pt>
                <c:pt idx="163">
                  <c:v>902.0</c:v>
                </c:pt>
                <c:pt idx="164">
                  <c:v>1574.0</c:v>
                </c:pt>
                <c:pt idx="165">
                  <c:v>960.0</c:v>
                </c:pt>
                <c:pt idx="166">
                  <c:v>1215.0</c:v>
                </c:pt>
                <c:pt idx="167">
                  <c:v>1497.0</c:v>
                </c:pt>
                <c:pt idx="168">
                  <c:v>1064.0</c:v>
                </c:pt>
                <c:pt idx="169">
                  <c:v>1757.0</c:v>
                </c:pt>
                <c:pt idx="170">
                  <c:v>1440.0</c:v>
                </c:pt>
                <c:pt idx="171">
                  <c:v>1006.0</c:v>
                </c:pt>
                <c:pt idx="172">
                  <c:v>1427.0</c:v>
                </c:pt>
                <c:pt idx="173">
                  <c:v>833.0</c:v>
                </c:pt>
                <c:pt idx="174">
                  <c:v>1869.0</c:v>
                </c:pt>
                <c:pt idx="175">
                  <c:v>1364.0</c:v>
                </c:pt>
                <c:pt idx="176">
                  <c:v>1507.0</c:v>
                </c:pt>
                <c:pt idx="177">
                  <c:v>1158.0</c:v>
                </c:pt>
                <c:pt idx="178">
                  <c:v>1525.0</c:v>
                </c:pt>
                <c:pt idx="179">
                  <c:v>1230.0</c:v>
                </c:pt>
                <c:pt idx="180">
                  <c:v>1612.0</c:v>
                </c:pt>
                <c:pt idx="181">
                  <c:v>729.0</c:v>
                </c:pt>
                <c:pt idx="182">
                  <c:v>1580.0</c:v>
                </c:pt>
                <c:pt idx="183">
                  <c:v>1167.0</c:v>
                </c:pt>
                <c:pt idx="184">
                  <c:v>1526.0</c:v>
                </c:pt>
                <c:pt idx="185">
                  <c:v>1478.0</c:v>
                </c:pt>
                <c:pt idx="186">
                  <c:v>726.0</c:v>
                </c:pt>
                <c:pt idx="187">
                  <c:v>1497.0</c:v>
                </c:pt>
                <c:pt idx="188">
                  <c:v>1808.0</c:v>
                </c:pt>
                <c:pt idx="189">
                  <c:v>1576.0</c:v>
                </c:pt>
                <c:pt idx="190">
                  <c:v>1482.0</c:v>
                </c:pt>
                <c:pt idx="191">
                  <c:v>1633.0</c:v>
                </c:pt>
                <c:pt idx="192">
                  <c:v>1066.0</c:v>
                </c:pt>
                <c:pt idx="193">
                  <c:v>2009.0</c:v>
                </c:pt>
                <c:pt idx="194">
                  <c:v>1345.0</c:v>
                </c:pt>
                <c:pt idx="195">
                  <c:v>1853.0</c:v>
                </c:pt>
                <c:pt idx="196">
                  <c:v>1062.0</c:v>
                </c:pt>
                <c:pt idx="197">
                  <c:v>1727.0</c:v>
                </c:pt>
                <c:pt idx="198">
                  <c:v>1677.0</c:v>
                </c:pt>
                <c:pt idx="199">
                  <c:v>1226.0</c:v>
                </c:pt>
                <c:pt idx="200">
                  <c:v>2114.0</c:v>
                </c:pt>
                <c:pt idx="201">
                  <c:v>2018.0</c:v>
                </c:pt>
                <c:pt idx="202">
                  <c:v>1281.0</c:v>
                </c:pt>
                <c:pt idx="203">
                  <c:v>1003.0</c:v>
                </c:pt>
                <c:pt idx="204">
                  <c:v>902.0</c:v>
                </c:pt>
                <c:pt idx="205">
                  <c:v>1638.0</c:v>
                </c:pt>
                <c:pt idx="206">
                  <c:v>928.0</c:v>
                </c:pt>
                <c:pt idx="207">
                  <c:v>858.0</c:v>
                </c:pt>
                <c:pt idx="208">
                  <c:v>1423.0</c:v>
                </c:pt>
                <c:pt idx="209">
                  <c:v>1449.0</c:v>
                </c:pt>
                <c:pt idx="210">
                  <c:v>1453.0</c:v>
                </c:pt>
                <c:pt idx="211">
                  <c:v>1253.0</c:v>
                </c:pt>
                <c:pt idx="212">
                  <c:v>1990.0</c:v>
                </c:pt>
                <c:pt idx="213">
                  <c:v>976.0</c:v>
                </c:pt>
                <c:pt idx="214">
                  <c:v>1001.0</c:v>
                </c:pt>
                <c:pt idx="215">
                  <c:v>1919.0</c:v>
                </c:pt>
                <c:pt idx="216">
                  <c:v>1650.0</c:v>
                </c:pt>
                <c:pt idx="217">
                  <c:v>1228.0</c:v>
                </c:pt>
                <c:pt idx="218">
                  <c:v>1149.0</c:v>
                </c:pt>
                <c:pt idx="219">
                  <c:v>2052.0</c:v>
                </c:pt>
                <c:pt idx="220">
                  <c:v>1127.0</c:v>
                </c:pt>
                <c:pt idx="221">
                  <c:v>1113.0</c:v>
                </c:pt>
                <c:pt idx="222">
                  <c:v>833.0</c:v>
                </c:pt>
                <c:pt idx="223">
                  <c:v>960.0</c:v>
                </c:pt>
                <c:pt idx="224">
                  <c:v>1187.0</c:v>
                </c:pt>
                <c:pt idx="225">
                  <c:v>2302.0</c:v>
                </c:pt>
                <c:pt idx="226">
                  <c:v>1079.0</c:v>
                </c:pt>
                <c:pt idx="227">
                  <c:v>1778.0</c:v>
                </c:pt>
                <c:pt idx="228">
                  <c:v>1198.0</c:v>
                </c:pt>
                <c:pt idx="229">
                  <c:v>1564.0</c:v>
                </c:pt>
                <c:pt idx="230">
                  <c:v>926.0</c:v>
                </c:pt>
                <c:pt idx="231">
                  <c:v>1910.0</c:v>
                </c:pt>
                <c:pt idx="232">
                  <c:v>1415.0</c:v>
                </c:pt>
                <c:pt idx="233">
                  <c:v>1908.0</c:v>
                </c:pt>
                <c:pt idx="234">
                  <c:v>2486.0</c:v>
                </c:pt>
                <c:pt idx="235">
                  <c:v>1315.0</c:v>
                </c:pt>
                <c:pt idx="236">
                  <c:v>1789.0</c:v>
                </c:pt>
                <c:pt idx="237">
                  <c:v>1493.0</c:v>
                </c:pt>
                <c:pt idx="238">
                  <c:v>1901.0</c:v>
                </c:pt>
                <c:pt idx="239">
                  <c:v>1574.0</c:v>
                </c:pt>
                <c:pt idx="240">
                  <c:v>1363.0</c:v>
                </c:pt>
                <c:pt idx="241">
                  <c:v>1461.0</c:v>
                </c:pt>
                <c:pt idx="242">
                  <c:v>1968.0</c:v>
                </c:pt>
                <c:pt idx="243">
                  <c:v>1091.0</c:v>
                </c:pt>
                <c:pt idx="244">
                  <c:v>1366.0</c:v>
                </c:pt>
                <c:pt idx="245">
                  <c:v>1033.0</c:v>
                </c:pt>
                <c:pt idx="246">
                  <c:v>1363.0</c:v>
                </c:pt>
                <c:pt idx="247">
                  <c:v>2440.0</c:v>
                </c:pt>
                <c:pt idx="248">
                  <c:v>968.0</c:v>
                </c:pt>
                <c:pt idx="249">
                  <c:v>1250.0</c:v>
                </c:pt>
                <c:pt idx="250">
                  <c:v>938.0</c:v>
                </c:pt>
                <c:pt idx="251">
                  <c:v>1650.0</c:v>
                </c:pt>
                <c:pt idx="252">
                  <c:v>906.0</c:v>
                </c:pt>
                <c:pt idx="253">
                  <c:v>2116.0</c:v>
                </c:pt>
                <c:pt idx="254">
                  <c:v>1298.0</c:v>
                </c:pt>
                <c:pt idx="255">
                  <c:v>967.0</c:v>
                </c:pt>
                <c:pt idx="256">
                  <c:v>1401.0</c:v>
                </c:pt>
                <c:pt idx="257">
                  <c:v>2087.0</c:v>
                </c:pt>
                <c:pt idx="258">
                  <c:v>523.0</c:v>
                </c:pt>
                <c:pt idx="259">
                  <c:v>1192.0</c:v>
                </c:pt>
                <c:pt idx="260">
                  <c:v>1958.0</c:v>
                </c:pt>
                <c:pt idx="261">
                  <c:v>777.0</c:v>
                </c:pt>
                <c:pt idx="262">
                  <c:v>756.0</c:v>
                </c:pt>
                <c:pt idx="263">
                  <c:v>1862.0</c:v>
                </c:pt>
                <c:pt idx="264">
                  <c:v>1323.0</c:v>
                </c:pt>
                <c:pt idx="265">
                  <c:v>1156.0</c:v>
                </c:pt>
                <c:pt idx="266">
                  <c:v>1104.0</c:v>
                </c:pt>
                <c:pt idx="267">
                  <c:v>2008.0</c:v>
                </c:pt>
                <c:pt idx="268">
                  <c:v>1168.0</c:v>
                </c:pt>
                <c:pt idx="269">
                  <c:v>2013.0</c:v>
                </c:pt>
                <c:pt idx="270">
                  <c:v>1313.0</c:v>
                </c:pt>
                <c:pt idx="271">
                  <c:v>1103.0</c:v>
                </c:pt>
                <c:pt idx="272">
                  <c:v>1060.0</c:v>
                </c:pt>
                <c:pt idx="273">
                  <c:v>1833.0</c:v>
                </c:pt>
                <c:pt idx="274">
                  <c:v>1020.0</c:v>
                </c:pt>
                <c:pt idx="275">
                  <c:v>1370.0</c:v>
                </c:pt>
                <c:pt idx="276">
                  <c:v>1004.0</c:v>
                </c:pt>
                <c:pt idx="277">
                  <c:v>990.0</c:v>
                </c:pt>
                <c:pt idx="278">
                  <c:v>1097.0</c:v>
                </c:pt>
                <c:pt idx="279">
                  <c:v>1711.0</c:v>
                </c:pt>
                <c:pt idx="280">
                  <c:v>2525.0</c:v>
                </c:pt>
                <c:pt idx="281">
                  <c:v>1812.0</c:v>
                </c:pt>
                <c:pt idx="282">
                  <c:v>988.0</c:v>
                </c:pt>
                <c:pt idx="283">
                  <c:v>1072.0</c:v>
                </c:pt>
                <c:pt idx="284">
                  <c:v>1084.0</c:v>
                </c:pt>
                <c:pt idx="285">
                  <c:v>1672.0</c:v>
                </c:pt>
                <c:pt idx="286">
                  <c:v>2047.0</c:v>
                </c:pt>
                <c:pt idx="287">
                  <c:v>1598.0</c:v>
                </c:pt>
                <c:pt idx="288">
                  <c:v>789.0</c:v>
                </c:pt>
                <c:pt idx="289">
                  <c:v>811.0</c:v>
                </c:pt>
                <c:pt idx="290">
                  <c:v>1631.0</c:v>
                </c:pt>
                <c:pt idx="291">
                  <c:v>899.0</c:v>
                </c:pt>
                <c:pt idx="292">
                  <c:v>711.0</c:v>
                </c:pt>
                <c:pt idx="293">
                  <c:v>1536.0</c:v>
                </c:pt>
                <c:pt idx="294">
                  <c:v>2279.0</c:v>
                </c:pt>
                <c:pt idx="295">
                  <c:v>1779.0</c:v>
                </c:pt>
                <c:pt idx="296">
                  <c:v>1804.0</c:v>
                </c:pt>
                <c:pt idx="297">
                  <c:v>1862.0</c:v>
                </c:pt>
                <c:pt idx="298">
                  <c:v>1383.0</c:v>
                </c:pt>
                <c:pt idx="299">
                  <c:v>999.0</c:v>
                </c:pt>
                <c:pt idx="300">
                  <c:v>1192.0</c:v>
                </c:pt>
                <c:pt idx="301">
                  <c:v>2130.0</c:v>
                </c:pt>
                <c:pt idx="302">
                  <c:v>2346.0</c:v>
                </c:pt>
                <c:pt idx="303">
                  <c:v>794.0</c:v>
                </c:pt>
                <c:pt idx="304">
                  <c:v>1736.0</c:v>
                </c:pt>
                <c:pt idx="305">
                  <c:v>2302.0</c:v>
                </c:pt>
                <c:pt idx="306">
                  <c:v>1305.0</c:v>
                </c:pt>
                <c:pt idx="307">
                  <c:v>1501.0</c:v>
                </c:pt>
                <c:pt idx="308">
                  <c:v>1189.0</c:v>
                </c:pt>
                <c:pt idx="309">
                  <c:v>1540.0</c:v>
                </c:pt>
                <c:pt idx="310">
                  <c:v>1643.0</c:v>
                </c:pt>
                <c:pt idx="311">
                  <c:v>1196.0</c:v>
                </c:pt>
                <c:pt idx="312">
                  <c:v>1424.0</c:v>
                </c:pt>
                <c:pt idx="313">
                  <c:v>1149.0</c:v>
                </c:pt>
                <c:pt idx="314">
                  <c:v>1313.0</c:v>
                </c:pt>
                <c:pt idx="315">
                  <c:v>1483.0</c:v>
                </c:pt>
                <c:pt idx="316">
                  <c:v>1258.0</c:v>
                </c:pt>
                <c:pt idx="317">
                  <c:v>1555.0</c:v>
                </c:pt>
                <c:pt idx="318">
                  <c:v>861.0</c:v>
                </c:pt>
                <c:pt idx="319">
                  <c:v>634.0</c:v>
                </c:pt>
                <c:pt idx="320">
                  <c:v>1918.0</c:v>
                </c:pt>
                <c:pt idx="321">
                  <c:v>939.0</c:v>
                </c:pt>
                <c:pt idx="322">
                  <c:v>1143.0</c:v>
                </c:pt>
                <c:pt idx="323">
                  <c:v>1899.0</c:v>
                </c:pt>
                <c:pt idx="324">
                  <c:v>1440.0</c:v>
                </c:pt>
                <c:pt idx="325">
                  <c:v>1428.0</c:v>
                </c:pt>
                <c:pt idx="326">
                  <c:v>817.0</c:v>
                </c:pt>
                <c:pt idx="327">
                  <c:v>1131.0</c:v>
                </c:pt>
                <c:pt idx="328">
                  <c:v>1930.0</c:v>
                </c:pt>
                <c:pt idx="329">
                  <c:v>2283.0</c:v>
                </c:pt>
                <c:pt idx="330">
                  <c:v>1319.0</c:v>
                </c:pt>
                <c:pt idx="331">
                  <c:v>1244.0</c:v>
                </c:pt>
                <c:pt idx="332">
                  <c:v>1134.0</c:v>
                </c:pt>
                <c:pt idx="333">
                  <c:v>1507.0</c:v>
                </c:pt>
                <c:pt idx="334">
                  <c:v>1091.0</c:v>
                </c:pt>
                <c:pt idx="335">
                  <c:v>2349.0</c:v>
                </c:pt>
                <c:pt idx="336">
                  <c:v>1574.0</c:v>
                </c:pt>
                <c:pt idx="337">
                  <c:v>1540.0</c:v>
                </c:pt>
                <c:pt idx="338">
                  <c:v>1631.0</c:v>
                </c:pt>
                <c:pt idx="339">
                  <c:v>2524.0</c:v>
                </c:pt>
                <c:pt idx="340">
                  <c:v>1045.0</c:v>
                </c:pt>
                <c:pt idx="341">
                  <c:v>1366.0</c:v>
                </c:pt>
                <c:pt idx="342">
                  <c:v>1396.0</c:v>
                </c:pt>
                <c:pt idx="343">
                  <c:v>943.0</c:v>
                </c:pt>
                <c:pt idx="344">
                  <c:v>1198.0</c:v>
                </c:pt>
                <c:pt idx="345">
                  <c:v>1638.0</c:v>
                </c:pt>
                <c:pt idx="346">
                  <c:v>1923.0</c:v>
                </c:pt>
                <c:pt idx="347">
                  <c:v>1662.0</c:v>
                </c:pt>
                <c:pt idx="348">
                  <c:v>1234.0</c:v>
                </c:pt>
                <c:pt idx="349">
                  <c:v>1658.0</c:v>
                </c:pt>
                <c:pt idx="350">
                  <c:v>1156.0</c:v>
                </c:pt>
                <c:pt idx="351">
                  <c:v>1383.0</c:v>
                </c:pt>
                <c:pt idx="352">
                  <c:v>641.0</c:v>
                </c:pt>
                <c:pt idx="353">
                  <c:v>1033.0</c:v>
                </c:pt>
                <c:pt idx="354">
                  <c:v>792.0</c:v>
                </c:pt>
                <c:pt idx="355">
                  <c:v>1315.0</c:v>
                </c:pt>
                <c:pt idx="356">
                  <c:v>2525.0</c:v>
                </c:pt>
                <c:pt idx="357">
                  <c:v>1798.0</c:v>
                </c:pt>
                <c:pt idx="358">
                  <c:v>1105.0</c:v>
                </c:pt>
                <c:pt idx="359">
                  <c:v>974.0</c:v>
                </c:pt>
                <c:pt idx="360">
                  <c:v>778.0</c:v>
                </c:pt>
                <c:pt idx="361">
                  <c:v>1682.0</c:v>
                </c:pt>
                <c:pt idx="362">
                  <c:v>892.0</c:v>
                </c:pt>
                <c:pt idx="363">
                  <c:v>2352.0</c:v>
                </c:pt>
                <c:pt idx="364">
                  <c:v>1334.0</c:v>
                </c:pt>
                <c:pt idx="365">
                  <c:v>1538.0</c:v>
                </c:pt>
                <c:pt idx="366">
                  <c:v>1722.0</c:v>
                </c:pt>
                <c:pt idx="367">
                  <c:v>1289.0</c:v>
                </c:pt>
                <c:pt idx="368">
                  <c:v>894.0</c:v>
                </c:pt>
                <c:pt idx="369">
                  <c:v>813.0</c:v>
                </c:pt>
                <c:pt idx="370">
                  <c:v>1179.0</c:v>
                </c:pt>
                <c:pt idx="371">
                  <c:v>1511.0</c:v>
                </c:pt>
                <c:pt idx="372">
                  <c:v>1730.0</c:v>
                </c:pt>
                <c:pt idx="373">
                  <c:v>1792.0</c:v>
                </c:pt>
                <c:pt idx="374">
                  <c:v>1603.0</c:v>
                </c:pt>
                <c:pt idx="375">
                  <c:v>2091.0</c:v>
                </c:pt>
                <c:pt idx="376">
                  <c:v>981.0</c:v>
                </c:pt>
                <c:pt idx="377">
                  <c:v>1572.0</c:v>
                </c:pt>
                <c:pt idx="378">
                  <c:v>1754.0</c:v>
                </c:pt>
                <c:pt idx="379">
                  <c:v>1157.0</c:v>
                </c:pt>
                <c:pt idx="380">
                  <c:v>1319.0</c:v>
                </c:pt>
                <c:pt idx="381">
                  <c:v>746.0</c:v>
                </c:pt>
                <c:pt idx="382">
                  <c:v>2157.0</c:v>
                </c:pt>
                <c:pt idx="383">
                  <c:v>1597.0</c:v>
                </c:pt>
                <c:pt idx="384">
                  <c:v>2034.0</c:v>
                </c:pt>
                <c:pt idx="385">
                  <c:v>1991.0</c:v>
                </c:pt>
                <c:pt idx="386">
                  <c:v>1686.0</c:v>
                </c:pt>
                <c:pt idx="387">
                  <c:v>1456.0</c:v>
                </c:pt>
                <c:pt idx="388">
                  <c:v>1125.0</c:v>
                </c:pt>
                <c:pt idx="389">
                  <c:v>1376.0</c:v>
                </c:pt>
                <c:pt idx="390">
                  <c:v>1382.0</c:v>
                </c:pt>
                <c:pt idx="391">
                  <c:v>1033.0</c:v>
                </c:pt>
                <c:pt idx="392">
                  <c:v>2231.0</c:v>
                </c:pt>
                <c:pt idx="393">
                  <c:v>1149.0</c:v>
                </c:pt>
                <c:pt idx="394">
                  <c:v>968.0</c:v>
                </c:pt>
                <c:pt idx="395">
                  <c:v>1165.0</c:v>
                </c:pt>
                <c:pt idx="396">
                  <c:v>461.0</c:v>
                </c:pt>
                <c:pt idx="397">
                  <c:v>1338.0</c:v>
                </c:pt>
                <c:pt idx="398">
                  <c:v>1382.0</c:v>
                </c:pt>
                <c:pt idx="399">
                  <c:v>1588.0</c:v>
                </c:pt>
                <c:pt idx="400">
                  <c:v>1797.0</c:v>
                </c:pt>
                <c:pt idx="401">
                  <c:v>914.0</c:v>
                </c:pt>
                <c:pt idx="402">
                  <c:v>1502.0</c:v>
                </c:pt>
                <c:pt idx="403">
                  <c:v>1338.0</c:v>
                </c:pt>
                <c:pt idx="404">
                  <c:v>1331.0</c:v>
                </c:pt>
                <c:pt idx="405">
                  <c:v>1149.0</c:v>
                </c:pt>
                <c:pt idx="406">
                  <c:v>1428.0</c:v>
                </c:pt>
                <c:pt idx="407">
                  <c:v>1633.0</c:v>
                </c:pt>
                <c:pt idx="408">
                  <c:v>1052.0</c:v>
                </c:pt>
                <c:pt idx="409">
                  <c:v>1024.0</c:v>
                </c:pt>
                <c:pt idx="410">
                  <c:v>1042.0</c:v>
                </c:pt>
                <c:pt idx="411">
                  <c:v>1365.0</c:v>
                </c:pt>
                <c:pt idx="412">
                  <c:v>1401.0</c:v>
                </c:pt>
                <c:pt idx="413">
                  <c:v>1574.0</c:v>
                </c:pt>
                <c:pt idx="414">
                  <c:v>1323.0</c:v>
                </c:pt>
                <c:pt idx="415">
                  <c:v>1536.0</c:v>
                </c:pt>
                <c:pt idx="416">
                  <c:v>1555.0</c:v>
                </c:pt>
                <c:pt idx="417">
                  <c:v>2257.0</c:v>
                </c:pt>
                <c:pt idx="418">
                  <c:v>1049.0</c:v>
                </c:pt>
                <c:pt idx="419">
                  <c:v>1515.0</c:v>
                </c:pt>
                <c:pt idx="420">
                  <c:v>1596.0</c:v>
                </c:pt>
                <c:pt idx="421">
                  <c:v>1828.0</c:v>
                </c:pt>
                <c:pt idx="422">
                  <c:v>1702.0</c:v>
                </c:pt>
                <c:pt idx="423">
                  <c:v>2126.0</c:v>
                </c:pt>
                <c:pt idx="424">
                  <c:v>2069.0</c:v>
                </c:pt>
                <c:pt idx="425">
                  <c:v>801.0</c:v>
                </c:pt>
                <c:pt idx="426">
                  <c:v>1685.0</c:v>
                </c:pt>
                <c:pt idx="427">
                  <c:v>277.0</c:v>
                </c:pt>
                <c:pt idx="428">
                  <c:v>976.0</c:v>
                </c:pt>
                <c:pt idx="429">
                  <c:v>1263.0</c:v>
                </c:pt>
                <c:pt idx="430">
                  <c:v>1490.0</c:v>
                </c:pt>
                <c:pt idx="431">
                  <c:v>1564.0</c:v>
                </c:pt>
                <c:pt idx="432">
                  <c:v>1676.0</c:v>
                </c:pt>
                <c:pt idx="433">
                  <c:v>1735.0</c:v>
                </c:pt>
                <c:pt idx="434">
                  <c:v>1280.0</c:v>
                </c:pt>
                <c:pt idx="435">
                  <c:v>1336.0</c:v>
                </c:pt>
                <c:pt idx="436">
                  <c:v>1512.0</c:v>
                </c:pt>
                <c:pt idx="437">
                  <c:v>1089.0</c:v>
                </c:pt>
                <c:pt idx="438">
                  <c:v>1272.0</c:v>
                </c:pt>
                <c:pt idx="439">
                  <c:v>1173.0</c:v>
                </c:pt>
                <c:pt idx="440">
                  <c:v>1336.0</c:v>
                </c:pt>
                <c:pt idx="441">
                  <c:v>2092.0</c:v>
                </c:pt>
                <c:pt idx="442">
                  <c:v>1130.0</c:v>
                </c:pt>
                <c:pt idx="443">
                  <c:v>1544.0</c:v>
                </c:pt>
                <c:pt idx="444">
                  <c:v>1766.0</c:v>
                </c:pt>
                <c:pt idx="445">
                  <c:v>1734.0</c:v>
                </c:pt>
                <c:pt idx="446">
                  <c:v>1429.0</c:v>
                </c:pt>
                <c:pt idx="447">
                  <c:v>1371.0</c:v>
                </c:pt>
                <c:pt idx="448">
                  <c:v>2211.0</c:v>
                </c:pt>
                <c:pt idx="449">
                  <c:v>1958.0</c:v>
                </c:pt>
                <c:pt idx="450">
                  <c:v>2217.0</c:v>
                </c:pt>
                <c:pt idx="451">
                  <c:v>1691.0</c:v>
                </c:pt>
                <c:pt idx="452">
                  <c:v>809.0</c:v>
                </c:pt>
                <c:pt idx="453">
                  <c:v>895.0</c:v>
                </c:pt>
                <c:pt idx="454">
                  <c:v>1870.0</c:v>
                </c:pt>
                <c:pt idx="455">
                  <c:v>1941.0</c:v>
                </c:pt>
                <c:pt idx="456">
                  <c:v>839.0</c:v>
                </c:pt>
                <c:pt idx="457">
                  <c:v>1655.0</c:v>
                </c:pt>
                <c:pt idx="458">
                  <c:v>1665.0</c:v>
                </c:pt>
                <c:pt idx="459">
                  <c:v>1211.0</c:v>
                </c:pt>
                <c:pt idx="460">
                  <c:v>1575.0</c:v>
                </c:pt>
                <c:pt idx="461">
                  <c:v>1208.0</c:v>
                </c:pt>
                <c:pt idx="462">
                  <c:v>1615.0</c:v>
                </c:pt>
                <c:pt idx="463">
                  <c:v>1244.0</c:v>
                </c:pt>
                <c:pt idx="464">
                  <c:v>1455.0</c:v>
                </c:pt>
                <c:pt idx="465">
                  <c:v>1366.0</c:v>
                </c:pt>
                <c:pt idx="466">
                  <c:v>961.0</c:v>
                </c:pt>
                <c:pt idx="467">
                  <c:v>1216.0</c:v>
                </c:pt>
                <c:pt idx="468">
                  <c:v>1367.0</c:v>
                </c:pt>
                <c:pt idx="469">
                  <c:v>2006.0</c:v>
                </c:pt>
                <c:pt idx="470">
                  <c:v>1573.0</c:v>
                </c:pt>
                <c:pt idx="471">
                  <c:v>1631.0</c:v>
                </c:pt>
                <c:pt idx="472">
                  <c:v>1822.0</c:v>
                </c:pt>
                <c:pt idx="473">
                  <c:v>1282.0</c:v>
                </c:pt>
                <c:pt idx="474">
                  <c:v>1931.0</c:v>
                </c:pt>
                <c:pt idx="475">
                  <c:v>1169.0</c:v>
                </c:pt>
                <c:pt idx="476">
                  <c:v>1334.0</c:v>
                </c:pt>
                <c:pt idx="477">
                  <c:v>1782.0</c:v>
                </c:pt>
                <c:pt idx="478">
                  <c:v>1565.0</c:v>
                </c:pt>
                <c:pt idx="479">
                  <c:v>1338.0</c:v>
                </c:pt>
                <c:pt idx="480">
                  <c:v>1092.0</c:v>
                </c:pt>
                <c:pt idx="481">
                  <c:v>1479.0</c:v>
                </c:pt>
                <c:pt idx="482">
                  <c:v>1199.0</c:v>
                </c:pt>
                <c:pt idx="483">
                  <c:v>2043.0</c:v>
                </c:pt>
                <c:pt idx="484">
                  <c:v>1893.0</c:v>
                </c:pt>
                <c:pt idx="485">
                  <c:v>1566.0</c:v>
                </c:pt>
                <c:pt idx="486">
                  <c:v>1169.0</c:v>
                </c:pt>
                <c:pt idx="487">
                  <c:v>1644.0</c:v>
                </c:pt>
                <c:pt idx="488">
                  <c:v>1853.0</c:v>
                </c:pt>
                <c:pt idx="489">
                  <c:v>1623.0</c:v>
                </c:pt>
                <c:pt idx="490">
                  <c:v>1435.0</c:v>
                </c:pt>
                <c:pt idx="491">
                  <c:v>1234.0</c:v>
                </c:pt>
                <c:pt idx="492">
                  <c:v>1438.0</c:v>
                </c:pt>
                <c:pt idx="493">
                  <c:v>1241.0</c:v>
                </c:pt>
              </c:numCache>
            </c:numRef>
          </c:xVal>
          <c:yVal>
            <c:numRef>
              <c:f>Sheet1!$B$1726:$B$2219</c:f>
              <c:numCache>
                <c:formatCode>General</c:formatCode>
                <c:ptCount val="494"/>
                <c:pt idx="0">
                  <c:v>58138.0</c:v>
                </c:pt>
                <c:pt idx="1">
                  <c:v>71613.0</c:v>
                </c:pt>
                <c:pt idx="2">
                  <c:v>63033.0</c:v>
                </c:pt>
                <c:pt idx="3">
                  <c:v>82800.0</c:v>
                </c:pt>
                <c:pt idx="4">
                  <c:v>84618.0</c:v>
                </c:pt>
                <c:pt idx="5">
                  <c:v>68657.0</c:v>
                </c:pt>
                <c:pt idx="6">
                  <c:v>48948.0</c:v>
                </c:pt>
                <c:pt idx="7">
                  <c:v>79941.0</c:v>
                </c:pt>
                <c:pt idx="8">
                  <c:v>79143.0</c:v>
                </c:pt>
                <c:pt idx="9">
                  <c:v>82582.0</c:v>
                </c:pt>
                <c:pt idx="10">
                  <c:v>82384.0</c:v>
                </c:pt>
                <c:pt idx="11">
                  <c:v>70287.0</c:v>
                </c:pt>
                <c:pt idx="12">
                  <c:v>75777.0</c:v>
                </c:pt>
                <c:pt idx="13">
                  <c:v>70666.0</c:v>
                </c:pt>
                <c:pt idx="14">
                  <c:v>88194.0</c:v>
                </c:pt>
                <c:pt idx="15">
                  <c:v>66991.0</c:v>
                </c:pt>
                <c:pt idx="16">
                  <c:v>75251.0</c:v>
                </c:pt>
                <c:pt idx="17">
                  <c:v>75825.0</c:v>
                </c:pt>
                <c:pt idx="18">
                  <c:v>81361.0</c:v>
                </c:pt>
                <c:pt idx="19">
                  <c:v>79593.0</c:v>
                </c:pt>
                <c:pt idx="20">
                  <c:v>78497.0</c:v>
                </c:pt>
                <c:pt idx="21">
                  <c:v>65846.0</c:v>
                </c:pt>
                <c:pt idx="22">
                  <c:v>87195.0</c:v>
                </c:pt>
                <c:pt idx="23">
                  <c:v>89058.0</c:v>
                </c:pt>
                <c:pt idx="24">
                  <c:v>86037.0</c:v>
                </c:pt>
                <c:pt idx="25">
                  <c:v>90765.0</c:v>
                </c:pt>
                <c:pt idx="26">
                  <c:v>101970.0</c:v>
                </c:pt>
                <c:pt idx="27">
                  <c:v>71488.0</c:v>
                </c:pt>
                <c:pt idx="28">
                  <c:v>79607.0</c:v>
                </c:pt>
                <c:pt idx="29">
                  <c:v>73448.0</c:v>
                </c:pt>
                <c:pt idx="30">
                  <c:v>62981.0</c:v>
                </c:pt>
                <c:pt idx="31">
                  <c:v>92859.0</c:v>
                </c:pt>
                <c:pt idx="32">
                  <c:v>86111.0</c:v>
                </c:pt>
                <c:pt idx="33">
                  <c:v>69372.0</c:v>
                </c:pt>
                <c:pt idx="34">
                  <c:v>80317.0</c:v>
                </c:pt>
                <c:pt idx="35">
                  <c:v>70356.0</c:v>
                </c:pt>
                <c:pt idx="36">
                  <c:v>74165.0</c:v>
                </c:pt>
                <c:pt idx="37">
                  <c:v>62551.0</c:v>
                </c:pt>
                <c:pt idx="38">
                  <c:v>66951.0</c:v>
                </c:pt>
                <c:pt idx="39">
                  <c:v>83837.0</c:v>
                </c:pt>
                <c:pt idx="40">
                  <c:v>78497.0</c:v>
                </c:pt>
                <c:pt idx="41">
                  <c:v>66835.0</c:v>
                </c:pt>
                <c:pt idx="42">
                  <c:v>74068.0</c:v>
                </c:pt>
                <c:pt idx="43">
                  <c:v>66973.0</c:v>
                </c:pt>
                <c:pt idx="44">
                  <c:v>69661.0</c:v>
                </c:pt>
                <c:pt idx="45">
                  <c:v>80067.0</c:v>
                </c:pt>
                <c:pt idx="46">
                  <c:v>86718.0</c:v>
                </c:pt>
                <c:pt idx="47">
                  <c:v>75922.0</c:v>
                </c:pt>
                <c:pt idx="48">
                  <c:v>102160.0</c:v>
                </c:pt>
                <c:pt idx="49">
                  <c:v>77972.0</c:v>
                </c:pt>
                <c:pt idx="50">
                  <c:v>70951.0</c:v>
                </c:pt>
                <c:pt idx="51">
                  <c:v>83790.0</c:v>
                </c:pt>
                <c:pt idx="52">
                  <c:v>72460.0</c:v>
                </c:pt>
                <c:pt idx="53">
                  <c:v>79930.0</c:v>
                </c:pt>
                <c:pt idx="54">
                  <c:v>81975.0</c:v>
                </c:pt>
                <c:pt idx="55">
                  <c:v>73455.0</c:v>
                </c:pt>
                <c:pt idx="56">
                  <c:v>73687.0</c:v>
                </c:pt>
                <c:pt idx="57">
                  <c:v>67546.0</c:v>
                </c:pt>
                <c:pt idx="58">
                  <c:v>102692.0</c:v>
                </c:pt>
                <c:pt idx="59">
                  <c:v>80124.0</c:v>
                </c:pt>
                <c:pt idx="60">
                  <c:v>72940.0</c:v>
                </c:pt>
                <c:pt idx="61">
                  <c:v>69267.0</c:v>
                </c:pt>
                <c:pt idx="62">
                  <c:v>60714.0</c:v>
                </c:pt>
                <c:pt idx="63">
                  <c:v>77882.0</c:v>
                </c:pt>
                <c:pt idx="64">
                  <c:v>69867.0</c:v>
                </c:pt>
                <c:pt idx="65">
                  <c:v>75278.0</c:v>
                </c:pt>
                <c:pt idx="66">
                  <c:v>79946.0</c:v>
                </c:pt>
                <c:pt idx="67">
                  <c:v>82497.0</c:v>
                </c:pt>
                <c:pt idx="68">
                  <c:v>68627.0</c:v>
                </c:pt>
                <c:pt idx="69">
                  <c:v>80950.0</c:v>
                </c:pt>
                <c:pt idx="70">
                  <c:v>77457.0</c:v>
                </c:pt>
                <c:pt idx="71">
                  <c:v>70893.0</c:v>
                </c:pt>
                <c:pt idx="72">
                  <c:v>62187.0</c:v>
                </c:pt>
                <c:pt idx="73">
                  <c:v>75693.0</c:v>
                </c:pt>
                <c:pt idx="74">
                  <c:v>83003.0</c:v>
                </c:pt>
                <c:pt idx="75">
                  <c:v>68655.0</c:v>
                </c:pt>
                <c:pt idx="76">
                  <c:v>82623.0</c:v>
                </c:pt>
                <c:pt idx="77">
                  <c:v>84835.0</c:v>
                </c:pt>
                <c:pt idx="78">
                  <c:v>69759.0</c:v>
                </c:pt>
                <c:pt idx="79">
                  <c:v>72099.0</c:v>
                </c:pt>
                <c:pt idx="80">
                  <c:v>68462.0</c:v>
                </c:pt>
                <c:pt idx="81">
                  <c:v>65073.0</c:v>
                </c:pt>
                <c:pt idx="82">
                  <c:v>78618.0</c:v>
                </c:pt>
                <c:pt idx="83">
                  <c:v>79530.0</c:v>
                </c:pt>
                <c:pt idx="84">
                  <c:v>72025.0</c:v>
                </c:pt>
                <c:pt idx="85">
                  <c:v>90300.0</c:v>
                </c:pt>
                <c:pt idx="86">
                  <c:v>74293.0</c:v>
                </c:pt>
                <c:pt idx="87">
                  <c:v>68682.0</c:v>
                </c:pt>
                <c:pt idx="88">
                  <c:v>75276.0</c:v>
                </c:pt>
                <c:pt idx="89">
                  <c:v>75865.0</c:v>
                </c:pt>
                <c:pt idx="90">
                  <c:v>80134.0</c:v>
                </c:pt>
                <c:pt idx="91">
                  <c:v>91065.0</c:v>
                </c:pt>
                <c:pt idx="92">
                  <c:v>82584.0</c:v>
                </c:pt>
                <c:pt idx="93">
                  <c:v>93027.0</c:v>
                </c:pt>
                <c:pt idx="94">
                  <c:v>92910.0</c:v>
                </c:pt>
                <c:pt idx="95">
                  <c:v>84865.0</c:v>
                </c:pt>
                <c:pt idx="96">
                  <c:v>81246.0</c:v>
                </c:pt>
                <c:pt idx="97">
                  <c:v>89572.0</c:v>
                </c:pt>
                <c:pt idx="98">
                  <c:v>66664.0</c:v>
                </c:pt>
                <c:pt idx="99">
                  <c:v>70165.0</c:v>
                </c:pt>
                <c:pt idx="100">
                  <c:v>80124.0</c:v>
                </c:pt>
                <c:pt idx="101">
                  <c:v>66582.0</c:v>
                </c:pt>
                <c:pt idx="102">
                  <c:v>75261.0</c:v>
                </c:pt>
                <c:pt idx="103">
                  <c:v>83151.0</c:v>
                </c:pt>
                <c:pt idx="104">
                  <c:v>78825.0</c:v>
                </c:pt>
                <c:pt idx="105">
                  <c:v>76005.0</c:v>
                </c:pt>
                <c:pt idx="106">
                  <c:v>55614.0</c:v>
                </c:pt>
                <c:pt idx="107">
                  <c:v>65275.0</c:v>
                </c:pt>
                <c:pt idx="108">
                  <c:v>53653.0</c:v>
                </c:pt>
                <c:pt idx="109">
                  <c:v>81217.0</c:v>
                </c:pt>
                <c:pt idx="110">
                  <c:v>60152.0</c:v>
                </c:pt>
                <c:pt idx="111">
                  <c:v>89120.0</c:v>
                </c:pt>
                <c:pt idx="112">
                  <c:v>81169.0</c:v>
                </c:pt>
                <c:pt idx="113">
                  <c:v>71367.0</c:v>
                </c:pt>
                <c:pt idx="114">
                  <c:v>80184.0</c:v>
                </c:pt>
                <c:pt idx="115">
                  <c:v>73454.0</c:v>
                </c:pt>
                <c:pt idx="116">
                  <c:v>70503.0</c:v>
                </c:pt>
                <c:pt idx="117">
                  <c:v>77863.0</c:v>
                </c:pt>
                <c:pt idx="118">
                  <c:v>61839.0</c:v>
                </c:pt>
                <c:pt idx="119">
                  <c:v>72679.0</c:v>
                </c:pt>
                <c:pt idx="120">
                  <c:v>76982.0</c:v>
                </c:pt>
                <c:pt idx="121">
                  <c:v>84169.0</c:v>
                </c:pt>
                <c:pt idx="122">
                  <c:v>85620.0</c:v>
                </c:pt>
                <c:pt idx="123">
                  <c:v>81698.0</c:v>
                </c:pt>
                <c:pt idx="124">
                  <c:v>79908.0</c:v>
                </c:pt>
                <c:pt idx="125">
                  <c:v>81741.0</c:v>
                </c:pt>
                <c:pt idx="126">
                  <c:v>79800.0</c:v>
                </c:pt>
                <c:pt idx="127">
                  <c:v>92163.0</c:v>
                </c:pt>
                <c:pt idx="128">
                  <c:v>69882.0</c:v>
                </c:pt>
                <c:pt idx="129">
                  <c:v>72906.0</c:v>
                </c:pt>
                <c:pt idx="130">
                  <c:v>81168.0</c:v>
                </c:pt>
                <c:pt idx="131">
                  <c:v>48240.0</c:v>
                </c:pt>
                <c:pt idx="132">
                  <c:v>72298.0</c:v>
                </c:pt>
                <c:pt idx="133">
                  <c:v>72635.0</c:v>
                </c:pt>
                <c:pt idx="134">
                  <c:v>84196.0</c:v>
                </c:pt>
                <c:pt idx="135">
                  <c:v>65488.0</c:v>
                </c:pt>
                <c:pt idx="136">
                  <c:v>83917.0</c:v>
                </c:pt>
                <c:pt idx="137">
                  <c:v>84574.0</c:v>
                </c:pt>
                <c:pt idx="138">
                  <c:v>76140.0</c:v>
                </c:pt>
                <c:pt idx="139">
                  <c:v>77632.0</c:v>
                </c:pt>
                <c:pt idx="140">
                  <c:v>105471.0</c:v>
                </c:pt>
                <c:pt idx="141">
                  <c:v>98777.0</c:v>
                </c:pt>
                <c:pt idx="142">
                  <c:v>58330.0</c:v>
                </c:pt>
                <c:pt idx="143">
                  <c:v>66731.0</c:v>
                </c:pt>
                <c:pt idx="144">
                  <c:v>70337.0</c:v>
                </c:pt>
                <c:pt idx="145">
                  <c:v>65295.0</c:v>
                </c:pt>
                <c:pt idx="146">
                  <c:v>68743.0</c:v>
                </c:pt>
                <c:pt idx="147">
                  <c:v>65777.0</c:v>
                </c:pt>
                <c:pt idx="148">
                  <c:v>86857.0</c:v>
                </c:pt>
                <c:pt idx="149">
                  <c:v>160803.0</c:v>
                </c:pt>
                <c:pt idx="150">
                  <c:v>77845.0</c:v>
                </c:pt>
                <c:pt idx="151">
                  <c:v>69476.0</c:v>
                </c:pt>
                <c:pt idx="152">
                  <c:v>61209.0</c:v>
                </c:pt>
                <c:pt idx="153">
                  <c:v>78468.0</c:v>
                </c:pt>
                <c:pt idx="154">
                  <c:v>90247.0</c:v>
                </c:pt>
                <c:pt idx="155">
                  <c:v>76618.0</c:v>
                </c:pt>
                <c:pt idx="156">
                  <c:v>87305.0</c:v>
                </c:pt>
                <c:pt idx="157">
                  <c:v>59111.0</c:v>
                </c:pt>
                <c:pt idx="158">
                  <c:v>72190.0</c:v>
                </c:pt>
                <c:pt idx="159">
                  <c:v>80395.0</c:v>
                </c:pt>
                <c:pt idx="160">
                  <c:v>75012.0</c:v>
                </c:pt>
                <c:pt idx="161">
                  <c:v>89891.0</c:v>
                </c:pt>
                <c:pt idx="162">
                  <c:v>72025.0</c:v>
                </c:pt>
                <c:pt idx="163">
                  <c:v>82224.0</c:v>
                </c:pt>
                <c:pt idx="164">
                  <c:v>83844.0</c:v>
                </c:pt>
                <c:pt idx="165">
                  <c:v>71163.0</c:v>
                </c:pt>
                <c:pt idx="166">
                  <c:v>63564.0</c:v>
                </c:pt>
                <c:pt idx="167">
                  <c:v>83443.0</c:v>
                </c:pt>
                <c:pt idx="168">
                  <c:v>58330.0</c:v>
                </c:pt>
                <c:pt idx="169">
                  <c:v>80952.0</c:v>
                </c:pt>
                <c:pt idx="170">
                  <c:v>75507.0</c:v>
                </c:pt>
                <c:pt idx="171">
                  <c:v>63855.0</c:v>
                </c:pt>
                <c:pt idx="172">
                  <c:v>78285.0</c:v>
                </c:pt>
                <c:pt idx="173">
                  <c:v>75127.0</c:v>
                </c:pt>
                <c:pt idx="174">
                  <c:v>74985.0</c:v>
                </c:pt>
                <c:pt idx="175">
                  <c:v>67430.0</c:v>
                </c:pt>
                <c:pt idx="176">
                  <c:v>78939.0</c:v>
                </c:pt>
                <c:pt idx="177">
                  <c:v>74250.0</c:v>
                </c:pt>
                <c:pt idx="178">
                  <c:v>72258.0</c:v>
                </c:pt>
                <c:pt idx="179">
                  <c:v>71466.0</c:v>
                </c:pt>
                <c:pt idx="180">
                  <c:v>62847.0</c:v>
                </c:pt>
                <c:pt idx="181">
                  <c:v>82017.0</c:v>
                </c:pt>
                <c:pt idx="182">
                  <c:v>73926.0</c:v>
                </c:pt>
                <c:pt idx="183">
                  <c:v>82716.0</c:v>
                </c:pt>
                <c:pt idx="184">
                  <c:v>48192.0</c:v>
                </c:pt>
                <c:pt idx="185">
                  <c:v>72504.0</c:v>
                </c:pt>
                <c:pt idx="186">
                  <c:v>73170.0</c:v>
                </c:pt>
                <c:pt idx="187">
                  <c:v>91820.0</c:v>
                </c:pt>
                <c:pt idx="188">
                  <c:v>76412.0</c:v>
                </c:pt>
                <c:pt idx="189">
                  <c:v>78353.0</c:v>
                </c:pt>
                <c:pt idx="190">
                  <c:v>80995.0</c:v>
                </c:pt>
                <c:pt idx="191">
                  <c:v>81702.0</c:v>
                </c:pt>
                <c:pt idx="192">
                  <c:v>82504.0</c:v>
                </c:pt>
                <c:pt idx="193">
                  <c:v>81205.0</c:v>
                </c:pt>
                <c:pt idx="194">
                  <c:v>61618.0</c:v>
                </c:pt>
                <c:pt idx="195">
                  <c:v>82347.0</c:v>
                </c:pt>
                <c:pt idx="196">
                  <c:v>85710.0</c:v>
                </c:pt>
                <c:pt idx="197">
                  <c:v>70123.0</c:v>
                </c:pt>
                <c:pt idx="198">
                  <c:v>80812.0</c:v>
                </c:pt>
                <c:pt idx="199">
                  <c:v>86424.0</c:v>
                </c:pt>
                <c:pt idx="200">
                  <c:v>86857.0</c:v>
                </c:pt>
                <c:pt idx="201">
                  <c:v>82072.0</c:v>
                </c:pt>
                <c:pt idx="202">
                  <c:v>68092.0</c:v>
                </c:pt>
                <c:pt idx="203">
                  <c:v>76630.0</c:v>
                </c:pt>
                <c:pt idx="204">
                  <c:v>48948.0</c:v>
                </c:pt>
                <c:pt idx="205">
                  <c:v>78331.0</c:v>
                </c:pt>
                <c:pt idx="206">
                  <c:v>81320.0</c:v>
                </c:pt>
                <c:pt idx="207">
                  <c:v>66825.0</c:v>
                </c:pt>
                <c:pt idx="208">
                  <c:v>85072.0</c:v>
                </c:pt>
                <c:pt idx="209">
                  <c:v>86429.0</c:v>
                </c:pt>
                <c:pt idx="210">
                  <c:v>78420.0</c:v>
                </c:pt>
                <c:pt idx="211">
                  <c:v>75114.0</c:v>
                </c:pt>
                <c:pt idx="212">
                  <c:v>95529.0</c:v>
                </c:pt>
                <c:pt idx="213">
                  <c:v>62820.0</c:v>
                </c:pt>
                <c:pt idx="214">
                  <c:v>73113.0</c:v>
                </c:pt>
                <c:pt idx="215">
                  <c:v>84169.0</c:v>
                </c:pt>
                <c:pt idx="216">
                  <c:v>74637.0</c:v>
                </c:pt>
                <c:pt idx="217">
                  <c:v>72354.0</c:v>
                </c:pt>
                <c:pt idx="218">
                  <c:v>77583.0</c:v>
                </c:pt>
                <c:pt idx="219">
                  <c:v>74116.0</c:v>
                </c:pt>
                <c:pt idx="220">
                  <c:v>74293.0</c:v>
                </c:pt>
                <c:pt idx="221">
                  <c:v>79632.0</c:v>
                </c:pt>
                <c:pt idx="222">
                  <c:v>75127.0</c:v>
                </c:pt>
                <c:pt idx="223">
                  <c:v>71796.0</c:v>
                </c:pt>
                <c:pt idx="224">
                  <c:v>82025.0</c:v>
                </c:pt>
                <c:pt idx="225">
                  <c:v>94384.0</c:v>
                </c:pt>
                <c:pt idx="226">
                  <c:v>70647.0</c:v>
                </c:pt>
                <c:pt idx="227">
                  <c:v>92955.0</c:v>
                </c:pt>
                <c:pt idx="228">
                  <c:v>84219.0</c:v>
                </c:pt>
                <c:pt idx="229">
                  <c:v>80573.0</c:v>
                </c:pt>
                <c:pt idx="230">
                  <c:v>83715.0</c:v>
                </c:pt>
                <c:pt idx="231">
                  <c:v>82576.0</c:v>
                </c:pt>
                <c:pt idx="232">
                  <c:v>80763.0</c:v>
                </c:pt>
                <c:pt idx="233">
                  <c:v>82170.0</c:v>
                </c:pt>
                <c:pt idx="234">
                  <c:v>75759.0</c:v>
                </c:pt>
                <c:pt idx="235">
                  <c:v>79689.0</c:v>
                </c:pt>
                <c:pt idx="236">
                  <c:v>85683.0</c:v>
                </c:pt>
                <c:pt idx="237">
                  <c:v>75437.0</c:v>
                </c:pt>
                <c:pt idx="238">
                  <c:v>95169.0</c:v>
                </c:pt>
                <c:pt idx="239">
                  <c:v>83844.0</c:v>
                </c:pt>
                <c:pt idx="240">
                  <c:v>70924.0</c:v>
                </c:pt>
                <c:pt idx="241">
                  <c:v>74538.0</c:v>
                </c:pt>
                <c:pt idx="242">
                  <c:v>91700.0</c:v>
                </c:pt>
                <c:pt idx="243">
                  <c:v>68695.0</c:v>
                </c:pt>
                <c:pt idx="244">
                  <c:v>79593.0</c:v>
                </c:pt>
                <c:pt idx="245">
                  <c:v>76081.0</c:v>
                </c:pt>
                <c:pt idx="246">
                  <c:v>70924.0</c:v>
                </c:pt>
                <c:pt idx="247">
                  <c:v>69098.0</c:v>
                </c:pt>
                <c:pt idx="248">
                  <c:v>70596.0</c:v>
                </c:pt>
                <c:pt idx="249">
                  <c:v>72228.0</c:v>
                </c:pt>
                <c:pt idx="250">
                  <c:v>67605.0</c:v>
                </c:pt>
                <c:pt idx="251">
                  <c:v>83528.0</c:v>
                </c:pt>
                <c:pt idx="252">
                  <c:v>67023.0</c:v>
                </c:pt>
                <c:pt idx="253">
                  <c:v>88347.0</c:v>
                </c:pt>
                <c:pt idx="254">
                  <c:v>87171.0</c:v>
                </c:pt>
                <c:pt idx="255">
                  <c:v>66294.0</c:v>
                </c:pt>
                <c:pt idx="256">
                  <c:v>79456.0</c:v>
                </c:pt>
                <c:pt idx="257">
                  <c:v>75345.0</c:v>
                </c:pt>
                <c:pt idx="258">
                  <c:v>84460.0</c:v>
                </c:pt>
                <c:pt idx="259">
                  <c:v>71691.0</c:v>
                </c:pt>
                <c:pt idx="260">
                  <c:v>85844.0</c:v>
                </c:pt>
                <c:pt idx="261">
                  <c:v>71367.0</c:v>
                </c:pt>
                <c:pt idx="262">
                  <c:v>80910.0</c:v>
                </c:pt>
                <c:pt idx="263">
                  <c:v>83829.0</c:v>
                </c:pt>
                <c:pt idx="264">
                  <c:v>76045.0</c:v>
                </c:pt>
                <c:pt idx="265">
                  <c:v>76773.0</c:v>
                </c:pt>
                <c:pt idx="266">
                  <c:v>81698.0</c:v>
                </c:pt>
                <c:pt idx="267">
                  <c:v>98777.0</c:v>
                </c:pt>
                <c:pt idx="268">
                  <c:v>63998.0</c:v>
                </c:pt>
                <c:pt idx="269">
                  <c:v>72903.0</c:v>
                </c:pt>
                <c:pt idx="270">
                  <c:v>85696.0</c:v>
                </c:pt>
                <c:pt idx="271">
                  <c:v>63285.0</c:v>
                </c:pt>
                <c:pt idx="272">
                  <c:v>57513.0</c:v>
                </c:pt>
                <c:pt idx="273">
                  <c:v>83145.0</c:v>
                </c:pt>
                <c:pt idx="274">
                  <c:v>56715.0</c:v>
                </c:pt>
                <c:pt idx="275">
                  <c:v>79410.0</c:v>
                </c:pt>
                <c:pt idx="276">
                  <c:v>80685.0</c:v>
                </c:pt>
                <c:pt idx="277">
                  <c:v>77142.0</c:v>
                </c:pt>
                <c:pt idx="278">
                  <c:v>81657.0</c:v>
                </c:pt>
                <c:pt idx="279">
                  <c:v>74214.0</c:v>
                </c:pt>
                <c:pt idx="280">
                  <c:v>90638.0</c:v>
                </c:pt>
                <c:pt idx="281">
                  <c:v>78579.0</c:v>
                </c:pt>
                <c:pt idx="282">
                  <c:v>78075.0</c:v>
                </c:pt>
                <c:pt idx="283">
                  <c:v>59184.0</c:v>
                </c:pt>
                <c:pt idx="284">
                  <c:v>66636.0</c:v>
                </c:pt>
                <c:pt idx="285">
                  <c:v>84618.0</c:v>
                </c:pt>
                <c:pt idx="286">
                  <c:v>74918.0</c:v>
                </c:pt>
                <c:pt idx="287">
                  <c:v>68682.0</c:v>
                </c:pt>
                <c:pt idx="288">
                  <c:v>77297.0</c:v>
                </c:pt>
                <c:pt idx="289">
                  <c:v>61284.0</c:v>
                </c:pt>
                <c:pt idx="290">
                  <c:v>84906.0</c:v>
                </c:pt>
                <c:pt idx="291">
                  <c:v>76624.0</c:v>
                </c:pt>
                <c:pt idx="292">
                  <c:v>66000.0</c:v>
                </c:pt>
                <c:pt idx="293">
                  <c:v>69969.0</c:v>
                </c:pt>
                <c:pt idx="294">
                  <c:v>76653.0</c:v>
                </c:pt>
                <c:pt idx="295">
                  <c:v>90687.0</c:v>
                </c:pt>
                <c:pt idx="296">
                  <c:v>73450.0</c:v>
                </c:pt>
                <c:pt idx="297">
                  <c:v>83829.0</c:v>
                </c:pt>
                <c:pt idx="298">
                  <c:v>85485.0</c:v>
                </c:pt>
                <c:pt idx="299">
                  <c:v>55956.0</c:v>
                </c:pt>
                <c:pt idx="300">
                  <c:v>71847.0</c:v>
                </c:pt>
                <c:pt idx="301">
                  <c:v>78687.0</c:v>
                </c:pt>
                <c:pt idx="302">
                  <c:v>83151.0</c:v>
                </c:pt>
                <c:pt idx="303">
                  <c:v>52531.0</c:v>
                </c:pt>
                <c:pt idx="304">
                  <c:v>78569.0</c:v>
                </c:pt>
                <c:pt idx="305">
                  <c:v>94384.0</c:v>
                </c:pt>
                <c:pt idx="306">
                  <c:v>71626.0</c:v>
                </c:pt>
                <c:pt idx="307">
                  <c:v>81051.0</c:v>
                </c:pt>
                <c:pt idx="308">
                  <c:v>65169.0</c:v>
                </c:pt>
                <c:pt idx="309">
                  <c:v>64857.0</c:v>
                </c:pt>
                <c:pt idx="310">
                  <c:v>81843.0</c:v>
                </c:pt>
                <c:pt idx="311">
                  <c:v>71604.0</c:v>
                </c:pt>
                <c:pt idx="312">
                  <c:v>90842.0</c:v>
                </c:pt>
                <c:pt idx="313">
                  <c:v>71853.0</c:v>
                </c:pt>
                <c:pt idx="314">
                  <c:v>85696.0</c:v>
                </c:pt>
                <c:pt idx="315">
                  <c:v>76542.0</c:v>
                </c:pt>
                <c:pt idx="316">
                  <c:v>70515.0</c:v>
                </c:pt>
                <c:pt idx="317">
                  <c:v>69109.0</c:v>
                </c:pt>
                <c:pt idx="318">
                  <c:v>69627.0</c:v>
                </c:pt>
                <c:pt idx="319">
                  <c:v>62159.0</c:v>
                </c:pt>
                <c:pt idx="320">
                  <c:v>80695.0</c:v>
                </c:pt>
                <c:pt idx="321">
                  <c:v>52203.0</c:v>
                </c:pt>
                <c:pt idx="322">
                  <c:v>75154.0</c:v>
                </c:pt>
                <c:pt idx="323">
                  <c:v>92344.0</c:v>
                </c:pt>
                <c:pt idx="324">
                  <c:v>75507.0</c:v>
                </c:pt>
                <c:pt idx="325">
                  <c:v>80589.0</c:v>
                </c:pt>
                <c:pt idx="326">
                  <c:v>65704.0</c:v>
                </c:pt>
                <c:pt idx="327">
                  <c:v>92533.0</c:v>
                </c:pt>
                <c:pt idx="328">
                  <c:v>78427.0</c:v>
                </c:pt>
                <c:pt idx="329">
                  <c:v>82657.0</c:v>
                </c:pt>
                <c:pt idx="330">
                  <c:v>78041.0</c:v>
                </c:pt>
                <c:pt idx="331">
                  <c:v>70038.0</c:v>
                </c:pt>
                <c:pt idx="332">
                  <c:v>77343.0</c:v>
                </c:pt>
                <c:pt idx="333">
                  <c:v>73892.0</c:v>
                </c:pt>
                <c:pt idx="334">
                  <c:v>68695.0</c:v>
                </c:pt>
                <c:pt idx="335">
                  <c:v>93790.0</c:v>
                </c:pt>
                <c:pt idx="336">
                  <c:v>83844.0</c:v>
                </c:pt>
                <c:pt idx="337">
                  <c:v>64857.0</c:v>
                </c:pt>
                <c:pt idx="338">
                  <c:v>79419.0</c:v>
                </c:pt>
                <c:pt idx="339">
                  <c:v>87679.0</c:v>
                </c:pt>
                <c:pt idx="340">
                  <c:v>65492.0</c:v>
                </c:pt>
                <c:pt idx="341">
                  <c:v>68487.0</c:v>
                </c:pt>
                <c:pt idx="342">
                  <c:v>49667.0</c:v>
                </c:pt>
                <c:pt idx="343">
                  <c:v>78931.0</c:v>
                </c:pt>
                <c:pt idx="344">
                  <c:v>84219.0</c:v>
                </c:pt>
                <c:pt idx="345">
                  <c:v>79529.0</c:v>
                </c:pt>
                <c:pt idx="346">
                  <c:v>87188.0</c:v>
                </c:pt>
                <c:pt idx="347">
                  <c:v>69930.0</c:v>
                </c:pt>
                <c:pt idx="348">
                  <c:v>82032.0</c:v>
                </c:pt>
                <c:pt idx="349">
                  <c:v>74004.0</c:v>
                </c:pt>
                <c:pt idx="350">
                  <c:v>67786.0</c:v>
                </c:pt>
                <c:pt idx="351">
                  <c:v>65819.0</c:v>
                </c:pt>
                <c:pt idx="352">
                  <c:v>76800.0</c:v>
                </c:pt>
                <c:pt idx="353">
                  <c:v>76081.0</c:v>
                </c:pt>
                <c:pt idx="354">
                  <c:v>79865.0</c:v>
                </c:pt>
                <c:pt idx="355">
                  <c:v>82800.0</c:v>
                </c:pt>
                <c:pt idx="356">
                  <c:v>90638.0</c:v>
                </c:pt>
                <c:pt idx="357">
                  <c:v>81574.0</c:v>
                </c:pt>
                <c:pt idx="358">
                  <c:v>78093.0</c:v>
                </c:pt>
                <c:pt idx="359">
                  <c:v>82460.0</c:v>
                </c:pt>
                <c:pt idx="360">
                  <c:v>81361.0</c:v>
                </c:pt>
                <c:pt idx="361">
                  <c:v>75794.0</c:v>
                </c:pt>
                <c:pt idx="362">
                  <c:v>74268.0</c:v>
                </c:pt>
                <c:pt idx="363">
                  <c:v>90226.0</c:v>
                </c:pt>
                <c:pt idx="364">
                  <c:v>70638.0</c:v>
                </c:pt>
                <c:pt idx="365">
                  <c:v>68655.0</c:v>
                </c:pt>
                <c:pt idx="366">
                  <c:v>64509.0</c:v>
                </c:pt>
                <c:pt idx="367">
                  <c:v>66664.0</c:v>
                </c:pt>
                <c:pt idx="368">
                  <c:v>69755.0</c:v>
                </c:pt>
                <c:pt idx="369">
                  <c:v>58684.0</c:v>
                </c:pt>
                <c:pt idx="370">
                  <c:v>57136.0</c:v>
                </c:pt>
                <c:pt idx="371">
                  <c:v>82014.0</c:v>
                </c:pt>
                <c:pt idx="372">
                  <c:v>157146.0</c:v>
                </c:pt>
                <c:pt idx="373">
                  <c:v>72066.0</c:v>
                </c:pt>
                <c:pt idx="374">
                  <c:v>86610.0</c:v>
                </c:pt>
                <c:pt idx="375">
                  <c:v>80141.0</c:v>
                </c:pt>
                <c:pt idx="376">
                  <c:v>72635.0</c:v>
                </c:pt>
                <c:pt idx="377">
                  <c:v>70440.0</c:v>
                </c:pt>
                <c:pt idx="378">
                  <c:v>78789.0</c:v>
                </c:pt>
                <c:pt idx="379">
                  <c:v>81217.0</c:v>
                </c:pt>
                <c:pt idx="380">
                  <c:v>61787.0</c:v>
                </c:pt>
                <c:pt idx="381">
                  <c:v>86580.0</c:v>
                </c:pt>
                <c:pt idx="382">
                  <c:v>83512.0</c:v>
                </c:pt>
                <c:pt idx="383">
                  <c:v>80398.0</c:v>
                </c:pt>
                <c:pt idx="384">
                  <c:v>92491.0</c:v>
                </c:pt>
                <c:pt idx="385">
                  <c:v>90273.0</c:v>
                </c:pt>
                <c:pt idx="386">
                  <c:v>82571.0</c:v>
                </c:pt>
                <c:pt idx="387">
                  <c:v>82427.0</c:v>
                </c:pt>
                <c:pt idx="388">
                  <c:v>77437.0</c:v>
                </c:pt>
                <c:pt idx="389">
                  <c:v>70321.0</c:v>
                </c:pt>
                <c:pt idx="390">
                  <c:v>81795.0</c:v>
                </c:pt>
                <c:pt idx="391">
                  <c:v>66835.0</c:v>
                </c:pt>
                <c:pt idx="392">
                  <c:v>80360.0</c:v>
                </c:pt>
                <c:pt idx="393">
                  <c:v>71853.0</c:v>
                </c:pt>
                <c:pt idx="394">
                  <c:v>70596.0</c:v>
                </c:pt>
                <c:pt idx="395">
                  <c:v>85431.0</c:v>
                </c:pt>
                <c:pt idx="396">
                  <c:v>65370.0</c:v>
                </c:pt>
                <c:pt idx="397">
                  <c:v>64590.0</c:v>
                </c:pt>
                <c:pt idx="398">
                  <c:v>82122.0</c:v>
                </c:pt>
                <c:pt idx="399">
                  <c:v>90369.0</c:v>
                </c:pt>
                <c:pt idx="400">
                  <c:v>63159.0</c:v>
                </c:pt>
                <c:pt idx="401">
                  <c:v>79734.0</c:v>
                </c:pt>
                <c:pt idx="402">
                  <c:v>63207.0</c:v>
                </c:pt>
                <c:pt idx="403">
                  <c:v>72071.0</c:v>
                </c:pt>
                <c:pt idx="404">
                  <c:v>72282.0</c:v>
                </c:pt>
                <c:pt idx="405">
                  <c:v>52513.0</c:v>
                </c:pt>
                <c:pt idx="406">
                  <c:v>78394.0</c:v>
                </c:pt>
                <c:pt idx="407">
                  <c:v>80739.0</c:v>
                </c:pt>
                <c:pt idx="408">
                  <c:v>80336.0</c:v>
                </c:pt>
                <c:pt idx="409">
                  <c:v>84953.0</c:v>
                </c:pt>
                <c:pt idx="410">
                  <c:v>68148.0</c:v>
                </c:pt>
                <c:pt idx="411">
                  <c:v>83257.0</c:v>
                </c:pt>
                <c:pt idx="412">
                  <c:v>72159.0</c:v>
                </c:pt>
                <c:pt idx="413">
                  <c:v>64260.0</c:v>
                </c:pt>
                <c:pt idx="414">
                  <c:v>82733.0</c:v>
                </c:pt>
                <c:pt idx="415">
                  <c:v>70116.0</c:v>
                </c:pt>
                <c:pt idx="416">
                  <c:v>69109.0</c:v>
                </c:pt>
                <c:pt idx="417">
                  <c:v>82326.0</c:v>
                </c:pt>
                <c:pt idx="418">
                  <c:v>69932.0</c:v>
                </c:pt>
                <c:pt idx="419">
                  <c:v>72905.0</c:v>
                </c:pt>
                <c:pt idx="420">
                  <c:v>70300.0</c:v>
                </c:pt>
                <c:pt idx="421">
                  <c:v>70643.0</c:v>
                </c:pt>
                <c:pt idx="422">
                  <c:v>86979.0</c:v>
                </c:pt>
                <c:pt idx="423">
                  <c:v>67546.0</c:v>
                </c:pt>
                <c:pt idx="424">
                  <c:v>88420.0</c:v>
                </c:pt>
                <c:pt idx="425">
                  <c:v>69719.0</c:v>
                </c:pt>
                <c:pt idx="426">
                  <c:v>90933.0</c:v>
                </c:pt>
                <c:pt idx="427">
                  <c:v>113734.0</c:v>
                </c:pt>
                <c:pt idx="428">
                  <c:v>62820.0</c:v>
                </c:pt>
                <c:pt idx="429">
                  <c:v>92556.0</c:v>
                </c:pt>
                <c:pt idx="430">
                  <c:v>67384.0</c:v>
                </c:pt>
                <c:pt idx="431">
                  <c:v>80573.0</c:v>
                </c:pt>
                <c:pt idx="432">
                  <c:v>91249.0</c:v>
                </c:pt>
                <c:pt idx="433">
                  <c:v>77598.0</c:v>
                </c:pt>
                <c:pt idx="434">
                  <c:v>70617.0</c:v>
                </c:pt>
                <c:pt idx="435">
                  <c:v>64849.0</c:v>
                </c:pt>
                <c:pt idx="436">
                  <c:v>73356.0</c:v>
                </c:pt>
                <c:pt idx="437">
                  <c:v>72570.0</c:v>
                </c:pt>
                <c:pt idx="438">
                  <c:v>70792.0</c:v>
                </c:pt>
                <c:pt idx="439">
                  <c:v>63211.0</c:v>
                </c:pt>
                <c:pt idx="440">
                  <c:v>80872.0</c:v>
                </c:pt>
                <c:pt idx="441">
                  <c:v>72335.0</c:v>
                </c:pt>
                <c:pt idx="442">
                  <c:v>76842.0</c:v>
                </c:pt>
                <c:pt idx="443">
                  <c:v>96843.0</c:v>
                </c:pt>
                <c:pt idx="444">
                  <c:v>71670.0</c:v>
                </c:pt>
                <c:pt idx="445">
                  <c:v>74485.0</c:v>
                </c:pt>
                <c:pt idx="446">
                  <c:v>72643.0</c:v>
                </c:pt>
                <c:pt idx="447">
                  <c:v>85738.0</c:v>
                </c:pt>
                <c:pt idx="448">
                  <c:v>94642.0</c:v>
                </c:pt>
                <c:pt idx="449">
                  <c:v>72968.0</c:v>
                </c:pt>
                <c:pt idx="450">
                  <c:v>91712.0</c:v>
                </c:pt>
                <c:pt idx="451">
                  <c:v>94472.0</c:v>
                </c:pt>
                <c:pt idx="452">
                  <c:v>96547.0</c:v>
                </c:pt>
                <c:pt idx="453">
                  <c:v>79205.0</c:v>
                </c:pt>
                <c:pt idx="454">
                  <c:v>71964.0</c:v>
                </c:pt>
                <c:pt idx="455">
                  <c:v>96876.0</c:v>
                </c:pt>
                <c:pt idx="456">
                  <c:v>34445.0</c:v>
                </c:pt>
                <c:pt idx="457">
                  <c:v>68281.0</c:v>
                </c:pt>
                <c:pt idx="458">
                  <c:v>61416.0</c:v>
                </c:pt>
                <c:pt idx="459">
                  <c:v>65308.0</c:v>
                </c:pt>
                <c:pt idx="460">
                  <c:v>76467.0</c:v>
                </c:pt>
                <c:pt idx="461">
                  <c:v>81044.0</c:v>
                </c:pt>
                <c:pt idx="462">
                  <c:v>71128.0</c:v>
                </c:pt>
                <c:pt idx="463">
                  <c:v>70038.0</c:v>
                </c:pt>
                <c:pt idx="464">
                  <c:v>69520.0</c:v>
                </c:pt>
                <c:pt idx="465">
                  <c:v>68487.0</c:v>
                </c:pt>
                <c:pt idx="466">
                  <c:v>87000.0</c:v>
                </c:pt>
                <c:pt idx="467">
                  <c:v>79244.0</c:v>
                </c:pt>
                <c:pt idx="468">
                  <c:v>80144.0</c:v>
                </c:pt>
                <c:pt idx="469">
                  <c:v>82332.0</c:v>
                </c:pt>
                <c:pt idx="470">
                  <c:v>72217.0</c:v>
                </c:pt>
                <c:pt idx="471">
                  <c:v>84906.0</c:v>
                </c:pt>
                <c:pt idx="472">
                  <c:v>82333.0</c:v>
                </c:pt>
                <c:pt idx="473">
                  <c:v>65220.0</c:v>
                </c:pt>
                <c:pt idx="474">
                  <c:v>72309.0</c:v>
                </c:pt>
                <c:pt idx="475">
                  <c:v>65487.0</c:v>
                </c:pt>
                <c:pt idx="476">
                  <c:v>78499.0</c:v>
                </c:pt>
                <c:pt idx="477">
                  <c:v>69209.0</c:v>
                </c:pt>
                <c:pt idx="478">
                  <c:v>74859.0</c:v>
                </c:pt>
                <c:pt idx="479">
                  <c:v>72071.0</c:v>
                </c:pt>
                <c:pt idx="480">
                  <c:v>91172.0</c:v>
                </c:pt>
                <c:pt idx="481">
                  <c:v>90000.0</c:v>
                </c:pt>
                <c:pt idx="482">
                  <c:v>65706.0</c:v>
                </c:pt>
                <c:pt idx="483">
                  <c:v>79174.0</c:v>
                </c:pt>
                <c:pt idx="484">
                  <c:v>81380.0</c:v>
                </c:pt>
                <c:pt idx="485">
                  <c:v>84117.0</c:v>
                </c:pt>
                <c:pt idx="486">
                  <c:v>65487.0</c:v>
                </c:pt>
                <c:pt idx="487">
                  <c:v>89616.0</c:v>
                </c:pt>
                <c:pt idx="488">
                  <c:v>82347.0</c:v>
                </c:pt>
                <c:pt idx="489">
                  <c:v>88325.0</c:v>
                </c:pt>
                <c:pt idx="490">
                  <c:v>80617.0</c:v>
                </c:pt>
                <c:pt idx="491">
                  <c:v>82032.0</c:v>
                </c:pt>
                <c:pt idx="492">
                  <c:v>75777.0</c:v>
                </c:pt>
                <c:pt idx="493">
                  <c:v>56981.0</c:v>
                </c:pt>
              </c:numCache>
            </c:numRef>
          </c:yVal>
          <c:smooth val="0"/>
        </c:ser>
        <c:dLbls>
          <c:numFmt formatCode="General" sourceLinked="0"/>
          <c:txPr>
            <a:bodyPr/>
            <a:lstStyle/>
            <a:p>
              <a:pPr>
                <a:defRPr b="0" i="0" strike="noStrike" sz="1300" u="none">
                  <a:solidFill>
                    <a:srgbClr val="17324D"/>
                  </a:solidFill>
                  <a:latin typeface="Segoe UI"/>
                </a:defRPr>
              </a:pPr>
            </a:p>
          </c:txPr>
          <c:showLegendKey val="0"/>
          <c:showVal val="0"/>
          <c:showCatName val="0"/>
          <c:showSerName val="0"/>
          <c:showPercent val="0"/>
          <c:showBubbleSize val="0"/>
        </c:dLbls>
        <c:axId val="2094734554"/>
        <c:axId val="2094734552"/>
      </c:scatterChart>
      <c:valAx>
        <c:axId val="2094734554"/>
        <c:scaling>
          <c:orientation val="minMax"/>
          <c:max val="2600"/>
          <c:min val="0"/>
        </c:scaling>
        <c:delete val="0"/>
        <c:axPos val="b"/>
        <c:majorGridlines>
          <c:spPr>
            <a:ln w="6350" cap="flat">
              <a:solidFill>
                <a:srgbClr val="F0EEF3"/>
              </a:solidFill>
              <a:prstDash val="solid"/>
              <a:round/>
            </a:ln>
          </c:spPr>
        </c:majorGridlines>
        <c:title>
          <c:tx>
            <c:rich>
              <a:bodyPr/>
              <a:lstStyle/>
              <a:p>
                <a:pPr>
                  <a:defRPr sz="1200" b="0" i="0" u="none" strike="noStrike">
                    <a:solidFill>
                      <a:srgbClr val="334155"/>
                    </a:solidFill>
                    <a:latin typeface="Segoe UI"/>
                  </a:defRPr>
                </a:pPr>
                <a:r>
                  <a:rPr sz="1100" b="0" i="0" u="none" strike="noStrike">
                    <a:solidFill>
                      <a:srgbClr val="334155"/>
                    </a:solidFill>
                    <a:latin typeface="Segoe UI"/>
                  </a:rPr>
                  <a:t>Dépense totale (Spent)</a:t>
                </a:r>
              </a:p>
            </c:rich>
          </c:tx>
          <c:layout/>
          <c:overlay val="0"/>
        </c:title>
        <c:numFmt formatCode="General" sourceLinked="1"/>
        <c:majorTickMark val="none"/>
        <c:minorTickMark val="none"/>
        <c:tickLblPos val="nextTo"/>
        <c:spPr>
          <a:ln w="8890" cap="flat">
            <a:solidFill>
              <a:srgbClr val="D1D5DB"/>
            </a:solidFill>
            <a:prstDash val="solid"/>
            <a:round/>
          </a:ln>
        </c:spPr>
        <c:txPr>
          <a:bodyPr/>
          <a:lstStyle/>
          <a:p>
            <a:pPr>
              <a:defRPr sz="1000" b="0" i="0" u="none" strike="noStrike">
                <a:solidFill>
                  <a:srgbClr val="334155"/>
                </a:solidFill>
                <a:latin typeface="Segoe UI"/>
              </a:defRPr>
            </a:pPr>
            <a:endParaRPr lang="fr-FR"/>
          </a:p>
        </c:txPr>
        <c:crossAx val="2094734552"/>
        <c:crosses val="autoZero"/>
        <c:auto val="1"/>
        <c:lblAlgn val="ctr"/>
        <c:noMultiLvlLbl val="1"/>
        <c:majorUnit val="500"/>
      </c:valAx>
      <c:valAx>
        <c:axId val="2094734552"/>
        <c:scaling>
          <c:orientation val="minMax"/>
          <c:max val="170000"/>
          <c:min val="0"/>
        </c:scaling>
        <c:delete val="0"/>
        <c:axPos val="l"/>
        <c:majorGridlines>
          <c:spPr>
            <a:ln w="7620" cap="flat">
              <a:solidFill>
                <a:srgbClr val="ECEAF0"/>
              </a:solidFill>
              <a:prstDash val="solid"/>
              <a:round/>
            </a:ln>
          </c:spPr>
        </c:majorGridlines>
        <c:title>
          <c:tx>
            <c:rich>
              <a:bodyPr/>
              <a:lstStyle/>
              <a:p>
                <a:pPr>
                  <a:defRPr sz="1200" b="0" i="0" u="none" strike="noStrike">
                    <a:solidFill>
                      <a:srgbClr val="334155"/>
                    </a:solidFill>
                    <a:latin typeface="Segoe UI"/>
                  </a:defRPr>
                </a:pPr>
                <a:r>
                  <a:rPr sz="1100" b="0" i="0" u="none" strike="noStrike">
                    <a:solidFill>
                      <a:srgbClr val="334155"/>
                    </a:solidFill>
                    <a:latin typeface="Segoe UI"/>
                  </a:rPr>
                  <a:t>Revenu annuel du ménage</a:t>
                </a:r>
              </a:p>
            </c:rich>
          </c:tx>
          <c:layout/>
          <c:overlay val="0"/>
        </c:title>
        <c:numFmt formatCode="#,##0,&quot; k&quot;" sourceLinked="0"/>
        <c:majorTickMark val="none"/>
        <c:minorTickMark val="none"/>
        <c:tickLblPos val="nextTo"/>
        <c:spPr>
          <a:ln w="8890" cap="flat">
            <a:solidFill>
              <a:srgbClr val="D1D5DB"/>
            </a:solidFill>
            <a:prstDash val="solid"/>
            <a:round/>
          </a:ln>
        </c:spPr>
        <c:txPr>
          <a:bodyPr/>
          <a:lstStyle/>
          <a:p>
            <a:pPr>
              <a:defRPr sz="1000" b="0" i="0" u="none" strike="noStrike">
                <a:solidFill>
                  <a:srgbClr val="334155"/>
                </a:solidFill>
                <a:latin typeface="Segoe UI"/>
              </a:defRPr>
            </a:pPr>
            <a:endParaRPr lang="fr-FR"/>
          </a:p>
        </c:txPr>
        <c:crossAx val="2094734554"/>
        <c:crosses val="autoZero"/>
        <c:crossBetween val="midCat"/>
        <c:majorUnit val="20000"/>
      </c:valAx>
      <c:spPr>
        <a:solidFill>
          <a:srgbClr val="FFFFFF"/>
        </a:solidFill>
        <a:ln w="12700" cap="flat">
          <a:solidFill>
            <a:srgbClr val="FFFFFF"/>
          </a:solidFill>
        </a:ln>
        <a:effectLst/>
      </c:spPr>
    </c:plotArea>
    <c:legend>
      <c:legendPos val="tr"/>
      <c:overlay val="0"/>
      <c:txPr>
        <a:bodyPr/>
        <a:lstStyle/>
        <a:p>
          <a:pPr>
            <a:defRPr sz="900">
              <a:solidFill>
                <a:srgbClr val="334155"/>
              </a:solidFill>
              <a:latin typeface="Segoe UI"/>
              <a:cs typeface="Segoe UI"/>
            </a:defRPr>
          </a:pPr>
          <a:endParaRPr lang="en-US"/>
        </a:p>
      </c:txPr>
    </c:legend>
    <c:plotVisOnly val="1"/>
    <c:dispBlanksAs val="span"/>
    <c:showDLblsOverMax val="1"/>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 réalisé en équipe de 4, ENSEA Abidjan, Data Mining, 2025. Le nom de l’auteur n’a pas été fourni. Maquette de couverture reproduite avec des objets natifs.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6.Courbe de référence : 00_variance_cumulee_acp.png. Les valeurs intermédiaires sont des lectures graphiques arrondies, faute de tableau de variance source. Les valeurs 4 composantes / 61 % et le premier franchissement du seuil de 90 % à la 13e composante suivent le prompt. Le tableau embarqué est une reconstitution et non le calcul ACP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7.Référence : 01_methode_du_coude.png. Valeurs d’inertie reconstituées par lecture du graphique, arrondies. Elles ne constituent pas les sorties exactes du notebook original. k = 4 et l’algorithme final Ward suivent le prompt fourni.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9.Effectifs exacts fournis : C0 = 600, C1 = 509, C2 = 609, C3 = 494 (total 2 212). Nuage reconstitué depuis 04_revenu_vs_depenses.png par extraction des centres de marqueurs visibles. Le recouvrement des points empêche de reconstituer les 2 212 observations : seules les positions graphiques visibles ont été reprises, avec coordonnées estimées. Ce graphique éditable est une restitution visuelle, pas une table analytique exacte. Pour recalcul ou restitution exacte, remplacer le classeur embarqué par les données originales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14.Constats qualitatifs et estimation « près de 8 clients sur 10 » issus du prompt. Aucun volume quantitatif par canal n’a été créé. Le nombre de campagnes acceptées est distinct des achats en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15.Recommandations issues du prompt, à tester par campagnes pilotes. Elles ne constituent pas des résultats d’expérimentation ou des impacts causaux mesurés.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et cinq limites reprises du prompt utilisateur. La lecture du revenu et des enfants est interprétative et ne démontre pas une causalité.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 prompt utilisateur « Texte collé(7).txt ». Présentation native éditable. Slide 17.Attributions et noms repris du document fourni. Aucun lien externe n’a été ajouté sans vérification. Les PNG fournis sont les références graphiques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D"/>
        </a:solidFill>
      </p:bgPr>
    </p:bg>
    <p:spTree>
      <p:nvGrpSpPr>
        <p:cNvPr id="1" name=""/>
        <p:cNvGrpSpPr/>
        <p:nvPr/>
      </p:nvGrpSpPr>
      <p:grpSpPr>
        <a:xfrm>
          <a:off x="0" y="0"/>
          <a:ext cx="0" cy="0"/>
          <a:chOff x="0" y="0"/>
          <a:chExt cx="0" cy="0"/>
        </a:xfrm>
      </p:grpSpPr>
      <p:sp>
        <p:nvSpPr>
          <p:cNvPr id="2" name="Text 0"/>
          <p:cNvSpPr/>
          <p:nvPr/>
        </p:nvSpPr>
        <p:spPr>
          <a:xfrm>
            <a:off x="548640" y="1188720"/>
            <a:ext cx="6876288" cy="768096"/>
          </a:xfrm>
          <a:prstGeom prst="rect">
            <a:avLst/>
          </a:prstGeom>
          <a:noFill/>
          <a:ln/>
        </p:spPr>
        <p:txBody>
          <a:bodyPr wrap="square" lIns="0" tIns="0" rIns="0" bIns="0" rtlCol="0" anchor="ctr"/>
          <a:lstStyle/>
          <a:p>
            <a:pPr indent="0" marL="0">
              <a:buNone/>
            </a:pPr>
            <a:r>
              <a:rPr lang="en-US" sz="4400" b="1" dirty="0">
                <a:solidFill>
                  <a:srgbClr val="93C5FD"/>
                </a:solidFill>
                <a:latin typeface="Aptos" pitchFamily="34" charset="0"/>
                <a:ea typeface="Segoe UI" pitchFamily="34" charset="-122"/>
                <a:cs typeface="Segoe UI" pitchFamily="34" charset="-120"/>
              </a:rPr>
              <a:t>01. Segmentation Client</a:t>
            </a:r>
            <a:endParaRPr lang="en-US" sz="4400" dirty="0"/>
          </a:p>
        </p:txBody>
      </p:sp>
      <p:sp>
        <p:nvSpPr>
          <p:cNvPr id="3" name="Text 1"/>
          <p:cNvSpPr/>
          <p:nvPr/>
        </p:nvSpPr>
        <p:spPr>
          <a:xfrm>
            <a:off x="548640" y="1965960"/>
            <a:ext cx="6492240" cy="731520"/>
          </a:xfrm>
          <a:prstGeom prst="rect">
            <a:avLst/>
          </a:prstGeom>
          <a:noFill/>
          <a:ln/>
        </p:spPr>
        <p:txBody>
          <a:bodyPr wrap="square" lIns="0" tIns="0" rIns="0" bIns="0" rtlCol="0" anchor="ctr"/>
          <a:lstStyle/>
          <a:p>
            <a:pPr indent="0" marL="0">
              <a:buNone/>
            </a:pPr>
            <a:r>
              <a:rPr lang="en-US" sz="4400" b="1" dirty="0">
                <a:solidFill>
                  <a:srgbClr val="FFFFFF"/>
                </a:solidFill>
                <a:latin typeface="Aptos" pitchFamily="34" charset="0"/>
                <a:ea typeface="Segoe UI" pitchFamily="34" charset="-122"/>
                <a:cs typeface="Segoe UI" pitchFamily="34" charset="-120"/>
              </a:rPr>
              <a:t>par Clustering</a:t>
            </a:r>
            <a:endParaRPr lang="en-US" sz="4400" dirty="0"/>
          </a:p>
        </p:txBody>
      </p:sp>
      <p:sp>
        <p:nvSpPr>
          <p:cNvPr id="4" name="Text 2"/>
          <p:cNvSpPr/>
          <p:nvPr/>
        </p:nvSpPr>
        <p:spPr>
          <a:xfrm>
            <a:off x="548640" y="2734056"/>
            <a:ext cx="6492240" cy="731520"/>
          </a:xfrm>
          <a:prstGeom prst="rect">
            <a:avLst/>
          </a:prstGeom>
          <a:noFill/>
          <a:ln/>
        </p:spPr>
        <p:txBody>
          <a:bodyPr wrap="square" lIns="0" tIns="0" rIns="0" bIns="0" rtlCol="0" anchor="ctr"/>
          <a:lstStyle/>
          <a:p>
            <a:pPr indent="0" marL="0">
              <a:buNone/>
            </a:pPr>
            <a:r>
              <a:rPr lang="en-US" sz="4400" b="1" dirty="0">
                <a:solidFill>
                  <a:srgbClr val="FFFFFF"/>
                </a:solidFill>
                <a:latin typeface="Aptos" pitchFamily="34" charset="0"/>
                <a:ea typeface="Segoe UI" pitchFamily="34" charset="-122"/>
                <a:cs typeface="Segoe UI" pitchFamily="34" charset="-120"/>
              </a:rPr>
              <a:t>Non Supervisé</a:t>
            </a:r>
            <a:endParaRPr lang="en-US" sz="4400" dirty="0"/>
          </a:p>
        </p:txBody>
      </p:sp>
      <p:sp>
        <p:nvSpPr>
          <p:cNvPr id="5" name="Text 3"/>
          <p:cNvSpPr/>
          <p:nvPr/>
        </p:nvSpPr>
        <p:spPr>
          <a:xfrm>
            <a:off x="557784" y="3675888"/>
            <a:ext cx="6766560" cy="347472"/>
          </a:xfrm>
          <a:prstGeom prst="rect">
            <a:avLst/>
          </a:prstGeom>
          <a:noFill/>
          <a:ln/>
        </p:spPr>
        <p:txBody>
          <a:bodyPr wrap="square" lIns="0" tIns="0" rIns="0" bIns="0" rtlCol="0" anchor="ctr"/>
          <a:lstStyle/>
          <a:p>
            <a:pPr indent="0" marL="0">
              <a:buNone/>
            </a:pPr>
            <a:r>
              <a:rPr lang="en-US" sz="1500" b="1" dirty="0">
                <a:solidFill>
                  <a:srgbClr val="93C5FD"/>
                </a:solidFill>
                <a:latin typeface="Aptos" pitchFamily="34" charset="0"/>
                <a:ea typeface="Segoe UI" pitchFamily="34" charset="-122"/>
                <a:cs typeface="Segoe UI" pitchFamily="34" charset="-120"/>
              </a:rPr>
              <a:t>Quatre profils observés et des hypothèses marketing à tester.</a:t>
            </a:r>
            <a:endParaRPr lang="en-US" sz="1500" dirty="0"/>
          </a:p>
        </p:txBody>
      </p:sp>
      <p:sp>
        <p:nvSpPr>
          <p:cNvPr id="6" name="Shape 4"/>
          <p:cNvSpPr/>
          <p:nvPr/>
        </p:nvSpPr>
        <p:spPr>
          <a:xfrm>
            <a:off x="566928" y="4306824"/>
            <a:ext cx="603504" cy="0"/>
          </a:xfrm>
          <a:prstGeom prst="line">
            <a:avLst/>
          </a:prstGeom>
          <a:noFill/>
          <a:ln w="25400">
            <a:solidFill>
              <a:srgbClr val="6D28D9"/>
            </a:solidFill>
            <a:prstDash val="solid"/>
          </a:ln>
        </p:spPr>
        <p:txBody>
          <a:bodyPr/>
          <a:p/>
        </p:txBody>
      </p:sp>
      <p:sp>
        <p:nvSpPr>
          <p:cNvPr id="7" name="Text 5"/>
          <p:cNvSpPr/>
          <p:nvPr/>
        </p:nvSpPr>
        <p:spPr>
          <a:xfrm>
            <a:off x="557784" y="4562856"/>
            <a:ext cx="6803136" cy="320040"/>
          </a:xfrm>
          <a:prstGeom prst="rect">
            <a:avLst/>
          </a:prstGeom>
          <a:noFill/>
          <a:ln/>
        </p:spPr>
        <p:txBody>
          <a:bodyPr wrap="square" lIns="0" tIns="0" rIns="0" bIns="0" rtlCol="0" anchor="ctr"/>
          <a:lstStyle/>
          <a:p>
            <a:pPr indent="0" marL="0">
              <a:buNone/>
            </a:pPr>
            <a:r>
              <a:rPr lang="en-US" sz="1800" b="1" dirty="0">
                <a:solidFill>
                  <a:srgbClr val="E2E8F0"/>
                </a:solidFill>
                <a:latin typeface="Aptos" pitchFamily="34" charset="0"/>
                <a:ea typeface="Segoe UI" pitchFamily="34" charset="-122"/>
                <a:cs typeface="Segoe UI" pitchFamily="34" charset="-120"/>
              </a:rPr>
              <a:t>Profilage de clientèle et hypothèses marketing</a:t>
            </a:r>
            <a:endParaRPr lang="en-US" sz="1800" dirty="0"/>
          </a:p>
        </p:txBody>
      </p:sp>
      <p:sp>
        <p:nvSpPr>
          <p:cNvPr id="8" name="Text 6"/>
          <p:cNvSpPr/>
          <p:nvPr/>
        </p:nvSpPr>
        <p:spPr>
          <a:xfrm>
            <a:off x="557784" y="4910328"/>
            <a:ext cx="6766560" cy="292608"/>
          </a:xfrm>
          <a:prstGeom prst="rect">
            <a:avLst/>
          </a:prstGeom>
          <a:noFill/>
          <a:ln/>
        </p:spPr>
        <p:txBody>
          <a:bodyPr wrap="square" lIns="0" tIns="0" rIns="0" bIns="0" rtlCol="0" anchor="ctr"/>
          <a:lstStyle/>
          <a:p>
            <a:pPr indent="0" marL="0">
              <a:buNone/>
            </a:pPr>
            <a:r>
              <a:rPr lang="en-US" sz="1600" dirty="0">
                <a:solidFill>
                  <a:srgbClr val="E2E8F0"/>
                </a:solidFill>
                <a:latin typeface="Aptos" pitchFamily="34" charset="0"/>
                <a:ea typeface="Segoe UI" pitchFamily="34" charset="-122"/>
                <a:cs typeface="Segoe UI" pitchFamily="34" charset="-120"/>
              </a:rPr>
              <a:t>Étude sur le dataset Customer Personality Analysis</a:t>
            </a:r>
            <a:endParaRPr lang="en-US" sz="1600" dirty="0"/>
          </a:p>
        </p:txBody>
      </p:sp>
      <p:sp>
        <p:nvSpPr>
          <p:cNvPr id="9" name="Shape 7"/>
          <p:cNvSpPr/>
          <p:nvPr/>
        </p:nvSpPr>
        <p:spPr>
          <a:xfrm>
            <a:off x="9061704" y="1691640"/>
            <a:ext cx="813816" cy="0"/>
          </a:xfrm>
          <a:prstGeom prst="line">
            <a:avLst/>
          </a:prstGeom>
          <a:noFill/>
          <a:ln w="17780">
            <a:solidFill>
              <a:srgbClr val="FFFFFF"/>
            </a:solidFill>
            <a:prstDash val="dash"/>
          </a:ln>
        </p:spPr>
        <p:txBody>
          <a:bodyPr/>
          <a:p/>
        </p:txBody>
      </p:sp>
      <p:sp>
        <p:nvSpPr>
          <p:cNvPr id="10" name="Shape 8"/>
          <p:cNvSpPr/>
          <p:nvPr/>
        </p:nvSpPr>
        <p:spPr>
          <a:xfrm>
            <a:off x="9061704" y="5029200"/>
            <a:ext cx="813816" cy="0"/>
          </a:xfrm>
          <a:prstGeom prst="line">
            <a:avLst/>
          </a:prstGeom>
          <a:noFill/>
          <a:ln w="17780">
            <a:solidFill>
              <a:srgbClr val="FFFFFF"/>
            </a:solidFill>
            <a:prstDash val="dash"/>
          </a:ln>
        </p:spPr>
        <p:txBody>
          <a:bodyPr/>
          <a:p/>
        </p:txBody>
      </p:sp>
      <p:sp>
        <p:nvSpPr>
          <p:cNvPr id="11" name="Shape 9"/>
          <p:cNvSpPr/>
          <p:nvPr/>
        </p:nvSpPr>
        <p:spPr>
          <a:xfrm>
            <a:off x="7772400" y="2651760"/>
            <a:ext cx="0" cy="1115568"/>
          </a:xfrm>
          <a:prstGeom prst="line">
            <a:avLst/>
          </a:prstGeom>
          <a:noFill/>
          <a:ln w="17780">
            <a:solidFill>
              <a:srgbClr val="FFFFFF"/>
            </a:solidFill>
            <a:prstDash val="dash"/>
          </a:ln>
        </p:spPr>
        <p:txBody>
          <a:bodyPr/>
          <a:p/>
        </p:txBody>
      </p:sp>
      <p:sp>
        <p:nvSpPr>
          <p:cNvPr id="12" name="Shape 10"/>
          <p:cNvSpPr/>
          <p:nvPr/>
        </p:nvSpPr>
        <p:spPr>
          <a:xfrm>
            <a:off x="11283696" y="2651760"/>
            <a:ext cx="0" cy="1115568"/>
          </a:xfrm>
          <a:prstGeom prst="line">
            <a:avLst/>
          </a:prstGeom>
          <a:noFill/>
          <a:ln w="17780">
            <a:solidFill>
              <a:srgbClr val="FFFFFF"/>
            </a:solidFill>
            <a:prstDash val="dash"/>
          </a:ln>
        </p:spPr>
        <p:txBody>
          <a:bodyPr/>
          <a:p/>
        </p:txBody>
      </p:sp>
      <p:sp>
        <p:nvSpPr>
          <p:cNvPr id="13" name="Shape 11"/>
          <p:cNvSpPr/>
          <p:nvPr/>
        </p:nvSpPr>
        <p:spPr>
          <a:xfrm>
            <a:off x="7406640" y="1170432"/>
            <a:ext cx="1901952" cy="1901952"/>
          </a:xfrm>
          <a:prstGeom prst="ellipse">
            <a:avLst/>
          </a:prstGeom>
          <a:solidFill>
            <a:srgbClr val="1D4ED8"/>
          </a:solidFill>
          <a:ln w="12700">
            <a:solidFill>
              <a:srgbClr val="1D4ED8">
                <a:alpha val="0"/>
              </a:srgbClr>
            </a:solidFill>
            <a:prstDash val="solid"/>
          </a:ln>
        </p:spPr>
        <p:txBody>
          <a:bodyPr/>
          <a:p/>
        </p:txBody>
      </p:sp>
      <p:sp>
        <p:nvSpPr>
          <p:cNvPr id="14" name="VECTOR_woman_1"/>
          <p:cNvSpPr/>
          <p:nvPr/>
        </p:nvSpPr>
        <p:spPr>
          <a:xfrm>
            <a:off x="7406640" y="1170432"/>
            <a:ext cx="1901952" cy="1901952"/>
          </a:xfrm>
          <a:custGeom>
            <a:avLst/>
            <a:gdLst/>
            <a:ahLst/>
            <a:cxnLst/>
            <a:rect l="0" t="0" r="r" b="b"/>
            <a:pathLst>
              <a:path w="100000" h="100000" fill="norm" stroke="false" extrusionOk="false">
                <a:moveTo>
                  <a:pt x="45962" y="15769"/>
                </a:moveTo>
                <a:lnTo>
                  <a:pt x="46154" y="15577"/>
                </a:lnTo>
                <a:lnTo>
                  <a:pt x="48462" y="15577"/>
                </a:lnTo>
                <a:lnTo>
                  <a:pt x="48654" y="15769"/>
                </a:lnTo>
                <a:lnTo>
                  <a:pt x="48846" y="15962"/>
                </a:lnTo>
                <a:lnTo>
                  <a:pt x="50769" y="15962"/>
                </a:lnTo>
                <a:lnTo>
                  <a:pt x="52308" y="16731"/>
                </a:lnTo>
                <a:lnTo>
                  <a:pt x="53077" y="17500"/>
                </a:lnTo>
                <a:lnTo>
                  <a:pt x="54615" y="17500"/>
                </a:lnTo>
                <a:lnTo>
                  <a:pt x="54808" y="17692"/>
                </a:lnTo>
                <a:lnTo>
                  <a:pt x="55000" y="17885"/>
                </a:lnTo>
                <a:lnTo>
                  <a:pt x="56154" y="17885"/>
                </a:lnTo>
                <a:lnTo>
                  <a:pt x="57692" y="18654"/>
                </a:lnTo>
                <a:lnTo>
                  <a:pt x="58462" y="19423"/>
                </a:lnTo>
                <a:lnTo>
                  <a:pt x="58846" y="19423"/>
                </a:lnTo>
                <a:lnTo>
                  <a:pt x="61731" y="22692"/>
                </a:lnTo>
                <a:lnTo>
                  <a:pt x="63269" y="25769"/>
                </a:lnTo>
                <a:lnTo>
                  <a:pt x="63269" y="26154"/>
                </a:lnTo>
                <a:lnTo>
                  <a:pt x="63269" y="26538"/>
                </a:lnTo>
                <a:lnTo>
                  <a:pt x="64038" y="28077"/>
                </a:lnTo>
                <a:lnTo>
                  <a:pt x="64038" y="29615"/>
                </a:lnTo>
                <a:lnTo>
                  <a:pt x="64231" y="29808"/>
                </a:lnTo>
                <a:lnTo>
                  <a:pt x="64423" y="30000"/>
                </a:lnTo>
                <a:lnTo>
                  <a:pt x="64423" y="34615"/>
                </a:lnTo>
                <a:lnTo>
                  <a:pt x="64615" y="34808"/>
                </a:lnTo>
                <a:lnTo>
                  <a:pt x="64808" y="35000"/>
                </a:lnTo>
                <a:lnTo>
                  <a:pt x="64808" y="37308"/>
                </a:lnTo>
                <a:lnTo>
                  <a:pt x="65000" y="37500"/>
                </a:lnTo>
                <a:lnTo>
                  <a:pt x="65192" y="37692"/>
                </a:lnTo>
                <a:lnTo>
                  <a:pt x="65192" y="38846"/>
                </a:lnTo>
                <a:lnTo>
                  <a:pt x="65962" y="40000"/>
                </a:lnTo>
                <a:lnTo>
                  <a:pt x="65962" y="40385"/>
                </a:lnTo>
                <a:lnTo>
                  <a:pt x="65962" y="40769"/>
                </a:lnTo>
                <a:lnTo>
                  <a:pt x="66731" y="42308"/>
                </a:lnTo>
                <a:lnTo>
                  <a:pt x="66731" y="43462"/>
                </a:lnTo>
                <a:lnTo>
                  <a:pt x="66923" y="43654"/>
                </a:lnTo>
                <a:lnTo>
                  <a:pt x="67115" y="43846"/>
                </a:lnTo>
                <a:lnTo>
                  <a:pt x="67115" y="47692"/>
                </a:lnTo>
                <a:lnTo>
                  <a:pt x="66731" y="48462"/>
                </a:lnTo>
                <a:lnTo>
                  <a:pt x="66923" y="48654"/>
                </a:lnTo>
                <a:lnTo>
                  <a:pt x="68846" y="48654"/>
                </a:lnTo>
                <a:lnTo>
                  <a:pt x="69038" y="48846"/>
                </a:lnTo>
                <a:lnTo>
                  <a:pt x="69231" y="49038"/>
                </a:lnTo>
                <a:lnTo>
                  <a:pt x="69615" y="49038"/>
                </a:lnTo>
                <a:lnTo>
                  <a:pt x="70000" y="49038"/>
                </a:lnTo>
                <a:lnTo>
                  <a:pt x="72115" y="51154"/>
                </a:lnTo>
                <a:lnTo>
                  <a:pt x="72115" y="52308"/>
                </a:lnTo>
                <a:lnTo>
                  <a:pt x="72308" y="52500"/>
                </a:lnTo>
                <a:lnTo>
                  <a:pt x="72500" y="52692"/>
                </a:lnTo>
                <a:lnTo>
                  <a:pt x="72692" y="54038"/>
                </a:lnTo>
                <a:lnTo>
                  <a:pt x="75769" y="54038"/>
                </a:lnTo>
                <a:lnTo>
                  <a:pt x="76346" y="54615"/>
                </a:lnTo>
                <a:lnTo>
                  <a:pt x="76346" y="57308"/>
                </a:lnTo>
                <a:lnTo>
                  <a:pt x="76538" y="57500"/>
                </a:lnTo>
                <a:lnTo>
                  <a:pt x="76731" y="57692"/>
                </a:lnTo>
                <a:lnTo>
                  <a:pt x="76731" y="60769"/>
                </a:lnTo>
                <a:lnTo>
                  <a:pt x="76923" y="60962"/>
                </a:lnTo>
                <a:lnTo>
                  <a:pt x="77115" y="61154"/>
                </a:lnTo>
                <a:lnTo>
                  <a:pt x="77115" y="63846"/>
                </a:lnTo>
                <a:lnTo>
                  <a:pt x="77308" y="64038"/>
                </a:lnTo>
                <a:lnTo>
                  <a:pt x="77500" y="64231"/>
                </a:lnTo>
                <a:lnTo>
                  <a:pt x="77500" y="66923"/>
                </a:lnTo>
                <a:lnTo>
                  <a:pt x="77692" y="67115"/>
                </a:lnTo>
                <a:lnTo>
                  <a:pt x="77885" y="67308"/>
                </a:lnTo>
                <a:lnTo>
                  <a:pt x="77885" y="70385"/>
                </a:lnTo>
                <a:lnTo>
                  <a:pt x="78077" y="70577"/>
                </a:lnTo>
                <a:lnTo>
                  <a:pt x="78269" y="70769"/>
                </a:lnTo>
                <a:lnTo>
                  <a:pt x="78269" y="72308"/>
                </a:lnTo>
                <a:lnTo>
                  <a:pt x="77692" y="72885"/>
                </a:lnTo>
                <a:lnTo>
                  <a:pt x="76923" y="72500"/>
                </a:lnTo>
                <a:lnTo>
                  <a:pt x="61923" y="72500"/>
                </a:lnTo>
                <a:lnTo>
                  <a:pt x="61731" y="72692"/>
                </a:lnTo>
                <a:lnTo>
                  <a:pt x="61538" y="72885"/>
                </a:lnTo>
                <a:lnTo>
                  <a:pt x="60000" y="72885"/>
                </a:lnTo>
                <a:lnTo>
                  <a:pt x="59808" y="72692"/>
                </a:lnTo>
                <a:lnTo>
                  <a:pt x="59615" y="72500"/>
                </a:lnTo>
                <a:lnTo>
                  <a:pt x="58846" y="72885"/>
                </a:lnTo>
                <a:lnTo>
                  <a:pt x="58269" y="72308"/>
                </a:lnTo>
                <a:lnTo>
                  <a:pt x="58269" y="69231"/>
                </a:lnTo>
                <a:lnTo>
                  <a:pt x="58462" y="69038"/>
                </a:lnTo>
                <a:lnTo>
                  <a:pt x="58654" y="68846"/>
                </a:lnTo>
                <a:lnTo>
                  <a:pt x="58654" y="65769"/>
                </a:lnTo>
                <a:lnTo>
                  <a:pt x="58846" y="65577"/>
                </a:lnTo>
                <a:lnTo>
                  <a:pt x="59038" y="65385"/>
                </a:lnTo>
                <a:lnTo>
                  <a:pt x="59038" y="62692"/>
                </a:lnTo>
                <a:lnTo>
                  <a:pt x="59231" y="62500"/>
                </a:lnTo>
                <a:lnTo>
                  <a:pt x="59423" y="62308"/>
                </a:lnTo>
                <a:lnTo>
                  <a:pt x="59423" y="59615"/>
                </a:lnTo>
                <a:lnTo>
                  <a:pt x="59615" y="59423"/>
                </a:lnTo>
                <a:lnTo>
                  <a:pt x="59808" y="59231"/>
                </a:lnTo>
                <a:lnTo>
                  <a:pt x="59808" y="56538"/>
                </a:lnTo>
                <a:lnTo>
                  <a:pt x="60000" y="56346"/>
                </a:lnTo>
                <a:lnTo>
                  <a:pt x="60192" y="56154"/>
                </a:lnTo>
                <a:lnTo>
                  <a:pt x="60192" y="55000"/>
                </a:lnTo>
                <a:lnTo>
                  <a:pt x="59615" y="54423"/>
                </a:lnTo>
                <a:lnTo>
                  <a:pt x="59231" y="54423"/>
                </a:lnTo>
                <a:lnTo>
                  <a:pt x="58846" y="54423"/>
                </a:lnTo>
                <a:lnTo>
                  <a:pt x="58654" y="54231"/>
                </a:lnTo>
                <a:lnTo>
                  <a:pt x="58462" y="54038"/>
                </a:lnTo>
                <a:lnTo>
                  <a:pt x="57308" y="54038"/>
                </a:lnTo>
                <a:lnTo>
                  <a:pt x="57115" y="55000"/>
                </a:lnTo>
                <a:lnTo>
                  <a:pt x="55962" y="57308"/>
                </a:lnTo>
                <a:lnTo>
                  <a:pt x="54231" y="59038"/>
                </a:lnTo>
                <a:lnTo>
                  <a:pt x="53462" y="59808"/>
                </a:lnTo>
                <a:lnTo>
                  <a:pt x="51923" y="60577"/>
                </a:lnTo>
                <a:lnTo>
                  <a:pt x="47692" y="61346"/>
                </a:lnTo>
                <a:lnTo>
                  <a:pt x="47500" y="61154"/>
                </a:lnTo>
                <a:lnTo>
                  <a:pt x="47308" y="60962"/>
                </a:lnTo>
                <a:lnTo>
                  <a:pt x="45385" y="60962"/>
                </a:lnTo>
                <a:lnTo>
                  <a:pt x="45192" y="60769"/>
                </a:lnTo>
                <a:lnTo>
                  <a:pt x="45000" y="60577"/>
                </a:lnTo>
                <a:lnTo>
                  <a:pt x="44615" y="60577"/>
                </a:lnTo>
                <a:lnTo>
                  <a:pt x="44231" y="60577"/>
                </a:lnTo>
                <a:lnTo>
                  <a:pt x="42692" y="59808"/>
                </a:lnTo>
                <a:lnTo>
                  <a:pt x="41923" y="59038"/>
                </a:lnTo>
                <a:lnTo>
                  <a:pt x="41538" y="59038"/>
                </a:lnTo>
                <a:lnTo>
                  <a:pt x="39808" y="56923"/>
                </a:lnTo>
                <a:lnTo>
                  <a:pt x="38846" y="54038"/>
                </a:lnTo>
                <a:lnTo>
                  <a:pt x="37308" y="54038"/>
                </a:lnTo>
                <a:lnTo>
                  <a:pt x="37115" y="54231"/>
                </a:lnTo>
                <a:lnTo>
                  <a:pt x="36923" y="54423"/>
                </a:lnTo>
                <a:lnTo>
                  <a:pt x="35000" y="54808"/>
                </a:lnTo>
                <a:lnTo>
                  <a:pt x="33846" y="55577"/>
                </a:lnTo>
                <a:lnTo>
                  <a:pt x="33462" y="55577"/>
                </a:lnTo>
                <a:lnTo>
                  <a:pt x="33077" y="55577"/>
                </a:lnTo>
                <a:lnTo>
                  <a:pt x="30769" y="56731"/>
                </a:lnTo>
                <a:lnTo>
                  <a:pt x="29615" y="57885"/>
                </a:lnTo>
                <a:lnTo>
                  <a:pt x="29231" y="57885"/>
                </a:lnTo>
                <a:lnTo>
                  <a:pt x="27115" y="60385"/>
                </a:lnTo>
                <a:lnTo>
                  <a:pt x="26731" y="61154"/>
                </a:lnTo>
                <a:lnTo>
                  <a:pt x="26731" y="61538"/>
                </a:lnTo>
                <a:lnTo>
                  <a:pt x="26731" y="61923"/>
                </a:lnTo>
                <a:lnTo>
                  <a:pt x="25962" y="63077"/>
                </a:lnTo>
                <a:lnTo>
                  <a:pt x="25962" y="64231"/>
                </a:lnTo>
                <a:lnTo>
                  <a:pt x="25769" y="64423"/>
                </a:lnTo>
                <a:lnTo>
                  <a:pt x="25577" y="64615"/>
                </a:lnTo>
                <a:lnTo>
                  <a:pt x="25577" y="66538"/>
                </a:lnTo>
                <a:lnTo>
                  <a:pt x="25385" y="66731"/>
                </a:lnTo>
                <a:lnTo>
                  <a:pt x="25192" y="66923"/>
                </a:lnTo>
                <a:lnTo>
                  <a:pt x="25192" y="70385"/>
                </a:lnTo>
                <a:lnTo>
                  <a:pt x="25000" y="70577"/>
                </a:lnTo>
                <a:lnTo>
                  <a:pt x="24808" y="70769"/>
                </a:lnTo>
                <a:lnTo>
                  <a:pt x="24808" y="72692"/>
                </a:lnTo>
                <a:lnTo>
                  <a:pt x="24615" y="72885"/>
                </a:lnTo>
                <a:lnTo>
                  <a:pt x="24231" y="72885"/>
                </a:lnTo>
                <a:lnTo>
                  <a:pt x="23654" y="72308"/>
                </a:lnTo>
                <a:lnTo>
                  <a:pt x="23654" y="70385"/>
                </a:lnTo>
                <a:lnTo>
                  <a:pt x="23846" y="70192"/>
                </a:lnTo>
                <a:lnTo>
                  <a:pt x="24038" y="70000"/>
                </a:lnTo>
                <a:lnTo>
                  <a:pt x="24038" y="67692"/>
                </a:lnTo>
                <a:lnTo>
                  <a:pt x="24231" y="67500"/>
                </a:lnTo>
                <a:lnTo>
                  <a:pt x="24423" y="67308"/>
                </a:lnTo>
                <a:lnTo>
                  <a:pt x="24423" y="65000"/>
                </a:lnTo>
                <a:lnTo>
                  <a:pt x="24615" y="64808"/>
                </a:lnTo>
                <a:lnTo>
                  <a:pt x="24808" y="64615"/>
                </a:lnTo>
                <a:lnTo>
                  <a:pt x="24808" y="63077"/>
                </a:lnTo>
                <a:lnTo>
                  <a:pt x="25000" y="62885"/>
                </a:lnTo>
                <a:lnTo>
                  <a:pt x="25192" y="62692"/>
                </a:lnTo>
                <a:lnTo>
                  <a:pt x="25192" y="62308"/>
                </a:lnTo>
                <a:lnTo>
                  <a:pt x="25192" y="61923"/>
                </a:lnTo>
                <a:lnTo>
                  <a:pt x="26346" y="59615"/>
                </a:lnTo>
                <a:lnTo>
                  <a:pt x="27115" y="58846"/>
                </a:lnTo>
                <a:lnTo>
                  <a:pt x="27115" y="58462"/>
                </a:lnTo>
                <a:lnTo>
                  <a:pt x="28846" y="56731"/>
                </a:lnTo>
                <a:lnTo>
                  <a:pt x="29231" y="56731"/>
                </a:lnTo>
                <a:lnTo>
                  <a:pt x="30000" y="55962"/>
                </a:lnTo>
                <a:lnTo>
                  <a:pt x="31346" y="55385"/>
                </a:lnTo>
                <a:lnTo>
                  <a:pt x="31346" y="55000"/>
                </a:lnTo>
                <a:lnTo>
                  <a:pt x="31346" y="54615"/>
                </a:lnTo>
                <a:lnTo>
                  <a:pt x="30577" y="53846"/>
                </a:lnTo>
                <a:lnTo>
                  <a:pt x="29038" y="50769"/>
                </a:lnTo>
                <a:lnTo>
                  <a:pt x="29038" y="49615"/>
                </a:lnTo>
                <a:lnTo>
                  <a:pt x="28846" y="49423"/>
                </a:lnTo>
                <a:lnTo>
                  <a:pt x="28654" y="49231"/>
                </a:lnTo>
                <a:lnTo>
                  <a:pt x="28654" y="44231"/>
                </a:lnTo>
                <a:lnTo>
                  <a:pt x="28846" y="44038"/>
                </a:lnTo>
                <a:lnTo>
                  <a:pt x="29038" y="43846"/>
                </a:lnTo>
                <a:lnTo>
                  <a:pt x="29423" y="41923"/>
                </a:lnTo>
                <a:lnTo>
                  <a:pt x="30192" y="40385"/>
                </a:lnTo>
                <a:lnTo>
                  <a:pt x="30962" y="39615"/>
                </a:lnTo>
                <a:lnTo>
                  <a:pt x="30962" y="39231"/>
                </a:lnTo>
                <a:lnTo>
                  <a:pt x="30962" y="38846"/>
                </a:lnTo>
                <a:lnTo>
                  <a:pt x="31731" y="37692"/>
                </a:lnTo>
                <a:lnTo>
                  <a:pt x="31731" y="36538"/>
                </a:lnTo>
                <a:lnTo>
                  <a:pt x="31923" y="36346"/>
                </a:lnTo>
                <a:lnTo>
                  <a:pt x="32115" y="36154"/>
                </a:lnTo>
                <a:lnTo>
                  <a:pt x="32115" y="30769"/>
                </a:lnTo>
                <a:lnTo>
                  <a:pt x="32308" y="30577"/>
                </a:lnTo>
                <a:lnTo>
                  <a:pt x="32500" y="30385"/>
                </a:lnTo>
                <a:lnTo>
                  <a:pt x="32500" y="28462"/>
                </a:lnTo>
                <a:lnTo>
                  <a:pt x="32692" y="28269"/>
                </a:lnTo>
                <a:lnTo>
                  <a:pt x="32885" y="28077"/>
                </a:lnTo>
                <a:lnTo>
                  <a:pt x="33269" y="26154"/>
                </a:lnTo>
                <a:lnTo>
                  <a:pt x="34038" y="25000"/>
                </a:lnTo>
                <a:lnTo>
                  <a:pt x="34038" y="24615"/>
                </a:lnTo>
                <a:lnTo>
                  <a:pt x="34038" y="24231"/>
                </a:lnTo>
                <a:lnTo>
                  <a:pt x="37692" y="19423"/>
                </a:lnTo>
                <a:lnTo>
                  <a:pt x="38077" y="19423"/>
                </a:lnTo>
                <a:lnTo>
                  <a:pt x="39231" y="18269"/>
                </a:lnTo>
                <a:lnTo>
                  <a:pt x="39615" y="18269"/>
                </a:lnTo>
                <a:lnTo>
                  <a:pt x="40385" y="17500"/>
                </a:lnTo>
                <a:lnTo>
                  <a:pt x="41923" y="16731"/>
                </a:lnTo>
                <a:lnTo>
                  <a:pt x="42308" y="16731"/>
                </a:lnTo>
                <a:lnTo>
                  <a:pt x="42692" y="16731"/>
                </a:lnTo>
                <a:lnTo>
                  <a:pt x="44231" y="15962"/>
                </a:lnTo>
                <a:lnTo>
                  <a:pt x="45962" y="15769"/>
                </a:lnTo>
                <a:close/>
                <a:moveTo>
                  <a:pt x="45385" y="16731"/>
                </a:moveTo>
                <a:lnTo>
                  <a:pt x="45192" y="16923"/>
                </a:lnTo>
                <a:lnTo>
                  <a:pt x="45000" y="17115"/>
                </a:lnTo>
                <a:lnTo>
                  <a:pt x="43846" y="17115"/>
                </a:lnTo>
                <a:lnTo>
                  <a:pt x="43654" y="17308"/>
                </a:lnTo>
                <a:lnTo>
                  <a:pt x="43462" y="17500"/>
                </a:lnTo>
                <a:lnTo>
                  <a:pt x="43077" y="17500"/>
                </a:lnTo>
                <a:lnTo>
                  <a:pt x="42692" y="17500"/>
                </a:lnTo>
                <a:lnTo>
                  <a:pt x="41154" y="18654"/>
                </a:lnTo>
                <a:lnTo>
                  <a:pt x="40769" y="18654"/>
                </a:lnTo>
                <a:lnTo>
                  <a:pt x="40000" y="19423"/>
                </a:lnTo>
                <a:lnTo>
                  <a:pt x="39615" y="19423"/>
                </a:lnTo>
                <a:lnTo>
                  <a:pt x="36346" y="22692"/>
                </a:lnTo>
                <a:lnTo>
                  <a:pt x="36346" y="23077"/>
                </a:lnTo>
                <a:lnTo>
                  <a:pt x="35577" y="23846"/>
                </a:lnTo>
                <a:lnTo>
                  <a:pt x="34423" y="26154"/>
                </a:lnTo>
                <a:lnTo>
                  <a:pt x="34423" y="26538"/>
                </a:lnTo>
                <a:lnTo>
                  <a:pt x="34423" y="26923"/>
                </a:lnTo>
                <a:lnTo>
                  <a:pt x="33654" y="28462"/>
                </a:lnTo>
                <a:lnTo>
                  <a:pt x="33654" y="29615"/>
                </a:lnTo>
                <a:lnTo>
                  <a:pt x="33462" y="29808"/>
                </a:lnTo>
                <a:lnTo>
                  <a:pt x="33269" y="30000"/>
                </a:lnTo>
                <a:lnTo>
                  <a:pt x="33269" y="33077"/>
                </a:lnTo>
                <a:lnTo>
                  <a:pt x="33077" y="33269"/>
                </a:lnTo>
                <a:lnTo>
                  <a:pt x="32885" y="33462"/>
                </a:lnTo>
                <a:lnTo>
                  <a:pt x="32885" y="37308"/>
                </a:lnTo>
                <a:lnTo>
                  <a:pt x="32692" y="37500"/>
                </a:lnTo>
                <a:lnTo>
                  <a:pt x="32500" y="37692"/>
                </a:lnTo>
                <a:lnTo>
                  <a:pt x="32500" y="38846"/>
                </a:lnTo>
                <a:lnTo>
                  <a:pt x="29808" y="43846"/>
                </a:lnTo>
                <a:lnTo>
                  <a:pt x="29808" y="45385"/>
                </a:lnTo>
                <a:lnTo>
                  <a:pt x="29615" y="45577"/>
                </a:lnTo>
                <a:lnTo>
                  <a:pt x="29423" y="45769"/>
                </a:lnTo>
                <a:lnTo>
                  <a:pt x="29423" y="47692"/>
                </a:lnTo>
                <a:lnTo>
                  <a:pt x="29615" y="47885"/>
                </a:lnTo>
                <a:lnTo>
                  <a:pt x="29808" y="48077"/>
                </a:lnTo>
                <a:lnTo>
                  <a:pt x="29808" y="49615"/>
                </a:lnTo>
                <a:lnTo>
                  <a:pt x="32115" y="54231"/>
                </a:lnTo>
                <a:lnTo>
                  <a:pt x="33077" y="54423"/>
                </a:lnTo>
                <a:lnTo>
                  <a:pt x="34615" y="53654"/>
                </a:lnTo>
                <a:lnTo>
                  <a:pt x="35769" y="53654"/>
                </a:lnTo>
                <a:lnTo>
                  <a:pt x="35962" y="53462"/>
                </a:lnTo>
                <a:lnTo>
                  <a:pt x="36154" y="53269"/>
                </a:lnTo>
                <a:lnTo>
                  <a:pt x="37308" y="53269"/>
                </a:lnTo>
                <a:lnTo>
                  <a:pt x="37500" y="53077"/>
                </a:lnTo>
                <a:lnTo>
                  <a:pt x="37692" y="52885"/>
                </a:lnTo>
                <a:lnTo>
                  <a:pt x="39231" y="52885"/>
                </a:lnTo>
                <a:lnTo>
                  <a:pt x="39423" y="52692"/>
                </a:lnTo>
                <a:lnTo>
                  <a:pt x="39615" y="52500"/>
                </a:lnTo>
                <a:lnTo>
                  <a:pt x="40769" y="52500"/>
                </a:lnTo>
                <a:lnTo>
                  <a:pt x="42115" y="51538"/>
                </a:lnTo>
                <a:lnTo>
                  <a:pt x="42115" y="46923"/>
                </a:lnTo>
                <a:lnTo>
                  <a:pt x="39808" y="44615"/>
                </a:lnTo>
                <a:lnTo>
                  <a:pt x="39038" y="43077"/>
                </a:lnTo>
                <a:lnTo>
                  <a:pt x="38654" y="41154"/>
                </a:lnTo>
                <a:lnTo>
                  <a:pt x="38077" y="40577"/>
                </a:lnTo>
                <a:lnTo>
                  <a:pt x="36923" y="40192"/>
                </a:lnTo>
                <a:lnTo>
                  <a:pt x="35962" y="39231"/>
                </a:lnTo>
                <a:lnTo>
                  <a:pt x="35577" y="38462"/>
                </a:lnTo>
                <a:lnTo>
                  <a:pt x="35577" y="35769"/>
                </a:lnTo>
                <a:lnTo>
                  <a:pt x="36923" y="34423"/>
                </a:lnTo>
                <a:lnTo>
                  <a:pt x="39615" y="34423"/>
                </a:lnTo>
                <a:lnTo>
                  <a:pt x="39808" y="34231"/>
                </a:lnTo>
                <a:lnTo>
                  <a:pt x="40000" y="34038"/>
                </a:lnTo>
                <a:lnTo>
                  <a:pt x="41923" y="33654"/>
                </a:lnTo>
                <a:lnTo>
                  <a:pt x="44231" y="32500"/>
                </a:lnTo>
                <a:lnTo>
                  <a:pt x="45000" y="31731"/>
                </a:lnTo>
                <a:lnTo>
                  <a:pt x="45385" y="31731"/>
                </a:lnTo>
                <a:lnTo>
                  <a:pt x="49038" y="28077"/>
                </a:lnTo>
                <a:lnTo>
                  <a:pt x="49038" y="27692"/>
                </a:lnTo>
                <a:lnTo>
                  <a:pt x="49808" y="26923"/>
                </a:lnTo>
                <a:lnTo>
                  <a:pt x="50769" y="24808"/>
                </a:lnTo>
                <a:lnTo>
                  <a:pt x="50962" y="24615"/>
                </a:lnTo>
                <a:lnTo>
                  <a:pt x="50962" y="24231"/>
                </a:lnTo>
                <a:lnTo>
                  <a:pt x="51154" y="24038"/>
                </a:lnTo>
                <a:lnTo>
                  <a:pt x="51346" y="24231"/>
                </a:lnTo>
                <a:lnTo>
                  <a:pt x="51346" y="24615"/>
                </a:lnTo>
                <a:lnTo>
                  <a:pt x="51346" y="25000"/>
                </a:lnTo>
                <a:lnTo>
                  <a:pt x="51538" y="25192"/>
                </a:lnTo>
                <a:lnTo>
                  <a:pt x="51731" y="25385"/>
                </a:lnTo>
                <a:lnTo>
                  <a:pt x="51731" y="26538"/>
                </a:lnTo>
                <a:lnTo>
                  <a:pt x="51923" y="26731"/>
                </a:lnTo>
                <a:lnTo>
                  <a:pt x="52115" y="26923"/>
                </a:lnTo>
                <a:lnTo>
                  <a:pt x="52115" y="27308"/>
                </a:lnTo>
                <a:lnTo>
                  <a:pt x="52115" y="27692"/>
                </a:lnTo>
                <a:lnTo>
                  <a:pt x="53269" y="30000"/>
                </a:lnTo>
                <a:lnTo>
                  <a:pt x="56538" y="33269"/>
                </a:lnTo>
                <a:lnTo>
                  <a:pt x="58846" y="34423"/>
                </a:lnTo>
                <a:lnTo>
                  <a:pt x="59231" y="34423"/>
                </a:lnTo>
                <a:lnTo>
                  <a:pt x="59615" y="34423"/>
                </a:lnTo>
                <a:lnTo>
                  <a:pt x="60385" y="34808"/>
                </a:lnTo>
                <a:lnTo>
                  <a:pt x="60962" y="35769"/>
                </a:lnTo>
                <a:lnTo>
                  <a:pt x="60962" y="38462"/>
                </a:lnTo>
                <a:lnTo>
                  <a:pt x="60577" y="39231"/>
                </a:lnTo>
                <a:lnTo>
                  <a:pt x="59231" y="40577"/>
                </a:lnTo>
                <a:lnTo>
                  <a:pt x="57885" y="41154"/>
                </a:lnTo>
                <a:lnTo>
                  <a:pt x="57885" y="41538"/>
                </a:lnTo>
                <a:lnTo>
                  <a:pt x="57885" y="41923"/>
                </a:lnTo>
                <a:lnTo>
                  <a:pt x="56346" y="45000"/>
                </a:lnTo>
                <a:lnTo>
                  <a:pt x="54038" y="47308"/>
                </a:lnTo>
                <a:lnTo>
                  <a:pt x="54038" y="50769"/>
                </a:lnTo>
                <a:lnTo>
                  <a:pt x="54423" y="51538"/>
                </a:lnTo>
                <a:lnTo>
                  <a:pt x="55000" y="52115"/>
                </a:lnTo>
                <a:lnTo>
                  <a:pt x="55385" y="52115"/>
                </a:lnTo>
                <a:lnTo>
                  <a:pt x="55769" y="52115"/>
                </a:lnTo>
                <a:lnTo>
                  <a:pt x="55962" y="52308"/>
                </a:lnTo>
                <a:lnTo>
                  <a:pt x="56154" y="52500"/>
                </a:lnTo>
                <a:lnTo>
                  <a:pt x="56538" y="52500"/>
                </a:lnTo>
                <a:lnTo>
                  <a:pt x="56923" y="52500"/>
                </a:lnTo>
                <a:lnTo>
                  <a:pt x="57115" y="52692"/>
                </a:lnTo>
                <a:lnTo>
                  <a:pt x="57308" y="52885"/>
                </a:lnTo>
                <a:lnTo>
                  <a:pt x="59231" y="53269"/>
                </a:lnTo>
                <a:lnTo>
                  <a:pt x="60385" y="54038"/>
                </a:lnTo>
                <a:lnTo>
                  <a:pt x="63462" y="54038"/>
                </a:lnTo>
                <a:lnTo>
                  <a:pt x="64038" y="51154"/>
                </a:lnTo>
                <a:lnTo>
                  <a:pt x="64423" y="50385"/>
                </a:lnTo>
                <a:lnTo>
                  <a:pt x="65962" y="48846"/>
                </a:lnTo>
                <a:lnTo>
                  <a:pt x="65962" y="43462"/>
                </a:lnTo>
                <a:lnTo>
                  <a:pt x="65769" y="43269"/>
                </a:lnTo>
                <a:lnTo>
                  <a:pt x="65577" y="43077"/>
                </a:lnTo>
                <a:lnTo>
                  <a:pt x="65577" y="42692"/>
                </a:lnTo>
                <a:lnTo>
                  <a:pt x="65577" y="42308"/>
                </a:lnTo>
                <a:lnTo>
                  <a:pt x="65385" y="42115"/>
                </a:lnTo>
                <a:lnTo>
                  <a:pt x="65192" y="41923"/>
                </a:lnTo>
                <a:lnTo>
                  <a:pt x="65192" y="41538"/>
                </a:lnTo>
                <a:lnTo>
                  <a:pt x="65192" y="41154"/>
                </a:lnTo>
                <a:lnTo>
                  <a:pt x="64423" y="39615"/>
                </a:lnTo>
                <a:lnTo>
                  <a:pt x="64038" y="36923"/>
                </a:lnTo>
                <a:lnTo>
                  <a:pt x="63846" y="36731"/>
                </a:lnTo>
                <a:lnTo>
                  <a:pt x="63654" y="36538"/>
                </a:lnTo>
                <a:lnTo>
                  <a:pt x="63654" y="31538"/>
                </a:lnTo>
                <a:lnTo>
                  <a:pt x="63462" y="31346"/>
                </a:lnTo>
                <a:lnTo>
                  <a:pt x="63269" y="31154"/>
                </a:lnTo>
                <a:lnTo>
                  <a:pt x="63269" y="29231"/>
                </a:lnTo>
                <a:lnTo>
                  <a:pt x="63077" y="29038"/>
                </a:lnTo>
                <a:lnTo>
                  <a:pt x="62885" y="28846"/>
                </a:lnTo>
                <a:lnTo>
                  <a:pt x="62500" y="26923"/>
                </a:lnTo>
                <a:lnTo>
                  <a:pt x="60577" y="23077"/>
                </a:lnTo>
                <a:lnTo>
                  <a:pt x="59423" y="21923"/>
                </a:lnTo>
                <a:lnTo>
                  <a:pt x="59423" y="21538"/>
                </a:lnTo>
                <a:lnTo>
                  <a:pt x="56923" y="19423"/>
                </a:lnTo>
                <a:lnTo>
                  <a:pt x="56154" y="19038"/>
                </a:lnTo>
                <a:lnTo>
                  <a:pt x="55769" y="19038"/>
                </a:lnTo>
                <a:lnTo>
                  <a:pt x="55385" y="19038"/>
                </a:lnTo>
                <a:lnTo>
                  <a:pt x="55192" y="18846"/>
                </a:lnTo>
                <a:lnTo>
                  <a:pt x="55000" y="18654"/>
                </a:lnTo>
                <a:lnTo>
                  <a:pt x="53077" y="18654"/>
                </a:lnTo>
                <a:lnTo>
                  <a:pt x="52308" y="17885"/>
                </a:lnTo>
                <a:lnTo>
                  <a:pt x="50769" y="17115"/>
                </a:lnTo>
                <a:lnTo>
                  <a:pt x="49615" y="17115"/>
                </a:lnTo>
                <a:lnTo>
                  <a:pt x="49423" y="16923"/>
                </a:lnTo>
                <a:lnTo>
                  <a:pt x="49231" y="16731"/>
                </a:lnTo>
                <a:lnTo>
                  <a:pt x="45385" y="16731"/>
                </a:lnTo>
                <a:close/>
                <a:moveTo>
                  <a:pt x="50769" y="27500"/>
                </a:moveTo>
                <a:lnTo>
                  <a:pt x="46538" y="32115"/>
                </a:lnTo>
                <a:lnTo>
                  <a:pt x="46154" y="32115"/>
                </a:lnTo>
                <a:lnTo>
                  <a:pt x="44231" y="33654"/>
                </a:lnTo>
                <a:lnTo>
                  <a:pt x="43462" y="34038"/>
                </a:lnTo>
                <a:lnTo>
                  <a:pt x="43077" y="34038"/>
                </a:lnTo>
                <a:lnTo>
                  <a:pt x="42692" y="34038"/>
                </a:lnTo>
                <a:lnTo>
                  <a:pt x="41538" y="34808"/>
                </a:lnTo>
                <a:lnTo>
                  <a:pt x="40385" y="34808"/>
                </a:lnTo>
                <a:lnTo>
                  <a:pt x="40192" y="35000"/>
                </a:lnTo>
                <a:lnTo>
                  <a:pt x="40000" y="35192"/>
                </a:lnTo>
                <a:lnTo>
                  <a:pt x="38654" y="35385"/>
                </a:lnTo>
                <a:lnTo>
                  <a:pt x="38654" y="38462"/>
                </a:lnTo>
                <a:lnTo>
                  <a:pt x="38846" y="38654"/>
                </a:lnTo>
                <a:lnTo>
                  <a:pt x="39038" y="38846"/>
                </a:lnTo>
                <a:lnTo>
                  <a:pt x="39038" y="40385"/>
                </a:lnTo>
                <a:lnTo>
                  <a:pt x="39231" y="40577"/>
                </a:lnTo>
                <a:lnTo>
                  <a:pt x="39423" y="40769"/>
                </a:lnTo>
                <a:lnTo>
                  <a:pt x="39423" y="41154"/>
                </a:lnTo>
                <a:lnTo>
                  <a:pt x="39423" y="41538"/>
                </a:lnTo>
                <a:lnTo>
                  <a:pt x="40577" y="43846"/>
                </a:lnTo>
                <a:lnTo>
                  <a:pt x="42692" y="46346"/>
                </a:lnTo>
                <a:lnTo>
                  <a:pt x="43077" y="46346"/>
                </a:lnTo>
                <a:lnTo>
                  <a:pt x="43846" y="47115"/>
                </a:lnTo>
                <a:lnTo>
                  <a:pt x="46154" y="48269"/>
                </a:lnTo>
                <a:lnTo>
                  <a:pt x="48846" y="48654"/>
                </a:lnTo>
                <a:lnTo>
                  <a:pt x="49038" y="48462"/>
                </a:lnTo>
                <a:lnTo>
                  <a:pt x="49231" y="48269"/>
                </a:lnTo>
                <a:lnTo>
                  <a:pt x="51154" y="47885"/>
                </a:lnTo>
                <a:lnTo>
                  <a:pt x="52692" y="46731"/>
                </a:lnTo>
                <a:lnTo>
                  <a:pt x="53077" y="46731"/>
                </a:lnTo>
                <a:lnTo>
                  <a:pt x="55962" y="43846"/>
                </a:lnTo>
                <a:lnTo>
                  <a:pt x="56731" y="42308"/>
                </a:lnTo>
                <a:lnTo>
                  <a:pt x="56731" y="41923"/>
                </a:lnTo>
                <a:lnTo>
                  <a:pt x="56731" y="41538"/>
                </a:lnTo>
                <a:lnTo>
                  <a:pt x="56923" y="41346"/>
                </a:lnTo>
                <a:lnTo>
                  <a:pt x="57115" y="41154"/>
                </a:lnTo>
                <a:lnTo>
                  <a:pt x="57115" y="40000"/>
                </a:lnTo>
                <a:lnTo>
                  <a:pt x="57308" y="39808"/>
                </a:lnTo>
                <a:lnTo>
                  <a:pt x="57500" y="39615"/>
                </a:lnTo>
                <a:lnTo>
                  <a:pt x="57500" y="38462"/>
                </a:lnTo>
                <a:lnTo>
                  <a:pt x="57692" y="38269"/>
                </a:lnTo>
                <a:lnTo>
                  <a:pt x="57885" y="38077"/>
                </a:lnTo>
                <a:lnTo>
                  <a:pt x="57885" y="35000"/>
                </a:lnTo>
                <a:lnTo>
                  <a:pt x="57308" y="34423"/>
                </a:lnTo>
                <a:lnTo>
                  <a:pt x="55000" y="33269"/>
                </a:lnTo>
                <a:lnTo>
                  <a:pt x="52885" y="31154"/>
                </a:lnTo>
                <a:lnTo>
                  <a:pt x="52885" y="30769"/>
                </a:lnTo>
                <a:lnTo>
                  <a:pt x="52115" y="30000"/>
                </a:lnTo>
                <a:lnTo>
                  <a:pt x="51346" y="28462"/>
                </a:lnTo>
                <a:lnTo>
                  <a:pt x="51346" y="28077"/>
                </a:lnTo>
                <a:lnTo>
                  <a:pt x="51346" y="27692"/>
                </a:lnTo>
                <a:lnTo>
                  <a:pt x="51154" y="27500"/>
                </a:lnTo>
                <a:lnTo>
                  <a:pt x="50769" y="27500"/>
                </a:lnTo>
                <a:close/>
                <a:moveTo>
                  <a:pt x="37308" y="35192"/>
                </a:moveTo>
                <a:lnTo>
                  <a:pt x="36346" y="36538"/>
                </a:lnTo>
                <a:lnTo>
                  <a:pt x="36346" y="37692"/>
                </a:lnTo>
                <a:lnTo>
                  <a:pt x="37308" y="39423"/>
                </a:lnTo>
                <a:lnTo>
                  <a:pt x="38269" y="39231"/>
                </a:lnTo>
                <a:lnTo>
                  <a:pt x="38077" y="39038"/>
                </a:lnTo>
                <a:lnTo>
                  <a:pt x="37885" y="38846"/>
                </a:lnTo>
                <a:lnTo>
                  <a:pt x="37885" y="35769"/>
                </a:lnTo>
                <a:lnTo>
                  <a:pt x="37308" y="35192"/>
                </a:lnTo>
                <a:close/>
                <a:moveTo>
                  <a:pt x="59231" y="35577"/>
                </a:moveTo>
                <a:lnTo>
                  <a:pt x="59038" y="36923"/>
                </a:lnTo>
                <a:lnTo>
                  <a:pt x="58846" y="37115"/>
                </a:lnTo>
                <a:lnTo>
                  <a:pt x="58654" y="37308"/>
                </a:lnTo>
                <a:lnTo>
                  <a:pt x="58654" y="39231"/>
                </a:lnTo>
                <a:lnTo>
                  <a:pt x="58846" y="39423"/>
                </a:lnTo>
                <a:lnTo>
                  <a:pt x="59231" y="39423"/>
                </a:lnTo>
                <a:lnTo>
                  <a:pt x="59423" y="39231"/>
                </a:lnTo>
                <a:lnTo>
                  <a:pt x="60192" y="37692"/>
                </a:lnTo>
                <a:lnTo>
                  <a:pt x="60192" y="36154"/>
                </a:lnTo>
                <a:lnTo>
                  <a:pt x="59615" y="35577"/>
                </a:lnTo>
                <a:lnTo>
                  <a:pt x="59231" y="35577"/>
                </a:lnTo>
                <a:close/>
                <a:moveTo>
                  <a:pt x="43462" y="47885"/>
                </a:moveTo>
                <a:lnTo>
                  <a:pt x="42885" y="48462"/>
                </a:lnTo>
                <a:lnTo>
                  <a:pt x="42885" y="51538"/>
                </a:lnTo>
                <a:lnTo>
                  <a:pt x="42500" y="52308"/>
                </a:lnTo>
                <a:lnTo>
                  <a:pt x="41538" y="53269"/>
                </a:lnTo>
                <a:lnTo>
                  <a:pt x="41154" y="53269"/>
                </a:lnTo>
                <a:lnTo>
                  <a:pt x="40769" y="53269"/>
                </a:lnTo>
                <a:lnTo>
                  <a:pt x="39808" y="53846"/>
                </a:lnTo>
                <a:lnTo>
                  <a:pt x="40192" y="54615"/>
                </a:lnTo>
                <a:lnTo>
                  <a:pt x="40192" y="55000"/>
                </a:lnTo>
                <a:lnTo>
                  <a:pt x="40192" y="55385"/>
                </a:lnTo>
                <a:lnTo>
                  <a:pt x="40962" y="56154"/>
                </a:lnTo>
                <a:lnTo>
                  <a:pt x="40962" y="56538"/>
                </a:lnTo>
                <a:lnTo>
                  <a:pt x="43846" y="59423"/>
                </a:lnTo>
                <a:lnTo>
                  <a:pt x="44231" y="59423"/>
                </a:lnTo>
                <a:lnTo>
                  <a:pt x="44615" y="59423"/>
                </a:lnTo>
                <a:lnTo>
                  <a:pt x="46154" y="60192"/>
                </a:lnTo>
                <a:lnTo>
                  <a:pt x="49615" y="60192"/>
                </a:lnTo>
                <a:lnTo>
                  <a:pt x="49808" y="60000"/>
                </a:lnTo>
                <a:lnTo>
                  <a:pt x="50000" y="59808"/>
                </a:lnTo>
                <a:lnTo>
                  <a:pt x="51154" y="59808"/>
                </a:lnTo>
                <a:lnTo>
                  <a:pt x="52692" y="59038"/>
                </a:lnTo>
                <a:lnTo>
                  <a:pt x="53846" y="57885"/>
                </a:lnTo>
                <a:lnTo>
                  <a:pt x="54231" y="57885"/>
                </a:lnTo>
                <a:lnTo>
                  <a:pt x="54423" y="57692"/>
                </a:lnTo>
                <a:lnTo>
                  <a:pt x="54423" y="57308"/>
                </a:lnTo>
                <a:lnTo>
                  <a:pt x="55577" y="56154"/>
                </a:lnTo>
                <a:lnTo>
                  <a:pt x="56346" y="54615"/>
                </a:lnTo>
                <a:lnTo>
                  <a:pt x="56346" y="54231"/>
                </a:lnTo>
                <a:lnTo>
                  <a:pt x="56346" y="53846"/>
                </a:lnTo>
                <a:lnTo>
                  <a:pt x="55769" y="53269"/>
                </a:lnTo>
                <a:lnTo>
                  <a:pt x="55385" y="53269"/>
                </a:lnTo>
                <a:lnTo>
                  <a:pt x="55000" y="53269"/>
                </a:lnTo>
                <a:lnTo>
                  <a:pt x="53654" y="52308"/>
                </a:lnTo>
                <a:lnTo>
                  <a:pt x="53654" y="50385"/>
                </a:lnTo>
                <a:lnTo>
                  <a:pt x="53462" y="50192"/>
                </a:lnTo>
                <a:lnTo>
                  <a:pt x="53269" y="50000"/>
                </a:lnTo>
                <a:lnTo>
                  <a:pt x="53269" y="48462"/>
                </a:lnTo>
                <a:lnTo>
                  <a:pt x="52308" y="48269"/>
                </a:lnTo>
                <a:lnTo>
                  <a:pt x="51154" y="49038"/>
                </a:lnTo>
                <a:lnTo>
                  <a:pt x="50000" y="49038"/>
                </a:lnTo>
                <a:lnTo>
                  <a:pt x="49808" y="49231"/>
                </a:lnTo>
                <a:lnTo>
                  <a:pt x="49615" y="49423"/>
                </a:lnTo>
                <a:lnTo>
                  <a:pt x="46538" y="49423"/>
                </a:lnTo>
                <a:lnTo>
                  <a:pt x="43462" y="47885"/>
                </a:lnTo>
                <a:close/>
                <a:moveTo>
                  <a:pt x="66923" y="49808"/>
                </a:moveTo>
                <a:lnTo>
                  <a:pt x="66154" y="50192"/>
                </a:lnTo>
                <a:lnTo>
                  <a:pt x="64808" y="51538"/>
                </a:lnTo>
                <a:lnTo>
                  <a:pt x="64808" y="53077"/>
                </a:lnTo>
                <a:lnTo>
                  <a:pt x="64615" y="53269"/>
                </a:lnTo>
                <a:lnTo>
                  <a:pt x="64423" y="53462"/>
                </a:lnTo>
                <a:lnTo>
                  <a:pt x="65000" y="54038"/>
                </a:lnTo>
                <a:lnTo>
                  <a:pt x="68846" y="54038"/>
                </a:lnTo>
                <a:lnTo>
                  <a:pt x="71154" y="54038"/>
                </a:lnTo>
                <a:lnTo>
                  <a:pt x="71346" y="52308"/>
                </a:lnTo>
                <a:lnTo>
                  <a:pt x="70577" y="50769"/>
                </a:lnTo>
                <a:lnTo>
                  <a:pt x="70000" y="50192"/>
                </a:lnTo>
                <a:lnTo>
                  <a:pt x="69231" y="49808"/>
                </a:lnTo>
                <a:lnTo>
                  <a:pt x="66923" y="49808"/>
                </a:lnTo>
                <a:close/>
                <a:moveTo>
                  <a:pt x="61154" y="55192"/>
                </a:moveTo>
                <a:lnTo>
                  <a:pt x="60962" y="55385"/>
                </a:lnTo>
                <a:lnTo>
                  <a:pt x="60962" y="57692"/>
                </a:lnTo>
                <a:lnTo>
                  <a:pt x="60769" y="57885"/>
                </a:lnTo>
                <a:lnTo>
                  <a:pt x="60577" y="58077"/>
                </a:lnTo>
                <a:lnTo>
                  <a:pt x="60577" y="61154"/>
                </a:lnTo>
                <a:lnTo>
                  <a:pt x="60385" y="61346"/>
                </a:lnTo>
                <a:lnTo>
                  <a:pt x="60192" y="61538"/>
                </a:lnTo>
                <a:lnTo>
                  <a:pt x="60192" y="63846"/>
                </a:lnTo>
                <a:lnTo>
                  <a:pt x="60000" y="64038"/>
                </a:lnTo>
                <a:lnTo>
                  <a:pt x="59808" y="64231"/>
                </a:lnTo>
                <a:lnTo>
                  <a:pt x="59808" y="67308"/>
                </a:lnTo>
                <a:lnTo>
                  <a:pt x="59615" y="67500"/>
                </a:lnTo>
                <a:lnTo>
                  <a:pt x="59423" y="67692"/>
                </a:lnTo>
                <a:lnTo>
                  <a:pt x="59423" y="70769"/>
                </a:lnTo>
                <a:lnTo>
                  <a:pt x="59231" y="70962"/>
                </a:lnTo>
                <a:lnTo>
                  <a:pt x="59038" y="71154"/>
                </a:lnTo>
                <a:lnTo>
                  <a:pt x="59615" y="71731"/>
                </a:lnTo>
                <a:lnTo>
                  <a:pt x="76923" y="71731"/>
                </a:lnTo>
                <a:lnTo>
                  <a:pt x="77115" y="70000"/>
                </a:lnTo>
                <a:lnTo>
                  <a:pt x="76923" y="69808"/>
                </a:lnTo>
                <a:lnTo>
                  <a:pt x="76731" y="69615"/>
                </a:lnTo>
                <a:lnTo>
                  <a:pt x="76731" y="68077"/>
                </a:lnTo>
                <a:lnTo>
                  <a:pt x="76731" y="66923"/>
                </a:lnTo>
                <a:lnTo>
                  <a:pt x="76538" y="66731"/>
                </a:lnTo>
                <a:lnTo>
                  <a:pt x="76346" y="66538"/>
                </a:lnTo>
                <a:lnTo>
                  <a:pt x="76346" y="63462"/>
                </a:lnTo>
                <a:lnTo>
                  <a:pt x="76154" y="63269"/>
                </a:lnTo>
                <a:lnTo>
                  <a:pt x="75962" y="63077"/>
                </a:lnTo>
                <a:lnTo>
                  <a:pt x="75962" y="60000"/>
                </a:lnTo>
                <a:lnTo>
                  <a:pt x="75769" y="59808"/>
                </a:lnTo>
                <a:lnTo>
                  <a:pt x="75577" y="59615"/>
                </a:lnTo>
                <a:lnTo>
                  <a:pt x="75577" y="56538"/>
                </a:lnTo>
                <a:lnTo>
                  <a:pt x="75385" y="56346"/>
                </a:lnTo>
                <a:lnTo>
                  <a:pt x="75192" y="56154"/>
                </a:lnTo>
                <a:lnTo>
                  <a:pt x="75000" y="55192"/>
                </a:lnTo>
                <a:lnTo>
                  <a:pt x="72692" y="55192"/>
                </a:lnTo>
                <a:lnTo>
                  <a:pt x="72500" y="55385"/>
                </a:lnTo>
                <a:lnTo>
                  <a:pt x="72500" y="57692"/>
                </a:lnTo>
                <a:lnTo>
                  <a:pt x="71923" y="58269"/>
                </a:lnTo>
                <a:lnTo>
                  <a:pt x="71538" y="58269"/>
                </a:lnTo>
                <a:lnTo>
                  <a:pt x="71346" y="58077"/>
                </a:lnTo>
                <a:lnTo>
                  <a:pt x="71346" y="55385"/>
                </a:lnTo>
                <a:lnTo>
                  <a:pt x="71154" y="55192"/>
                </a:lnTo>
                <a:lnTo>
                  <a:pt x="65000" y="55192"/>
                </a:lnTo>
                <a:lnTo>
                  <a:pt x="64423" y="55769"/>
                </a:lnTo>
                <a:lnTo>
                  <a:pt x="64423" y="58077"/>
                </a:lnTo>
                <a:lnTo>
                  <a:pt x="64231" y="58269"/>
                </a:lnTo>
                <a:lnTo>
                  <a:pt x="63654" y="57692"/>
                </a:lnTo>
                <a:lnTo>
                  <a:pt x="63654" y="55385"/>
                </a:lnTo>
                <a:lnTo>
                  <a:pt x="63462" y="55192"/>
                </a:lnTo>
                <a:lnTo>
                  <a:pt x="61154" y="55192"/>
                </a:lnTo>
                <a:close/>
              </a:path>
            </a:pathLst>
          </a:custGeom>
          <a:solidFill>
            <a:srgbClr val="FFFFFF"/>
          </a:solidFill>
          <a:ln>
            <a:noFill/>
          </a:ln>
        </p:spPr>
        <p:txBody>
          <a:bodyPr/>
          <a:p/>
        </p:txBody>
      </p:sp>
      <p:sp>
        <p:nvSpPr>
          <p:cNvPr id="15" name="Shape 13"/>
          <p:cNvSpPr/>
          <p:nvPr/>
        </p:nvSpPr>
        <p:spPr>
          <a:xfrm>
            <a:off x="9848088" y="1170432"/>
            <a:ext cx="1901952" cy="1901952"/>
          </a:xfrm>
          <a:prstGeom prst="ellipse">
            <a:avLst/>
          </a:prstGeom>
          <a:solidFill>
            <a:srgbClr val="0F766E"/>
          </a:solidFill>
          <a:ln w="12700">
            <a:solidFill>
              <a:srgbClr val="0F766E">
                <a:alpha val="0"/>
              </a:srgbClr>
            </a:solidFill>
            <a:prstDash val="solid"/>
          </a:ln>
        </p:spPr>
        <p:txBody>
          <a:bodyPr/>
          <a:p/>
        </p:txBody>
      </p:sp>
      <p:sp>
        <p:nvSpPr>
          <p:cNvPr id="16" name="VECTOR_man_2"/>
          <p:cNvSpPr/>
          <p:nvPr/>
        </p:nvSpPr>
        <p:spPr>
          <a:xfrm>
            <a:off x="9848088" y="1170432"/>
            <a:ext cx="1901952" cy="1901952"/>
          </a:xfrm>
          <a:custGeom>
            <a:avLst/>
            <a:gdLst/>
            <a:ahLst/>
            <a:cxnLst/>
            <a:rect l="0" t="0" r="r" b="b"/>
            <a:pathLst>
              <a:path w="100000" h="100000" fill="norm" stroke="false" extrusionOk="false">
                <a:moveTo>
                  <a:pt x="45962" y="16154"/>
                </a:moveTo>
                <a:lnTo>
                  <a:pt x="46154" y="15962"/>
                </a:lnTo>
                <a:lnTo>
                  <a:pt x="51154" y="15962"/>
                </a:lnTo>
                <a:lnTo>
                  <a:pt x="51346" y="16154"/>
                </a:lnTo>
                <a:lnTo>
                  <a:pt x="51538" y="16346"/>
                </a:lnTo>
                <a:lnTo>
                  <a:pt x="52692" y="16346"/>
                </a:lnTo>
                <a:lnTo>
                  <a:pt x="52885" y="16538"/>
                </a:lnTo>
                <a:lnTo>
                  <a:pt x="53077" y="16731"/>
                </a:lnTo>
                <a:lnTo>
                  <a:pt x="54615" y="16731"/>
                </a:lnTo>
                <a:lnTo>
                  <a:pt x="54808" y="16923"/>
                </a:lnTo>
                <a:lnTo>
                  <a:pt x="55000" y="17115"/>
                </a:lnTo>
                <a:lnTo>
                  <a:pt x="56923" y="17115"/>
                </a:lnTo>
                <a:lnTo>
                  <a:pt x="57115" y="16923"/>
                </a:lnTo>
                <a:lnTo>
                  <a:pt x="57308" y="16731"/>
                </a:lnTo>
                <a:lnTo>
                  <a:pt x="60000" y="16346"/>
                </a:lnTo>
                <a:lnTo>
                  <a:pt x="60962" y="17692"/>
                </a:lnTo>
                <a:lnTo>
                  <a:pt x="61346" y="20385"/>
                </a:lnTo>
                <a:lnTo>
                  <a:pt x="61538" y="20577"/>
                </a:lnTo>
                <a:lnTo>
                  <a:pt x="61923" y="20577"/>
                </a:lnTo>
                <a:lnTo>
                  <a:pt x="62115" y="20385"/>
                </a:lnTo>
                <a:lnTo>
                  <a:pt x="62308" y="20192"/>
                </a:lnTo>
                <a:lnTo>
                  <a:pt x="62885" y="20769"/>
                </a:lnTo>
                <a:lnTo>
                  <a:pt x="62885" y="21154"/>
                </a:lnTo>
                <a:lnTo>
                  <a:pt x="62885" y="21538"/>
                </a:lnTo>
                <a:lnTo>
                  <a:pt x="62692" y="21731"/>
                </a:lnTo>
                <a:lnTo>
                  <a:pt x="62500" y="21923"/>
                </a:lnTo>
                <a:lnTo>
                  <a:pt x="62500" y="23077"/>
                </a:lnTo>
                <a:lnTo>
                  <a:pt x="63269" y="23846"/>
                </a:lnTo>
                <a:lnTo>
                  <a:pt x="63269" y="24231"/>
                </a:lnTo>
                <a:lnTo>
                  <a:pt x="63269" y="24615"/>
                </a:lnTo>
                <a:lnTo>
                  <a:pt x="63462" y="24808"/>
                </a:lnTo>
                <a:lnTo>
                  <a:pt x="63654" y="25000"/>
                </a:lnTo>
                <a:lnTo>
                  <a:pt x="63654" y="29615"/>
                </a:lnTo>
                <a:lnTo>
                  <a:pt x="63462" y="29808"/>
                </a:lnTo>
                <a:lnTo>
                  <a:pt x="63269" y="30000"/>
                </a:lnTo>
                <a:lnTo>
                  <a:pt x="63269" y="31538"/>
                </a:lnTo>
                <a:lnTo>
                  <a:pt x="63077" y="31731"/>
                </a:lnTo>
                <a:lnTo>
                  <a:pt x="62885" y="31923"/>
                </a:lnTo>
                <a:lnTo>
                  <a:pt x="62885" y="33462"/>
                </a:lnTo>
                <a:lnTo>
                  <a:pt x="62500" y="34231"/>
                </a:lnTo>
                <a:lnTo>
                  <a:pt x="63077" y="34808"/>
                </a:lnTo>
                <a:lnTo>
                  <a:pt x="63462" y="34808"/>
                </a:lnTo>
                <a:lnTo>
                  <a:pt x="64423" y="36154"/>
                </a:lnTo>
                <a:lnTo>
                  <a:pt x="64423" y="40000"/>
                </a:lnTo>
                <a:lnTo>
                  <a:pt x="64038" y="40769"/>
                </a:lnTo>
                <a:lnTo>
                  <a:pt x="62308" y="42500"/>
                </a:lnTo>
                <a:lnTo>
                  <a:pt x="61154" y="42500"/>
                </a:lnTo>
                <a:lnTo>
                  <a:pt x="60577" y="43077"/>
                </a:lnTo>
                <a:lnTo>
                  <a:pt x="60577" y="43462"/>
                </a:lnTo>
                <a:lnTo>
                  <a:pt x="60577" y="43846"/>
                </a:lnTo>
                <a:lnTo>
                  <a:pt x="59808" y="45000"/>
                </a:lnTo>
                <a:lnTo>
                  <a:pt x="59808" y="45385"/>
                </a:lnTo>
                <a:lnTo>
                  <a:pt x="59808" y="45769"/>
                </a:lnTo>
                <a:lnTo>
                  <a:pt x="59423" y="46538"/>
                </a:lnTo>
                <a:lnTo>
                  <a:pt x="57115" y="49231"/>
                </a:lnTo>
                <a:lnTo>
                  <a:pt x="57308" y="49423"/>
                </a:lnTo>
                <a:lnTo>
                  <a:pt x="57500" y="49615"/>
                </a:lnTo>
                <a:lnTo>
                  <a:pt x="57500" y="52308"/>
                </a:lnTo>
                <a:lnTo>
                  <a:pt x="58077" y="52885"/>
                </a:lnTo>
                <a:lnTo>
                  <a:pt x="58462" y="52885"/>
                </a:lnTo>
                <a:lnTo>
                  <a:pt x="61154" y="55962"/>
                </a:lnTo>
                <a:lnTo>
                  <a:pt x="61538" y="55962"/>
                </a:lnTo>
                <a:lnTo>
                  <a:pt x="61923" y="55962"/>
                </a:lnTo>
                <a:lnTo>
                  <a:pt x="62115" y="56154"/>
                </a:lnTo>
                <a:lnTo>
                  <a:pt x="62308" y="56346"/>
                </a:lnTo>
                <a:lnTo>
                  <a:pt x="62692" y="56346"/>
                </a:lnTo>
                <a:lnTo>
                  <a:pt x="63077" y="56346"/>
                </a:lnTo>
                <a:lnTo>
                  <a:pt x="63269" y="56538"/>
                </a:lnTo>
                <a:lnTo>
                  <a:pt x="63462" y="56731"/>
                </a:lnTo>
                <a:lnTo>
                  <a:pt x="63846" y="56731"/>
                </a:lnTo>
                <a:lnTo>
                  <a:pt x="64231" y="56731"/>
                </a:lnTo>
                <a:lnTo>
                  <a:pt x="64423" y="56923"/>
                </a:lnTo>
                <a:lnTo>
                  <a:pt x="64615" y="57115"/>
                </a:lnTo>
                <a:lnTo>
                  <a:pt x="65000" y="57115"/>
                </a:lnTo>
                <a:lnTo>
                  <a:pt x="65385" y="57115"/>
                </a:lnTo>
                <a:lnTo>
                  <a:pt x="65577" y="57308"/>
                </a:lnTo>
                <a:lnTo>
                  <a:pt x="65769" y="57500"/>
                </a:lnTo>
                <a:lnTo>
                  <a:pt x="67692" y="57885"/>
                </a:lnTo>
                <a:lnTo>
                  <a:pt x="71538" y="59808"/>
                </a:lnTo>
                <a:lnTo>
                  <a:pt x="74038" y="62308"/>
                </a:lnTo>
                <a:lnTo>
                  <a:pt x="75577" y="65385"/>
                </a:lnTo>
                <a:lnTo>
                  <a:pt x="75577" y="65769"/>
                </a:lnTo>
                <a:lnTo>
                  <a:pt x="75577" y="66154"/>
                </a:lnTo>
                <a:lnTo>
                  <a:pt x="75769" y="66346"/>
                </a:lnTo>
                <a:lnTo>
                  <a:pt x="75962" y="66538"/>
                </a:lnTo>
                <a:lnTo>
                  <a:pt x="75962" y="67692"/>
                </a:lnTo>
                <a:lnTo>
                  <a:pt x="76154" y="67885"/>
                </a:lnTo>
                <a:lnTo>
                  <a:pt x="76346" y="68077"/>
                </a:lnTo>
                <a:lnTo>
                  <a:pt x="76346" y="70385"/>
                </a:lnTo>
                <a:lnTo>
                  <a:pt x="76538" y="70577"/>
                </a:lnTo>
                <a:lnTo>
                  <a:pt x="76731" y="70769"/>
                </a:lnTo>
                <a:lnTo>
                  <a:pt x="76731" y="72308"/>
                </a:lnTo>
                <a:lnTo>
                  <a:pt x="76154" y="72885"/>
                </a:lnTo>
                <a:lnTo>
                  <a:pt x="75577" y="72308"/>
                </a:lnTo>
                <a:lnTo>
                  <a:pt x="75577" y="70769"/>
                </a:lnTo>
                <a:lnTo>
                  <a:pt x="75385" y="70577"/>
                </a:lnTo>
                <a:lnTo>
                  <a:pt x="75192" y="70385"/>
                </a:lnTo>
                <a:lnTo>
                  <a:pt x="75192" y="68462"/>
                </a:lnTo>
                <a:lnTo>
                  <a:pt x="75000" y="68269"/>
                </a:lnTo>
                <a:lnTo>
                  <a:pt x="74808" y="68077"/>
                </a:lnTo>
                <a:lnTo>
                  <a:pt x="74808" y="66538"/>
                </a:lnTo>
                <a:lnTo>
                  <a:pt x="74615" y="66346"/>
                </a:lnTo>
                <a:lnTo>
                  <a:pt x="74423" y="66154"/>
                </a:lnTo>
                <a:lnTo>
                  <a:pt x="74423" y="65769"/>
                </a:lnTo>
                <a:lnTo>
                  <a:pt x="74423" y="65385"/>
                </a:lnTo>
                <a:lnTo>
                  <a:pt x="73654" y="63846"/>
                </a:lnTo>
                <a:lnTo>
                  <a:pt x="71154" y="60962"/>
                </a:lnTo>
                <a:lnTo>
                  <a:pt x="70769" y="60962"/>
                </a:lnTo>
                <a:lnTo>
                  <a:pt x="70000" y="60192"/>
                </a:lnTo>
                <a:lnTo>
                  <a:pt x="68462" y="59423"/>
                </a:lnTo>
                <a:lnTo>
                  <a:pt x="68077" y="59423"/>
                </a:lnTo>
                <a:lnTo>
                  <a:pt x="67692" y="59423"/>
                </a:lnTo>
                <a:lnTo>
                  <a:pt x="66538" y="58654"/>
                </a:lnTo>
                <a:lnTo>
                  <a:pt x="66154" y="58654"/>
                </a:lnTo>
                <a:lnTo>
                  <a:pt x="65769" y="58654"/>
                </a:lnTo>
                <a:lnTo>
                  <a:pt x="65577" y="58462"/>
                </a:lnTo>
                <a:lnTo>
                  <a:pt x="65385" y="58269"/>
                </a:lnTo>
                <a:lnTo>
                  <a:pt x="63462" y="57885"/>
                </a:lnTo>
                <a:lnTo>
                  <a:pt x="62308" y="57115"/>
                </a:lnTo>
                <a:lnTo>
                  <a:pt x="61154" y="57115"/>
                </a:lnTo>
                <a:lnTo>
                  <a:pt x="60577" y="57692"/>
                </a:lnTo>
                <a:lnTo>
                  <a:pt x="57500" y="63846"/>
                </a:lnTo>
                <a:lnTo>
                  <a:pt x="57500" y="64231"/>
                </a:lnTo>
                <a:lnTo>
                  <a:pt x="57500" y="64615"/>
                </a:lnTo>
                <a:lnTo>
                  <a:pt x="56923" y="65192"/>
                </a:lnTo>
                <a:lnTo>
                  <a:pt x="56538" y="65192"/>
                </a:lnTo>
                <a:lnTo>
                  <a:pt x="56154" y="65192"/>
                </a:lnTo>
                <a:lnTo>
                  <a:pt x="55385" y="64423"/>
                </a:lnTo>
                <a:lnTo>
                  <a:pt x="55000" y="64423"/>
                </a:lnTo>
                <a:lnTo>
                  <a:pt x="53077" y="62500"/>
                </a:lnTo>
                <a:lnTo>
                  <a:pt x="52692" y="62500"/>
                </a:lnTo>
                <a:lnTo>
                  <a:pt x="51538" y="61346"/>
                </a:lnTo>
                <a:lnTo>
                  <a:pt x="50769" y="60962"/>
                </a:lnTo>
                <a:lnTo>
                  <a:pt x="50385" y="60962"/>
                </a:lnTo>
                <a:lnTo>
                  <a:pt x="50192" y="61154"/>
                </a:lnTo>
                <a:lnTo>
                  <a:pt x="50192" y="63846"/>
                </a:lnTo>
                <a:lnTo>
                  <a:pt x="50192" y="64231"/>
                </a:lnTo>
                <a:lnTo>
                  <a:pt x="50192" y="64615"/>
                </a:lnTo>
                <a:lnTo>
                  <a:pt x="50385" y="64808"/>
                </a:lnTo>
                <a:lnTo>
                  <a:pt x="50577" y="65000"/>
                </a:lnTo>
                <a:lnTo>
                  <a:pt x="50577" y="66538"/>
                </a:lnTo>
                <a:lnTo>
                  <a:pt x="50192" y="67308"/>
                </a:lnTo>
                <a:lnTo>
                  <a:pt x="50385" y="67500"/>
                </a:lnTo>
                <a:lnTo>
                  <a:pt x="50577" y="67692"/>
                </a:lnTo>
                <a:lnTo>
                  <a:pt x="50000" y="68269"/>
                </a:lnTo>
                <a:lnTo>
                  <a:pt x="49615" y="68269"/>
                </a:lnTo>
                <a:lnTo>
                  <a:pt x="49038" y="67692"/>
                </a:lnTo>
                <a:lnTo>
                  <a:pt x="49038" y="64615"/>
                </a:lnTo>
                <a:lnTo>
                  <a:pt x="49231" y="64423"/>
                </a:lnTo>
                <a:lnTo>
                  <a:pt x="49423" y="64231"/>
                </a:lnTo>
                <a:lnTo>
                  <a:pt x="49423" y="61538"/>
                </a:lnTo>
                <a:lnTo>
                  <a:pt x="48846" y="60962"/>
                </a:lnTo>
                <a:lnTo>
                  <a:pt x="48077" y="61731"/>
                </a:lnTo>
                <a:lnTo>
                  <a:pt x="47692" y="61731"/>
                </a:lnTo>
                <a:lnTo>
                  <a:pt x="45385" y="64038"/>
                </a:lnTo>
                <a:lnTo>
                  <a:pt x="45000" y="64038"/>
                </a:lnTo>
                <a:lnTo>
                  <a:pt x="43846" y="65192"/>
                </a:lnTo>
                <a:lnTo>
                  <a:pt x="43462" y="65192"/>
                </a:lnTo>
                <a:lnTo>
                  <a:pt x="42500" y="64231"/>
                </a:lnTo>
                <a:lnTo>
                  <a:pt x="39038" y="57308"/>
                </a:lnTo>
                <a:lnTo>
                  <a:pt x="37692" y="57115"/>
                </a:lnTo>
                <a:lnTo>
                  <a:pt x="35385" y="58269"/>
                </a:lnTo>
                <a:lnTo>
                  <a:pt x="33462" y="58654"/>
                </a:lnTo>
                <a:lnTo>
                  <a:pt x="31538" y="59808"/>
                </a:lnTo>
                <a:lnTo>
                  <a:pt x="31154" y="59808"/>
                </a:lnTo>
                <a:lnTo>
                  <a:pt x="30769" y="59808"/>
                </a:lnTo>
                <a:lnTo>
                  <a:pt x="30000" y="60577"/>
                </a:lnTo>
                <a:lnTo>
                  <a:pt x="29615" y="60577"/>
                </a:lnTo>
                <a:lnTo>
                  <a:pt x="26346" y="63846"/>
                </a:lnTo>
                <a:lnTo>
                  <a:pt x="25192" y="66154"/>
                </a:lnTo>
                <a:lnTo>
                  <a:pt x="25192" y="66538"/>
                </a:lnTo>
                <a:lnTo>
                  <a:pt x="25192" y="66923"/>
                </a:lnTo>
                <a:lnTo>
                  <a:pt x="25000" y="67115"/>
                </a:lnTo>
                <a:lnTo>
                  <a:pt x="24808" y="67308"/>
                </a:lnTo>
                <a:lnTo>
                  <a:pt x="24808" y="68462"/>
                </a:lnTo>
                <a:lnTo>
                  <a:pt x="24615" y="68654"/>
                </a:lnTo>
                <a:lnTo>
                  <a:pt x="24423" y="68846"/>
                </a:lnTo>
                <a:lnTo>
                  <a:pt x="24423" y="72308"/>
                </a:lnTo>
                <a:lnTo>
                  <a:pt x="23846" y="72885"/>
                </a:lnTo>
                <a:lnTo>
                  <a:pt x="23462" y="72885"/>
                </a:lnTo>
                <a:lnTo>
                  <a:pt x="23269" y="72692"/>
                </a:lnTo>
                <a:lnTo>
                  <a:pt x="23269" y="69231"/>
                </a:lnTo>
                <a:lnTo>
                  <a:pt x="23462" y="69038"/>
                </a:lnTo>
                <a:lnTo>
                  <a:pt x="23654" y="68846"/>
                </a:lnTo>
                <a:lnTo>
                  <a:pt x="24038" y="66154"/>
                </a:lnTo>
                <a:lnTo>
                  <a:pt x="25962" y="62308"/>
                </a:lnTo>
                <a:lnTo>
                  <a:pt x="28077" y="60192"/>
                </a:lnTo>
                <a:lnTo>
                  <a:pt x="28462" y="60192"/>
                </a:lnTo>
                <a:lnTo>
                  <a:pt x="29231" y="59423"/>
                </a:lnTo>
                <a:lnTo>
                  <a:pt x="31538" y="58269"/>
                </a:lnTo>
                <a:lnTo>
                  <a:pt x="31923" y="58269"/>
                </a:lnTo>
                <a:lnTo>
                  <a:pt x="32308" y="58269"/>
                </a:lnTo>
                <a:lnTo>
                  <a:pt x="35385" y="56731"/>
                </a:lnTo>
                <a:lnTo>
                  <a:pt x="36538" y="56731"/>
                </a:lnTo>
                <a:lnTo>
                  <a:pt x="36731" y="56538"/>
                </a:lnTo>
                <a:lnTo>
                  <a:pt x="36923" y="56346"/>
                </a:lnTo>
                <a:lnTo>
                  <a:pt x="38846" y="55962"/>
                </a:lnTo>
                <a:lnTo>
                  <a:pt x="40192" y="54231"/>
                </a:lnTo>
                <a:lnTo>
                  <a:pt x="40192" y="53846"/>
                </a:lnTo>
                <a:lnTo>
                  <a:pt x="41923" y="52115"/>
                </a:lnTo>
                <a:lnTo>
                  <a:pt x="42308" y="52115"/>
                </a:lnTo>
                <a:lnTo>
                  <a:pt x="42500" y="51923"/>
                </a:lnTo>
                <a:lnTo>
                  <a:pt x="42500" y="49231"/>
                </a:lnTo>
                <a:lnTo>
                  <a:pt x="40962" y="47692"/>
                </a:lnTo>
                <a:lnTo>
                  <a:pt x="39423" y="44615"/>
                </a:lnTo>
                <a:lnTo>
                  <a:pt x="39423" y="44231"/>
                </a:lnTo>
                <a:lnTo>
                  <a:pt x="39423" y="43846"/>
                </a:lnTo>
                <a:lnTo>
                  <a:pt x="39038" y="43077"/>
                </a:lnTo>
                <a:lnTo>
                  <a:pt x="38462" y="42500"/>
                </a:lnTo>
                <a:lnTo>
                  <a:pt x="38077" y="42500"/>
                </a:lnTo>
                <a:lnTo>
                  <a:pt x="37692" y="42500"/>
                </a:lnTo>
                <a:lnTo>
                  <a:pt x="35577" y="40385"/>
                </a:lnTo>
                <a:lnTo>
                  <a:pt x="35192" y="39615"/>
                </a:lnTo>
                <a:lnTo>
                  <a:pt x="35192" y="36538"/>
                </a:lnTo>
                <a:lnTo>
                  <a:pt x="35577" y="35769"/>
                </a:lnTo>
                <a:lnTo>
                  <a:pt x="36923" y="34423"/>
                </a:lnTo>
                <a:lnTo>
                  <a:pt x="37308" y="34423"/>
                </a:lnTo>
                <a:lnTo>
                  <a:pt x="37500" y="34231"/>
                </a:lnTo>
                <a:lnTo>
                  <a:pt x="37500" y="33846"/>
                </a:lnTo>
                <a:lnTo>
                  <a:pt x="37500" y="33462"/>
                </a:lnTo>
                <a:lnTo>
                  <a:pt x="37308" y="33269"/>
                </a:lnTo>
                <a:lnTo>
                  <a:pt x="37115" y="33077"/>
                </a:lnTo>
                <a:lnTo>
                  <a:pt x="37115" y="31538"/>
                </a:lnTo>
                <a:lnTo>
                  <a:pt x="36923" y="31346"/>
                </a:lnTo>
                <a:lnTo>
                  <a:pt x="36731" y="31154"/>
                </a:lnTo>
                <a:lnTo>
                  <a:pt x="36731" y="28846"/>
                </a:lnTo>
                <a:lnTo>
                  <a:pt x="36538" y="28654"/>
                </a:lnTo>
                <a:lnTo>
                  <a:pt x="36346" y="28462"/>
                </a:lnTo>
                <a:lnTo>
                  <a:pt x="36346" y="24231"/>
                </a:lnTo>
                <a:lnTo>
                  <a:pt x="36538" y="24038"/>
                </a:lnTo>
                <a:lnTo>
                  <a:pt x="36731" y="23846"/>
                </a:lnTo>
                <a:lnTo>
                  <a:pt x="36731" y="23462"/>
                </a:lnTo>
                <a:lnTo>
                  <a:pt x="36731" y="23077"/>
                </a:lnTo>
                <a:lnTo>
                  <a:pt x="38462" y="21346"/>
                </a:lnTo>
                <a:lnTo>
                  <a:pt x="39615" y="21346"/>
                </a:lnTo>
                <a:lnTo>
                  <a:pt x="40192" y="20769"/>
                </a:lnTo>
                <a:lnTo>
                  <a:pt x="40192" y="20385"/>
                </a:lnTo>
                <a:lnTo>
                  <a:pt x="40192" y="20000"/>
                </a:lnTo>
                <a:lnTo>
                  <a:pt x="40577" y="19231"/>
                </a:lnTo>
                <a:lnTo>
                  <a:pt x="42308" y="17500"/>
                </a:lnTo>
                <a:lnTo>
                  <a:pt x="44615" y="16346"/>
                </a:lnTo>
                <a:lnTo>
                  <a:pt x="45962" y="16154"/>
                </a:lnTo>
                <a:close/>
                <a:moveTo>
                  <a:pt x="45769" y="17115"/>
                </a:moveTo>
                <a:lnTo>
                  <a:pt x="45577" y="17308"/>
                </a:lnTo>
                <a:lnTo>
                  <a:pt x="45385" y="17500"/>
                </a:lnTo>
                <a:lnTo>
                  <a:pt x="45000" y="17500"/>
                </a:lnTo>
                <a:lnTo>
                  <a:pt x="44615" y="17500"/>
                </a:lnTo>
                <a:lnTo>
                  <a:pt x="43077" y="18269"/>
                </a:lnTo>
                <a:lnTo>
                  <a:pt x="41731" y="19615"/>
                </a:lnTo>
                <a:lnTo>
                  <a:pt x="40962" y="21154"/>
                </a:lnTo>
                <a:lnTo>
                  <a:pt x="40962" y="21538"/>
                </a:lnTo>
                <a:lnTo>
                  <a:pt x="40962" y="21923"/>
                </a:lnTo>
                <a:lnTo>
                  <a:pt x="39615" y="22115"/>
                </a:lnTo>
                <a:lnTo>
                  <a:pt x="37885" y="23462"/>
                </a:lnTo>
                <a:lnTo>
                  <a:pt x="37500" y="24231"/>
                </a:lnTo>
                <a:lnTo>
                  <a:pt x="37500" y="28462"/>
                </a:lnTo>
                <a:lnTo>
                  <a:pt x="37692" y="28654"/>
                </a:lnTo>
                <a:lnTo>
                  <a:pt x="37885" y="28846"/>
                </a:lnTo>
                <a:lnTo>
                  <a:pt x="37885" y="30769"/>
                </a:lnTo>
                <a:lnTo>
                  <a:pt x="38077" y="30962"/>
                </a:lnTo>
                <a:lnTo>
                  <a:pt x="38269" y="31154"/>
                </a:lnTo>
                <a:lnTo>
                  <a:pt x="38269" y="32308"/>
                </a:lnTo>
                <a:lnTo>
                  <a:pt x="38462" y="32500"/>
                </a:lnTo>
                <a:lnTo>
                  <a:pt x="38846" y="32500"/>
                </a:lnTo>
                <a:lnTo>
                  <a:pt x="39038" y="32308"/>
                </a:lnTo>
                <a:lnTo>
                  <a:pt x="39038" y="31923"/>
                </a:lnTo>
                <a:lnTo>
                  <a:pt x="39038" y="31538"/>
                </a:lnTo>
                <a:lnTo>
                  <a:pt x="40192" y="29615"/>
                </a:lnTo>
                <a:lnTo>
                  <a:pt x="40192" y="29231"/>
                </a:lnTo>
                <a:lnTo>
                  <a:pt x="40192" y="28846"/>
                </a:lnTo>
                <a:lnTo>
                  <a:pt x="40385" y="28654"/>
                </a:lnTo>
                <a:lnTo>
                  <a:pt x="40577" y="28462"/>
                </a:lnTo>
                <a:lnTo>
                  <a:pt x="40577" y="28077"/>
                </a:lnTo>
                <a:lnTo>
                  <a:pt x="40577" y="27692"/>
                </a:lnTo>
                <a:lnTo>
                  <a:pt x="40962" y="26923"/>
                </a:lnTo>
                <a:lnTo>
                  <a:pt x="42692" y="25577"/>
                </a:lnTo>
                <a:lnTo>
                  <a:pt x="43846" y="25577"/>
                </a:lnTo>
                <a:lnTo>
                  <a:pt x="44038" y="25769"/>
                </a:lnTo>
                <a:lnTo>
                  <a:pt x="44231" y="25962"/>
                </a:lnTo>
                <a:lnTo>
                  <a:pt x="44615" y="25962"/>
                </a:lnTo>
                <a:lnTo>
                  <a:pt x="45000" y="25962"/>
                </a:lnTo>
                <a:lnTo>
                  <a:pt x="46538" y="26731"/>
                </a:lnTo>
                <a:lnTo>
                  <a:pt x="47692" y="26731"/>
                </a:lnTo>
                <a:lnTo>
                  <a:pt x="47885" y="26923"/>
                </a:lnTo>
                <a:lnTo>
                  <a:pt x="48077" y="27115"/>
                </a:lnTo>
                <a:lnTo>
                  <a:pt x="52308" y="27115"/>
                </a:lnTo>
                <a:lnTo>
                  <a:pt x="52500" y="26923"/>
                </a:lnTo>
                <a:lnTo>
                  <a:pt x="52692" y="26731"/>
                </a:lnTo>
                <a:lnTo>
                  <a:pt x="54615" y="26731"/>
                </a:lnTo>
                <a:lnTo>
                  <a:pt x="54808" y="26538"/>
                </a:lnTo>
                <a:lnTo>
                  <a:pt x="55000" y="26346"/>
                </a:lnTo>
                <a:lnTo>
                  <a:pt x="56923" y="25962"/>
                </a:lnTo>
                <a:lnTo>
                  <a:pt x="59231" y="24808"/>
                </a:lnTo>
                <a:lnTo>
                  <a:pt x="60962" y="23077"/>
                </a:lnTo>
                <a:lnTo>
                  <a:pt x="60962" y="22692"/>
                </a:lnTo>
                <a:lnTo>
                  <a:pt x="61731" y="21923"/>
                </a:lnTo>
                <a:lnTo>
                  <a:pt x="60577" y="21154"/>
                </a:lnTo>
                <a:lnTo>
                  <a:pt x="60192" y="20385"/>
                </a:lnTo>
                <a:lnTo>
                  <a:pt x="60192" y="20000"/>
                </a:lnTo>
                <a:lnTo>
                  <a:pt x="60192" y="19615"/>
                </a:lnTo>
                <a:lnTo>
                  <a:pt x="60000" y="19423"/>
                </a:lnTo>
                <a:lnTo>
                  <a:pt x="59808" y="19231"/>
                </a:lnTo>
                <a:lnTo>
                  <a:pt x="59808" y="18846"/>
                </a:lnTo>
                <a:lnTo>
                  <a:pt x="59808" y="18462"/>
                </a:lnTo>
                <a:lnTo>
                  <a:pt x="59231" y="17500"/>
                </a:lnTo>
                <a:lnTo>
                  <a:pt x="58462" y="17885"/>
                </a:lnTo>
                <a:lnTo>
                  <a:pt x="56538" y="17885"/>
                </a:lnTo>
                <a:lnTo>
                  <a:pt x="56346" y="18077"/>
                </a:lnTo>
                <a:lnTo>
                  <a:pt x="56154" y="18269"/>
                </a:lnTo>
                <a:lnTo>
                  <a:pt x="55769" y="18269"/>
                </a:lnTo>
                <a:lnTo>
                  <a:pt x="55385" y="18269"/>
                </a:lnTo>
                <a:lnTo>
                  <a:pt x="55192" y="18077"/>
                </a:lnTo>
                <a:lnTo>
                  <a:pt x="55000" y="17885"/>
                </a:lnTo>
                <a:lnTo>
                  <a:pt x="53462" y="17885"/>
                </a:lnTo>
                <a:lnTo>
                  <a:pt x="53269" y="17692"/>
                </a:lnTo>
                <a:lnTo>
                  <a:pt x="53077" y="17500"/>
                </a:lnTo>
                <a:lnTo>
                  <a:pt x="51923" y="17500"/>
                </a:lnTo>
                <a:lnTo>
                  <a:pt x="51731" y="17308"/>
                </a:lnTo>
                <a:lnTo>
                  <a:pt x="51538" y="17115"/>
                </a:lnTo>
                <a:lnTo>
                  <a:pt x="45769" y="17115"/>
                </a:lnTo>
                <a:close/>
                <a:moveTo>
                  <a:pt x="61538" y="24038"/>
                </a:moveTo>
                <a:lnTo>
                  <a:pt x="59615" y="25962"/>
                </a:lnTo>
                <a:lnTo>
                  <a:pt x="59231" y="25962"/>
                </a:lnTo>
                <a:lnTo>
                  <a:pt x="59038" y="26154"/>
                </a:lnTo>
                <a:lnTo>
                  <a:pt x="59038" y="27692"/>
                </a:lnTo>
                <a:lnTo>
                  <a:pt x="60192" y="30000"/>
                </a:lnTo>
                <a:lnTo>
                  <a:pt x="60192" y="30385"/>
                </a:lnTo>
                <a:lnTo>
                  <a:pt x="60192" y="30769"/>
                </a:lnTo>
                <a:lnTo>
                  <a:pt x="60385" y="30962"/>
                </a:lnTo>
                <a:lnTo>
                  <a:pt x="60577" y="31154"/>
                </a:lnTo>
                <a:lnTo>
                  <a:pt x="60577" y="31538"/>
                </a:lnTo>
                <a:lnTo>
                  <a:pt x="60577" y="31923"/>
                </a:lnTo>
                <a:lnTo>
                  <a:pt x="60962" y="32692"/>
                </a:lnTo>
                <a:lnTo>
                  <a:pt x="60962" y="33077"/>
                </a:lnTo>
                <a:lnTo>
                  <a:pt x="60962" y="33462"/>
                </a:lnTo>
                <a:lnTo>
                  <a:pt x="61154" y="33654"/>
                </a:lnTo>
                <a:lnTo>
                  <a:pt x="61538" y="33654"/>
                </a:lnTo>
                <a:lnTo>
                  <a:pt x="61731" y="33462"/>
                </a:lnTo>
                <a:lnTo>
                  <a:pt x="61731" y="33077"/>
                </a:lnTo>
                <a:lnTo>
                  <a:pt x="61731" y="32692"/>
                </a:lnTo>
                <a:lnTo>
                  <a:pt x="61923" y="32500"/>
                </a:lnTo>
                <a:lnTo>
                  <a:pt x="62115" y="32308"/>
                </a:lnTo>
                <a:lnTo>
                  <a:pt x="62115" y="30769"/>
                </a:lnTo>
                <a:lnTo>
                  <a:pt x="62308" y="30577"/>
                </a:lnTo>
                <a:lnTo>
                  <a:pt x="62500" y="30385"/>
                </a:lnTo>
                <a:lnTo>
                  <a:pt x="62500" y="25385"/>
                </a:lnTo>
                <a:lnTo>
                  <a:pt x="62308" y="25192"/>
                </a:lnTo>
                <a:lnTo>
                  <a:pt x="62115" y="25000"/>
                </a:lnTo>
                <a:lnTo>
                  <a:pt x="62115" y="24615"/>
                </a:lnTo>
                <a:lnTo>
                  <a:pt x="62115" y="24231"/>
                </a:lnTo>
                <a:lnTo>
                  <a:pt x="61923" y="24038"/>
                </a:lnTo>
                <a:lnTo>
                  <a:pt x="61538" y="24038"/>
                </a:lnTo>
                <a:close/>
                <a:moveTo>
                  <a:pt x="42692" y="26731"/>
                </a:moveTo>
                <a:lnTo>
                  <a:pt x="42115" y="27308"/>
                </a:lnTo>
                <a:lnTo>
                  <a:pt x="41731" y="28077"/>
                </a:lnTo>
                <a:lnTo>
                  <a:pt x="41731" y="28462"/>
                </a:lnTo>
                <a:lnTo>
                  <a:pt x="41731" y="28846"/>
                </a:lnTo>
                <a:lnTo>
                  <a:pt x="40192" y="31538"/>
                </a:lnTo>
                <a:lnTo>
                  <a:pt x="40192" y="31923"/>
                </a:lnTo>
                <a:lnTo>
                  <a:pt x="40192" y="32308"/>
                </a:lnTo>
                <a:lnTo>
                  <a:pt x="40000" y="32500"/>
                </a:lnTo>
                <a:lnTo>
                  <a:pt x="39808" y="32692"/>
                </a:lnTo>
                <a:lnTo>
                  <a:pt x="39808" y="33077"/>
                </a:lnTo>
                <a:lnTo>
                  <a:pt x="39808" y="33462"/>
                </a:lnTo>
                <a:lnTo>
                  <a:pt x="39038" y="35000"/>
                </a:lnTo>
                <a:lnTo>
                  <a:pt x="39038" y="35385"/>
                </a:lnTo>
                <a:lnTo>
                  <a:pt x="40000" y="36346"/>
                </a:lnTo>
                <a:lnTo>
                  <a:pt x="40385" y="36346"/>
                </a:lnTo>
                <a:lnTo>
                  <a:pt x="40962" y="35769"/>
                </a:lnTo>
                <a:lnTo>
                  <a:pt x="40962" y="35385"/>
                </a:lnTo>
                <a:lnTo>
                  <a:pt x="40962" y="35000"/>
                </a:lnTo>
                <a:lnTo>
                  <a:pt x="41346" y="34231"/>
                </a:lnTo>
                <a:lnTo>
                  <a:pt x="41923" y="33654"/>
                </a:lnTo>
                <a:lnTo>
                  <a:pt x="43462" y="32885"/>
                </a:lnTo>
                <a:lnTo>
                  <a:pt x="45769" y="32885"/>
                </a:lnTo>
                <a:lnTo>
                  <a:pt x="46538" y="33269"/>
                </a:lnTo>
                <a:lnTo>
                  <a:pt x="48269" y="35000"/>
                </a:lnTo>
                <a:lnTo>
                  <a:pt x="48269" y="35385"/>
                </a:lnTo>
                <a:lnTo>
                  <a:pt x="48846" y="35962"/>
                </a:lnTo>
                <a:lnTo>
                  <a:pt x="51154" y="35962"/>
                </a:lnTo>
                <a:lnTo>
                  <a:pt x="51731" y="34615"/>
                </a:lnTo>
                <a:lnTo>
                  <a:pt x="52692" y="33654"/>
                </a:lnTo>
                <a:lnTo>
                  <a:pt x="54231" y="32885"/>
                </a:lnTo>
                <a:lnTo>
                  <a:pt x="54615" y="32885"/>
                </a:lnTo>
                <a:lnTo>
                  <a:pt x="55000" y="32885"/>
                </a:lnTo>
                <a:lnTo>
                  <a:pt x="56154" y="32885"/>
                </a:lnTo>
                <a:lnTo>
                  <a:pt x="57692" y="33654"/>
                </a:lnTo>
                <a:lnTo>
                  <a:pt x="58654" y="34615"/>
                </a:lnTo>
                <a:lnTo>
                  <a:pt x="58654" y="35000"/>
                </a:lnTo>
                <a:lnTo>
                  <a:pt x="58654" y="35385"/>
                </a:lnTo>
                <a:lnTo>
                  <a:pt x="59231" y="35962"/>
                </a:lnTo>
                <a:lnTo>
                  <a:pt x="60577" y="35385"/>
                </a:lnTo>
                <a:lnTo>
                  <a:pt x="60577" y="34231"/>
                </a:lnTo>
                <a:lnTo>
                  <a:pt x="60385" y="34038"/>
                </a:lnTo>
                <a:lnTo>
                  <a:pt x="60192" y="33846"/>
                </a:lnTo>
                <a:lnTo>
                  <a:pt x="59808" y="31923"/>
                </a:lnTo>
                <a:lnTo>
                  <a:pt x="58269" y="29231"/>
                </a:lnTo>
                <a:lnTo>
                  <a:pt x="57885" y="27308"/>
                </a:lnTo>
                <a:lnTo>
                  <a:pt x="57308" y="26731"/>
                </a:lnTo>
                <a:lnTo>
                  <a:pt x="56538" y="27115"/>
                </a:lnTo>
                <a:lnTo>
                  <a:pt x="56154" y="27115"/>
                </a:lnTo>
                <a:lnTo>
                  <a:pt x="55769" y="27115"/>
                </a:lnTo>
                <a:lnTo>
                  <a:pt x="55577" y="27308"/>
                </a:lnTo>
                <a:lnTo>
                  <a:pt x="55385" y="27500"/>
                </a:lnTo>
                <a:lnTo>
                  <a:pt x="54231" y="27500"/>
                </a:lnTo>
                <a:lnTo>
                  <a:pt x="54038" y="27692"/>
                </a:lnTo>
                <a:lnTo>
                  <a:pt x="53846" y="27885"/>
                </a:lnTo>
                <a:lnTo>
                  <a:pt x="51923" y="27885"/>
                </a:lnTo>
                <a:lnTo>
                  <a:pt x="51731" y="28077"/>
                </a:lnTo>
                <a:lnTo>
                  <a:pt x="51538" y="28269"/>
                </a:lnTo>
                <a:lnTo>
                  <a:pt x="47692" y="28269"/>
                </a:lnTo>
                <a:lnTo>
                  <a:pt x="47500" y="28077"/>
                </a:lnTo>
                <a:lnTo>
                  <a:pt x="47308" y="27885"/>
                </a:lnTo>
                <a:lnTo>
                  <a:pt x="46154" y="27885"/>
                </a:lnTo>
                <a:lnTo>
                  <a:pt x="45962" y="27692"/>
                </a:lnTo>
                <a:lnTo>
                  <a:pt x="45769" y="27500"/>
                </a:lnTo>
                <a:lnTo>
                  <a:pt x="44615" y="27500"/>
                </a:lnTo>
                <a:lnTo>
                  <a:pt x="44423" y="27308"/>
                </a:lnTo>
                <a:lnTo>
                  <a:pt x="44231" y="27115"/>
                </a:lnTo>
                <a:lnTo>
                  <a:pt x="43846" y="27115"/>
                </a:lnTo>
                <a:lnTo>
                  <a:pt x="43462" y="27115"/>
                </a:lnTo>
                <a:lnTo>
                  <a:pt x="42692" y="26731"/>
                </a:lnTo>
                <a:close/>
                <a:moveTo>
                  <a:pt x="43462" y="34038"/>
                </a:moveTo>
                <a:lnTo>
                  <a:pt x="42115" y="35385"/>
                </a:lnTo>
                <a:lnTo>
                  <a:pt x="41731" y="36154"/>
                </a:lnTo>
                <a:lnTo>
                  <a:pt x="41731" y="38077"/>
                </a:lnTo>
                <a:lnTo>
                  <a:pt x="43462" y="39808"/>
                </a:lnTo>
                <a:lnTo>
                  <a:pt x="45769" y="39808"/>
                </a:lnTo>
                <a:lnTo>
                  <a:pt x="45962" y="39615"/>
                </a:lnTo>
                <a:lnTo>
                  <a:pt x="46154" y="39423"/>
                </a:lnTo>
                <a:lnTo>
                  <a:pt x="46538" y="39423"/>
                </a:lnTo>
                <a:lnTo>
                  <a:pt x="47500" y="38077"/>
                </a:lnTo>
                <a:lnTo>
                  <a:pt x="47500" y="37692"/>
                </a:lnTo>
                <a:lnTo>
                  <a:pt x="47500" y="37308"/>
                </a:lnTo>
                <a:lnTo>
                  <a:pt x="47692" y="37115"/>
                </a:lnTo>
                <a:lnTo>
                  <a:pt x="47885" y="36923"/>
                </a:lnTo>
                <a:lnTo>
                  <a:pt x="47692" y="36731"/>
                </a:lnTo>
                <a:lnTo>
                  <a:pt x="47500" y="36538"/>
                </a:lnTo>
                <a:lnTo>
                  <a:pt x="47500" y="36154"/>
                </a:lnTo>
                <a:lnTo>
                  <a:pt x="47500" y="35769"/>
                </a:lnTo>
                <a:lnTo>
                  <a:pt x="47115" y="35000"/>
                </a:lnTo>
                <a:lnTo>
                  <a:pt x="45769" y="34038"/>
                </a:lnTo>
                <a:lnTo>
                  <a:pt x="43462" y="34038"/>
                </a:lnTo>
                <a:close/>
                <a:moveTo>
                  <a:pt x="54231" y="34038"/>
                </a:moveTo>
                <a:lnTo>
                  <a:pt x="53462" y="34808"/>
                </a:lnTo>
                <a:lnTo>
                  <a:pt x="53077" y="34808"/>
                </a:lnTo>
                <a:lnTo>
                  <a:pt x="52885" y="35000"/>
                </a:lnTo>
                <a:lnTo>
                  <a:pt x="52115" y="37308"/>
                </a:lnTo>
                <a:lnTo>
                  <a:pt x="52885" y="38846"/>
                </a:lnTo>
                <a:lnTo>
                  <a:pt x="53462" y="39423"/>
                </a:lnTo>
                <a:lnTo>
                  <a:pt x="54231" y="39808"/>
                </a:lnTo>
                <a:lnTo>
                  <a:pt x="55769" y="39808"/>
                </a:lnTo>
                <a:lnTo>
                  <a:pt x="56923" y="39423"/>
                </a:lnTo>
                <a:lnTo>
                  <a:pt x="57500" y="38846"/>
                </a:lnTo>
                <a:lnTo>
                  <a:pt x="57885" y="38077"/>
                </a:lnTo>
                <a:lnTo>
                  <a:pt x="57885" y="35769"/>
                </a:lnTo>
                <a:lnTo>
                  <a:pt x="57500" y="35000"/>
                </a:lnTo>
                <a:lnTo>
                  <a:pt x="56154" y="34038"/>
                </a:lnTo>
                <a:lnTo>
                  <a:pt x="54231" y="34038"/>
                </a:lnTo>
                <a:close/>
                <a:moveTo>
                  <a:pt x="37308" y="35577"/>
                </a:moveTo>
                <a:lnTo>
                  <a:pt x="36346" y="36923"/>
                </a:lnTo>
                <a:lnTo>
                  <a:pt x="36346" y="38846"/>
                </a:lnTo>
                <a:lnTo>
                  <a:pt x="36538" y="39038"/>
                </a:lnTo>
                <a:lnTo>
                  <a:pt x="36731" y="39231"/>
                </a:lnTo>
                <a:lnTo>
                  <a:pt x="36731" y="39615"/>
                </a:lnTo>
                <a:lnTo>
                  <a:pt x="36731" y="40000"/>
                </a:lnTo>
                <a:lnTo>
                  <a:pt x="37885" y="41154"/>
                </a:lnTo>
                <a:lnTo>
                  <a:pt x="38077" y="41346"/>
                </a:lnTo>
                <a:lnTo>
                  <a:pt x="38462" y="41346"/>
                </a:lnTo>
                <a:lnTo>
                  <a:pt x="38654" y="40385"/>
                </a:lnTo>
                <a:lnTo>
                  <a:pt x="38462" y="40192"/>
                </a:lnTo>
                <a:lnTo>
                  <a:pt x="38269" y="40000"/>
                </a:lnTo>
                <a:lnTo>
                  <a:pt x="38269" y="38462"/>
                </a:lnTo>
                <a:lnTo>
                  <a:pt x="38077" y="38269"/>
                </a:lnTo>
                <a:lnTo>
                  <a:pt x="37885" y="38077"/>
                </a:lnTo>
                <a:lnTo>
                  <a:pt x="37885" y="35769"/>
                </a:lnTo>
                <a:lnTo>
                  <a:pt x="37692" y="35577"/>
                </a:lnTo>
                <a:lnTo>
                  <a:pt x="37308" y="35577"/>
                </a:lnTo>
                <a:close/>
                <a:moveTo>
                  <a:pt x="61923" y="35577"/>
                </a:moveTo>
                <a:lnTo>
                  <a:pt x="61731" y="35769"/>
                </a:lnTo>
                <a:lnTo>
                  <a:pt x="61731" y="38077"/>
                </a:lnTo>
                <a:lnTo>
                  <a:pt x="61538" y="38269"/>
                </a:lnTo>
                <a:lnTo>
                  <a:pt x="61346" y="38462"/>
                </a:lnTo>
                <a:lnTo>
                  <a:pt x="61346" y="40385"/>
                </a:lnTo>
                <a:lnTo>
                  <a:pt x="60962" y="41154"/>
                </a:lnTo>
                <a:lnTo>
                  <a:pt x="61923" y="41346"/>
                </a:lnTo>
                <a:lnTo>
                  <a:pt x="62115" y="41154"/>
                </a:lnTo>
                <a:lnTo>
                  <a:pt x="62308" y="40962"/>
                </a:lnTo>
                <a:lnTo>
                  <a:pt x="63269" y="39615"/>
                </a:lnTo>
                <a:lnTo>
                  <a:pt x="63654" y="37692"/>
                </a:lnTo>
                <a:lnTo>
                  <a:pt x="63462" y="37500"/>
                </a:lnTo>
                <a:lnTo>
                  <a:pt x="63269" y="37308"/>
                </a:lnTo>
                <a:lnTo>
                  <a:pt x="63269" y="36923"/>
                </a:lnTo>
                <a:lnTo>
                  <a:pt x="63269" y="36538"/>
                </a:lnTo>
                <a:lnTo>
                  <a:pt x="62308" y="35577"/>
                </a:lnTo>
                <a:lnTo>
                  <a:pt x="61923" y="35577"/>
                </a:lnTo>
                <a:close/>
                <a:moveTo>
                  <a:pt x="60000" y="36731"/>
                </a:moveTo>
                <a:lnTo>
                  <a:pt x="59038" y="37692"/>
                </a:lnTo>
                <a:lnTo>
                  <a:pt x="59038" y="38077"/>
                </a:lnTo>
                <a:lnTo>
                  <a:pt x="59038" y="38462"/>
                </a:lnTo>
                <a:lnTo>
                  <a:pt x="58654" y="39231"/>
                </a:lnTo>
                <a:lnTo>
                  <a:pt x="57308" y="40577"/>
                </a:lnTo>
                <a:lnTo>
                  <a:pt x="56538" y="40962"/>
                </a:lnTo>
                <a:lnTo>
                  <a:pt x="53846" y="40962"/>
                </a:lnTo>
                <a:lnTo>
                  <a:pt x="53077" y="40577"/>
                </a:lnTo>
                <a:lnTo>
                  <a:pt x="51731" y="39231"/>
                </a:lnTo>
                <a:lnTo>
                  <a:pt x="51154" y="37115"/>
                </a:lnTo>
                <a:lnTo>
                  <a:pt x="48846" y="37115"/>
                </a:lnTo>
                <a:lnTo>
                  <a:pt x="48269" y="39231"/>
                </a:lnTo>
                <a:lnTo>
                  <a:pt x="46923" y="40577"/>
                </a:lnTo>
                <a:lnTo>
                  <a:pt x="46154" y="40962"/>
                </a:lnTo>
                <a:lnTo>
                  <a:pt x="43077" y="40962"/>
                </a:lnTo>
                <a:lnTo>
                  <a:pt x="42308" y="40577"/>
                </a:lnTo>
                <a:lnTo>
                  <a:pt x="40962" y="39231"/>
                </a:lnTo>
                <a:lnTo>
                  <a:pt x="40577" y="38462"/>
                </a:lnTo>
                <a:lnTo>
                  <a:pt x="40577" y="38077"/>
                </a:lnTo>
                <a:lnTo>
                  <a:pt x="40577" y="37692"/>
                </a:lnTo>
                <a:lnTo>
                  <a:pt x="40000" y="37115"/>
                </a:lnTo>
                <a:lnTo>
                  <a:pt x="39615" y="37115"/>
                </a:lnTo>
                <a:lnTo>
                  <a:pt x="39038" y="37692"/>
                </a:lnTo>
                <a:lnTo>
                  <a:pt x="39231" y="37885"/>
                </a:lnTo>
                <a:lnTo>
                  <a:pt x="39423" y="38077"/>
                </a:lnTo>
                <a:lnTo>
                  <a:pt x="39423" y="40769"/>
                </a:lnTo>
                <a:lnTo>
                  <a:pt x="39615" y="40962"/>
                </a:lnTo>
                <a:lnTo>
                  <a:pt x="39808" y="41154"/>
                </a:lnTo>
                <a:lnTo>
                  <a:pt x="40192" y="43077"/>
                </a:lnTo>
                <a:lnTo>
                  <a:pt x="40577" y="43846"/>
                </a:lnTo>
                <a:lnTo>
                  <a:pt x="40577" y="44231"/>
                </a:lnTo>
                <a:lnTo>
                  <a:pt x="40577" y="44615"/>
                </a:lnTo>
                <a:lnTo>
                  <a:pt x="41346" y="46154"/>
                </a:lnTo>
                <a:lnTo>
                  <a:pt x="42115" y="46923"/>
                </a:lnTo>
                <a:lnTo>
                  <a:pt x="42115" y="47308"/>
                </a:lnTo>
                <a:lnTo>
                  <a:pt x="43462" y="48654"/>
                </a:lnTo>
                <a:lnTo>
                  <a:pt x="43846" y="48654"/>
                </a:lnTo>
                <a:lnTo>
                  <a:pt x="46154" y="50577"/>
                </a:lnTo>
                <a:lnTo>
                  <a:pt x="46538" y="50577"/>
                </a:lnTo>
                <a:lnTo>
                  <a:pt x="46923" y="50577"/>
                </a:lnTo>
                <a:lnTo>
                  <a:pt x="48462" y="51346"/>
                </a:lnTo>
                <a:lnTo>
                  <a:pt x="51154" y="51346"/>
                </a:lnTo>
                <a:lnTo>
                  <a:pt x="51346" y="51154"/>
                </a:lnTo>
                <a:lnTo>
                  <a:pt x="51538" y="50962"/>
                </a:lnTo>
                <a:lnTo>
                  <a:pt x="52692" y="50962"/>
                </a:lnTo>
                <a:lnTo>
                  <a:pt x="54231" y="50192"/>
                </a:lnTo>
                <a:lnTo>
                  <a:pt x="55769" y="48654"/>
                </a:lnTo>
                <a:lnTo>
                  <a:pt x="56154" y="48654"/>
                </a:lnTo>
                <a:lnTo>
                  <a:pt x="58269" y="46154"/>
                </a:lnTo>
                <a:lnTo>
                  <a:pt x="59038" y="44615"/>
                </a:lnTo>
                <a:lnTo>
                  <a:pt x="59038" y="44231"/>
                </a:lnTo>
                <a:lnTo>
                  <a:pt x="59038" y="43846"/>
                </a:lnTo>
                <a:lnTo>
                  <a:pt x="59808" y="42308"/>
                </a:lnTo>
                <a:lnTo>
                  <a:pt x="59808" y="40769"/>
                </a:lnTo>
                <a:lnTo>
                  <a:pt x="60000" y="40577"/>
                </a:lnTo>
                <a:lnTo>
                  <a:pt x="60192" y="40385"/>
                </a:lnTo>
                <a:lnTo>
                  <a:pt x="60192" y="38462"/>
                </a:lnTo>
                <a:lnTo>
                  <a:pt x="60385" y="38269"/>
                </a:lnTo>
                <a:lnTo>
                  <a:pt x="60577" y="38077"/>
                </a:lnTo>
                <a:lnTo>
                  <a:pt x="60577" y="37692"/>
                </a:lnTo>
                <a:lnTo>
                  <a:pt x="60577" y="37308"/>
                </a:lnTo>
                <a:lnTo>
                  <a:pt x="60000" y="36731"/>
                </a:lnTo>
                <a:close/>
                <a:moveTo>
                  <a:pt x="55769" y="50192"/>
                </a:moveTo>
                <a:lnTo>
                  <a:pt x="54231" y="51346"/>
                </a:lnTo>
                <a:lnTo>
                  <a:pt x="52692" y="52115"/>
                </a:lnTo>
                <a:lnTo>
                  <a:pt x="51538" y="52115"/>
                </a:lnTo>
                <a:lnTo>
                  <a:pt x="51346" y="52308"/>
                </a:lnTo>
                <a:lnTo>
                  <a:pt x="51154" y="52500"/>
                </a:lnTo>
                <a:lnTo>
                  <a:pt x="48077" y="52500"/>
                </a:lnTo>
                <a:lnTo>
                  <a:pt x="47885" y="52308"/>
                </a:lnTo>
                <a:lnTo>
                  <a:pt x="47692" y="52115"/>
                </a:lnTo>
                <a:lnTo>
                  <a:pt x="47308" y="52115"/>
                </a:lnTo>
                <a:lnTo>
                  <a:pt x="46923" y="52115"/>
                </a:lnTo>
                <a:lnTo>
                  <a:pt x="43846" y="50577"/>
                </a:lnTo>
                <a:lnTo>
                  <a:pt x="43654" y="50769"/>
                </a:lnTo>
                <a:lnTo>
                  <a:pt x="43654" y="53462"/>
                </a:lnTo>
                <a:lnTo>
                  <a:pt x="45962" y="55385"/>
                </a:lnTo>
                <a:lnTo>
                  <a:pt x="49231" y="58654"/>
                </a:lnTo>
                <a:lnTo>
                  <a:pt x="50000" y="59038"/>
                </a:lnTo>
                <a:lnTo>
                  <a:pt x="51538" y="57500"/>
                </a:lnTo>
                <a:lnTo>
                  <a:pt x="51923" y="57500"/>
                </a:lnTo>
                <a:lnTo>
                  <a:pt x="55769" y="53654"/>
                </a:lnTo>
                <a:lnTo>
                  <a:pt x="56154" y="53654"/>
                </a:lnTo>
                <a:lnTo>
                  <a:pt x="56346" y="53462"/>
                </a:lnTo>
                <a:lnTo>
                  <a:pt x="56346" y="50769"/>
                </a:lnTo>
                <a:lnTo>
                  <a:pt x="55769" y="50192"/>
                </a:lnTo>
                <a:close/>
                <a:moveTo>
                  <a:pt x="41923" y="53654"/>
                </a:moveTo>
                <a:lnTo>
                  <a:pt x="41731" y="53846"/>
                </a:lnTo>
                <a:lnTo>
                  <a:pt x="41731" y="54231"/>
                </a:lnTo>
                <a:lnTo>
                  <a:pt x="39808" y="56538"/>
                </a:lnTo>
                <a:lnTo>
                  <a:pt x="39808" y="56923"/>
                </a:lnTo>
                <a:lnTo>
                  <a:pt x="40962" y="58462"/>
                </a:lnTo>
                <a:lnTo>
                  <a:pt x="41346" y="59615"/>
                </a:lnTo>
                <a:lnTo>
                  <a:pt x="42115" y="60385"/>
                </a:lnTo>
                <a:lnTo>
                  <a:pt x="43269" y="63077"/>
                </a:lnTo>
                <a:lnTo>
                  <a:pt x="43846" y="63654"/>
                </a:lnTo>
                <a:lnTo>
                  <a:pt x="44615" y="62885"/>
                </a:lnTo>
                <a:lnTo>
                  <a:pt x="45000" y="62885"/>
                </a:lnTo>
                <a:lnTo>
                  <a:pt x="45192" y="62692"/>
                </a:lnTo>
                <a:lnTo>
                  <a:pt x="48269" y="60000"/>
                </a:lnTo>
                <a:lnTo>
                  <a:pt x="48269" y="59615"/>
                </a:lnTo>
                <a:lnTo>
                  <a:pt x="48269" y="59231"/>
                </a:lnTo>
                <a:lnTo>
                  <a:pt x="46923" y="57885"/>
                </a:lnTo>
                <a:lnTo>
                  <a:pt x="46538" y="57885"/>
                </a:lnTo>
                <a:lnTo>
                  <a:pt x="42308" y="53654"/>
                </a:lnTo>
                <a:lnTo>
                  <a:pt x="41923" y="53654"/>
                </a:lnTo>
                <a:close/>
                <a:moveTo>
                  <a:pt x="57692" y="53654"/>
                </a:moveTo>
                <a:lnTo>
                  <a:pt x="54615" y="56731"/>
                </a:lnTo>
                <a:lnTo>
                  <a:pt x="54231" y="56731"/>
                </a:lnTo>
                <a:lnTo>
                  <a:pt x="51923" y="59038"/>
                </a:lnTo>
                <a:lnTo>
                  <a:pt x="51538" y="59038"/>
                </a:lnTo>
                <a:lnTo>
                  <a:pt x="51346" y="59231"/>
                </a:lnTo>
                <a:lnTo>
                  <a:pt x="51346" y="59615"/>
                </a:lnTo>
                <a:lnTo>
                  <a:pt x="51346" y="60000"/>
                </a:lnTo>
                <a:lnTo>
                  <a:pt x="51538" y="60192"/>
                </a:lnTo>
                <a:lnTo>
                  <a:pt x="51923" y="60192"/>
                </a:lnTo>
                <a:lnTo>
                  <a:pt x="53077" y="61346"/>
                </a:lnTo>
                <a:lnTo>
                  <a:pt x="53462" y="61346"/>
                </a:lnTo>
                <a:lnTo>
                  <a:pt x="54615" y="62500"/>
                </a:lnTo>
                <a:lnTo>
                  <a:pt x="56154" y="63654"/>
                </a:lnTo>
                <a:lnTo>
                  <a:pt x="56731" y="63077"/>
                </a:lnTo>
                <a:lnTo>
                  <a:pt x="57500" y="61154"/>
                </a:lnTo>
                <a:lnTo>
                  <a:pt x="58269" y="60385"/>
                </a:lnTo>
                <a:lnTo>
                  <a:pt x="59423" y="58077"/>
                </a:lnTo>
                <a:lnTo>
                  <a:pt x="59808" y="56154"/>
                </a:lnTo>
                <a:lnTo>
                  <a:pt x="57692" y="53654"/>
                </a:lnTo>
                <a:close/>
              </a:path>
            </a:pathLst>
          </a:custGeom>
          <a:solidFill>
            <a:srgbClr val="FFFFFF"/>
          </a:solidFill>
          <a:ln>
            <a:noFill/>
          </a:ln>
        </p:spPr>
        <p:txBody>
          <a:bodyPr/>
          <a:p/>
        </p:txBody>
      </p:sp>
      <p:sp>
        <p:nvSpPr>
          <p:cNvPr id="17" name="Shape 15"/>
          <p:cNvSpPr/>
          <p:nvPr/>
        </p:nvSpPr>
        <p:spPr>
          <a:xfrm>
            <a:off x="7406640" y="3621024"/>
            <a:ext cx="1901952" cy="1901952"/>
          </a:xfrm>
          <a:prstGeom prst="ellipse">
            <a:avLst/>
          </a:prstGeom>
          <a:solidFill>
            <a:srgbClr val="B45309"/>
          </a:solidFill>
          <a:ln w="12700">
            <a:solidFill>
              <a:srgbClr val="6D28D9">
                <a:alpha val="0"/>
              </a:srgbClr>
            </a:solidFill>
            <a:prstDash val="solid"/>
          </a:ln>
        </p:spPr>
        <p:txBody>
          <a:bodyPr/>
          <a:p/>
        </p:txBody>
      </p:sp>
      <p:sp>
        <p:nvSpPr>
          <p:cNvPr id="18" name="VECTOR_family_3"/>
          <p:cNvSpPr/>
          <p:nvPr/>
        </p:nvSpPr>
        <p:spPr>
          <a:xfrm>
            <a:off x="7406640" y="3621024"/>
            <a:ext cx="1901952" cy="1901952"/>
          </a:xfrm>
          <a:custGeom>
            <a:avLst/>
            <a:gdLst/>
            <a:ahLst/>
            <a:cxnLst/>
            <a:rect l="0" t="0" r="r" b="b"/>
            <a:pathLst>
              <a:path w="100000" h="100000" fill="norm" stroke="false" extrusionOk="false">
                <a:moveTo>
                  <a:pt x="64423" y="20385"/>
                </a:moveTo>
                <a:lnTo>
                  <a:pt x="64615" y="20192"/>
                </a:lnTo>
                <a:lnTo>
                  <a:pt x="68462" y="20192"/>
                </a:lnTo>
                <a:lnTo>
                  <a:pt x="68654" y="20385"/>
                </a:lnTo>
                <a:lnTo>
                  <a:pt x="68846" y="20577"/>
                </a:lnTo>
                <a:lnTo>
                  <a:pt x="69231" y="20577"/>
                </a:lnTo>
                <a:lnTo>
                  <a:pt x="69615" y="20577"/>
                </a:lnTo>
                <a:lnTo>
                  <a:pt x="69808" y="20769"/>
                </a:lnTo>
                <a:lnTo>
                  <a:pt x="70000" y="20962"/>
                </a:lnTo>
                <a:lnTo>
                  <a:pt x="70385" y="20962"/>
                </a:lnTo>
                <a:lnTo>
                  <a:pt x="70769" y="20962"/>
                </a:lnTo>
                <a:lnTo>
                  <a:pt x="71538" y="21346"/>
                </a:lnTo>
                <a:lnTo>
                  <a:pt x="73269" y="22692"/>
                </a:lnTo>
                <a:lnTo>
                  <a:pt x="73269" y="23077"/>
                </a:lnTo>
                <a:lnTo>
                  <a:pt x="74038" y="23846"/>
                </a:lnTo>
                <a:lnTo>
                  <a:pt x="75192" y="26154"/>
                </a:lnTo>
                <a:lnTo>
                  <a:pt x="75192" y="27692"/>
                </a:lnTo>
                <a:lnTo>
                  <a:pt x="75385" y="27885"/>
                </a:lnTo>
                <a:lnTo>
                  <a:pt x="75577" y="28077"/>
                </a:lnTo>
                <a:lnTo>
                  <a:pt x="75192" y="31538"/>
                </a:lnTo>
                <a:lnTo>
                  <a:pt x="76346" y="33077"/>
                </a:lnTo>
                <a:lnTo>
                  <a:pt x="76346" y="34231"/>
                </a:lnTo>
                <a:lnTo>
                  <a:pt x="76154" y="34423"/>
                </a:lnTo>
                <a:lnTo>
                  <a:pt x="75962" y="34615"/>
                </a:lnTo>
                <a:lnTo>
                  <a:pt x="75962" y="35000"/>
                </a:lnTo>
                <a:lnTo>
                  <a:pt x="75962" y="35385"/>
                </a:lnTo>
                <a:lnTo>
                  <a:pt x="73654" y="37308"/>
                </a:lnTo>
                <a:lnTo>
                  <a:pt x="72885" y="39231"/>
                </a:lnTo>
                <a:lnTo>
                  <a:pt x="70962" y="41154"/>
                </a:lnTo>
                <a:lnTo>
                  <a:pt x="70962" y="42692"/>
                </a:lnTo>
                <a:lnTo>
                  <a:pt x="71346" y="43462"/>
                </a:lnTo>
                <a:lnTo>
                  <a:pt x="72308" y="44038"/>
                </a:lnTo>
                <a:lnTo>
                  <a:pt x="72692" y="44038"/>
                </a:lnTo>
                <a:lnTo>
                  <a:pt x="73077" y="44038"/>
                </a:lnTo>
                <a:lnTo>
                  <a:pt x="73269" y="44231"/>
                </a:lnTo>
                <a:lnTo>
                  <a:pt x="73462" y="44423"/>
                </a:lnTo>
                <a:lnTo>
                  <a:pt x="75385" y="44808"/>
                </a:lnTo>
                <a:lnTo>
                  <a:pt x="80000" y="47115"/>
                </a:lnTo>
                <a:lnTo>
                  <a:pt x="82115" y="49231"/>
                </a:lnTo>
                <a:lnTo>
                  <a:pt x="82115" y="49615"/>
                </a:lnTo>
                <a:lnTo>
                  <a:pt x="83269" y="51154"/>
                </a:lnTo>
                <a:lnTo>
                  <a:pt x="83269" y="51538"/>
                </a:lnTo>
                <a:lnTo>
                  <a:pt x="83269" y="51923"/>
                </a:lnTo>
                <a:lnTo>
                  <a:pt x="83462" y="52115"/>
                </a:lnTo>
                <a:lnTo>
                  <a:pt x="83654" y="52308"/>
                </a:lnTo>
                <a:lnTo>
                  <a:pt x="83654" y="53462"/>
                </a:lnTo>
                <a:lnTo>
                  <a:pt x="83846" y="53654"/>
                </a:lnTo>
                <a:lnTo>
                  <a:pt x="84038" y="53846"/>
                </a:lnTo>
                <a:lnTo>
                  <a:pt x="84038" y="70000"/>
                </a:lnTo>
                <a:lnTo>
                  <a:pt x="84231" y="70192"/>
                </a:lnTo>
                <a:lnTo>
                  <a:pt x="84423" y="70385"/>
                </a:lnTo>
                <a:lnTo>
                  <a:pt x="83846" y="70962"/>
                </a:lnTo>
                <a:lnTo>
                  <a:pt x="83462" y="70962"/>
                </a:lnTo>
                <a:lnTo>
                  <a:pt x="82885" y="70385"/>
                </a:lnTo>
                <a:lnTo>
                  <a:pt x="82885" y="54231"/>
                </a:lnTo>
                <a:lnTo>
                  <a:pt x="82692" y="54038"/>
                </a:lnTo>
                <a:lnTo>
                  <a:pt x="82500" y="53846"/>
                </a:lnTo>
                <a:lnTo>
                  <a:pt x="82500" y="52692"/>
                </a:lnTo>
                <a:lnTo>
                  <a:pt x="82308" y="52500"/>
                </a:lnTo>
                <a:lnTo>
                  <a:pt x="82115" y="52308"/>
                </a:lnTo>
                <a:lnTo>
                  <a:pt x="82115" y="51923"/>
                </a:lnTo>
                <a:lnTo>
                  <a:pt x="82115" y="51538"/>
                </a:lnTo>
                <a:lnTo>
                  <a:pt x="81346" y="50000"/>
                </a:lnTo>
                <a:lnTo>
                  <a:pt x="78846" y="47500"/>
                </a:lnTo>
                <a:lnTo>
                  <a:pt x="76538" y="46346"/>
                </a:lnTo>
                <a:lnTo>
                  <a:pt x="76154" y="46346"/>
                </a:lnTo>
                <a:lnTo>
                  <a:pt x="75769" y="46346"/>
                </a:lnTo>
                <a:lnTo>
                  <a:pt x="74615" y="45577"/>
                </a:lnTo>
                <a:lnTo>
                  <a:pt x="73462" y="45577"/>
                </a:lnTo>
                <a:lnTo>
                  <a:pt x="73269" y="45385"/>
                </a:lnTo>
                <a:lnTo>
                  <a:pt x="73077" y="45192"/>
                </a:lnTo>
                <a:lnTo>
                  <a:pt x="72692" y="45192"/>
                </a:lnTo>
                <a:lnTo>
                  <a:pt x="70385" y="47885"/>
                </a:lnTo>
                <a:lnTo>
                  <a:pt x="68846" y="48654"/>
                </a:lnTo>
                <a:lnTo>
                  <a:pt x="68462" y="48654"/>
                </a:lnTo>
                <a:lnTo>
                  <a:pt x="68077" y="48654"/>
                </a:lnTo>
                <a:lnTo>
                  <a:pt x="67885" y="48846"/>
                </a:lnTo>
                <a:lnTo>
                  <a:pt x="67692" y="49038"/>
                </a:lnTo>
                <a:lnTo>
                  <a:pt x="65385" y="49038"/>
                </a:lnTo>
                <a:lnTo>
                  <a:pt x="65192" y="48846"/>
                </a:lnTo>
                <a:lnTo>
                  <a:pt x="65000" y="48654"/>
                </a:lnTo>
                <a:lnTo>
                  <a:pt x="64615" y="48654"/>
                </a:lnTo>
                <a:lnTo>
                  <a:pt x="64231" y="48654"/>
                </a:lnTo>
                <a:lnTo>
                  <a:pt x="63462" y="48269"/>
                </a:lnTo>
                <a:lnTo>
                  <a:pt x="61346" y="46538"/>
                </a:lnTo>
                <a:lnTo>
                  <a:pt x="60769" y="45192"/>
                </a:lnTo>
                <a:lnTo>
                  <a:pt x="58462" y="45192"/>
                </a:lnTo>
                <a:lnTo>
                  <a:pt x="58269" y="45385"/>
                </a:lnTo>
                <a:lnTo>
                  <a:pt x="58269" y="47692"/>
                </a:lnTo>
                <a:lnTo>
                  <a:pt x="58462" y="47885"/>
                </a:lnTo>
                <a:lnTo>
                  <a:pt x="58654" y="48077"/>
                </a:lnTo>
                <a:lnTo>
                  <a:pt x="58654" y="49231"/>
                </a:lnTo>
                <a:lnTo>
                  <a:pt x="58846" y="49423"/>
                </a:lnTo>
                <a:lnTo>
                  <a:pt x="59038" y="49615"/>
                </a:lnTo>
                <a:lnTo>
                  <a:pt x="59038" y="51923"/>
                </a:lnTo>
                <a:lnTo>
                  <a:pt x="60192" y="53462"/>
                </a:lnTo>
                <a:lnTo>
                  <a:pt x="60192" y="56923"/>
                </a:lnTo>
                <a:lnTo>
                  <a:pt x="59423" y="58462"/>
                </a:lnTo>
                <a:lnTo>
                  <a:pt x="58654" y="59231"/>
                </a:lnTo>
                <a:lnTo>
                  <a:pt x="60192" y="60769"/>
                </a:lnTo>
                <a:lnTo>
                  <a:pt x="60962" y="62308"/>
                </a:lnTo>
                <a:lnTo>
                  <a:pt x="61346" y="64231"/>
                </a:lnTo>
                <a:lnTo>
                  <a:pt x="61538" y="64423"/>
                </a:lnTo>
                <a:lnTo>
                  <a:pt x="61731" y="64615"/>
                </a:lnTo>
                <a:lnTo>
                  <a:pt x="61731" y="66538"/>
                </a:lnTo>
                <a:lnTo>
                  <a:pt x="61923" y="66731"/>
                </a:lnTo>
                <a:lnTo>
                  <a:pt x="62115" y="66923"/>
                </a:lnTo>
                <a:lnTo>
                  <a:pt x="62115" y="69615"/>
                </a:lnTo>
                <a:lnTo>
                  <a:pt x="62308" y="69808"/>
                </a:lnTo>
                <a:lnTo>
                  <a:pt x="62500" y="70000"/>
                </a:lnTo>
                <a:lnTo>
                  <a:pt x="62308" y="70962"/>
                </a:lnTo>
                <a:lnTo>
                  <a:pt x="61538" y="71346"/>
                </a:lnTo>
                <a:lnTo>
                  <a:pt x="61346" y="71154"/>
                </a:lnTo>
                <a:lnTo>
                  <a:pt x="61346" y="70000"/>
                </a:lnTo>
                <a:lnTo>
                  <a:pt x="61154" y="69808"/>
                </a:lnTo>
                <a:lnTo>
                  <a:pt x="60962" y="69615"/>
                </a:lnTo>
                <a:lnTo>
                  <a:pt x="60962" y="66154"/>
                </a:lnTo>
                <a:lnTo>
                  <a:pt x="60769" y="65962"/>
                </a:lnTo>
                <a:lnTo>
                  <a:pt x="60577" y="65769"/>
                </a:lnTo>
                <a:lnTo>
                  <a:pt x="60577" y="64231"/>
                </a:lnTo>
                <a:lnTo>
                  <a:pt x="60385" y="64038"/>
                </a:lnTo>
                <a:lnTo>
                  <a:pt x="60192" y="63846"/>
                </a:lnTo>
                <a:lnTo>
                  <a:pt x="60192" y="63462"/>
                </a:lnTo>
                <a:lnTo>
                  <a:pt x="60192" y="63077"/>
                </a:lnTo>
                <a:lnTo>
                  <a:pt x="59423" y="61538"/>
                </a:lnTo>
                <a:lnTo>
                  <a:pt x="57308" y="59423"/>
                </a:lnTo>
                <a:lnTo>
                  <a:pt x="56923" y="59423"/>
                </a:lnTo>
                <a:lnTo>
                  <a:pt x="56538" y="59423"/>
                </a:lnTo>
                <a:lnTo>
                  <a:pt x="55385" y="58654"/>
                </a:lnTo>
                <a:lnTo>
                  <a:pt x="54231" y="58654"/>
                </a:lnTo>
                <a:lnTo>
                  <a:pt x="54038" y="58462"/>
                </a:lnTo>
                <a:lnTo>
                  <a:pt x="53846" y="58269"/>
                </a:lnTo>
                <a:lnTo>
                  <a:pt x="53462" y="58269"/>
                </a:lnTo>
                <a:lnTo>
                  <a:pt x="53077" y="58269"/>
                </a:lnTo>
                <a:lnTo>
                  <a:pt x="52885" y="57308"/>
                </a:lnTo>
                <a:lnTo>
                  <a:pt x="52308" y="56731"/>
                </a:lnTo>
                <a:lnTo>
                  <a:pt x="51538" y="57115"/>
                </a:lnTo>
                <a:lnTo>
                  <a:pt x="50000" y="57115"/>
                </a:lnTo>
                <a:lnTo>
                  <a:pt x="49808" y="57308"/>
                </a:lnTo>
                <a:lnTo>
                  <a:pt x="49615" y="57500"/>
                </a:lnTo>
                <a:lnTo>
                  <a:pt x="49423" y="57308"/>
                </a:lnTo>
                <a:lnTo>
                  <a:pt x="49231" y="57115"/>
                </a:lnTo>
                <a:lnTo>
                  <a:pt x="48846" y="57115"/>
                </a:lnTo>
                <a:lnTo>
                  <a:pt x="48462" y="57115"/>
                </a:lnTo>
                <a:lnTo>
                  <a:pt x="47692" y="56731"/>
                </a:lnTo>
                <a:lnTo>
                  <a:pt x="46538" y="58269"/>
                </a:lnTo>
                <a:lnTo>
                  <a:pt x="46154" y="58269"/>
                </a:lnTo>
                <a:lnTo>
                  <a:pt x="45769" y="58269"/>
                </a:lnTo>
                <a:lnTo>
                  <a:pt x="45577" y="58462"/>
                </a:lnTo>
                <a:lnTo>
                  <a:pt x="45385" y="58654"/>
                </a:lnTo>
                <a:lnTo>
                  <a:pt x="45000" y="58654"/>
                </a:lnTo>
                <a:lnTo>
                  <a:pt x="44615" y="58654"/>
                </a:lnTo>
                <a:lnTo>
                  <a:pt x="43077" y="59423"/>
                </a:lnTo>
                <a:lnTo>
                  <a:pt x="40577" y="61923"/>
                </a:lnTo>
                <a:lnTo>
                  <a:pt x="40192" y="62692"/>
                </a:lnTo>
                <a:lnTo>
                  <a:pt x="40192" y="63077"/>
                </a:lnTo>
                <a:lnTo>
                  <a:pt x="40192" y="63462"/>
                </a:lnTo>
                <a:lnTo>
                  <a:pt x="40000" y="63654"/>
                </a:lnTo>
                <a:lnTo>
                  <a:pt x="39808" y="63846"/>
                </a:lnTo>
                <a:lnTo>
                  <a:pt x="39808" y="65000"/>
                </a:lnTo>
                <a:lnTo>
                  <a:pt x="39615" y="65192"/>
                </a:lnTo>
                <a:lnTo>
                  <a:pt x="39423" y="65385"/>
                </a:lnTo>
                <a:lnTo>
                  <a:pt x="39423" y="68077"/>
                </a:lnTo>
                <a:lnTo>
                  <a:pt x="39231" y="68269"/>
                </a:lnTo>
                <a:lnTo>
                  <a:pt x="39038" y="68462"/>
                </a:lnTo>
                <a:lnTo>
                  <a:pt x="39038" y="70769"/>
                </a:lnTo>
                <a:lnTo>
                  <a:pt x="38846" y="70962"/>
                </a:lnTo>
                <a:lnTo>
                  <a:pt x="37885" y="70769"/>
                </a:lnTo>
                <a:lnTo>
                  <a:pt x="37885" y="70385"/>
                </a:lnTo>
                <a:lnTo>
                  <a:pt x="37885" y="70000"/>
                </a:lnTo>
                <a:lnTo>
                  <a:pt x="38077" y="69808"/>
                </a:lnTo>
                <a:lnTo>
                  <a:pt x="38269" y="69615"/>
                </a:lnTo>
                <a:lnTo>
                  <a:pt x="38269" y="66154"/>
                </a:lnTo>
                <a:lnTo>
                  <a:pt x="38654" y="65385"/>
                </a:lnTo>
                <a:lnTo>
                  <a:pt x="38654" y="63846"/>
                </a:lnTo>
                <a:lnTo>
                  <a:pt x="38846" y="63654"/>
                </a:lnTo>
                <a:lnTo>
                  <a:pt x="39038" y="63462"/>
                </a:lnTo>
                <a:lnTo>
                  <a:pt x="39038" y="62308"/>
                </a:lnTo>
                <a:lnTo>
                  <a:pt x="39423" y="61538"/>
                </a:lnTo>
                <a:lnTo>
                  <a:pt x="41731" y="59231"/>
                </a:lnTo>
                <a:lnTo>
                  <a:pt x="40577" y="58077"/>
                </a:lnTo>
                <a:lnTo>
                  <a:pt x="40192" y="57308"/>
                </a:lnTo>
                <a:lnTo>
                  <a:pt x="40192" y="56923"/>
                </a:lnTo>
                <a:lnTo>
                  <a:pt x="40192" y="56538"/>
                </a:lnTo>
                <a:lnTo>
                  <a:pt x="40000" y="56346"/>
                </a:lnTo>
                <a:lnTo>
                  <a:pt x="39808" y="56154"/>
                </a:lnTo>
                <a:lnTo>
                  <a:pt x="39808" y="54231"/>
                </a:lnTo>
                <a:lnTo>
                  <a:pt x="40000" y="54038"/>
                </a:lnTo>
                <a:lnTo>
                  <a:pt x="40192" y="53846"/>
                </a:lnTo>
                <a:lnTo>
                  <a:pt x="40192" y="53462"/>
                </a:lnTo>
                <a:lnTo>
                  <a:pt x="40192" y="53077"/>
                </a:lnTo>
                <a:lnTo>
                  <a:pt x="40962" y="51538"/>
                </a:lnTo>
                <a:lnTo>
                  <a:pt x="40769" y="51346"/>
                </a:lnTo>
                <a:lnTo>
                  <a:pt x="40385" y="51346"/>
                </a:lnTo>
                <a:lnTo>
                  <a:pt x="39231" y="52500"/>
                </a:lnTo>
                <a:lnTo>
                  <a:pt x="37692" y="53269"/>
                </a:lnTo>
                <a:lnTo>
                  <a:pt x="35769" y="53269"/>
                </a:lnTo>
                <a:lnTo>
                  <a:pt x="35577" y="53077"/>
                </a:lnTo>
                <a:lnTo>
                  <a:pt x="35385" y="52885"/>
                </a:lnTo>
                <a:lnTo>
                  <a:pt x="35000" y="52885"/>
                </a:lnTo>
                <a:lnTo>
                  <a:pt x="34615" y="52885"/>
                </a:lnTo>
                <a:lnTo>
                  <a:pt x="33077" y="52115"/>
                </a:lnTo>
                <a:lnTo>
                  <a:pt x="31346" y="50000"/>
                </a:lnTo>
                <a:lnTo>
                  <a:pt x="30962" y="49231"/>
                </a:lnTo>
                <a:lnTo>
                  <a:pt x="30962" y="48846"/>
                </a:lnTo>
                <a:lnTo>
                  <a:pt x="30962" y="48462"/>
                </a:lnTo>
                <a:lnTo>
                  <a:pt x="30769" y="48269"/>
                </a:lnTo>
                <a:lnTo>
                  <a:pt x="30577" y="48077"/>
                </a:lnTo>
                <a:lnTo>
                  <a:pt x="30577" y="46923"/>
                </a:lnTo>
                <a:lnTo>
                  <a:pt x="30385" y="46731"/>
                </a:lnTo>
                <a:lnTo>
                  <a:pt x="30192" y="46538"/>
                </a:lnTo>
                <a:lnTo>
                  <a:pt x="30192" y="46154"/>
                </a:lnTo>
                <a:lnTo>
                  <a:pt x="30192" y="45769"/>
                </a:lnTo>
                <a:lnTo>
                  <a:pt x="30000" y="45577"/>
                </a:lnTo>
                <a:lnTo>
                  <a:pt x="29615" y="45577"/>
                </a:lnTo>
                <a:lnTo>
                  <a:pt x="29423" y="45769"/>
                </a:lnTo>
                <a:lnTo>
                  <a:pt x="29231" y="45962"/>
                </a:lnTo>
                <a:lnTo>
                  <a:pt x="28846" y="45962"/>
                </a:lnTo>
                <a:lnTo>
                  <a:pt x="28462" y="45962"/>
                </a:lnTo>
                <a:lnTo>
                  <a:pt x="28269" y="46154"/>
                </a:lnTo>
                <a:lnTo>
                  <a:pt x="28077" y="46346"/>
                </a:lnTo>
                <a:lnTo>
                  <a:pt x="26154" y="46731"/>
                </a:lnTo>
                <a:lnTo>
                  <a:pt x="23846" y="47885"/>
                </a:lnTo>
                <a:lnTo>
                  <a:pt x="22115" y="49615"/>
                </a:lnTo>
                <a:lnTo>
                  <a:pt x="22115" y="50000"/>
                </a:lnTo>
                <a:lnTo>
                  <a:pt x="20962" y="51538"/>
                </a:lnTo>
                <a:lnTo>
                  <a:pt x="20962" y="51923"/>
                </a:lnTo>
                <a:lnTo>
                  <a:pt x="20962" y="52308"/>
                </a:lnTo>
                <a:lnTo>
                  <a:pt x="20769" y="52500"/>
                </a:lnTo>
                <a:lnTo>
                  <a:pt x="20577" y="52692"/>
                </a:lnTo>
                <a:lnTo>
                  <a:pt x="20577" y="54231"/>
                </a:lnTo>
                <a:lnTo>
                  <a:pt x="20385" y="54423"/>
                </a:lnTo>
                <a:lnTo>
                  <a:pt x="20192" y="54615"/>
                </a:lnTo>
                <a:lnTo>
                  <a:pt x="20192" y="70769"/>
                </a:lnTo>
                <a:lnTo>
                  <a:pt x="20000" y="70962"/>
                </a:lnTo>
                <a:lnTo>
                  <a:pt x="19038" y="70769"/>
                </a:lnTo>
                <a:lnTo>
                  <a:pt x="19038" y="53846"/>
                </a:lnTo>
                <a:lnTo>
                  <a:pt x="19231" y="53654"/>
                </a:lnTo>
                <a:lnTo>
                  <a:pt x="19423" y="53462"/>
                </a:lnTo>
                <a:lnTo>
                  <a:pt x="19423" y="52308"/>
                </a:lnTo>
                <a:lnTo>
                  <a:pt x="19615" y="52115"/>
                </a:lnTo>
                <a:lnTo>
                  <a:pt x="19808" y="51923"/>
                </a:lnTo>
                <a:lnTo>
                  <a:pt x="19808" y="51538"/>
                </a:lnTo>
                <a:lnTo>
                  <a:pt x="19808" y="51154"/>
                </a:lnTo>
                <a:lnTo>
                  <a:pt x="20577" y="49615"/>
                </a:lnTo>
                <a:lnTo>
                  <a:pt x="22692" y="47500"/>
                </a:lnTo>
                <a:lnTo>
                  <a:pt x="23846" y="47115"/>
                </a:lnTo>
                <a:lnTo>
                  <a:pt x="24615" y="46346"/>
                </a:lnTo>
                <a:lnTo>
                  <a:pt x="25577" y="46154"/>
                </a:lnTo>
                <a:lnTo>
                  <a:pt x="25577" y="45769"/>
                </a:lnTo>
                <a:lnTo>
                  <a:pt x="25577" y="45385"/>
                </a:lnTo>
                <a:lnTo>
                  <a:pt x="24808" y="43846"/>
                </a:lnTo>
                <a:lnTo>
                  <a:pt x="24808" y="40000"/>
                </a:lnTo>
                <a:lnTo>
                  <a:pt x="25577" y="38846"/>
                </a:lnTo>
                <a:lnTo>
                  <a:pt x="25577" y="38462"/>
                </a:lnTo>
                <a:lnTo>
                  <a:pt x="25577" y="38077"/>
                </a:lnTo>
                <a:lnTo>
                  <a:pt x="25769" y="37885"/>
                </a:lnTo>
                <a:lnTo>
                  <a:pt x="25962" y="37692"/>
                </a:lnTo>
                <a:lnTo>
                  <a:pt x="25962" y="37308"/>
                </a:lnTo>
                <a:lnTo>
                  <a:pt x="25962" y="36923"/>
                </a:lnTo>
                <a:lnTo>
                  <a:pt x="26154" y="36731"/>
                </a:lnTo>
                <a:lnTo>
                  <a:pt x="26346" y="36538"/>
                </a:lnTo>
                <a:lnTo>
                  <a:pt x="26346" y="36154"/>
                </a:lnTo>
                <a:lnTo>
                  <a:pt x="26346" y="35769"/>
                </a:lnTo>
                <a:lnTo>
                  <a:pt x="27115" y="34231"/>
                </a:lnTo>
                <a:lnTo>
                  <a:pt x="27115" y="30000"/>
                </a:lnTo>
                <a:lnTo>
                  <a:pt x="27308" y="29808"/>
                </a:lnTo>
                <a:lnTo>
                  <a:pt x="27500" y="29615"/>
                </a:lnTo>
                <a:lnTo>
                  <a:pt x="27500" y="28462"/>
                </a:lnTo>
                <a:lnTo>
                  <a:pt x="27692" y="28269"/>
                </a:lnTo>
                <a:lnTo>
                  <a:pt x="27885" y="28077"/>
                </a:lnTo>
                <a:lnTo>
                  <a:pt x="27885" y="27692"/>
                </a:lnTo>
                <a:lnTo>
                  <a:pt x="27885" y="27308"/>
                </a:lnTo>
                <a:lnTo>
                  <a:pt x="29038" y="25000"/>
                </a:lnTo>
                <a:lnTo>
                  <a:pt x="30769" y="23269"/>
                </a:lnTo>
                <a:lnTo>
                  <a:pt x="31154" y="23269"/>
                </a:lnTo>
                <a:lnTo>
                  <a:pt x="31923" y="22500"/>
                </a:lnTo>
                <a:lnTo>
                  <a:pt x="32692" y="22115"/>
                </a:lnTo>
                <a:lnTo>
                  <a:pt x="33077" y="22115"/>
                </a:lnTo>
                <a:lnTo>
                  <a:pt x="33462" y="22115"/>
                </a:lnTo>
                <a:lnTo>
                  <a:pt x="33654" y="21923"/>
                </a:lnTo>
                <a:lnTo>
                  <a:pt x="33846" y="21731"/>
                </a:lnTo>
                <a:lnTo>
                  <a:pt x="35385" y="21731"/>
                </a:lnTo>
                <a:lnTo>
                  <a:pt x="35577" y="21538"/>
                </a:lnTo>
                <a:lnTo>
                  <a:pt x="35769" y="21346"/>
                </a:lnTo>
                <a:lnTo>
                  <a:pt x="36538" y="21731"/>
                </a:lnTo>
                <a:lnTo>
                  <a:pt x="38077" y="21731"/>
                </a:lnTo>
                <a:lnTo>
                  <a:pt x="39231" y="22500"/>
                </a:lnTo>
                <a:lnTo>
                  <a:pt x="40769" y="22500"/>
                </a:lnTo>
                <a:lnTo>
                  <a:pt x="41538" y="22885"/>
                </a:lnTo>
                <a:lnTo>
                  <a:pt x="43654" y="24615"/>
                </a:lnTo>
                <a:lnTo>
                  <a:pt x="43654" y="25000"/>
                </a:lnTo>
                <a:lnTo>
                  <a:pt x="44423" y="25769"/>
                </a:lnTo>
                <a:lnTo>
                  <a:pt x="45192" y="27308"/>
                </a:lnTo>
                <a:lnTo>
                  <a:pt x="45192" y="27692"/>
                </a:lnTo>
                <a:lnTo>
                  <a:pt x="45192" y="28077"/>
                </a:lnTo>
                <a:lnTo>
                  <a:pt x="45385" y="28269"/>
                </a:lnTo>
                <a:lnTo>
                  <a:pt x="45577" y="28462"/>
                </a:lnTo>
                <a:lnTo>
                  <a:pt x="45577" y="31538"/>
                </a:lnTo>
                <a:lnTo>
                  <a:pt x="45769" y="31731"/>
                </a:lnTo>
                <a:lnTo>
                  <a:pt x="45962" y="31923"/>
                </a:lnTo>
                <a:lnTo>
                  <a:pt x="45962" y="35000"/>
                </a:lnTo>
                <a:lnTo>
                  <a:pt x="46154" y="35192"/>
                </a:lnTo>
                <a:lnTo>
                  <a:pt x="46346" y="35385"/>
                </a:lnTo>
                <a:lnTo>
                  <a:pt x="46346" y="36538"/>
                </a:lnTo>
                <a:lnTo>
                  <a:pt x="46538" y="36731"/>
                </a:lnTo>
                <a:lnTo>
                  <a:pt x="46731" y="36923"/>
                </a:lnTo>
                <a:lnTo>
                  <a:pt x="46731" y="38077"/>
                </a:lnTo>
                <a:lnTo>
                  <a:pt x="47115" y="38846"/>
                </a:lnTo>
                <a:lnTo>
                  <a:pt x="48077" y="39038"/>
                </a:lnTo>
                <a:lnTo>
                  <a:pt x="48269" y="38846"/>
                </a:lnTo>
                <a:lnTo>
                  <a:pt x="48462" y="38654"/>
                </a:lnTo>
                <a:lnTo>
                  <a:pt x="51538" y="38654"/>
                </a:lnTo>
                <a:lnTo>
                  <a:pt x="51731" y="38846"/>
                </a:lnTo>
                <a:lnTo>
                  <a:pt x="51923" y="39038"/>
                </a:lnTo>
                <a:lnTo>
                  <a:pt x="53846" y="39423"/>
                </a:lnTo>
                <a:lnTo>
                  <a:pt x="55385" y="40577"/>
                </a:lnTo>
                <a:lnTo>
                  <a:pt x="55769" y="40577"/>
                </a:lnTo>
                <a:lnTo>
                  <a:pt x="56731" y="41538"/>
                </a:lnTo>
                <a:lnTo>
                  <a:pt x="56731" y="41923"/>
                </a:lnTo>
                <a:lnTo>
                  <a:pt x="57500" y="42692"/>
                </a:lnTo>
                <a:lnTo>
                  <a:pt x="57500" y="43077"/>
                </a:lnTo>
                <a:lnTo>
                  <a:pt x="57500" y="43462"/>
                </a:lnTo>
                <a:lnTo>
                  <a:pt x="58077" y="44423"/>
                </a:lnTo>
                <a:lnTo>
                  <a:pt x="58846" y="44038"/>
                </a:lnTo>
                <a:lnTo>
                  <a:pt x="59615" y="44423"/>
                </a:lnTo>
                <a:lnTo>
                  <a:pt x="61731" y="43077"/>
                </a:lnTo>
                <a:lnTo>
                  <a:pt x="62115" y="41154"/>
                </a:lnTo>
                <a:lnTo>
                  <a:pt x="60577" y="39615"/>
                </a:lnTo>
                <a:lnTo>
                  <a:pt x="60577" y="39231"/>
                </a:lnTo>
                <a:lnTo>
                  <a:pt x="59808" y="38462"/>
                </a:lnTo>
                <a:lnTo>
                  <a:pt x="59808" y="38077"/>
                </a:lnTo>
                <a:lnTo>
                  <a:pt x="59808" y="37692"/>
                </a:lnTo>
                <a:lnTo>
                  <a:pt x="59231" y="37115"/>
                </a:lnTo>
                <a:lnTo>
                  <a:pt x="58846" y="37115"/>
                </a:lnTo>
                <a:lnTo>
                  <a:pt x="58462" y="37115"/>
                </a:lnTo>
                <a:lnTo>
                  <a:pt x="57500" y="36154"/>
                </a:lnTo>
                <a:lnTo>
                  <a:pt x="56731" y="33462"/>
                </a:lnTo>
                <a:lnTo>
                  <a:pt x="56923" y="33269"/>
                </a:lnTo>
                <a:lnTo>
                  <a:pt x="57115" y="33077"/>
                </a:lnTo>
                <a:lnTo>
                  <a:pt x="57115" y="32692"/>
                </a:lnTo>
                <a:lnTo>
                  <a:pt x="57115" y="32308"/>
                </a:lnTo>
                <a:lnTo>
                  <a:pt x="58654" y="31154"/>
                </a:lnTo>
                <a:lnTo>
                  <a:pt x="58269" y="30385"/>
                </a:lnTo>
                <a:lnTo>
                  <a:pt x="58269" y="28462"/>
                </a:lnTo>
                <a:lnTo>
                  <a:pt x="57885" y="27692"/>
                </a:lnTo>
                <a:lnTo>
                  <a:pt x="58077" y="27500"/>
                </a:lnTo>
                <a:lnTo>
                  <a:pt x="58269" y="27308"/>
                </a:lnTo>
                <a:lnTo>
                  <a:pt x="58269" y="25769"/>
                </a:lnTo>
                <a:lnTo>
                  <a:pt x="59038" y="24231"/>
                </a:lnTo>
                <a:lnTo>
                  <a:pt x="61154" y="21731"/>
                </a:lnTo>
                <a:lnTo>
                  <a:pt x="63462" y="20577"/>
                </a:lnTo>
                <a:lnTo>
                  <a:pt x="64423" y="20385"/>
                </a:lnTo>
                <a:close/>
                <a:moveTo>
                  <a:pt x="66154" y="20962"/>
                </a:moveTo>
                <a:lnTo>
                  <a:pt x="65962" y="21154"/>
                </a:lnTo>
                <a:lnTo>
                  <a:pt x="65769" y="21346"/>
                </a:lnTo>
                <a:lnTo>
                  <a:pt x="64615" y="21346"/>
                </a:lnTo>
                <a:lnTo>
                  <a:pt x="64423" y="21538"/>
                </a:lnTo>
                <a:lnTo>
                  <a:pt x="64231" y="21731"/>
                </a:lnTo>
                <a:lnTo>
                  <a:pt x="63846" y="21731"/>
                </a:lnTo>
                <a:lnTo>
                  <a:pt x="63462" y="21731"/>
                </a:lnTo>
                <a:lnTo>
                  <a:pt x="62692" y="22115"/>
                </a:lnTo>
                <a:lnTo>
                  <a:pt x="60192" y="24231"/>
                </a:lnTo>
                <a:lnTo>
                  <a:pt x="59423" y="25769"/>
                </a:lnTo>
                <a:lnTo>
                  <a:pt x="59423" y="26923"/>
                </a:lnTo>
                <a:lnTo>
                  <a:pt x="59231" y="27115"/>
                </a:lnTo>
                <a:lnTo>
                  <a:pt x="59038" y="27308"/>
                </a:lnTo>
                <a:lnTo>
                  <a:pt x="59038" y="28846"/>
                </a:lnTo>
                <a:lnTo>
                  <a:pt x="59231" y="29038"/>
                </a:lnTo>
                <a:lnTo>
                  <a:pt x="59423" y="29231"/>
                </a:lnTo>
                <a:lnTo>
                  <a:pt x="59423" y="29615"/>
                </a:lnTo>
                <a:lnTo>
                  <a:pt x="59423" y="30000"/>
                </a:lnTo>
                <a:lnTo>
                  <a:pt x="59615" y="30192"/>
                </a:lnTo>
                <a:lnTo>
                  <a:pt x="60000" y="30192"/>
                </a:lnTo>
                <a:lnTo>
                  <a:pt x="60962" y="28077"/>
                </a:lnTo>
                <a:lnTo>
                  <a:pt x="62692" y="26346"/>
                </a:lnTo>
                <a:lnTo>
                  <a:pt x="63077" y="26346"/>
                </a:lnTo>
                <a:lnTo>
                  <a:pt x="64615" y="27500"/>
                </a:lnTo>
                <a:lnTo>
                  <a:pt x="65769" y="27500"/>
                </a:lnTo>
                <a:lnTo>
                  <a:pt x="65962" y="27692"/>
                </a:lnTo>
                <a:lnTo>
                  <a:pt x="66154" y="27885"/>
                </a:lnTo>
                <a:lnTo>
                  <a:pt x="66923" y="27500"/>
                </a:lnTo>
                <a:lnTo>
                  <a:pt x="67308" y="27500"/>
                </a:lnTo>
                <a:lnTo>
                  <a:pt x="67692" y="27500"/>
                </a:lnTo>
                <a:lnTo>
                  <a:pt x="69231" y="26346"/>
                </a:lnTo>
                <a:lnTo>
                  <a:pt x="70000" y="25962"/>
                </a:lnTo>
                <a:lnTo>
                  <a:pt x="70385" y="25962"/>
                </a:lnTo>
                <a:lnTo>
                  <a:pt x="70769" y="25962"/>
                </a:lnTo>
                <a:lnTo>
                  <a:pt x="72500" y="29615"/>
                </a:lnTo>
                <a:lnTo>
                  <a:pt x="73846" y="30962"/>
                </a:lnTo>
                <a:lnTo>
                  <a:pt x="74038" y="30769"/>
                </a:lnTo>
                <a:lnTo>
                  <a:pt x="74038" y="26154"/>
                </a:lnTo>
                <a:lnTo>
                  <a:pt x="73269" y="24615"/>
                </a:lnTo>
                <a:lnTo>
                  <a:pt x="70769" y="22115"/>
                </a:lnTo>
                <a:lnTo>
                  <a:pt x="69231" y="21346"/>
                </a:lnTo>
                <a:lnTo>
                  <a:pt x="68077" y="21346"/>
                </a:lnTo>
                <a:lnTo>
                  <a:pt x="67885" y="21154"/>
                </a:lnTo>
                <a:lnTo>
                  <a:pt x="67692" y="20962"/>
                </a:lnTo>
                <a:lnTo>
                  <a:pt x="66154" y="20962"/>
                </a:lnTo>
                <a:close/>
                <a:moveTo>
                  <a:pt x="34615" y="22500"/>
                </a:moveTo>
                <a:lnTo>
                  <a:pt x="34423" y="22692"/>
                </a:lnTo>
                <a:lnTo>
                  <a:pt x="34231" y="22885"/>
                </a:lnTo>
                <a:lnTo>
                  <a:pt x="33846" y="22885"/>
                </a:lnTo>
                <a:lnTo>
                  <a:pt x="33462" y="22885"/>
                </a:lnTo>
                <a:lnTo>
                  <a:pt x="31923" y="23654"/>
                </a:lnTo>
                <a:lnTo>
                  <a:pt x="30192" y="25385"/>
                </a:lnTo>
                <a:lnTo>
                  <a:pt x="30192" y="25769"/>
                </a:lnTo>
                <a:lnTo>
                  <a:pt x="29423" y="26538"/>
                </a:lnTo>
                <a:lnTo>
                  <a:pt x="29038" y="27308"/>
                </a:lnTo>
                <a:lnTo>
                  <a:pt x="29038" y="27692"/>
                </a:lnTo>
                <a:lnTo>
                  <a:pt x="29038" y="28077"/>
                </a:lnTo>
                <a:lnTo>
                  <a:pt x="28846" y="28269"/>
                </a:lnTo>
                <a:lnTo>
                  <a:pt x="28654" y="28462"/>
                </a:lnTo>
                <a:lnTo>
                  <a:pt x="28654" y="29615"/>
                </a:lnTo>
                <a:lnTo>
                  <a:pt x="28462" y="29808"/>
                </a:lnTo>
                <a:lnTo>
                  <a:pt x="28269" y="30000"/>
                </a:lnTo>
                <a:lnTo>
                  <a:pt x="28269" y="33846"/>
                </a:lnTo>
                <a:lnTo>
                  <a:pt x="28462" y="34038"/>
                </a:lnTo>
                <a:lnTo>
                  <a:pt x="28846" y="34038"/>
                </a:lnTo>
                <a:lnTo>
                  <a:pt x="29231" y="32885"/>
                </a:lnTo>
                <a:lnTo>
                  <a:pt x="30385" y="32885"/>
                </a:lnTo>
                <a:lnTo>
                  <a:pt x="30577" y="32692"/>
                </a:lnTo>
                <a:lnTo>
                  <a:pt x="30769" y="32500"/>
                </a:lnTo>
                <a:lnTo>
                  <a:pt x="31154" y="32500"/>
                </a:lnTo>
                <a:lnTo>
                  <a:pt x="31538" y="32500"/>
                </a:lnTo>
                <a:lnTo>
                  <a:pt x="31731" y="32308"/>
                </a:lnTo>
                <a:lnTo>
                  <a:pt x="31923" y="32115"/>
                </a:lnTo>
                <a:lnTo>
                  <a:pt x="33846" y="31731"/>
                </a:lnTo>
                <a:lnTo>
                  <a:pt x="35385" y="30577"/>
                </a:lnTo>
                <a:lnTo>
                  <a:pt x="35769" y="30577"/>
                </a:lnTo>
                <a:lnTo>
                  <a:pt x="37115" y="29231"/>
                </a:lnTo>
                <a:lnTo>
                  <a:pt x="38077" y="27115"/>
                </a:lnTo>
                <a:lnTo>
                  <a:pt x="38269" y="26923"/>
                </a:lnTo>
                <a:lnTo>
                  <a:pt x="38462" y="26731"/>
                </a:lnTo>
                <a:lnTo>
                  <a:pt x="38846" y="26731"/>
                </a:lnTo>
                <a:lnTo>
                  <a:pt x="39038" y="26923"/>
                </a:lnTo>
                <a:lnTo>
                  <a:pt x="39038" y="28846"/>
                </a:lnTo>
                <a:lnTo>
                  <a:pt x="39423" y="29615"/>
                </a:lnTo>
                <a:lnTo>
                  <a:pt x="41923" y="32115"/>
                </a:lnTo>
                <a:lnTo>
                  <a:pt x="44615" y="33269"/>
                </a:lnTo>
                <a:lnTo>
                  <a:pt x="44808" y="33077"/>
                </a:lnTo>
                <a:lnTo>
                  <a:pt x="44808" y="30000"/>
                </a:lnTo>
                <a:lnTo>
                  <a:pt x="44615" y="29808"/>
                </a:lnTo>
                <a:lnTo>
                  <a:pt x="44423" y="29615"/>
                </a:lnTo>
                <a:lnTo>
                  <a:pt x="44423" y="28462"/>
                </a:lnTo>
                <a:lnTo>
                  <a:pt x="43654" y="27308"/>
                </a:lnTo>
                <a:lnTo>
                  <a:pt x="43654" y="26923"/>
                </a:lnTo>
                <a:lnTo>
                  <a:pt x="43654" y="26538"/>
                </a:lnTo>
                <a:lnTo>
                  <a:pt x="42885" y="25769"/>
                </a:lnTo>
                <a:lnTo>
                  <a:pt x="42885" y="25385"/>
                </a:lnTo>
                <a:lnTo>
                  <a:pt x="41538" y="24038"/>
                </a:lnTo>
                <a:lnTo>
                  <a:pt x="40769" y="23654"/>
                </a:lnTo>
                <a:lnTo>
                  <a:pt x="39231" y="23654"/>
                </a:lnTo>
                <a:lnTo>
                  <a:pt x="37692" y="22500"/>
                </a:lnTo>
                <a:lnTo>
                  <a:pt x="34615" y="22500"/>
                </a:lnTo>
                <a:close/>
                <a:moveTo>
                  <a:pt x="63077" y="27500"/>
                </a:moveTo>
                <a:lnTo>
                  <a:pt x="62115" y="28462"/>
                </a:lnTo>
                <a:lnTo>
                  <a:pt x="62115" y="28846"/>
                </a:lnTo>
                <a:lnTo>
                  <a:pt x="61346" y="29615"/>
                </a:lnTo>
                <a:lnTo>
                  <a:pt x="60577" y="31154"/>
                </a:lnTo>
                <a:lnTo>
                  <a:pt x="59423" y="31923"/>
                </a:lnTo>
                <a:lnTo>
                  <a:pt x="59423" y="33077"/>
                </a:lnTo>
                <a:lnTo>
                  <a:pt x="59615" y="33269"/>
                </a:lnTo>
                <a:lnTo>
                  <a:pt x="59808" y="33462"/>
                </a:lnTo>
                <a:lnTo>
                  <a:pt x="59808" y="35000"/>
                </a:lnTo>
                <a:lnTo>
                  <a:pt x="60000" y="35192"/>
                </a:lnTo>
                <a:lnTo>
                  <a:pt x="60192" y="35385"/>
                </a:lnTo>
                <a:lnTo>
                  <a:pt x="60577" y="37308"/>
                </a:lnTo>
                <a:lnTo>
                  <a:pt x="61346" y="38846"/>
                </a:lnTo>
                <a:lnTo>
                  <a:pt x="63846" y="41346"/>
                </a:lnTo>
                <a:lnTo>
                  <a:pt x="65385" y="42115"/>
                </a:lnTo>
                <a:lnTo>
                  <a:pt x="67308" y="42115"/>
                </a:lnTo>
                <a:lnTo>
                  <a:pt x="69615" y="40962"/>
                </a:lnTo>
                <a:lnTo>
                  <a:pt x="71731" y="38846"/>
                </a:lnTo>
                <a:lnTo>
                  <a:pt x="71731" y="38462"/>
                </a:lnTo>
                <a:lnTo>
                  <a:pt x="72500" y="37692"/>
                </a:lnTo>
                <a:lnTo>
                  <a:pt x="72500" y="37308"/>
                </a:lnTo>
                <a:lnTo>
                  <a:pt x="72500" y="36923"/>
                </a:lnTo>
                <a:lnTo>
                  <a:pt x="73269" y="35385"/>
                </a:lnTo>
                <a:lnTo>
                  <a:pt x="73269" y="34231"/>
                </a:lnTo>
                <a:lnTo>
                  <a:pt x="73462" y="34038"/>
                </a:lnTo>
                <a:lnTo>
                  <a:pt x="73654" y="33846"/>
                </a:lnTo>
                <a:lnTo>
                  <a:pt x="73654" y="31923"/>
                </a:lnTo>
                <a:lnTo>
                  <a:pt x="73462" y="31731"/>
                </a:lnTo>
                <a:lnTo>
                  <a:pt x="73077" y="31731"/>
                </a:lnTo>
                <a:lnTo>
                  <a:pt x="71731" y="30385"/>
                </a:lnTo>
                <a:lnTo>
                  <a:pt x="70385" y="27500"/>
                </a:lnTo>
                <a:lnTo>
                  <a:pt x="70000" y="27500"/>
                </a:lnTo>
                <a:lnTo>
                  <a:pt x="69615" y="27500"/>
                </a:lnTo>
                <a:lnTo>
                  <a:pt x="68462" y="28269"/>
                </a:lnTo>
                <a:lnTo>
                  <a:pt x="64231" y="28269"/>
                </a:lnTo>
                <a:lnTo>
                  <a:pt x="63462" y="27500"/>
                </a:lnTo>
                <a:lnTo>
                  <a:pt x="63077" y="27500"/>
                </a:lnTo>
                <a:close/>
                <a:moveTo>
                  <a:pt x="38077" y="29423"/>
                </a:moveTo>
                <a:lnTo>
                  <a:pt x="35385" y="32115"/>
                </a:lnTo>
                <a:lnTo>
                  <a:pt x="33846" y="32885"/>
                </a:lnTo>
                <a:lnTo>
                  <a:pt x="33462" y="32885"/>
                </a:lnTo>
                <a:lnTo>
                  <a:pt x="33077" y="32885"/>
                </a:lnTo>
                <a:lnTo>
                  <a:pt x="32885" y="33077"/>
                </a:lnTo>
                <a:lnTo>
                  <a:pt x="32692" y="33269"/>
                </a:lnTo>
                <a:lnTo>
                  <a:pt x="30769" y="33654"/>
                </a:lnTo>
                <a:lnTo>
                  <a:pt x="30192" y="34231"/>
                </a:lnTo>
                <a:lnTo>
                  <a:pt x="30577" y="35000"/>
                </a:lnTo>
                <a:lnTo>
                  <a:pt x="30577" y="36538"/>
                </a:lnTo>
                <a:lnTo>
                  <a:pt x="30769" y="36731"/>
                </a:lnTo>
                <a:lnTo>
                  <a:pt x="30962" y="36923"/>
                </a:lnTo>
                <a:lnTo>
                  <a:pt x="30962" y="37308"/>
                </a:lnTo>
                <a:lnTo>
                  <a:pt x="30962" y="37692"/>
                </a:lnTo>
                <a:lnTo>
                  <a:pt x="31731" y="39231"/>
                </a:lnTo>
                <a:lnTo>
                  <a:pt x="32885" y="40385"/>
                </a:lnTo>
                <a:lnTo>
                  <a:pt x="32885" y="40769"/>
                </a:lnTo>
                <a:lnTo>
                  <a:pt x="33077" y="40962"/>
                </a:lnTo>
                <a:lnTo>
                  <a:pt x="33462" y="40962"/>
                </a:lnTo>
                <a:lnTo>
                  <a:pt x="34231" y="41731"/>
                </a:lnTo>
                <a:lnTo>
                  <a:pt x="34615" y="41731"/>
                </a:lnTo>
                <a:lnTo>
                  <a:pt x="34808" y="41923"/>
                </a:lnTo>
                <a:lnTo>
                  <a:pt x="35000" y="42115"/>
                </a:lnTo>
                <a:lnTo>
                  <a:pt x="37692" y="42115"/>
                </a:lnTo>
                <a:lnTo>
                  <a:pt x="38462" y="41731"/>
                </a:lnTo>
                <a:lnTo>
                  <a:pt x="39615" y="40577"/>
                </a:lnTo>
                <a:lnTo>
                  <a:pt x="40000" y="40577"/>
                </a:lnTo>
                <a:lnTo>
                  <a:pt x="40962" y="39615"/>
                </a:lnTo>
                <a:lnTo>
                  <a:pt x="41731" y="38077"/>
                </a:lnTo>
                <a:lnTo>
                  <a:pt x="42115" y="36154"/>
                </a:lnTo>
                <a:lnTo>
                  <a:pt x="42308" y="35962"/>
                </a:lnTo>
                <a:lnTo>
                  <a:pt x="42500" y="35769"/>
                </a:lnTo>
                <a:lnTo>
                  <a:pt x="42500" y="33462"/>
                </a:lnTo>
                <a:lnTo>
                  <a:pt x="41154" y="32885"/>
                </a:lnTo>
                <a:lnTo>
                  <a:pt x="39423" y="31154"/>
                </a:lnTo>
                <a:lnTo>
                  <a:pt x="38654" y="29615"/>
                </a:lnTo>
                <a:lnTo>
                  <a:pt x="38462" y="29423"/>
                </a:lnTo>
                <a:lnTo>
                  <a:pt x="38077" y="29423"/>
                </a:lnTo>
                <a:close/>
                <a:moveTo>
                  <a:pt x="58077" y="32885"/>
                </a:moveTo>
                <a:lnTo>
                  <a:pt x="57500" y="33846"/>
                </a:lnTo>
                <a:lnTo>
                  <a:pt x="57692" y="34038"/>
                </a:lnTo>
                <a:lnTo>
                  <a:pt x="57885" y="34231"/>
                </a:lnTo>
                <a:lnTo>
                  <a:pt x="57885" y="34615"/>
                </a:lnTo>
                <a:lnTo>
                  <a:pt x="57885" y="35000"/>
                </a:lnTo>
                <a:lnTo>
                  <a:pt x="58462" y="35962"/>
                </a:lnTo>
                <a:lnTo>
                  <a:pt x="58846" y="35962"/>
                </a:lnTo>
                <a:lnTo>
                  <a:pt x="59038" y="35769"/>
                </a:lnTo>
                <a:lnTo>
                  <a:pt x="59038" y="35385"/>
                </a:lnTo>
                <a:lnTo>
                  <a:pt x="59038" y="35000"/>
                </a:lnTo>
                <a:lnTo>
                  <a:pt x="58846" y="34808"/>
                </a:lnTo>
                <a:lnTo>
                  <a:pt x="58654" y="34615"/>
                </a:lnTo>
                <a:lnTo>
                  <a:pt x="58654" y="33077"/>
                </a:lnTo>
                <a:lnTo>
                  <a:pt x="58462" y="32885"/>
                </a:lnTo>
                <a:lnTo>
                  <a:pt x="58077" y="32885"/>
                </a:lnTo>
                <a:close/>
                <a:moveTo>
                  <a:pt x="74615" y="32885"/>
                </a:moveTo>
                <a:lnTo>
                  <a:pt x="74423" y="33846"/>
                </a:lnTo>
                <a:lnTo>
                  <a:pt x="74231" y="34038"/>
                </a:lnTo>
                <a:lnTo>
                  <a:pt x="74038" y="34231"/>
                </a:lnTo>
                <a:lnTo>
                  <a:pt x="74038" y="35385"/>
                </a:lnTo>
                <a:lnTo>
                  <a:pt x="74231" y="35577"/>
                </a:lnTo>
                <a:lnTo>
                  <a:pt x="74423" y="35385"/>
                </a:lnTo>
                <a:lnTo>
                  <a:pt x="74615" y="35192"/>
                </a:lnTo>
                <a:lnTo>
                  <a:pt x="75577" y="33846"/>
                </a:lnTo>
                <a:lnTo>
                  <a:pt x="75192" y="33077"/>
                </a:lnTo>
                <a:lnTo>
                  <a:pt x="75000" y="32885"/>
                </a:lnTo>
                <a:lnTo>
                  <a:pt x="74615" y="32885"/>
                </a:lnTo>
                <a:close/>
                <a:moveTo>
                  <a:pt x="43462" y="34423"/>
                </a:moveTo>
                <a:lnTo>
                  <a:pt x="43269" y="34615"/>
                </a:lnTo>
                <a:lnTo>
                  <a:pt x="43269" y="35000"/>
                </a:lnTo>
                <a:lnTo>
                  <a:pt x="43462" y="35192"/>
                </a:lnTo>
                <a:lnTo>
                  <a:pt x="43846" y="35192"/>
                </a:lnTo>
                <a:lnTo>
                  <a:pt x="44038" y="35000"/>
                </a:lnTo>
                <a:lnTo>
                  <a:pt x="44038" y="34615"/>
                </a:lnTo>
                <a:lnTo>
                  <a:pt x="43846" y="34423"/>
                </a:lnTo>
                <a:lnTo>
                  <a:pt x="43462" y="34423"/>
                </a:lnTo>
                <a:close/>
                <a:moveTo>
                  <a:pt x="28077" y="34808"/>
                </a:moveTo>
                <a:lnTo>
                  <a:pt x="27885" y="35769"/>
                </a:lnTo>
                <a:lnTo>
                  <a:pt x="27692" y="35962"/>
                </a:lnTo>
                <a:lnTo>
                  <a:pt x="27500" y="36154"/>
                </a:lnTo>
                <a:lnTo>
                  <a:pt x="27500" y="36538"/>
                </a:lnTo>
                <a:lnTo>
                  <a:pt x="27500" y="36923"/>
                </a:lnTo>
                <a:lnTo>
                  <a:pt x="27308" y="37115"/>
                </a:lnTo>
                <a:lnTo>
                  <a:pt x="27115" y="37308"/>
                </a:lnTo>
                <a:lnTo>
                  <a:pt x="27115" y="37692"/>
                </a:lnTo>
                <a:lnTo>
                  <a:pt x="27115" y="38077"/>
                </a:lnTo>
                <a:lnTo>
                  <a:pt x="25962" y="40000"/>
                </a:lnTo>
                <a:lnTo>
                  <a:pt x="25962" y="43846"/>
                </a:lnTo>
                <a:lnTo>
                  <a:pt x="26154" y="44038"/>
                </a:lnTo>
                <a:lnTo>
                  <a:pt x="26346" y="44231"/>
                </a:lnTo>
                <a:lnTo>
                  <a:pt x="26538" y="45192"/>
                </a:lnTo>
                <a:lnTo>
                  <a:pt x="27692" y="45192"/>
                </a:lnTo>
                <a:lnTo>
                  <a:pt x="27885" y="45000"/>
                </a:lnTo>
                <a:lnTo>
                  <a:pt x="28077" y="44808"/>
                </a:lnTo>
                <a:lnTo>
                  <a:pt x="30000" y="44423"/>
                </a:lnTo>
                <a:lnTo>
                  <a:pt x="30385" y="44423"/>
                </a:lnTo>
                <a:lnTo>
                  <a:pt x="30769" y="44423"/>
                </a:lnTo>
                <a:lnTo>
                  <a:pt x="32115" y="43462"/>
                </a:lnTo>
                <a:lnTo>
                  <a:pt x="32115" y="41538"/>
                </a:lnTo>
                <a:lnTo>
                  <a:pt x="30577" y="39615"/>
                </a:lnTo>
                <a:lnTo>
                  <a:pt x="30192" y="38846"/>
                </a:lnTo>
                <a:lnTo>
                  <a:pt x="30192" y="38462"/>
                </a:lnTo>
                <a:lnTo>
                  <a:pt x="30192" y="38077"/>
                </a:lnTo>
                <a:lnTo>
                  <a:pt x="28654" y="36538"/>
                </a:lnTo>
                <a:lnTo>
                  <a:pt x="28654" y="36154"/>
                </a:lnTo>
                <a:lnTo>
                  <a:pt x="28846" y="35962"/>
                </a:lnTo>
                <a:lnTo>
                  <a:pt x="29231" y="35962"/>
                </a:lnTo>
                <a:lnTo>
                  <a:pt x="29423" y="35769"/>
                </a:lnTo>
                <a:lnTo>
                  <a:pt x="29423" y="35385"/>
                </a:lnTo>
                <a:lnTo>
                  <a:pt x="28077" y="34808"/>
                </a:lnTo>
                <a:close/>
                <a:moveTo>
                  <a:pt x="44615" y="34808"/>
                </a:moveTo>
                <a:lnTo>
                  <a:pt x="44423" y="36154"/>
                </a:lnTo>
                <a:lnTo>
                  <a:pt x="42885" y="37308"/>
                </a:lnTo>
                <a:lnTo>
                  <a:pt x="41731" y="40000"/>
                </a:lnTo>
                <a:lnTo>
                  <a:pt x="40577" y="41154"/>
                </a:lnTo>
                <a:lnTo>
                  <a:pt x="40577" y="43462"/>
                </a:lnTo>
                <a:lnTo>
                  <a:pt x="41538" y="44423"/>
                </a:lnTo>
                <a:lnTo>
                  <a:pt x="41923" y="44423"/>
                </a:lnTo>
                <a:lnTo>
                  <a:pt x="42500" y="43846"/>
                </a:lnTo>
                <a:lnTo>
                  <a:pt x="42500" y="43462"/>
                </a:lnTo>
                <a:lnTo>
                  <a:pt x="42500" y="43077"/>
                </a:lnTo>
                <a:lnTo>
                  <a:pt x="45962" y="39615"/>
                </a:lnTo>
                <a:lnTo>
                  <a:pt x="45962" y="37692"/>
                </a:lnTo>
                <a:lnTo>
                  <a:pt x="45769" y="37500"/>
                </a:lnTo>
                <a:lnTo>
                  <a:pt x="45577" y="37308"/>
                </a:lnTo>
                <a:lnTo>
                  <a:pt x="45577" y="35385"/>
                </a:lnTo>
                <a:lnTo>
                  <a:pt x="45000" y="34808"/>
                </a:lnTo>
                <a:lnTo>
                  <a:pt x="44615" y="34808"/>
                </a:lnTo>
                <a:close/>
                <a:moveTo>
                  <a:pt x="48077" y="39808"/>
                </a:moveTo>
                <a:lnTo>
                  <a:pt x="46538" y="40577"/>
                </a:lnTo>
                <a:lnTo>
                  <a:pt x="45769" y="41346"/>
                </a:lnTo>
                <a:lnTo>
                  <a:pt x="45385" y="41346"/>
                </a:lnTo>
                <a:lnTo>
                  <a:pt x="44038" y="42692"/>
                </a:lnTo>
                <a:lnTo>
                  <a:pt x="42885" y="45000"/>
                </a:lnTo>
                <a:lnTo>
                  <a:pt x="42885" y="46923"/>
                </a:lnTo>
                <a:lnTo>
                  <a:pt x="42692" y="47115"/>
                </a:lnTo>
                <a:lnTo>
                  <a:pt x="42500" y="47308"/>
                </a:lnTo>
                <a:lnTo>
                  <a:pt x="42500" y="47692"/>
                </a:lnTo>
                <a:lnTo>
                  <a:pt x="42500" y="48077"/>
                </a:lnTo>
                <a:lnTo>
                  <a:pt x="43077" y="48654"/>
                </a:lnTo>
                <a:lnTo>
                  <a:pt x="43269" y="48462"/>
                </a:lnTo>
                <a:lnTo>
                  <a:pt x="43462" y="48269"/>
                </a:lnTo>
                <a:lnTo>
                  <a:pt x="43846" y="48269"/>
                </a:lnTo>
                <a:lnTo>
                  <a:pt x="44231" y="48269"/>
                </a:lnTo>
                <a:lnTo>
                  <a:pt x="45769" y="47500"/>
                </a:lnTo>
                <a:lnTo>
                  <a:pt x="46538" y="46731"/>
                </a:lnTo>
                <a:lnTo>
                  <a:pt x="46923" y="46731"/>
                </a:lnTo>
                <a:lnTo>
                  <a:pt x="47115" y="46538"/>
                </a:lnTo>
                <a:lnTo>
                  <a:pt x="47115" y="46154"/>
                </a:lnTo>
                <a:lnTo>
                  <a:pt x="46346" y="45769"/>
                </a:lnTo>
                <a:lnTo>
                  <a:pt x="46923" y="45192"/>
                </a:lnTo>
                <a:lnTo>
                  <a:pt x="48077" y="45192"/>
                </a:lnTo>
                <a:lnTo>
                  <a:pt x="48269" y="45385"/>
                </a:lnTo>
                <a:lnTo>
                  <a:pt x="48462" y="45577"/>
                </a:lnTo>
                <a:lnTo>
                  <a:pt x="48654" y="45385"/>
                </a:lnTo>
                <a:lnTo>
                  <a:pt x="48846" y="45192"/>
                </a:lnTo>
                <a:lnTo>
                  <a:pt x="49231" y="45192"/>
                </a:lnTo>
                <a:lnTo>
                  <a:pt x="49615" y="45192"/>
                </a:lnTo>
                <a:lnTo>
                  <a:pt x="49808" y="45385"/>
                </a:lnTo>
                <a:lnTo>
                  <a:pt x="50000" y="45577"/>
                </a:lnTo>
                <a:lnTo>
                  <a:pt x="51154" y="45192"/>
                </a:lnTo>
                <a:lnTo>
                  <a:pt x="52308" y="44038"/>
                </a:lnTo>
                <a:lnTo>
                  <a:pt x="52885" y="44615"/>
                </a:lnTo>
                <a:lnTo>
                  <a:pt x="52885" y="45000"/>
                </a:lnTo>
                <a:lnTo>
                  <a:pt x="52885" y="45385"/>
                </a:lnTo>
                <a:lnTo>
                  <a:pt x="53269" y="46154"/>
                </a:lnTo>
                <a:lnTo>
                  <a:pt x="54615" y="47500"/>
                </a:lnTo>
                <a:lnTo>
                  <a:pt x="56154" y="48269"/>
                </a:lnTo>
                <a:lnTo>
                  <a:pt x="57308" y="48269"/>
                </a:lnTo>
                <a:lnTo>
                  <a:pt x="57500" y="46923"/>
                </a:lnTo>
                <a:lnTo>
                  <a:pt x="57308" y="46731"/>
                </a:lnTo>
                <a:lnTo>
                  <a:pt x="57115" y="46538"/>
                </a:lnTo>
                <a:lnTo>
                  <a:pt x="57115" y="44615"/>
                </a:lnTo>
                <a:lnTo>
                  <a:pt x="56346" y="43077"/>
                </a:lnTo>
                <a:lnTo>
                  <a:pt x="53846" y="40577"/>
                </a:lnTo>
                <a:lnTo>
                  <a:pt x="53077" y="40192"/>
                </a:lnTo>
                <a:lnTo>
                  <a:pt x="52692" y="40192"/>
                </a:lnTo>
                <a:lnTo>
                  <a:pt x="52308" y="40192"/>
                </a:lnTo>
                <a:lnTo>
                  <a:pt x="52115" y="40000"/>
                </a:lnTo>
                <a:lnTo>
                  <a:pt x="51923" y="39808"/>
                </a:lnTo>
                <a:lnTo>
                  <a:pt x="48077" y="39808"/>
                </a:lnTo>
                <a:close/>
                <a:moveTo>
                  <a:pt x="63077" y="41731"/>
                </a:moveTo>
                <a:lnTo>
                  <a:pt x="62500" y="42308"/>
                </a:lnTo>
                <a:lnTo>
                  <a:pt x="62500" y="43462"/>
                </a:lnTo>
                <a:lnTo>
                  <a:pt x="61731" y="44231"/>
                </a:lnTo>
                <a:lnTo>
                  <a:pt x="61731" y="44615"/>
                </a:lnTo>
                <a:lnTo>
                  <a:pt x="61731" y="45000"/>
                </a:lnTo>
                <a:lnTo>
                  <a:pt x="62115" y="45769"/>
                </a:lnTo>
                <a:lnTo>
                  <a:pt x="63462" y="47115"/>
                </a:lnTo>
                <a:lnTo>
                  <a:pt x="65000" y="47885"/>
                </a:lnTo>
                <a:lnTo>
                  <a:pt x="68077" y="47885"/>
                </a:lnTo>
                <a:lnTo>
                  <a:pt x="69808" y="46923"/>
                </a:lnTo>
                <a:lnTo>
                  <a:pt x="71346" y="45385"/>
                </a:lnTo>
                <a:lnTo>
                  <a:pt x="71346" y="45000"/>
                </a:lnTo>
                <a:lnTo>
                  <a:pt x="71346" y="44615"/>
                </a:lnTo>
                <a:lnTo>
                  <a:pt x="70192" y="43462"/>
                </a:lnTo>
                <a:lnTo>
                  <a:pt x="70000" y="42115"/>
                </a:lnTo>
                <a:lnTo>
                  <a:pt x="68846" y="42115"/>
                </a:lnTo>
                <a:lnTo>
                  <a:pt x="67308" y="42885"/>
                </a:lnTo>
                <a:lnTo>
                  <a:pt x="65769" y="42885"/>
                </a:lnTo>
                <a:lnTo>
                  <a:pt x="65577" y="42692"/>
                </a:lnTo>
                <a:lnTo>
                  <a:pt x="65385" y="42500"/>
                </a:lnTo>
                <a:lnTo>
                  <a:pt x="65000" y="42500"/>
                </a:lnTo>
                <a:lnTo>
                  <a:pt x="64615" y="42500"/>
                </a:lnTo>
                <a:lnTo>
                  <a:pt x="63077" y="41731"/>
                </a:lnTo>
                <a:close/>
                <a:moveTo>
                  <a:pt x="33462" y="42115"/>
                </a:moveTo>
                <a:lnTo>
                  <a:pt x="32885" y="42692"/>
                </a:lnTo>
                <a:lnTo>
                  <a:pt x="32885" y="43846"/>
                </a:lnTo>
                <a:lnTo>
                  <a:pt x="30962" y="45385"/>
                </a:lnTo>
                <a:lnTo>
                  <a:pt x="31346" y="46154"/>
                </a:lnTo>
                <a:lnTo>
                  <a:pt x="31346" y="46538"/>
                </a:lnTo>
                <a:lnTo>
                  <a:pt x="31346" y="46923"/>
                </a:lnTo>
                <a:lnTo>
                  <a:pt x="31538" y="47115"/>
                </a:lnTo>
                <a:lnTo>
                  <a:pt x="31731" y="47308"/>
                </a:lnTo>
                <a:lnTo>
                  <a:pt x="31731" y="48462"/>
                </a:lnTo>
                <a:lnTo>
                  <a:pt x="32500" y="50000"/>
                </a:lnTo>
                <a:lnTo>
                  <a:pt x="33846" y="51346"/>
                </a:lnTo>
                <a:lnTo>
                  <a:pt x="35385" y="52115"/>
                </a:lnTo>
                <a:lnTo>
                  <a:pt x="37692" y="52115"/>
                </a:lnTo>
                <a:lnTo>
                  <a:pt x="39231" y="50962"/>
                </a:lnTo>
                <a:lnTo>
                  <a:pt x="39615" y="50962"/>
                </a:lnTo>
                <a:lnTo>
                  <a:pt x="40577" y="50000"/>
                </a:lnTo>
                <a:lnTo>
                  <a:pt x="40577" y="49615"/>
                </a:lnTo>
                <a:lnTo>
                  <a:pt x="41731" y="48077"/>
                </a:lnTo>
                <a:lnTo>
                  <a:pt x="41731" y="45769"/>
                </a:lnTo>
                <a:lnTo>
                  <a:pt x="41154" y="45192"/>
                </a:lnTo>
                <a:lnTo>
                  <a:pt x="40769" y="45192"/>
                </a:lnTo>
                <a:lnTo>
                  <a:pt x="40385" y="45192"/>
                </a:lnTo>
                <a:lnTo>
                  <a:pt x="39808" y="44615"/>
                </a:lnTo>
                <a:lnTo>
                  <a:pt x="39808" y="42308"/>
                </a:lnTo>
                <a:lnTo>
                  <a:pt x="39615" y="42115"/>
                </a:lnTo>
                <a:lnTo>
                  <a:pt x="39231" y="42115"/>
                </a:lnTo>
                <a:lnTo>
                  <a:pt x="38077" y="42885"/>
                </a:lnTo>
                <a:lnTo>
                  <a:pt x="36154" y="43269"/>
                </a:lnTo>
                <a:lnTo>
                  <a:pt x="35962" y="43077"/>
                </a:lnTo>
                <a:lnTo>
                  <a:pt x="35769" y="42885"/>
                </a:lnTo>
                <a:lnTo>
                  <a:pt x="34615" y="42885"/>
                </a:lnTo>
                <a:lnTo>
                  <a:pt x="33462" y="42115"/>
                </a:lnTo>
                <a:close/>
                <a:moveTo>
                  <a:pt x="52308" y="45577"/>
                </a:moveTo>
                <a:lnTo>
                  <a:pt x="51538" y="46346"/>
                </a:lnTo>
                <a:lnTo>
                  <a:pt x="49231" y="46346"/>
                </a:lnTo>
                <a:lnTo>
                  <a:pt x="47692" y="47115"/>
                </a:lnTo>
                <a:lnTo>
                  <a:pt x="46923" y="47885"/>
                </a:lnTo>
                <a:lnTo>
                  <a:pt x="44038" y="49231"/>
                </a:lnTo>
                <a:lnTo>
                  <a:pt x="44423" y="50000"/>
                </a:lnTo>
                <a:lnTo>
                  <a:pt x="44423" y="51923"/>
                </a:lnTo>
                <a:lnTo>
                  <a:pt x="45192" y="53462"/>
                </a:lnTo>
                <a:lnTo>
                  <a:pt x="47692" y="55962"/>
                </a:lnTo>
                <a:lnTo>
                  <a:pt x="48077" y="55962"/>
                </a:lnTo>
                <a:lnTo>
                  <a:pt x="48462" y="55962"/>
                </a:lnTo>
                <a:lnTo>
                  <a:pt x="48654" y="56154"/>
                </a:lnTo>
                <a:lnTo>
                  <a:pt x="48846" y="56346"/>
                </a:lnTo>
                <a:lnTo>
                  <a:pt x="50769" y="56346"/>
                </a:lnTo>
                <a:lnTo>
                  <a:pt x="52308" y="55577"/>
                </a:lnTo>
                <a:lnTo>
                  <a:pt x="53077" y="54808"/>
                </a:lnTo>
                <a:lnTo>
                  <a:pt x="53462" y="54808"/>
                </a:lnTo>
                <a:lnTo>
                  <a:pt x="54808" y="52692"/>
                </a:lnTo>
                <a:lnTo>
                  <a:pt x="55577" y="48846"/>
                </a:lnTo>
                <a:lnTo>
                  <a:pt x="54231" y="48269"/>
                </a:lnTo>
                <a:lnTo>
                  <a:pt x="52885" y="46923"/>
                </a:lnTo>
                <a:lnTo>
                  <a:pt x="52308" y="45577"/>
                </a:lnTo>
                <a:close/>
                <a:moveTo>
                  <a:pt x="58077" y="50577"/>
                </a:moveTo>
                <a:lnTo>
                  <a:pt x="57500" y="51154"/>
                </a:lnTo>
                <a:lnTo>
                  <a:pt x="57500" y="51538"/>
                </a:lnTo>
                <a:lnTo>
                  <a:pt x="56154" y="52885"/>
                </a:lnTo>
                <a:lnTo>
                  <a:pt x="55769" y="52885"/>
                </a:lnTo>
                <a:lnTo>
                  <a:pt x="55577" y="53077"/>
                </a:lnTo>
                <a:lnTo>
                  <a:pt x="54808" y="55000"/>
                </a:lnTo>
                <a:lnTo>
                  <a:pt x="53269" y="56538"/>
                </a:lnTo>
                <a:lnTo>
                  <a:pt x="54231" y="57500"/>
                </a:lnTo>
                <a:lnTo>
                  <a:pt x="54615" y="57500"/>
                </a:lnTo>
                <a:lnTo>
                  <a:pt x="55000" y="57500"/>
                </a:lnTo>
                <a:lnTo>
                  <a:pt x="55192" y="57692"/>
                </a:lnTo>
                <a:lnTo>
                  <a:pt x="55385" y="57885"/>
                </a:lnTo>
                <a:lnTo>
                  <a:pt x="55769" y="57885"/>
                </a:lnTo>
                <a:lnTo>
                  <a:pt x="56154" y="57885"/>
                </a:lnTo>
                <a:lnTo>
                  <a:pt x="57692" y="58654"/>
                </a:lnTo>
                <a:lnTo>
                  <a:pt x="58654" y="57692"/>
                </a:lnTo>
                <a:lnTo>
                  <a:pt x="59423" y="56154"/>
                </a:lnTo>
                <a:lnTo>
                  <a:pt x="59423" y="54615"/>
                </a:lnTo>
                <a:lnTo>
                  <a:pt x="58654" y="53462"/>
                </a:lnTo>
                <a:lnTo>
                  <a:pt x="58077" y="50577"/>
                </a:lnTo>
                <a:close/>
                <a:moveTo>
                  <a:pt x="41923" y="51346"/>
                </a:moveTo>
                <a:lnTo>
                  <a:pt x="41731" y="52308"/>
                </a:lnTo>
                <a:lnTo>
                  <a:pt x="41538" y="52500"/>
                </a:lnTo>
                <a:lnTo>
                  <a:pt x="41346" y="52692"/>
                </a:lnTo>
                <a:lnTo>
                  <a:pt x="41346" y="53077"/>
                </a:lnTo>
                <a:lnTo>
                  <a:pt x="41346" y="53462"/>
                </a:lnTo>
                <a:lnTo>
                  <a:pt x="41154" y="53654"/>
                </a:lnTo>
                <a:lnTo>
                  <a:pt x="40962" y="53846"/>
                </a:lnTo>
                <a:lnTo>
                  <a:pt x="40962" y="56538"/>
                </a:lnTo>
                <a:lnTo>
                  <a:pt x="42308" y="58269"/>
                </a:lnTo>
                <a:lnTo>
                  <a:pt x="43462" y="58269"/>
                </a:lnTo>
                <a:lnTo>
                  <a:pt x="44615" y="57500"/>
                </a:lnTo>
                <a:lnTo>
                  <a:pt x="45000" y="57500"/>
                </a:lnTo>
                <a:lnTo>
                  <a:pt x="45385" y="57500"/>
                </a:lnTo>
                <a:lnTo>
                  <a:pt x="46154" y="57115"/>
                </a:lnTo>
                <a:lnTo>
                  <a:pt x="46346" y="56154"/>
                </a:lnTo>
                <a:lnTo>
                  <a:pt x="44423" y="54231"/>
                </a:lnTo>
                <a:lnTo>
                  <a:pt x="44423" y="53846"/>
                </a:lnTo>
                <a:lnTo>
                  <a:pt x="42885" y="52308"/>
                </a:lnTo>
                <a:lnTo>
                  <a:pt x="42885" y="51923"/>
                </a:lnTo>
                <a:lnTo>
                  <a:pt x="42308" y="51346"/>
                </a:lnTo>
                <a:lnTo>
                  <a:pt x="41923" y="51346"/>
                </a:lnTo>
                <a:close/>
              </a:path>
            </a:pathLst>
          </a:custGeom>
          <a:solidFill>
            <a:srgbClr val="FFFFFF"/>
          </a:solidFill>
          <a:ln>
            <a:noFill/>
          </a:ln>
        </p:spPr>
        <p:txBody>
          <a:bodyPr/>
          <a:p/>
        </p:txBody>
      </p:sp>
      <p:sp>
        <p:nvSpPr>
          <p:cNvPr id="19" name="Shape 17"/>
          <p:cNvSpPr/>
          <p:nvPr/>
        </p:nvSpPr>
        <p:spPr>
          <a:xfrm>
            <a:off x="9848088" y="3621024"/>
            <a:ext cx="1901952" cy="1901952"/>
          </a:xfrm>
          <a:prstGeom prst="ellipse">
            <a:avLst/>
          </a:prstGeom>
          <a:solidFill>
            <a:srgbClr val="6D28D9"/>
          </a:solidFill>
          <a:ln w="12700">
            <a:solidFill>
              <a:srgbClr val="6D28D9">
                <a:alpha val="0"/>
              </a:srgbClr>
            </a:solidFill>
            <a:prstDash val="solid"/>
          </a:ln>
        </p:spPr>
        <p:txBody>
          <a:bodyPr/>
          <a:p/>
        </p:txBody>
      </p:sp>
      <p:sp>
        <p:nvSpPr>
          <p:cNvPr id="20" name="VECTOR_young_4"/>
          <p:cNvSpPr/>
          <p:nvPr/>
        </p:nvSpPr>
        <p:spPr>
          <a:xfrm>
            <a:off x="9848088" y="3621024"/>
            <a:ext cx="1901952" cy="1901952"/>
          </a:xfrm>
          <a:custGeom>
            <a:avLst/>
            <a:gdLst/>
            <a:ahLst/>
            <a:cxnLst/>
            <a:rect l="0" t="0" r="r" b="b"/>
            <a:pathLst>
              <a:path w="100000" h="100000" fill="norm" stroke="false" extrusionOk="false">
                <a:moveTo>
                  <a:pt x="48654" y="16154"/>
                </a:moveTo>
                <a:lnTo>
                  <a:pt x="50385" y="15962"/>
                </a:lnTo>
                <a:lnTo>
                  <a:pt x="50577" y="16154"/>
                </a:lnTo>
                <a:lnTo>
                  <a:pt x="50769" y="16346"/>
                </a:lnTo>
                <a:lnTo>
                  <a:pt x="51154" y="16346"/>
                </a:lnTo>
                <a:lnTo>
                  <a:pt x="51538" y="16346"/>
                </a:lnTo>
                <a:lnTo>
                  <a:pt x="53077" y="17115"/>
                </a:lnTo>
                <a:lnTo>
                  <a:pt x="53846" y="17885"/>
                </a:lnTo>
                <a:lnTo>
                  <a:pt x="57308" y="17885"/>
                </a:lnTo>
                <a:lnTo>
                  <a:pt x="58846" y="18654"/>
                </a:lnTo>
                <a:lnTo>
                  <a:pt x="60192" y="20385"/>
                </a:lnTo>
                <a:lnTo>
                  <a:pt x="60192" y="21538"/>
                </a:lnTo>
                <a:lnTo>
                  <a:pt x="61154" y="22115"/>
                </a:lnTo>
                <a:lnTo>
                  <a:pt x="61538" y="22115"/>
                </a:lnTo>
                <a:lnTo>
                  <a:pt x="61923" y="22115"/>
                </a:lnTo>
                <a:lnTo>
                  <a:pt x="63654" y="23846"/>
                </a:lnTo>
                <a:lnTo>
                  <a:pt x="64038" y="24615"/>
                </a:lnTo>
                <a:lnTo>
                  <a:pt x="64038" y="27308"/>
                </a:lnTo>
                <a:lnTo>
                  <a:pt x="63269" y="28462"/>
                </a:lnTo>
                <a:lnTo>
                  <a:pt x="63269" y="28846"/>
                </a:lnTo>
                <a:lnTo>
                  <a:pt x="63269" y="29231"/>
                </a:lnTo>
                <a:lnTo>
                  <a:pt x="63462" y="29423"/>
                </a:lnTo>
                <a:lnTo>
                  <a:pt x="63654" y="29615"/>
                </a:lnTo>
                <a:lnTo>
                  <a:pt x="63654" y="32692"/>
                </a:lnTo>
                <a:lnTo>
                  <a:pt x="62500" y="33846"/>
                </a:lnTo>
                <a:lnTo>
                  <a:pt x="62500" y="34231"/>
                </a:lnTo>
                <a:lnTo>
                  <a:pt x="62500" y="34615"/>
                </a:lnTo>
                <a:lnTo>
                  <a:pt x="63269" y="35769"/>
                </a:lnTo>
                <a:lnTo>
                  <a:pt x="63269" y="36923"/>
                </a:lnTo>
                <a:lnTo>
                  <a:pt x="63462" y="37115"/>
                </a:lnTo>
                <a:lnTo>
                  <a:pt x="63654" y="37308"/>
                </a:lnTo>
                <a:lnTo>
                  <a:pt x="63462" y="37500"/>
                </a:lnTo>
                <a:lnTo>
                  <a:pt x="63269" y="37692"/>
                </a:lnTo>
                <a:lnTo>
                  <a:pt x="63269" y="38846"/>
                </a:lnTo>
                <a:lnTo>
                  <a:pt x="62885" y="39615"/>
                </a:lnTo>
                <a:lnTo>
                  <a:pt x="61154" y="41346"/>
                </a:lnTo>
                <a:lnTo>
                  <a:pt x="60000" y="41346"/>
                </a:lnTo>
                <a:lnTo>
                  <a:pt x="59423" y="41923"/>
                </a:lnTo>
                <a:lnTo>
                  <a:pt x="59423" y="42308"/>
                </a:lnTo>
                <a:lnTo>
                  <a:pt x="59423" y="42692"/>
                </a:lnTo>
                <a:lnTo>
                  <a:pt x="58654" y="43846"/>
                </a:lnTo>
                <a:lnTo>
                  <a:pt x="58654" y="44231"/>
                </a:lnTo>
                <a:lnTo>
                  <a:pt x="58654" y="44615"/>
                </a:lnTo>
                <a:lnTo>
                  <a:pt x="58269" y="45385"/>
                </a:lnTo>
                <a:lnTo>
                  <a:pt x="57115" y="46538"/>
                </a:lnTo>
                <a:lnTo>
                  <a:pt x="57115" y="46923"/>
                </a:lnTo>
                <a:lnTo>
                  <a:pt x="57692" y="47500"/>
                </a:lnTo>
                <a:lnTo>
                  <a:pt x="59231" y="47500"/>
                </a:lnTo>
                <a:lnTo>
                  <a:pt x="59423" y="47692"/>
                </a:lnTo>
                <a:lnTo>
                  <a:pt x="59615" y="47885"/>
                </a:lnTo>
                <a:lnTo>
                  <a:pt x="60000" y="47885"/>
                </a:lnTo>
                <a:lnTo>
                  <a:pt x="60385" y="47885"/>
                </a:lnTo>
                <a:lnTo>
                  <a:pt x="61923" y="49038"/>
                </a:lnTo>
                <a:lnTo>
                  <a:pt x="62308" y="49038"/>
                </a:lnTo>
                <a:lnTo>
                  <a:pt x="64038" y="50769"/>
                </a:lnTo>
                <a:lnTo>
                  <a:pt x="64808" y="52308"/>
                </a:lnTo>
                <a:lnTo>
                  <a:pt x="64808" y="52692"/>
                </a:lnTo>
                <a:lnTo>
                  <a:pt x="64808" y="53077"/>
                </a:lnTo>
                <a:lnTo>
                  <a:pt x="65000" y="53269"/>
                </a:lnTo>
                <a:lnTo>
                  <a:pt x="65192" y="53462"/>
                </a:lnTo>
                <a:lnTo>
                  <a:pt x="65385" y="54423"/>
                </a:lnTo>
                <a:lnTo>
                  <a:pt x="66154" y="54808"/>
                </a:lnTo>
                <a:lnTo>
                  <a:pt x="66538" y="54808"/>
                </a:lnTo>
                <a:lnTo>
                  <a:pt x="66923" y="54808"/>
                </a:lnTo>
                <a:lnTo>
                  <a:pt x="70000" y="56346"/>
                </a:lnTo>
                <a:lnTo>
                  <a:pt x="70769" y="57115"/>
                </a:lnTo>
                <a:lnTo>
                  <a:pt x="71154" y="57115"/>
                </a:lnTo>
                <a:lnTo>
                  <a:pt x="72885" y="58846"/>
                </a:lnTo>
                <a:lnTo>
                  <a:pt x="72885" y="59231"/>
                </a:lnTo>
                <a:lnTo>
                  <a:pt x="74038" y="60769"/>
                </a:lnTo>
                <a:lnTo>
                  <a:pt x="74038" y="61154"/>
                </a:lnTo>
                <a:lnTo>
                  <a:pt x="74038" y="61538"/>
                </a:lnTo>
                <a:lnTo>
                  <a:pt x="75192" y="63846"/>
                </a:lnTo>
                <a:lnTo>
                  <a:pt x="75192" y="65000"/>
                </a:lnTo>
                <a:lnTo>
                  <a:pt x="75385" y="65192"/>
                </a:lnTo>
                <a:lnTo>
                  <a:pt x="75577" y="65385"/>
                </a:lnTo>
                <a:lnTo>
                  <a:pt x="75577" y="66538"/>
                </a:lnTo>
                <a:lnTo>
                  <a:pt x="75769" y="66731"/>
                </a:lnTo>
                <a:lnTo>
                  <a:pt x="75962" y="66923"/>
                </a:lnTo>
                <a:lnTo>
                  <a:pt x="75962" y="68462"/>
                </a:lnTo>
                <a:lnTo>
                  <a:pt x="76154" y="68654"/>
                </a:lnTo>
                <a:lnTo>
                  <a:pt x="76346" y="68846"/>
                </a:lnTo>
                <a:lnTo>
                  <a:pt x="76346" y="71154"/>
                </a:lnTo>
                <a:lnTo>
                  <a:pt x="76538" y="71346"/>
                </a:lnTo>
                <a:lnTo>
                  <a:pt x="76731" y="71538"/>
                </a:lnTo>
                <a:lnTo>
                  <a:pt x="76731" y="71923"/>
                </a:lnTo>
                <a:lnTo>
                  <a:pt x="76731" y="72308"/>
                </a:lnTo>
                <a:lnTo>
                  <a:pt x="76154" y="72885"/>
                </a:lnTo>
                <a:lnTo>
                  <a:pt x="75577" y="72308"/>
                </a:lnTo>
                <a:lnTo>
                  <a:pt x="75577" y="70769"/>
                </a:lnTo>
                <a:lnTo>
                  <a:pt x="75385" y="70577"/>
                </a:lnTo>
                <a:lnTo>
                  <a:pt x="75192" y="70385"/>
                </a:lnTo>
                <a:lnTo>
                  <a:pt x="75192" y="68462"/>
                </a:lnTo>
                <a:lnTo>
                  <a:pt x="75000" y="68269"/>
                </a:lnTo>
                <a:lnTo>
                  <a:pt x="74808" y="68077"/>
                </a:lnTo>
                <a:lnTo>
                  <a:pt x="74808" y="66538"/>
                </a:lnTo>
                <a:lnTo>
                  <a:pt x="74615" y="66346"/>
                </a:lnTo>
                <a:lnTo>
                  <a:pt x="74423" y="66154"/>
                </a:lnTo>
                <a:lnTo>
                  <a:pt x="74423" y="65000"/>
                </a:lnTo>
                <a:lnTo>
                  <a:pt x="73269" y="62692"/>
                </a:lnTo>
                <a:lnTo>
                  <a:pt x="73269" y="62308"/>
                </a:lnTo>
                <a:lnTo>
                  <a:pt x="73269" y="61923"/>
                </a:lnTo>
                <a:lnTo>
                  <a:pt x="72500" y="60385"/>
                </a:lnTo>
                <a:lnTo>
                  <a:pt x="71346" y="59231"/>
                </a:lnTo>
                <a:lnTo>
                  <a:pt x="71346" y="58846"/>
                </a:lnTo>
                <a:lnTo>
                  <a:pt x="71154" y="58654"/>
                </a:lnTo>
                <a:lnTo>
                  <a:pt x="70769" y="58654"/>
                </a:lnTo>
                <a:lnTo>
                  <a:pt x="69231" y="57115"/>
                </a:lnTo>
                <a:lnTo>
                  <a:pt x="67692" y="56346"/>
                </a:lnTo>
                <a:lnTo>
                  <a:pt x="67308" y="56346"/>
                </a:lnTo>
                <a:lnTo>
                  <a:pt x="66923" y="56346"/>
                </a:lnTo>
                <a:lnTo>
                  <a:pt x="65769" y="55577"/>
                </a:lnTo>
                <a:lnTo>
                  <a:pt x="65385" y="55577"/>
                </a:lnTo>
                <a:lnTo>
                  <a:pt x="65000" y="55577"/>
                </a:lnTo>
                <a:lnTo>
                  <a:pt x="64231" y="55192"/>
                </a:lnTo>
                <a:lnTo>
                  <a:pt x="64038" y="55000"/>
                </a:lnTo>
                <a:lnTo>
                  <a:pt x="64038" y="53077"/>
                </a:lnTo>
                <a:lnTo>
                  <a:pt x="63269" y="51538"/>
                </a:lnTo>
                <a:lnTo>
                  <a:pt x="61154" y="49423"/>
                </a:lnTo>
                <a:lnTo>
                  <a:pt x="60385" y="49038"/>
                </a:lnTo>
                <a:lnTo>
                  <a:pt x="60192" y="49231"/>
                </a:lnTo>
                <a:lnTo>
                  <a:pt x="60000" y="49423"/>
                </a:lnTo>
                <a:lnTo>
                  <a:pt x="59231" y="48269"/>
                </a:lnTo>
                <a:lnTo>
                  <a:pt x="57692" y="48269"/>
                </a:lnTo>
                <a:lnTo>
                  <a:pt x="57500" y="48077"/>
                </a:lnTo>
                <a:lnTo>
                  <a:pt x="57308" y="47885"/>
                </a:lnTo>
                <a:lnTo>
                  <a:pt x="56346" y="48077"/>
                </a:lnTo>
                <a:lnTo>
                  <a:pt x="56346" y="51923"/>
                </a:lnTo>
                <a:lnTo>
                  <a:pt x="56538" y="52115"/>
                </a:lnTo>
                <a:lnTo>
                  <a:pt x="56923" y="52115"/>
                </a:lnTo>
                <a:lnTo>
                  <a:pt x="59615" y="49423"/>
                </a:lnTo>
                <a:lnTo>
                  <a:pt x="59808" y="50769"/>
                </a:lnTo>
                <a:lnTo>
                  <a:pt x="50769" y="59038"/>
                </a:lnTo>
                <a:lnTo>
                  <a:pt x="50000" y="59808"/>
                </a:lnTo>
                <a:lnTo>
                  <a:pt x="49615" y="59808"/>
                </a:lnTo>
                <a:lnTo>
                  <a:pt x="49231" y="59808"/>
                </a:lnTo>
                <a:lnTo>
                  <a:pt x="47308" y="57500"/>
                </a:lnTo>
                <a:lnTo>
                  <a:pt x="46923" y="57500"/>
                </a:lnTo>
                <a:lnTo>
                  <a:pt x="44231" y="54808"/>
                </a:lnTo>
                <a:lnTo>
                  <a:pt x="43846" y="54808"/>
                </a:lnTo>
                <a:lnTo>
                  <a:pt x="41923" y="52885"/>
                </a:lnTo>
                <a:lnTo>
                  <a:pt x="41538" y="52885"/>
                </a:lnTo>
                <a:lnTo>
                  <a:pt x="39423" y="50769"/>
                </a:lnTo>
                <a:lnTo>
                  <a:pt x="40000" y="50192"/>
                </a:lnTo>
                <a:lnTo>
                  <a:pt x="40385" y="50192"/>
                </a:lnTo>
                <a:lnTo>
                  <a:pt x="42692" y="52500"/>
                </a:lnTo>
                <a:lnTo>
                  <a:pt x="42885" y="51538"/>
                </a:lnTo>
                <a:lnTo>
                  <a:pt x="43077" y="51346"/>
                </a:lnTo>
                <a:lnTo>
                  <a:pt x="43269" y="51154"/>
                </a:lnTo>
                <a:lnTo>
                  <a:pt x="43269" y="48462"/>
                </a:lnTo>
                <a:lnTo>
                  <a:pt x="43077" y="48269"/>
                </a:lnTo>
                <a:lnTo>
                  <a:pt x="40385" y="48269"/>
                </a:lnTo>
                <a:lnTo>
                  <a:pt x="40192" y="48462"/>
                </a:lnTo>
                <a:lnTo>
                  <a:pt x="40000" y="48654"/>
                </a:lnTo>
                <a:lnTo>
                  <a:pt x="39615" y="48654"/>
                </a:lnTo>
                <a:lnTo>
                  <a:pt x="39231" y="48654"/>
                </a:lnTo>
                <a:lnTo>
                  <a:pt x="38462" y="49423"/>
                </a:lnTo>
                <a:lnTo>
                  <a:pt x="38077" y="49423"/>
                </a:lnTo>
                <a:lnTo>
                  <a:pt x="36346" y="51538"/>
                </a:lnTo>
                <a:lnTo>
                  <a:pt x="35577" y="53077"/>
                </a:lnTo>
                <a:lnTo>
                  <a:pt x="35577" y="55000"/>
                </a:lnTo>
                <a:lnTo>
                  <a:pt x="35385" y="55192"/>
                </a:lnTo>
                <a:lnTo>
                  <a:pt x="35000" y="55192"/>
                </a:lnTo>
                <a:lnTo>
                  <a:pt x="34615" y="55192"/>
                </a:lnTo>
                <a:lnTo>
                  <a:pt x="33462" y="55962"/>
                </a:lnTo>
                <a:lnTo>
                  <a:pt x="33077" y="55962"/>
                </a:lnTo>
                <a:lnTo>
                  <a:pt x="32692" y="55962"/>
                </a:lnTo>
                <a:lnTo>
                  <a:pt x="31923" y="56346"/>
                </a:lnTo>
                <a:lnTo>
                  <a:pt x="31154" y="57115"/>
                </a:lnTo>
                <a:lnTo>
                  <a:pt x="29615" y="57885"/>
                </a:lnTo>
                <a:lnTo>
                  <a:pt x="28269" y="59231"/>
                </a:lnTo>
                <a:lnTo>
                  <a:pt x="28269" y="59615"/>
                </a:lnTo>
                <a:lnTo>
                  <a:pt x="26731" y="61538"/>
                </a:lnTo>
                <a:lnTo>
                  <a:pt x="25962" y="63077"/>
                </a:lnTo>
                <a:lnTo>
                  <a:pt x="25577" y="65000"/>
                </a:lnTo>
                <a:lnTo>
                  <a:pt x="25385" y="65192"/>
                </a:lnTo>
                <a:lnTo>
                  <a:pt x="25192" y="65385"/>
                </a:lnTo>
                <a:lnTo>
                  <a:pt x="25192" y="66538"/>
                </a:lnTo>
                <a:lnTo>
                  <a:pt x="25000" y="66731"/>
                </a:lnTo>
                <a:lnTo>
                  <a:pt x="24808" y="66923"/>
                </a:lnTo>
                <a:lnTo>
                  <a:pt x="24808" y="68462"/>
                </a:lnTo>
                <a:lnTo>
                  <a:pt x="24615" y="68654"/>
                </a:lnTo>
                <a:lnTo>
                  <a:pt x="24423" y="68846"/>
                </a:lnTo>
                <a:lnTo>
                  <a:pt x="24423" y="70769"/>
                </a:lnTo>
                <a:lnTo>
                  <a:pt x="24231" y="70962"/>
                </a:lnTo>
                <a:lnTo>
                  <a:pt x="24038" y="71154"/>
                </a:lnTo>
                <a:lnTo>
                  <a:pt x="24038" y="72308"/>
                </a:lnTo>
                <a:lnTo>
                  <a:pt x="23846" y="72500"/>
                </a:lnTo>
                <a:lnTo>
                  <a:pt x="23462" y="72500"/>
                </a:lnTo>
                <a:lnTo>
                  <a:pt x="22885" y="71923"/>
                </a:lnTo>
                <a:lnTo>
                  <a:pt x="23269" y="71154"/>
                </a:lnTo>
                <a:lnTo>
                  <a:pt x="23269" y="68846"/>
                </a:lnTo>
                <a:lnTo>
                  <a:pt x="23462" y="68654"/>
                </a:lnTo>
                <a:lnTo>
                  <a:pt x="23654" y="68462"/>
                </a:lnTo>
                <a:lnTo>
                  <a:pt x="23654" y="67308"/>
                </a:lnTo>
                <a:lnTo>
                  <a:pt x="23846" y="67115"/>
                </a:lnTo>
                <a:lnTo>
                  <a:pt x="24038" y="66923"/>
                </a:lnTo>
                <a:lnTo>
                  <a:pt x="24423" y="64231"/>
                </a:lnTo>
                <a:lnTo>
                  <a:pt x="24615" y="64038"/>
                </a:lnTo>
                <a:lnTo>
                  <a:pt x="24808" y="63846"/>
                </a:lnTo>
                <a:lnTo>
                  <a:pt x="25192" y="61923"/>
                </a:lnTo>
                <a:lnTo>
                  <a:pt x="26346" y="60385"/>
                </a:lnTo>
                <a:lnTo>
                  <a:pt x="26731" y="59231"/>
                </a:lnTo>
                <a:lnTo>
                  <a:pt x="29231" y="56731"/>
                </a:lnTo>
                <a:lnTo>
                  <a:pt x="29615" y="56731"/>
                </a:lnTo>
                <a:lnTo>
                  <a:pt x="30385" y="55962"/>
                </a:lnTo>
                <a:lnTo>
                  <a:pt x="32692" y="54808"/>
                </a:lnTo>
                <a:lnTo>
                  <a:pt x="33077" y="54808"/>
                </a:lnTo>
                <a:lnTo>
                  <a:pt x="33462" y="54808"/>
                </a:lnTo>
                <a:lnTo>
                  <a:pt x="34231" y="54423"/>
                </a:lnTo>
                <a:lnTo>
                  <a:pt x="34423" y="52692"/>
                </a:lnTo>
                <a:lnTo>
                  <a:pt x="35192" y="51154"/>
                </a:lnTo>
                <a:lnTo>
                  <a:pt x="35962" y="50385"/>
                </a:lnTo>
                <a:lnTo>
                  <a:pt x="35962" y="50000"/>
                </a:lnTo>
                <a:lnTo>
                  <a:pt x="36923" y="49038"/>
                </a:lnTo>
                <a:lnTo>
                  <a:pt x="37308" y="49038"/>
                </a:lnTo>
                <a:lnTo>
                  <a:pt x="38846" y="47885"/>
                </a:lnTo>
                <a:lnTo>
                  <a:pt x="39231" y="47885"/>
                </a:lnTo>
                <a:lnTo>
                  <a:pt x="39615" y="47885"/>
                </a:lnTo>
                <a:lnTo>
                  <a:pt x="39808" y="47692"/>
                </a:lnTo>
                <a:lnTo>
                  <a:pt x="40000" y="47500"/>
                </a:lnTo>
                <a:lnTo>
                  <a:pt x="41154" y="47500"/>
                </a:lnTo>
                <a:lnTo>
                  <a:pt x="42115" y="46923"/>
                </a:lnTo>
                <a:lnTo>
                  <a:pt x="40577" y="45000"/>
                </a:lnTo>
                <a:lnTo>
                  <a:pt x="39808" y="43462"/>
                </a:lnTo>
                <a:lnTo>
                  <a:pt x="39808" y="43077"/>
                </a:lnTo>
                <a:lnTo>
                  <a:pt x="39808" y="42692"/>
                </a:lnTo>
                <a:lnTo>
                  <a:pt x="39423" y="41923"/>
                </a:lnTo>
                <a:lnTo>
                  <a:pt x="38846" y="41346"/>
                </a:lnTo>
                <a:lnTo>
                  <a:pt x="38462" y="41346"/>
                </a:lnTo>
                <a:lnTo>
                  <a:pt x="38077" y="41346"/>
                </a:lnTo>
                <a:lnTo>
                  <a:pt x="37308" y="40962"/>
                </a:lnTo>
                <a:lnTo>
                  <a:pt x="35962" y="39615"/>
                </a:lnTo>
                <a:lnTo>
                  <a:pt x="35577" y="38846"/>
                </a:lnTo>
                <a:lnTo>
                  <a:pt x="35577" y="35385"/>
                </a:lnTo>
                <a:lnTo>
                  <a:pt x="36346" y="33846"/>
                </a:lnTo>
                <a:lnTo>
                  <a:pt x="35192" y="32308"/>
                </a:lnTo>
                <a:lnTo>
                  <a:pt x="35192" y="30000"/>
                </a:lnTo>
                <a:lnTo>
                  <a:pt x="35962" y="28846"/>
                </a:lnTo>
                <a:lnTo>
                  <a:pt x="35192" y="27308"/>
                </a:lnTo>
                <a:lnTo>
                  <a:pt x="35192" y="26154"/>
                </a:lnTo>
                <a:lnTo>
                  <a:pt x="35000" y="25962"/>
                </a:lnTo>
                <a:lnTo>
                  <a:pt x="34808" y="25769"/>
                </a:lnTo>
                <a:lnTo>
                  <a:pt x="35000" y="25577"/>
                </a:lnTo>
                <a:lnTo>
                  <a:pt x="35192" y="25385"/>
                </a:lnTo>
                <a:lnTo>
                  <a:pt x="35192" y="24231"/>
                </a:lnTo>
                <a:lnTo>
                  <a:pt x="35962" y="23462"/>
                </a:lnTo>
                <a:lnTo>
                  <a:pt x="35962" y="23077"/>
                </a:lnTo>
                <a:lnTo>
                  <a:pt x="36154" y="22885"/>
                </a:lnTo>
                <a:lnTo>
                  <a:pt x="36538" y="22885"/>
                </a:lnTo>
                <a:lnTo>
                  <a:pt x="37308" y="22115"/>
                </a:lnTo>
                <a:lnTo>
                  <a:pt x="37692" y="22115"/>
                </a:lnTo>
                <a:lnTo>
                  <a:pt x="38077" y="22115"/>
                </a:lnTo>
                <a:lnTo>
                  <a:pt x="39038" y="21538"/>
                </a:lnTo>
                <a:lnTo>
                  <a:pt x="39038" y="20385"/>
                </a:lnTo>
                <a:lnTo>
                  <a:pt x="39423" y="19615"/>
                </a:lnTo>
                <a:lnTo>
                  <a:pt x="40769" y="18269"/>
                </a:lnTo>
                <a:lnTo>
                  <a:pt x="41538" y="17885"/>
                </a:lnTo>
                <a:lnTo>
                  <a:pt x="44615" y="17885"/>
                </a:lnTo>
                <a:lnTo>
                  <a:pt x="44808" y="18077"/>
                </a:lnTo>
                <a:lnTo>
                  <a:pt x="45000" y="18269"/>
                </a:lnTo>
                <a:lnTo>
                  <a:pt x="46154" y="17115"/>
                </a:lnTo>
                <a:lnTo>
                  <a:pt x="48654" y="16154"/>
                </a:lnTo>
                <a:close/>
                <a:moveTo>
                  <a:pt x="48077" y="17115"/>
                </a:moveTo>
                <a:lnTo>
                  <a:pt x="47308" y="17500"/>
                </a:lnTo>
                <a:lnTo>
                  <a:pt x="45385" y="19423"/>
                </a:lnTo>
                <a:lnTo>
                  <a:pt x="44615" y="18654"/>
                </a:lnTo>
                <a:lnTo>
                  <a:pt x="42308" y="18654"/>
                </a:lnTo>
                <a:lnTo>
                  <a:pt x="41538" y="19038"/>
                </a:lnTo>
                <a:lnTo>
                  <a:pt x="40192" y="20769"/>
                </a:lnTo>
                <a:lnTo>
                  <a:pt x="40192" y="22308"/>
                </a:lnTo>
                <a:lnTo>
                  <a:pt x="39615" y="22885"/>
                </a:lnTo>
                <a:lnTo>
                  <a:pt x="38077" y="22885"/>
                </a:lnTo>
                <a:lnTo>
                  <a:pt x="36731" y="23846"/>
                </a:lnTo>
                <a:lnTo>
                  <a:pt x="36346" y="24615"/>
                </a:lnTo>
                <a:lnTo>
                  <a:pt x="36346" y="27308"/>
                </a:lnTo>
                <a:lnTo>
                  <a:pt x="37115" y="28846"/>
                </a:lnTo>
                <a:lnTo>
                  <a:pt x="36346" y="30000"/>
                </a:lnTo>
                <a:lnTo>
                  <a:pt x="36346" y="31923"/>
                </a:lnTo>
                <a:lnTo>
                  <a:pt x="37692" y="33654"/>
                </a:lnTo>
                <a:lnTo>
                  <a:pt x="39231" y="33654"/>
                </a:lnTo>
                <a:lnTo>
                  <a:pt x="40192" y="33077"/>
                </a:lnTo>
                <a:lnTo>
                  <a:pt x="40962" y="31538"/>
                </a:lnTo>
                <a:lnTo>
                  <a:pt x="40962" y="29231"/>
                </a:lnTo>
                <a:lnTo>
                  <a:pt x="41154" y="29038"/>
                </a:lnTo>
                <a:lnTo>
                  <a:pt x="41923" y="29423"/>
                </a:lnTo>
                <a:lnTo>
                  <a:pt x="44615" y="29423"/>
                </a:lnTo>
                <a:lnTo>
                  <a:pt x="45385" y="28654"/>
                </a:lnTo>
                <a:lnTo>
                  <a:pt x="45769" y="28654"/>
                </a:lnTo>
                <a:lnTo>
                  <a:pt x="45962" y="28846"/>
                </a:lnTo>
                <a:lnTo>
                  <a:pt x="44231" y="30192"/>
                </a:lnTo>
                <a:lnTo>
                  <a:pt x="43846" y="30192"/>
                </a:lnTo>
                <a:lnTo>
                  <a:pt x="43462" y="30192"/>
                </a:lnTo>
                <a:lnTo>
                  <a:pt x="43269" y="30385"/>
                </a:lnTo>
                <a:lnTo>
                  <a:pt x="43077" y="30577"/>
                </a:lnTo>
                <a:lnTo>
                  <a:pt x="42308" y="30192"/>
                </a:lnTo>
                <a:lnTo>
                  <a:pt x="41731" y="30769"/>
                </a:lnTo>
                <a:lnTo>
                  <a:pt x="41731" y="32308"/>
                </a:lnTo>
                <a:lnTo>
                  <a:pt x="40385" y="34038"/>
                </a:lnTo>
                <a:lnTo>
                  <a:pt x="38846" y="34808"/>
                </a:lnTo>
                <a:lnTo>
                  <a:pt x="37692" y="34423"/>
                </a:lnTo>
                <a:lnTo>
                  <a:pt x="37115" y="35000"/>
                </a:lnTo>
                <a:lnTo>
                  <a:pt x="36731" y="35769"/>
                </a:lnTo>
                <a:lnTo>
                  <a:pt x="36731" y="38462"/>
                </a:lnTo>
                <a:lnTo>
                  <a:pt x="38077" y="40192"/>
                </a:lnTo>
                <a:lnTo>
                  <a:pt x="40192" y="40769"/>
                </a:lnTo>
                <a:lnTo>
                  <a:pt x="40192" y="41154"/>
                </a:lnTo>
                <a:lnTo>
                  <a:pt x="40192" y="41538"/>
                </a:lnTo>
                <a:lnTo>
                  <a:pt x="40385" y="41731"/>
                </a:lnTo>
                <a:lnTo>
                  <a:pt x="40577" y="41923"/>
                </a:lnTo>
                <a:lnTo>
                  <a:pt x="40577" y="42308"/>
                </a:lnTo>
                <a:lnTo>
                  <a:pt x="40577" y="42692"/>
                </a:lnTo>
                <a:lnTo>
                  <a:pt x="41346" y="44231"/>
                </a:lnTo>
                <a:lnTo>
                  <a:pt x="42500" y="45385"/>
                </a:lnTo>
                <a:lnTo>
                  <a:pt x="42500" y="45769"/>
                </a:lnTo>
                <a:lnTo>
                  <a:pt x="45000" y="48269"/>
                </a:lnTo>
                <a:lnTo>
                  <a:pt x="47308" y="49423"/>
                </a:lnTo>
                <a:lnTo>
                  <a:pt x="47692" y="49423"/>
                </a:lnTo>
                <a:lnTo>
                  <a:pt x="48077" y="49423"/>
                </a:lnTo>
                <a:lnTo>
                  <a:pt x="48269" y="49615"/>
                </a:lnTo>
                <a:lnTo>
                  <a:pt x="48462" y="49808"/>
                </a:lnTo>
                <a:lnTo>
                  <a:pt x="50385" y="49808"/>
                </a:lnTo>
                <a:lnTo>
                  <a:pt x="50577" y="49615"/>
                </a:lnTo>
                <a:lnTo>
                  <a:pt x="50769" y="49423"/>
                </a:lnTo>
                <a:lnTo>
                  <a:pt x="51923" y="49423"/>
                </a:lnTo>
                <a:lnTo>
                  <a:pt x="53462" y="48654"/>
                </a:lnTo>
                <a:lnTo>
                  <a:pt x="55577" y="46923"/>
                </a:lnTo>
                <a:lnTo>
                  <a:pt x="55577" y="46538"/>
                </a:lnTo>
                <a:lnTo>
                  <a:pt x="57115" y="45000"/>
                </a:lnTo>
                <a:lnTo>
                  <a:pt x="57500" y="44231"/>
                </a:lnTo>
                <a:lnTo>
                  <a:pt x="58269" y="43077"/>
                </a:lnTo>
                <a:lnTo>
                  <a:pt x="58654" y="41154"/>
                </a:lnTo>
                <a:lnTo>
                  <a:pt x="59231" y="40577"/>
                </a:lnTo>
                <a:lnTo>
                  <a:pt x="60769" y="40577"/>
                </a:lnTo>
                <a:lnTo>
                  <a:pt x="61731" y="39615"/>
                </a:lnTo>
                <a:lnTo>
                  <a:pt x="62500" y="38077"/>
                </a:lnTo>
                <a:lnTo>
                  <a:pt x="62500" y="35769"/>
                </a:lnTo>
                <a:lnTo>
                  <a:pt x="62115" y="35000"/>
                </a:lnTo>
                <a:lnTo>
                  <a:pt x="61538" y="34423"/>
                </a:lnTo>
                <a:lnTo>
                  <a:pt x="59231" y="34423"/>
                </a:lnTo>
                <a:lnTo>
                  <a:pt x="58462" y="34038"/>
                </a:lnTo>
                <a:lnTo>
                  <a:pt x="57885" y="33462"/>
                </a:lnTo>
                <a:lnTo>
                  <a:pt x="57115" y="31923"/>
                </a:lnTo>
                <a:lnTo>
                  <a:pt x="57115" y="30000"/>
                </a:lnTo>
                <a:lnTo>
                  <a:pt x="56923" y="29808"/>
                </a:lnTo>
                <a:lnTo>
                  <a:pt x="56154" y="30192"/>
                </a:lnTo>
                <a:lnTo>
                  <a:pt x="55000" y="30192"/>
                </a:lnTo>
                <a:lnTo>
                  <a:pt x="53077" y="29038"/>
                </a:lnTo>
                <a:lnTo>
                  <a:pt x="51154" y="30192"/>
                </a:lnTo>
                <a:lnTo>
                  <a:pt x="48077" y="30192"/>
                </a:lnTo>
                <a:lnTo>
                  <a:pt x="47308" y="29808"/>
                </a:lnTo>
                <a:lnTo>
                  <a:pt x="45962" y="28462"/>
                </a:lnTo>
                <a:lnTo>
                  <a:pt x="45962" y="28077"/>
                </a:lnTo>
                <a:lnTo>
                  <a:pt x="45962" y="27692"/>
                </a:lnTo>
                <a:lnTo>
                  <a:pt x="46154" y="27500"/>
                </a:lnTo>
                <a:lnTo>
                  <a:pt x="46538" y="27500"/>
                </a:lnTo>
                <a:lnTo>
                  <a:pt x="47308" y="28654"/>
                </a:lnTo>
                <a:lnTo>
                  <a:pt x="48846" y="29423"/>
                </a:lnTo>
                <a:lnTo>
                  <a:pt x="50385" y="29423"/>
                </a:lnTo>
                <a:lnTo>
                  <a:pt x="50577" y="29231"/>
                </a:lnTo>
                <a:lnTo>
                  <a:pt x="50769" y="29038"/>
                </a:lnTo>
                <a:lnTo>
                  <a:pt x="51154" y="29038"/>
                </a:lnTo>
                <a:lnTo>
                  <a:pt x="51538" y="29038"/>
                </a:lnTo>
                <a:lnTo>
                  <a:pt x="53077" y="27500"/>
                </a:lnTo>
                <a:lnTo>
                  <a:pt x="53654" y="28077"/>
                </a:lnTo>
                <a:lnTo>
                  <a:pt x="53654" y="28462"/>
                </a:lnTo>
                <a:lnTo>
                  <a:pt x="53846" y="28654"/>
                </a:lnTo>
                <a:lnTo>
                  <a:pt x="54231" y="28654"/>
                </a:lnTo>
                <a:lnTo>
                  <a:pt x="55000" y="29423"/>
                </a:lnTo>
                <a:lnTo>
                  <a:pt x="56538" y="29423"/>
                </a:lnTo>
                <a:lnTo>
                  <a:pt x="57692" y="28654"/>
                </a:lnTo>
                <a:lnTo>
                  <a:pt x="57885" y="28846"/>
                </a:lnTo>
                <a:lnTo>
                  <a:pt x="57885" y="31154"/>
                </a:lnTo>
                <a:lnTo>
                  <a:pt x="58077" y="31346"/>
                </a:lnTo>
                <a:lnTo>
                  <a:pt x="58269" y="31538"/>
                </a:lnTo>
                <a:lnTo>
                  <a:pt x="58269" y="31923"/>
                </a:lnTo>
                <a:lnTo>
                  <a:pt x="58269" y="32308"/>
                </a:lnTo>
                <a:lnTo>
                  <a:pt x="59615" y="33654"/>
                </a:lnTo>
                <a:lnTo>
                  <a:pt x="61154" y="33654"/>
                </a:lnTo>
                <a:lnTo>
                  <a:pt x="62500" y="32308"/>
                </a:lnTo>
                <a:lnTo>
                  <a:pt x="62885" y="31538"/>
                </a:lnTo>
                <a:lnTo>
                  <a:pt x="62885" y="30385"/>
                </a:lnTo>
                <a:lnTo>
                  <a:pt x="61731" y="28462"/>
                </a:lnTo>
                <a:lnTo>
                  <a:pt x="62885" y="27308"/>
                </a:lnTo>
                <a:lnTo>
                  <a:pt x="62885" y="24615"/>
                </a:lnTo>
                <a:lnTo>
                  <a:pt x="61538" y="23269"/>
                </a:lnTo>
                <a:lnTo>
                  <a:pt x="60769" y="22885"/>
                </a:lnTo>
                <a:lnTo>
                  <a:pt x="59231" y="22885"/>
                </a:lnTo>
                <a:lnTo>
                  <a:pt x="59038" y="22692"/>
                </a:lnTo>
                <a:lnTo>
                  <a:pt x="59038" y="20769"/>
                </a:lnTo>
                <a:lnTo>
                  <a:pt x="57308" y="19038"/>
                </a:lnTo>
                <a:lnTo>
                  <a:pt x="56538" y="18654"/>
                </a:lnTo>
                <a:lnTo>
                  <a:pt x="54615" y="18654"/>
                </a:lnTo>
                <a:lnTo>
                  <a:pt x="53462" y="19423"/>
                </a:lnTo>
                <a:lnTo>
                  <a:pt x="53269" y="19231"/>
                </a:lnTo>
                <a:lnTo>
                  <a:pt x="53269" y="18846"/>
                </a:lnTo>
                <a:lnTo>
                  <a:pt x="52308" y="17885"/>
                </a:lnTo>
                <a:lnTo>
                  <a:pt x="50769" y="17115"/>
                </a:lnTo>
                <a:lnTo>
                  <a:pt x="48077" y="17115"/>
                </a:lnTo>
                <a:close/>
                <a:moveTo>
                  <a:pt x="49038" y="21154"/>
                </a:moveTo>
                <a:lnTo>
                  <a:pt x="50385" y="20962"/>
                </a:lnTo>
                <a:lnTo>
                  <a:pt x="50577" y="21154"/>
                </a:lnTo>
                <a:lnTo>
                  <a:pt x="50577" y="21538"/>
                </a:lnTo>
                <a:lnTo>
                  <a:pt x="50385" y="21731"/>
                </a:lnTo>
                <a:lnTo>
                  <a:pt x="50000" y="21731"/>
                </a:lnTo>
                <a:lnTo>
                  <a:pt x="49038" y="21154"/>
                </a:lnTo>
                <a:close/>
                <a:moveTo>
                  <a:pt x="48269" y="21923"/>
                </a:moveTo>
                <a:lnTo>
                  <a:pt x="48462" y="21731"/>
                </a:lnTo>
                <a:lnTo>
                  <a:pt x="48654" y="21923"/>
                </a:lnTo>
                <a:lnTo>
                  <a:pt x="48654" y="22308"/>
                </a:lnTo>
                <a:lnTo>
                  <a:pt x="48462" y="22500"/>
                </a:lnTo>
                <a:lnTo>
                  <a:pt x="48077" y="22500"/>
                </a:lnTo>
                <a:lnTo>
                  <a:pt x="47885" y="22308"/>
                </a:lnTo>
                <a:lnTo>
                  <a:pt x="48077" y="22115"/>
                </a:lnTo>
                <a:lnTo>
                  <a:pt x="48269" y="21923"/>
                </a:lnTo>
                <a:close/>
                <a:moveTo>
                  <a:pt x="42885" y="23846"/>
                </a:moveTo>
                <a:lnTo>
                  <a:pt x="44231" y="23654"/>
                </a:lnTo>
                <a:lnTo>
                  <a:pt x="45192" y="24615"/>
                </a:lnTo>
                <a:lnTo>
                  <a:pt x="45000" y="24808"/>
                </a:lnTo>
                <a:lnTo>
                  <a:pt x="44615" y="24808"/>
                </a:lnTo>
                <a:lnTo>
                  <a:pt x="44423" y="24615"/>
                </a:lnTo>
                <a:lnTo>
                  <a:pt x="44231" y="24423"/>
                </a:lnTo>
                <a:lnTo>
                  <a:pt x="43077" y="24423"/>
                </a:lnTo>
                <a:lnTo>
                  <a:pt x="42308" y="25192"/>
                </a:lnTo>
                <a:lnTo>
                  <a:pt x="42115" y="25000"/>
                </a:lnTo>
                <a:lnTo>
                  <a:pt x="42115" y="24615"/>
                </a:lnTo>
                <a:lnTo>
                  <a:pt x="42885" y="23846"/>
                </a:lnTo>
                <a:close/>
                <a:moveTo>
                  <a:pt x="54038" y="23846"/>
                </a:moveTo>
                <a:lnTo>
                  <a:pt x="54231" y="23654"/>
                </a:lnTo>
                <a:lnTo>
                  <a:pt x="54615" y="23654"/>
                </a:lnTo>
                <a:lnTo>
                  <a:pt x="54808" y="23846"/>
                </a:lnTo>
                <a:lnTo>
                  <a:pt x="55000" y="24038"/>
                </a:lnTo>
                <a:lnTo>
                  <a:pt x="56154" y="24038"/>
                </a:lnTo>
                <a:lnTo>
                  <a:pt x="56346" y="24231"/>
                </a:lnTo>
                <a:lnTo>
                  <a:pt x="56346" y="24615"/>
                </a:lnTo>
                <a:lnTo>
                  <a:pt x="56154" y="24808"/>
                </a:lnTo>
                <a:lnTo>
                  <a:pt x="55769" y="24808"/>
                </a:lnTo>
                <a:lnTo>
                  <a:pt x="55577" y="24615"/>
                </a:lnTo>
                <a:lnTo>
                  <a:pt x="55385" y="24423"/>
                </a:lnTo>
                <a:lnTo>
                  <a:pt x="54231" y="24423"/>
                </a:lnTo>
                <a:lnTo>
                  <a:pt x="54038" y="24231"/>
                </a:lnTo>
                <a:lnTo>
                  <a:pt x="54038" y="23846"/>
                </a:lnTo>
                <a:close/>
                <a:moveTo>
                  <a:pt x="41731" y="25385"/>
                </a:moveTo>
                <a:lnTo>
                  <a:pt x="41923" y="25192"/>
                </a:lnTo>
                <a:lnTo>
                  <a:pt x="42115" y="25385"/>
                </a:lnTo>
                <a:lnTo>
                  <a:pt x="42115" y="25769"/>
                </a:lnTo>
                <a:lnTo>
                  <a:pt x="42115" y="26154"/>
                </a:lnTo>
                <a:lnTo>
                  <a:pt x="40769" y="26346"/>
                </a:lnTo>
                <a:lnTo>
                  <a:pt x="40000" y="27115"/>
                </a:lnTo>
                <a:lnTo>
                  <a:pt x="39423" y="26538"/>
                </a:lnTo>
                <a:lnTo>
                  <a:pt x="39423" y="26154"/>
                </a:lnTo>
                <a:lnTo>
                  <a:pt x="41154" y="25962"/>
                </a:lnTo>
                <a:lnTo>
                  <a:pt x="41731" y="25385"/>
                </a:lnTo>
                <a:close/>
                <a:moveTo>
                  <a:pt x="59038" y="26154"/>
                </a:moveTo>
                <a:lnTo>
                  <a:pt x="59231" y="25962"/>
                </a:lnTo>
                <a:lnTo>
                  <a:pt x="59808" y="26538"/>
                </a:lnTo>
                <a:lnTo>
                  <a:pt x="59808" y="26923"/>
                </a:lnTo>
                <a:lnTo>
                  <a:pt x="59038" y="27692"/>
                </a:lnTo>
                <a:lnTo>
                  <a:pt x="58846" y="27885"/>
                </a:lnTo>
                <a:lnTo>
                  <a:pt x="58269" y="26923"/>
                </a:lnTo>
                <a:lnTo>
                  <a:pt x="59038" y="26154"/>
                </a:lnTo>
                <a:close/>
                <a:moveTo>
                  <a:pt x="43269" y="34231"/>
                </a:moveTo>
                <a:lnTo>
                  <a:pt x="43462" y="34038"/>
                </a:lnTo>
                <a:lnTo>
                  <a:pt x="46538" y="34038"/>
                </a:lnTo>
                <a:lnTo>
                  <a:pt x="47115" y="34615"/>
                </a:lnTo>
                <a:lnTo>
                  <a:pt x="47115" y="35000"/>
                </a:lnTo>
                <a:lnTo>
                  <a:pt x="47115" y="35385"/>
                </a:lnTo>
                <a:lnTo>
                  <a:pt x="46923" y="35577"/>
                </a:lnTo>
                <a:lnTo>
                  <a:pt x="46731" y="35385"/>
                </a:lnTo>
                <a:lnTo>
                  <a:pt x="46538" y="35192"/>
                </a:lnTo>
                <a:lnTo>
                  <a:pt x="45769" y="34808"/>
                </a:lnTo>
                <a:lnTo>
                  <a:pt x="44231" y="34808"/>
                </a:lnTo>
                <a:lnTo>
                  <a:pt x="43462" y="35577"/>
                </a:lnTo>
                <a:lnTo>
                  <a:pt x="43077" y="35577"/>
                </a:lnTo>
                <a:lnTo>
                  <a:pt x="42885" y="34615"/>
                </a:lnTo>
                <a:lnTo>
                  <a:pt x="43077" y="34423"/>
                </a:lnTo>
                <a:lnTo>
                  <a:pt x="43269" y="34231"/>
                </a:lnTo>
                <a:close/>
                <a:moveTo>
                  <a:pt x="52885" y="34231"/>
                </a:moveTo>
                <a:lnTo>
                  <a:pt x="53077" y="34038"/>
                </a:lnTo>
                <a:lnTo>
                  <a:pt x="55385" y="34038"/>
                </a:lnTo>
                <a:lnTo>
                  <a:pt x="56346" y="35000"/>
                </a:lnTo>
                <a:lnTo>
                  <a:pt x="56346" y="35385"/>
                </a:lnTo>
                <a:lnTo>
                  <a:pt x="56154" y="35577"/>
                </a:lnTo>
                <a:lnTo>
                  <a:pt x="55192" y="35385"/>
                </a:lnTo>
                <a:lnTo>
                  <a:pt x="54615" y="34808"/>
                </a:lnTo>
                <a:lnTo>
                  <a:pt x="54231" y="34808"/>
                </a:lnTo>
                <a:lnTo>
                  <a:pt x="53846" y="34808"/>
                </a:lnTo>
                <a:lnTo>
                  <a:pt x="52308" y="35577"/>
                </a:lnTo>
                <a:lnTo>
                  <a:pt x="52115" y="35385"/>
                </a:lnTo>
                <a:lnTo>
                  <a:pt x="52115" y="35000"/>
                </a:lnTo>
                <a:lnTo>
                  <a:pt x="52885" y="34231"/>
                </a:lnTo>
                <a:close/>
                <a:moveTo>
                  <a:pt x="44423" y="36154"/>
                </a:moveTo>
                <a:lnTo>
                  <a:pt x="45385" y="35962"/>
                </a:lnTo>
                <a:lnTo>
                  <a:pt x="45962" y="36538"/>
                </a:lnTo>
                <a:lnTo>
                  <a:pt x="45962" y="36923"/>
                </a:lnTo>
                <a:lnTo>
                  <a:pt x="45962" y="37308"/>
                </a:lnTo>
                <a:lnTo>
                  <a:pt x="45769" y="37500"/>
                </a:lnTo>
                <a:lnTo>
                  <a:pt x="45577" y="37692"/>
                </a:lnTo>
                <a:lnTo>
                  <a:pt x="45385" y="37885"/>
                </a:lnTo>
                <a:lnTo>
                  <a:pt x="45000" y="37885"/>
                </a:lnTo>
                <a:lnTo>
                  <a:pt x="44038" y="36923"/>
                </a:lnTo>
                <a:lnTo>
                  <a:pt x="44423" y="36154"/>
                </a:lnTo>
                <a:close/>
                <a:moveTo>
                  <a:pt x="53654" y="36154"/>
                </a:moveTo>
                <a:lnTo>
                  <a:pt x="53846" y="35962"/>
                </a:lnTo>
                <a:lnTo>
                  <a:pt x="54808" y="36154"/>
                </a:lnTo>
                <a:lnTo>
                  <a:pt x="55192" y="36923"/>
                </a:lnTo>
                <a:lnTo>
                  <a:pt x="54615" y="37500"/>
                </a:lnTo>
                <a:lnTo>
                  <a:pt x="54423" y="37692"/>
                </a:lnTo>
                <a:lnTo>
                  <a:pt x="54231" y="37885"/>
                </a:lnTo>
                <a:lnTo>
                  <a:pt x="53269" y="36923"/>
                </a:lnTo>
                <a:lnTo>
                  <a:pt x="53654" y="36154"/>
                </a:lnTo>
                <a:close/>
                <a:moveTo>
                  <a:pt x="47500" y="44615"/>
                </a:moveTo>
                <a:lnTo>
                  <a:pt x="48846" y="44423"/>
                </a:lnTo>
                <a:lnTo>
                  <a:pt x="49038" y="44615"/>
                </a:lnTo>
                <a:lnTo>
                  <a:pt x="49231" y="44808"/>
                </a:lnTo>
                <a:lnTo>
                  <a:pt x="50385" y="44808"/>
                </a:lnTo>
                <a:lnTo>
                  <a:pt x="51154" y="44423"/>
                </a:lnTo>
                <a:lnTo>
                  <a:pt x="51346" y="44615"/>
                </a:lnTo>
                <a:lnTo>
                  <a:pt x="51346" y="45000"/>
                </a:lnTo>
                <a:lnTo>
                  <a:pt x="51154" y="45192"/>
                </a:lnTo>
                <a:lnTo>
                  <a:pt x="50000" y="45962"/>
                </a:lnTo>
                <a:lnTo>
                  <a:pt x="48846" y="45962"/>
                </a:lnTo>
                <a:lnTo>
                  <a:pt x="48077" y="45577"/>
                </a:lnTo>
                <a:lnTo>
                  <a:pt x="47500" y="45000"/>
                </a:lnTo>
                <a:lnTo>
                  <a:pt x="47500" y="44615"/>
                </a:lnTo>
                <a:close/>
                <a:moveTo>
                  <a:pt x="44231" y="48654"/>
                </a:moveTo>
                <a:lnTo>
                  <a:pt x="44038" y="48846"/>
                </a:lnTo>
                <a:lnTo>
                  <a:pt x="44038" y="53077"/>
                </a:lnTo>
                <a:lnTo>
                  <a:pt x="47692" y="56731"/>
                </a:lnTo>
                <a:lnTo>
                  <a:pt x="48077" y="56731"/>
                </a:lnTo>
                <a:lnTo>
                  <a:pt x="49038" y="57692"/>
                </a:lnTo>
                <a:lnTo>
                  <a:pt x="49038" y="58077"/>
                </a:lnTo>
                <a:lnTo>
                  <a:pt x="49231" y="58269"/>
                </a:lnTo>
                <a:lnTo>
                  <a:pt x="49615" y="58269"/>
                </a:lnTo>
                <a:lnTo>
                  <a:pt x="50000" y="58269"/>
                </a:lnTo>
                <a:lnTo>
                  <a:pt x="53846" y="54808"/>
                </a:lnTo>
                <a:lnTo>
                  <a:pt x="55577" y="53462"/>
                </a:lnTo>
                <a:lnTo>
                  <a:pt x="55577" y="48846"/>
                </a:lnTo>
                <a:lnTo>
                  <a:pt x="55385" y="48654"/>
                </a:lnTo>
                <a:lnTo>
                  <a:pt x="51538" y="50577"/>
                </a:lnTo>
                <a:lnTo>
                  <a:pt x="47692" y="50577"/>
                </a:lnTo>
                <a:lnTo>
                  <a:pt x="47500" y="50385"/>
                </a:lnTo>
                <a:lnTo>
                  <a:pt x="47308" y="50192"/>
                </a:lnTo>
                <a:lnTo>
                  <a:pt x="46923" y="50192"/>
                </a:lnTo>
                <a:lnTo>
                  <a:pt x="46538" y="50192"/>
                </a:lnTo>
                <a:lnTo>
                  <a:pt x="45000" y="49423"/>
                </a:lnTo>
                <a:lnTo>
                  <a:pt x="44231" y="48654"/>
                </a:lnTo>
                <a:close/>
                <a:moveTo>
                  <a:pt x="44808" y="58462"/>
                </a:moveTo>
                <a:lnTo>
                  <a:pt x="45000" y="58269"/>
                </a:lnTo>
                <a:lnTo>
                  <a:pt x="45385" y="58269"/>
                </a:lnTo>
                <a:lnTo>
                  <a:pt x="45962" y="58846"/>
                </a:lnTo>
                <a:lnTo>
                  <a:pt x="45962" y="68462"/>
                </a:lnTo>
                <a:lnTo>
                  <a:pt x="45769" y="68654"/>
                </a:lnTo>
                <a:lnTo>
                  <a:pt x="45577" y="68846"/>
                </a:lnTo>
                <a:lnTo>
                  <a:pt x="45385" y="69038"/>
                </a:lnTo>
                <a:lnTo>
                  <a:pt x="44808" y="68462"/>
                </a:lnTo>
                <a:lnTo>
                  <a:pt x="44808" y="58462"/>
                </a:lnTo>
                <a:close/>
                <a:moveTo>
                  <a:pt x="53654" y="58462"/>
                </a:moveTo>
                <a:lnTo>
                  <a:pt x="53846" y="58269"/>
                </a:lnTo>
                <a:lnTo>
                  <a:pt x="54808" y="58462"/>
                </a:lnTo>
                <a:lnTo>
                  <a:pt x="54808" y="68462"/>
                </a:lnTo>
                <a:lnTo>
                  <a:pt x="54615" y="68654"/>
                </a:lnTo>
                <a:lnTo>
                  <a:pt x="53654" y="68462"/>
                </a:lnTo>
                <a:lnTo>
                  <a:pt x="53654" y="58462"/>
                </a:lnTo>
                <a:close/>
                <a:moveTo>
                  <a:pt x="70192" y="60000"/>
                </a:moveTo>
                <a:lnTo>
                  <a:pt x="70385" y="59808"/>
                </a:lnTo>
                <a:lnTo>
                  <a:pt x="70577" y="60000"/>
                </a:lnTo>
                <a:lnTo>
                  <a:pt x="70577" y="61154"/>
                </a:lnTo>
                <a:lnTo>
                  <a:pt x="69808" y="62308"/>
                </a:lnTo>
                <a:lnTo>
                  <a:pt x="69808" y="62692"/>
                </a:lnTo>
                <a:lnTo>
                  <a:pt x="69808" y="63077"/>
                </a:lnTo>
                <a:lnTo>
                  <a:pt x="69615" y="63269"/>
                </a:lnTo>
                <a:lnTo>
                  <a:pt x="69423" y="63462"/>
                </a:lnTo>
                <a:lnTo>
                  <a:pt x="69423" y="64615"/>
                </a:lnTo>
                <a:lnTo>
                  <a:pt x="69231" y="64808"/>
                </a:lnTo>
                <a:lnTo>
                  <a:pt x="69038" y="65000"/>
                </a:lnTo>
                <a:lnTo>
                  <a:pt x="69038" y="66538"/>
                </a:lnTo>
                <a:lnTo>
                  <a:pt x="68846" y="66731"/>
                </a:lnTo>
                <a:lnTo>
                  <a:pt x="68654" y="66923"/>
                </a:lnTo>
                <a:lnTo>
                  <a:pt x="68654" y="70000"/>
                </a:lnTo>
                <a:lnTo>
                  <a:pt x="68462" y="70192"/>
                </a:lnTo>
                <a:lnTo>
                  <a:pt x="68269" y="70385"/>
                </a:lnTo>
                <a:lnTo>
                  <a:pt x="68269" y="72308"/>
                </a:lnTo>
                <a:lnTo>
                  <a:pt x="68077" y="72500"/>
                </a:lnTo>
                <a:lnTo>
                  <a:pt x="67692" y="72500"/>
                </a:lnTo>
                <a:lnTo>
                  <a:pt x="67500" y="72308"/>
                </a:lnTo>
                <a:lnTo>
                  <a:pt x="67500" y="69231"/>
                </a:lnTo>
                <a:lnTo>
                  <a:pt x="67692" y="69038"/>
                </a:lnTo>
                <a:lnTo>
                  <a:pt x="67885" y="68846"/>
                </a:lnTo>
                <a:lnTo>
                  <a:pt x="67885" y="66154"/>
                </a:lnTo>
                <a:lnTo>
                  <a:pt x="68077" y="65962"/>
                </a:lnTo>
                <a:lnTo>
                  <a:pt x="68269" y="65769"/>
                </a:lnTo>
                <a:lnTo>
                  <a:pt x="68269" y="64615"/>
                </a:lnTo>
                <a:lnTo>
                  <a:pt x="68462" y="64423"/>
                </a:lnTo>
                <a:lnTo>
                  <a:pt x="68654" y="64231"/>
                </a:lnTo>
                <a:lnTo>
                  <a:pt x="68654" y="63077"/>
                </a:lnTo>
                <a:lnTo>
                  <a:pt x="68846" y="62885"/>
                </a:lnTo>
                <a:lnTo>
                  <a:pt x="69038" y="62692"/>
                </a:lnTo>
                <a:lnTo>
                  <a:pt x="69038" y="62308"/>
                </a:lnTo>
                <a:lnTo>
                  <a:pt x="69038" y="61923"/>
                </a:lnTo>
                <a:lnTo>
                  <a:pt x="70192" y="60000"/>
                </a:lnTo>
                <a:close/>
              </a:path>
            </a:pathLst>
          </a:custGeom>
          <a:solidFill>
            <a:srgbClr val="FFFFFF"/>
          </a:solidFill>
          <a:ln>
            <a:noFill/>
          </a:ln>
        </p:spPr>
        <p:txBody>
          <a:bodyPr/>
          <a:p/>
        </p:txBody>
      </p:sp>
      <p:sp>
        <p:nvSpPr>
          <p:cNvPr id="21" name="Shape 19"/>
          <p:cNvSpPr/>
          <p:nvPr/>
        </p:nvSpPr>
        <p:spPr>
          <a:xfrm>
            <a:off x="9125712" y="2907792"/>
            <a:ext cx="914400" cy="914400"/>
          </a:xfrm>
          <a:prstGeom prst="ellipse">
            <a:avLst/>
          </a:prstGeom>
          <a:solidFill>
            <a:srgbClr val="17324D"/>
          </a:solidFill>
          <a:ln w="12700">
            <a:solidFill>
              <a:srgbClr val="17324D">
                <a:alpha val="0"/>
              </a:srgbClr>
            </a:solidFill>
            <a:prstDash val="solid"/>
          </a:ln>
        </p:spPr>
        <p:txBody>
          <a:bodyPr/>
          <a:p/>
        </p:txBody>
      </p:sp>
      <p:sp>
        <p:nvSpPr>
          <p:cNvPr id="22" name="Shape 20"/>
          <p:cNvSpPr/>
          <p:nvPr/>
        </p:nvSpPr>
        <p:spPr>
          <a:xfrm>
            <a:off x="9125712" y="2907792"/>
            <a:ext cx="914400" cy="914400"/>
          </a:xfrm>
          <a:prstGeom prst="ellipse">
            <a:avLst/>
          </a:prstGeom>
          <a:solidFill>
            <a:srgbClr val="FFFFFF">
              <a:alpha val="0"/>
            </a:srgbClr>
          </a:solidFill>
          <a:ln w="16510">
            <a:solidFill>
              <a:srgbClr val="FFFFFF"/>
            </a:solidFill>
            <a:prstDash val="solid"/>
          </a:ln>
        </p:spPr>
        <p:txBody>
          <a:bodyPr/>
          <a:p/>
        </p:txBody>
      </p:sp>
      <p:sp>
        <p:nvSpPr>
          <p:cNvPr id="23" name="VECTOR_chart_center_5"/>
          <p:cNvSpPr/>
          <p:nvPr/>
        </p:nvSpPr>
        <p:spPr>
          <a:xfrm>
            <a:off x="9125712" y="2907792"/>
            <a:ext cx="914400" cy="914400"/>
          </a:xfrm>
          <a:custGeom>
            <a:avLst/>
            <a:gdLst/>
            <a:ahLst/>
            <a:cxnLst/>
            <a:rect l="0" t="0" r="r" b="b"/>
            <a:pathLst>
              <a:path w="100000" h="100000" fill="norm" stroke="false" extrusionOk="false">
                <a:moveTo>
                  <a:pt x="71484" y="17969"/>
                </a:moveTo>
                <a:lnTo>
                  <a:pt x="71875" y="17578"/>
                </a:lnTo>
                <a:lnTo>
                  <a:pt x="73047" y="18750"/>
                </a:lnTo>
                <a:lnTo>
                  <a:pt x="73047" y="75000"/>
                </a:lnTo>
                <a:lnTo>
                  <a:pt x="73438" y="75391"/>
                </a:lnTo>
                <a:lnTo>
                  <a:pt x="73828" y="75781"/>
                </a:lnTo>
                <a:lnTo>
                  <a:pt x="72656" y="76953"/>
                </a:lnTo>
                <a:lnTo>
                  <a:pt x="64062" y="76953"/>
                </a:lnTo>
                <a:lnTo>
                  <a:pt x="63281" y="76953"/>
                </a:lnTo>
                <a:lnTo>
                  <a:pt x="62500" y="76953"/>
                </a:lnTo>
                <a:lnTo>
                  <a:pt x="61328" y="75781"/>
                </a:lnTo>
                <a:lnTo>
                  <a:pt x="61328" y="18750"/>
                </a:lnTo>
                <a:lnTo>
                  <a:pt x="61719" y="18359"/>
                </a:lnTo>
                <a:lnTo>
                  <a:pt x="71094" y="18359"/>
                </a:lnTo>
                <a:lnTo>
                  <a:pt x="71484" y="17969"/>
                </a:lnTo>
                <a:close/>
                <a:moveTo>
                  <a:pt x="63281" y="19922"/>
                </a:moveTo>
                <a:lnTo>
                  <a:pt x="62891" y="20312"/>
                </a:lnTo>
                <a:lnTo>
                  <a:pt x="62891" y="74219"/>
                </a:lnTo>
                <a:lnTo>
                  <a:pt x="64062" y="75391"/>
                </a:lnTo>
                <a:lnTo>
                  <a:pt x="71094" y="75391"/>
                </a:lnTo>
                <a:lnTo>
                  <a:pt x="71484" y="75000"/>
                </a:lnTo>
                <a:lnTo>
                  <a:pt x="71484" y="20312"/>
                </a:lnTo>
                <a:lnTo>
                  <a:pt x="71094" y="19922"/>
                </a:lnTo>
                <a:lnTo>
                  <a:pt x="63281" y="19922"/>
                </a:lnTo>
                <a:close/>
                <a:moveTo>
                  <a:pt x="46484" y="32812"/>
                </a:moveTo>
                <a:lnTo>
                  <a:pt x="46875" y="32422"/>
                </a:lnTo>
                <a:lnTo>
                  <a:pt x="56250" y="32422"/>
                </a:lnTo>
                <a:lnTo>
                  <a:pt x="57422" y="33594"/>
                </a:lnTo>
                <a:lnTo>
                  <a:pt x="57422" y="75781"/>
                </a:lnTo>
                <a:lnTo>
                  <a:pt x="56250" y="76953"/>
                </a:lnTo>
                <a:lnTo>
                  <a:pt x="46094" y="76953"/>
                </a:lnTo>
                <a:lnTo>
                  <a:pt x="44922" y="75781"/>
                </a:lnTo>
                <a:lnTo>
                  <a:pt x="44922" y="34375"/>
                </a:lnTo>
                <a:lnTo>
                  <a:pt x="46484" y="32812"/>
                </a:lnTo>
                <a:close/>
                <a:moveTo>
                  <a:pt x="47656" y="34766"/>
                </a:moveTo>
                <a:lnTo>
                  <a:pt x="47266" y="35156"/>
                </a:lnTo>
                <a:lnTo>
                  <a:pt x="47266" y="75000"/>
                </a:lnTo>
                <a:lnTo>
                  <a:pt x="47656" y="75391"/>
                </a:lnTo>
                <a:lnTo>
                  <a:pt x="54688" y="75391"/>
                </a:lnTo>
                <a:lnTo>
                  <a:pt x="55859" y="74219"/>
                </a:lnTo>
                <a:lnTo>
                  <a:pt x="55859" y="71875"/>
                </a:lnTo>
                <a:lnTo>
                  <a:pt x="55469" y="71484"/>
                </a:lnTo>
                <a:lnTo>
                  <a:pt x="55078" y="71094"/>
                </a:lnTo>
                <a:lnTo>
                  <a:pt x="55078" y="65625"/>
                </a:lnTo>
                <a:lnTo>
                  <a:pt x="55469" y="65234"/>
                </a:lnTo>
                <a:lnTo>
                  <a:pt x="55859" y="64844"/>
                </a:lnTo>
                <a:lnTo>
                  <a:pt x="55859" y="54688"/>
                </a:lnTo>
                <a:lnTo>
                  <a:pt x="55469" y="54297"/>
                </a:lnTo>
                <a:lnTo>
                  <a:pt x="55078" y="53906"/>
                </a:lnTo>
                <a:lnTo>
                  <a:pt x="55078" y="46875"/>
                </a:lnTo>
                <a:lnTo>
                  <a:pt x="55469" y="46484"/>
                </a:lnTo>
                <a:lnTo>
                  <a:pt x="55859" y="46094"/>
                </a:lnTo>
                <a:lnTo>
                  <a:pt x="55859" y="35938"/>
                </a:lnTo>
                <a:lnTo>
                  <a:pt x="54688" y="34766"/>
                </a:lnTo>
                <a:lnTo>
                  <a:pt x="47656" y="34766"/>
                </a:lnTo>
                <a:close/>
                <a:moveTo>
                  <a:pt x="29297" y="47656"/>
                </a:moveTo>
                <a:lnTo>
                  <a:pt x="29688" y="47266"/>
                </a:lnTo>
                <a:lnTo>
                  <a:pt x="40625" y="47266"/>
                </a:lnTo>
                <a:lnTo>
                  <a:pt x="41016" y="47656"/>
                </a:lnTo>
                <a:lnTo>
                  <a:pt x="41016" y="76562"/>
                </a:lnTo>
                <a:lnTo>
                  <a:pt x="40625" y="76953"/>
                </a:lnTo>
                <a:lnTo>
                  <a:pt x="39844" y="76953"/>
                </a:lnTo>
                <a:lnTo>
                  <a:pt x="29688" y="76953"/>
                </a:lnTo>
                <a:lnTo>
                  <a:pt x="29297" y="76562"/>
                </a:lnTo>
                <a:lnTo>
                  <a:pt x="29297" y="61719"/>
                </a:lnTo>
                <a:lnTo>
                  <a:pt x="28906" y="61328"/>
                </a:lnTo>
                <a:lnTo>
                  <a:pt x="28516" y="60938"/>
                </a:lnTo>
                <a:lnTo>
                  <a:pt x="28516" y="57812"/>
                </a:lnTo>
                <a:lnTo>
                  <a:pt x="28906" y="57422"/>
                </a:lnTo>
                <a:lnTo>
                  <a:pt x="29297" y="57031"/>
                </a:lnTo>
                <a:lnTo>
                  <a:pt x="29297" y="49219"/>
                </a:lnTo>
                <a:lnTo>
                  <a:pt x="28906" y="48828"/>
                </a:lnTo>
                <a:lnTo>
                  <a:pt x="28516" y="48438"/>
                </a:lnTo>
                <a:lnTo>
                  <a:pt x="28906" y="48047"/>
                </a:lnTo>
                <a:lnTo>
                  <a:pt x="29297" y="47656"/>
                </a:lnTo>
                <a:close/>
                <a:moveTo>
                  <a:pt x="31250" y="48828"/>
                </a:moveTo>
                <a:lnTo>
                  <a:pt x="30859" y="49219"/>
                </a:lnTo>
                <a:lnTo>
                  <a:pt x="30859" y="75000"/>
                </a:lnTo>
                <a:lnTo>
                  <a:pt x="31250" y="75391"/>
                </a:lnTo>
                <a:lnTo>
                  <a:pt x="38281" y="75391"/>
                </a:lnTo>
                <a:lnTo>
                  <a:pt x="38672" y="75000"/>
                </a:lnTo>
                <a:lnTo>
                  <a:pt x="39062" y="74609"/>
                </a:lnTo>
                <a:lnTo>
                  <a:pt x="39453" y="74219"/>
                </a:lnTo>
                <a:lnTo>
                  <a:pt x="39453" y="49219"/>
                </a:lnTo>
                <a:lnTo>
                  <a:pt x="39062" y="48828"/>
                </a:lnTo>
                <a:lnTo>
                  <a:pt x="31250" y="48828"/>
                </a:lnTo>
                <a:close/>
              </a:path>
            </a:pathLst>
          </a:custGeom>
          <a:solidFill>
            <a:srgbClr val="FFFFFF"/>
          </a:solidFill>
          <a:ln>
            <a:noFill/>
          </a:ln>
        </p:spPr>
        <p:txBody>
          <a:bodyPr/>
          <a:p/>
        </p:txBody>
      </p:sp>
      <p:sp>
        <p:nvSpPr>
          <p:cNvPr id="24" name="Text 22"/>
          <p:cNvSpPr/>
          <p:nvPr/>
        </p:nvSpPr>
        <p:spPr>
          <a:xfrm>
            <a:off x="557784" y="5971032"/>
            <a:ext cx="8229600" cy="438912"/>
          </a:xfrm>
          <a:prstGeom prst="rect">
            <a:avLst/>
          </a:prstGeom>
          <a:noFill/>
          <a:ln/>
        </p:spPr>
        <p:txBody>
          <a:bodyPr wrap="square" lIns="0" tIns="0" rIns="0" bIns="0" rtlCol="0" anchor="ctr"/>
          <a:lstStyle/>
          <a:p>
            <a:pPr indent="0" marL="0">
              <a:buNone/>
            </a:pPr>
            <a:r>
              <a:rPr lang="en-US" sz="1300" dirty="0">
                <a:solidFill>
                  <a:srgbClr val="E2E8F0"/>
                </a:solidFill>
                <a:latin typeface="Aptos" pitchFamily="34" charset="0"/>
                <a:ea typeface="Segoe UI" pitchFamily="34" charset="-122"/>
                <a:cs typeface="Segoe UI" pitchFamily="34" charset="-120"/>
              </a:rPr>
              <a:t>Projet réalisé en équipe de 4</a:t>
            </a:r>
            <a:endParaRPr lang="en-US" sz="1300" dirty="0"/>
          </a:p>
          <a:p>
            <a:pPr indent="0" marL="0">
              <a:buNone/>
            </a:pPr>
            <a:r>
              <a:rPr lang="en-US" sz="1300" dirty="0">
                <a:solidFill>
                  <a:srgbClr val="E2E8F0"/>
                </a:solidFill>
                <a:latin typeface="Aptos" pitchFamily="34" charset="0"/>
                <a:ea typeface="Segoe UI" pitchFamily="34" charset="-122"/>
                <a:cs typeface="Segoe UI" pitchFamily="34" charset="-120"/>
              </a:rPr>
              <a:t>ENSEA Abidjan, cours de Data Mining, 2025</a:t>
            </a:r>
            <a:endParaRPr lang="en-US" sz="1300" dirty="0"/>
          </a:p>
        </p:txBody>
      </p:sp>
      <p:sp>
        <p:nvSpPr>
          <p:cNvPr id="25" name="Text 23"/>
          <p:cNvSpPr/>
          <p:nvPr/>
        </p:nvSpPr>
        <p:spPr>
          <a:xfrm>
            <a:off x="11448288" y="6217920"/>
            <a:ext cx="301752" cy="210312"/>
          </a:xfrm>
          <a:prstGeom prst="rect">
            <a:avLst/>
          </a:prstGeom>
          <a:noFill/>
          <a:ln/>
        </p:spPr>
        <p:txBody>
          <a:bodyPr wrap="square" lIns="0" tIns="0" rIns="0" bIns="0" rtlCol="0" anchor="ctr"/>
          <a:lstStyle/>
          <a:p>
            <a:pPr indent="0" marL="0">
              <a:buNone/>
            </a:pPr>
            <a:r>
              <a:rPr lang="en-US" sz="1200" dirty="0">
                <a:solidFill>
                  <a:srgbClr val="E2E8F0"/>
                </a:solidFill>
                <a:latin typeface="Aptos" pitchFamily="34" charset="0"/>
                <a:ea typeface="Segoe UI" pitchFamily="34" charset="-122"/>
                <a:cs typeface="Segoe UI" pitchFamily="34" charset="-120"/>
              </a:rPr>
              <a:t>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4200" b="1" dirty="0">
                <a:solidFill>
                  <a:srgbClr val="2563EB"/>
                </a:solidFill>
                <a:latin typeface="Aptos" pitchFamily="34" charset="0"/>
                <a:ea typeface="Segoe UI" pitchFamily="34" charset="-122"/>
                <a:cs typeface="Segoe UI" pitchFamily="34" charset="-120"/>
              </a:rPr>
              <a:t>02. Sommaire</a:t>
            </a:r>
            <a:endParaRPr lang="en-US" sz="42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700" dirty="0">
                <a:solidFill>
                  <a:srgbClr val="17324D"/>
                </a:solidFill>
                <a:latin typeface="Aptos" pitchFamily="34" charset="0"/>
                <a:ea typeface="Segoe UI" pitchFamily="34" charset="-122"/>
                <a:cs typeface="Segoe UI" pitchFamily="34" charset="-120"/>
              </a:rPr>
              <a:t>La méthode, les quatre segments et les hypothèses structurent le rapport.</a:t>
            </a:r>
            <a:endParaRPr lang="en-US" sz="170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ENSEA Abidjan · Data Mining · 2025</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02</a:t>
            </a:r>
            <a:endParaRPr lang="en-US" sz="1000" dirty="0"/>
          </a:p>
        </p:txBody>
      </p:sp>
      <p:sp>
        <p:nvSpPr>
          <p:cNvPr id="7" name="Shape 4"/>
          <p:cNvSpPr/>
          <p:nvPr/>
        </p:nvSpPr>
        <p:spPr>
          <a:xfrm>
            <a:off x="877824" y="1719072"/>
            <a:ext cx="0" cy="4425696"/>
          </a:xfrm>
          <a:prstGeom prst="line">
            <a:avLst/>
          </a:prstGeom>
          <a:noFill/>
          <a:ln w="19050">
            <a:solidFill>
              <a:srgbClr val="6D28D9"/>
            </a:solidFill>
            <a:prstDash val="solid"/>
          </a:ln>
        </p:spPr>
        <p:txBody>
          <a:bodyPr/>
          <a:p/>
        </p:txBody>
      </p:sp>
      <p:sp>
        <p:nvSpPr>
          <p:cNvPr id="8" name="Shape 5"/>
          <p:cNvSpPr/>
          <p:nvPr/>
        </p:nvSpPr>
        <p:spPr>
          <a:xfrm>
            <a:off x="603504" y="1837944"/>
            <a:ext cx="530352" cy="530352"/>
          </a:xfrm>
          <a:prstGeom prst="ellipse">
            <a:avLst/>
          </a:prstGeom>
          <a:solidFill>
            <a:srgbClr val="17324D"/>
          </a:solidFill>
          <a:ln w="12700">
            <a:solidFill>
              <a:srgbClr val="17324D">
                <a:alpha val="0"/>
              </a:srgbClr>
            </a:solidFill>
            <a:prstDash val="solid"/>
          </a:ln>
        </p:spPr>
        <p:txBody>
          <a:bodyPr/>
          <a:p/>
        </p:txBody>
      </p:sp>
      <p:sp>
        <p:nvSpPr>
          <p:cNvPr id="9" name="Text 6"/>
          <p:cNvSpPr/>
          <p:nvPr/>
        </p:nvSpPr>
        <p:spPr>
          <a:xfrm>
            <a:off x="621792" y="1975104"/>
            <a:ext cx="493776"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Aptos" pitchFamily="34" charset="0"/>
                <a:ea typeface="Segoe UI" pitchFamily="34" charset="-122"/>
                <a:cs typeface="Segoe UI" pitchFamily="34" charset="-120"/>
              </a:rPr>
              <a:t>01</a:t>
            </a:r>
            <a:endParaRPr lang="en-US" sz="1600" dirty="0"/>
          </a:p>
        </p:txBody>
      </p:sp>
      <p:sp>
        <p:nvSpPr>
          <p:cNvPr id="10" name="Shape 7"/>
          <p:cNvSpPr/>
          <p:nvPr/>
        </p:nvSpPr>
        <p:spPr>
          <a:xfrm>
            <a:off x="1417320" y="1709928"/>
            <a:ext cx="786384" cy="786384"/>
          </a:xfrm>
          <a:prstGeom prst="ellipse">
            <a:avLst/>
          </a:prstGeom>
          <a:solidFill>
            <a:srgbClr val="1D4ED8"/>
          </a:solidFill>
          <a:ln w="12700">
            <a:solidFill>
              <a:srgbClr val="1D4ED8">
                <a:alpha val="0"/>
              </a:srgbClr>
            </a:solidFill>
            <a:prstDash val="solid"/>
          </a:ln>
        </p:spPr>
        <p:txBody>
          <a:bodyPr/>
          <a:p/>
        </p:txBody>
      </p:sp>
      <p:sp>
        <p:nvSpPr>
          <p:cNvPr id="11" name="VECTOR_target_6"/>
          <p:cNvSpPr/>
          <p:nvPr/>
        </p:nvSpPr>
        <p:spPr>
          <a:xfrm>
            <a:off x="1417320" y="1709928"/>
            <a:ext cx="786384" cy="786384"/>
          </a:xfrm>
          <a:custGeom>
            <a:avLst/>
            <a:gdLst/>
            <a:ahLst/>
            <a:cxnLst/>
            <a:rect l="0" t="0" r="r" b="b"/>
            <a:pathLst>
              <a:path w="100000" h="100000" fill="norm" stroke="false" extrusionOk="false">
                <a:moveTo>
                  <a:pt x="71875" y="19643"/>
                </a:moveTo>
                <a:lnTo>
                  <a:pt x="72321" y="19196"/>
                </a:lnTo>
                <a:lnTo>
                  <a:pt x="72768" y="19643"/>
                </a:lnTo>
                <a:lnTo>
                  <a:pt x="72768" y="24107"/>
                </a:lnTo>
                <a:lnTo>
                  <a:pt x="73214" y="24554"/>
                </a:lnTo>
                <a:lnTo>
                  <a:pt x="73661" y="25000"/>
                </a:lnTo>
                <a:lnTo>
                  <a:pt x="73661" y="25893"/>
                </a:lnTo>
                <a:lnTo>
                  <a:pt x="73661" y="26786"/>
                </a:lnTo>
                <a:lnTo>
                  <a:pt x="75000" y="28125"/>
                </a:lnTo>
                <a:lnTo>
                  <a:pt x="80357" y="28125"/>
                </a:lnTo>
                <a:lnTo>
                  <a:pt x="80804" y="28571"/>
                </a:lnTo>
                <a:lnTo>
                  <a:pt x="72321" y="37054"/>
                </a:lnTo>
                <a:lnTo>
                  <a:pt x="71875" y="36607"/>
                </a:lnTo>
                <a:lnTo>
                  <a:pt x="71429" y="36161"/>
                </a:lnTo>
                <a:lnTo>
                  <a:pt x="68750" y="36161"/>
                </a:lnTo>
                <a:lnTo>
                  <a:pt x="66964" y="35268"/>
                </a:lnTo>
                <a:lnTo>
                  <a:pt x="57589" y="44643"/>
                </a:lnTo>
                <a:lnTo>
                  <a:pt x="54464" y="48661"/>
                </a:lnTo>
                <a:lnTo>
                  <a:pt x="52679" y="49554"/>
                </a:lnTo>
                <a:lnTo>
                  <a:pt x="51339" y="48214"/>
                </a:lnTo>
                <a:lnTo>
                  <a:pt x="64732" y="34821"/>
                </a:lnTo>
                <a:lnTo>
                  <a:pt x="64732" y="26786"/>
                </a:lnTo>
                <a:lnTo>
                  <a:pt x="71875" y="19643"/>
                </a:lnTo>
                <a:close/>
                <a:moveTo>
                  <a:pt x="70536" y="23661"/>
                </a:moveTo>
                <a:lnTo>
                  <a:pt x="66518" y="27679"/>
                </a:lnTo>
                <a:lnTo>
                  <a:pt x="66518" y="33036"/>
                </a:lnTo>
                <a:lnTo>
                  <a:pt x="67857" y="34375"/>
                </a:lnTo>
                <a:lnTo>
                  <a:pt x="72321" y="34375"/>
                </a:lnTo>
                <a:lnTo>
                  <a:pt x="75000" y="31696"/>
                </a:lnTo>
                <a:lnTo>
                  <a:pt x="75893" y="31696"/>
                </a:lnTo>
                <a:lnTo>
                  <a:pt x="76339" y="31250"/>
                </a:lnTo>
                <a:lnTo>
                  <a:pt x="76339" y="30357"/>
                </a:lnTo>
                <a:lnTo>
                  <a:pt x="76339" y="29464"/>
                </a:lnTo>
                <a:lnTo>
                  <a:pt x="72321" y="29018"/>
                </a:lnTo>
                <a:lnTo>
                  <a:pt x="71875" y="28571"/>
                </a:lnTo>
                <a:lnTo>
                  <a:pt x="71875" y="24107"/>
                </a:lnTo>
                <a:lnTo>
                  <a:pt x="71429" y="23661"/>
                </a:lnTo>
                <a:lnTo>
                  <a:pt x="70536" y="23661"/>
                </a:lnTo>
                <a:close/>
                <a:moveTo>
                  <a:pt x="45982" y="27679"/>
                </a:moveTo>
                <a:lnTo>
                  <a:pt x="46429" y="27232"/>
                </a:lnTo>
                <a:lnTo>
                  <a:pt x="51786" y="27232"/>
                </a:lnTo>
                <a:lnTo>
                  <a:pt x="52232" y="27679"/>
                </a:lnTo>
                <a:lnTo>
                  <a:pt x="52679" y="28125"/>
                </a:lnTo>
                <a:lnTo>
                  <a:pt x="55357" y="28125"/>
                </a:lnTo>
                <a:lnTo>
                  <a:pt x="55804" y="28571"/>
                </a:lnTo>
                <a:lnTo>
                  <a:pt x="56250" y="29018"/>
                </a:lnTo>
                <a:lnTo>
                  <a:pt x="57143" y="29018"/>
                </a:lnTo>
                <a:lnTo>
                  <a:pt x="58036" y="29018"/>
                </a:lnTo>
                <a:lnTo>
                  <a:pt x="59821" y="29911"/>
                </a:lnTo>
                <a:lnTo>
                  <a:pt x="60268" y="30357"/>
                </a:lnTo>
                <a:lnTo>
                  <a:pt x="60268" y="31250"/>
                </a:lnTo>
                <a:lnTo>
                  <a:pt x="59821" y="31696"/>
                </a:lnTo>
                <a:lnTo>
                  <a:pt x="58929" y="31696"/>
                </a:lnTo>
                <a:lnTo>
                  <a:pt x="56250" y="29911"/>
                </a:lnTo>
                <a:lnTo>
                  <a:pt x="52679" y="29911"/>
                </a:lnTo>
                <a:lnTo>
                  <a:pt x="52232" y="29464"/>
                </a:lnTo>
                <a:lnTo>
                  <a:pt x="51786" y="29018"/>
                </a:lnTo>
                <a:lnTo>
                  <a:pt x="47321" y="29018"/>
                </a:lnTo>
                <a:lnTo>
                  <a:pt x="46875" y="29464"/>
                </a:lnTo>
                <a:lnTo>
                  <a:pt x="46429" y="29911"/>
                </a:lnTo>
                <a:lnTo>
                  <a:pt x="43750" y="29911"/>
                </a:lnTo>
                <a:lnTo>
                  <a:pt x="43304" y="30357"/>
                </a:lnTo>
                <a:lnTo>
                  <a:pt x="42857" y="30804"/>
                </a:lnTo>
                <a:lnTo>
                  <a:pt x="41964" y="30804"/>
                </a:lnTo>
                <a:lnTo>
                  <a:pt x="41071" y="30804"/>
                </a:lnTo>
                <a:lnTo>
                  <a:pt x="37500" y="32589"/>
                </a:lnTo>
                <a:lnTo>
                  <a:pt x="30804" y="39286"/>
                </a:lnTo>
                <a:lnTo>
                  <a:pt x="29018" y="42857"/>
                </a:lnTo>
                <a:lnTo>
                  <a:pt x="29018" y="43750"/>
                </a:lnTo>
                <a:lnTo>
                  <a:pt x="29018" y="44643"/>
                </a:lnTo>
                <a:lnTo>
                  <a:pt x="28571" y="45089"/>
                </a:lnTo>
                <a:lnTo>
                  <a:pt x="28125" y="45536"/>
                </a:lnTo>
                <a:lnTo>
                  <a:pt x="28125" y="54464"/>
                </a:lnTo>
                <a:lnTo>
                  <a:pt x="28571" y="54911"/>
                </a:lnTo>
                <a:lnTo>
                  <a:pt x="29018" y="55357"/>
                </a:lnTo>
                <a:lnTo>
                  <a:pt x="29018" y="58036"/>
                </a:lnTo>
                <a:lnTo>
                  <a:pt x="31696" y="63393"/>
                </a:lnTo>
                <a:lnTo>
                  <a:pt x="37500" y="69196"/>
                </a:lnTo>
                <a:lnTo>
                  <a:pt x="44643" y="72768"/>
                </a:lnTo>
                <a:lnTo>
                  <a:pt x="53571" y="72768"/>
                </a:lnTo>
                <a:lnTo>
                  <a:pt x="54018" y="72321"/>
                </a:lnTo>
                <a:lnTo>
                  <a:pt x="54464" y="71875"/>
                </a:lnTo>
                <a:lnTo>
                  <a:pt x="57143" y="71875"/>
                </a:lnTo>
                <a:lnTo>
                  <a:pt x="62500" y="69196"/>
                </a:lnTo>
                <a:lnTo>
                  <a:pt x="67411" y="64286"/>
                </a:lnTo>
                <a:lnTo>
                  <a:pt x="67411" y="63393"/>
                </a:lnTo>
                <a:lnTo>
                  <a:pt x="70089" y="59821"/>
                </a:lnTo>
                <a:lnTo>
                  <a:pt x="70089" y="58929"/>
                </a:lnTo>
                <a:lnTo>
                  <a:pt x="70089" y="58036"/>
                </a:lnTo>
                <a:lnTo>
                  <a:pt x="71875" y="54464"/>
                </a:lnTo>
                <a:lnTo>
                  <a:pt x="71875" y="50000"/>
                </a:lnTo>
                <a:lnTo>
                  <a:pt x="71429" y="49554"/>
                </a:lnTo>
                <a:lnTo>
                  <a:pt x="70982" y="49107"/>
                </a:lnTo>
                <a:lnTo>
                  <a:pt x="70982" y="45536"/>
                </a:lnTo>
                <a:lnTo>
                  <a:pt x="68304" y="41071"/>
                </a:lnTo>
                <a:lnTo>
                  <a:pt x="69643" y="39732"/>
                </a:lnTo>
                <a:lnTo>
                  <a:pt x="71875" y="41964"/>
                </a:lnTo>
                <a:lnTo>
                  <a:pt x="71875" y="42857"/>
                </a:lnTo>
                <a:lnTo>
                  <a:pt x="71875" y="43750"/>
                </a:lnTo>
                <a:lnTo>
                  <a:pt x="72321" y="44196"/>
                </a:lnTo>
                <a:lnTo>
                  <a:pt x="72768" y="44643"/>
                </a:lnTo>
                <a:lnTo>
                  <a:pt x="72768" y="47321"/>
                </a:lnTo>
                <a:lnTo>
                  <a:pt x="73214" y="47768"/>
                </a:lnTo>
                <a:lnTo>
                  <a:pt x="73661" y="48214"/>
                </a:lnTo>
                <a:lnTo>
                  <a:pt x="73661" y="54464"/>
                </a:lnTo>
                <a:lnTo>
                  <a:pt x="73214" y="54911"/>
                </a:lnTo>
                <a:lnTo>
                  <a:pt x="72768" y="55357"/>
                </a:lnTo>
                <a:lnTo>
                  <a:pt x="72768" y="58036"/>
                </a:lnTo>
                <a:lnTo>
                  <a:pt x="72321" y="58482"/>
                </a:lnTo>
                <a:lnTo>
                  <a:pt x="71875" y="58929"/>
                </a:lnTo>
                <a:lnTo>
                  <a:pt x="71875" y="59821"/>
                </a:lnTo>
                <a:lnTo>
                  <a:pt x="71875" y="60714"/>
                </a:lnTo>
                <a:lnTo>
                  <a:pt x="69196" y="64286"/>
                </a:lnTo>
                <a:lnTo>
                  <a:pt x="69196" y="65179"/>
                </a:lnTo>
                <a:lnTo>
                  <a:pt x="64286" y="70089"/>
                </a:lnTo>
                <a:lnTo>
                  <a:pt x="63393" y="70089"/>
                </a:lnTo>
                <a:lnTo>
                  <a:pt x="61607" y="71875"/>
                </a:lnTo>
                <a:lnTo>
                  <a:pt x="58036" y="73661"/>
                </a:lnTo>
                <a:lnTo>
                  <a:pt x="57143" y="73661"/>
                </a:lnTo>
                <a:lnTo>
                  <a:pt x="56250" y="73661"/>
                </a:lnTo>
                <a:lnTo>
                  <a:pt x="55804" y="74107"/>
                </a:lnTo>
                <a:lnTo>
                  <a:pt x="55357" y="74554"/>
                </a:lnTo>
                <a:lnTo>
                  <a:pt x="44643" y="74554"/>
                </a:lnTo>
                <a:lnTo>
                  <a:pt x="44196" y="74107"/>
                </a:lnTo>
                <a:lnTo>
                  <a:pt x="43750" y="73661"/>
                </a:lnTo>
                <a:lnTo>
                  <a:pt x="39286" y="72768"/>
                </a:lnTo>
                <a:lnTo>
                  <a:pt x="37500" y="70982"/>
                </a:lnTo>
                <a:lnTo>
                  <a:pt x="33929" y="69196"/>
                </a:lnTo>
                <a:lnTo>
                  <a:pt x="29018" y="63393"/>
                </a:lnTo>
                <a:lnTo>
                  <a:pt x="27232" y="59821"/>
                </a:lnTo>
                <a:lnTo>
                  <a:pt x="27232" y="57143"/>
                </a:lnTo>
                <a:lnTo>
                  <a:pt x="26786" y="56696"/>
                </a:lnTo>
                <a:lnTo>
                  <a:pt x="26339" y="56250"/>
                </a:lnTo>
                <a:lnTo>
                  <a:pt x="26339" y="44643"/>
                </a:lnTo>
                <a:lnTo>
                  <a:pt x="26786" y="44196"/>
                </a:lnTo>
                <a:lnTo>
                  <a:pt x="27232" y="43750"/>
                </a:lnTo>
                <a:lnTo>
                  <a:pt x="27232" y="42857"/>
                </a:lnTo>
                <a:lnTo>
                  <a:pt x="27232" y="41964"/>
                </a:lnTo>
                <a:lnTo>
                  <a:pt x="29018" y="38393"/>
                </a:lnTo>
                <a:lnTo>
                  <a:pt x="30804" y="36607"/>
                </a:lnTo>
                <a:lnTo>
                  <a:pt x="30804" y="35714"/>
                </a:lnTo>
                <a:lnTo>
                  <a:pt x="34821" y="31696"/>
                </a:lnTo>
                <a:lnTo>
                  <a:pt x="41964" y="28125"/>
                </a:lnTo>
                <a:lnTo>
                  <a:pt x="45982" y="27679"/>
                </a:lnTo>
                <a:close/>
                <a:moveTo>
                  <a:pt x="45089" y="37500"/>
                </a:moveTo>
                <a:lnTo>
                  <a:pt x="45536" y="37054"/>
                </a:lnTo>
                <a:lnTo>
                  <a:pt x="52679" y="37054"/>
                </a:lnTo>
                <a:lnTo>
                  <a:pt x="54464" y="37946"/>
                </a:lnTo>
                <a:lnTo>
                  <a:pt x="54911" y="38393"/>
                </a:lnTo>
                <a:lnTo>
                  <a:pt x="54911" y="39286"/>
                </a:lnTo>
                <a:lnTo>
                  <a:pt x="51786" y="39732"/>
                </a:lnTo>
                <a:lnTo>
                  <a:pt x="51339" y="39286"/>
                </a:lnTo>
                <a:lnTo>
                  <a:pt x="50893" y="38839"/>
                </a:lnTo>
                <a:lnTo>
                  <a:pt x="45536" y="38839"/>
                </a:lnTo>
                <a:lnTo>
                  <a:pt x="43750" y="39732"/>
                </a:lnTo>
                <a:lnTo>
                  <a:pt x="38839" y="44643"/>
                </a:lnTo>
                <a:lnTo>
                  <a:pt x="37946" y="46429"/>
                </a:lnTo>
                <a:lnTo>
                  <a:pt x="37946" y="49107"/>
                </a:lnTo>
                <a:lnTo>
                  <a:pt x="37054" y="50893"/>
                </a:lnTo>
                <a:lnTo>
                  <a:pt x="37500" y="51339"/>
                </a:lnTo>
                <a:lnTo>
                  <a:pt x="37946" y="51786"/>
                </a:lnTo>
                <a:lnTo>
                  <a:pt x="37946" y="54464"/>
                </a:lnTo>
                <a:lnTo>
                  <a:pt x="38393" y="54911"/>
                </a:lnTo>
                <a:lnTo>
                  <a:pt x="38839" y="55357"/>
                </a:lnTo>
                <a:lnTo>
                  <a:pt x="38839" y="56250"/>
                </a:lnTo>
                <a:lnTo>
                  <a:pt x="38839" y="57143"/>
                </a:lnTo>
                <a:lnTo>
                  <a:pt x="44643" y="62946"/>
                </a:lnTo>
                <a:lnTo>
                  <a:pt x="45536" y="62946"/>
                </a:lnTo>
                <a:lnTo>
                  <a:pt x="46429" y="62946"/>
                </a:lnTo>
                <a:lnTo>
                  <a:pt x="46875" y="63393"/>
                </a:lnTo>
                <a:lnTo>
                  <a:pt x="47321" y="63839"/>
                </a:lnTo>
                <a:lnTo>
                  <a:pt x="51786" y="63839"/>
                </a:lnTo>
                <a:lnTo>
                  <a:pt x="52232" y="63393"/>
                </a:lnTo>
                <a:lnTo>
                  <a:pt x="52679" y="62946"/>
                </a:lnTo>
                <a:lnTo>
                  <a:pt x="53571" y="62946"/>
                </a:lnTo>
                <a:lnTo>
                  <a:pt x="54464" y="62946"/>
                </a:lnTo>
                <a:lnTo>
                  <a:pt x="56250" y="62054"/>
                </a:lnTo>
                <a:lnTo>
                  <a:pt x="60268" y="58036"/>
                </a:lnTo>
                <a:lnTo>
                  <a:pt x="62054" y="54464"/>
                </a:lnTo>
                <a:lnTo>
                  <a:pt x="62054" y="50000"/>
                </a:lnTo>
                <a:lnTo>
                  <a:pt x="61161" y="48214"/>
                </a:lnTo>
                <a:lnTo>
                  <a:pt x="61161" y="47321"/>
                </a:lnTo>
                <a:lnTo>
                  <a:pt x="61161" y="46429"/>
                </a:lnTo>
                <a:lnTo>
                  <a:pt x="62500" y="45089"/>
                </a:lnTo>
                <a:lnTo>
                  <a:pt x="63839" y="47321"/>
                </a:lnTo>
                <a:lnTo>
                  <a:pt x="63839" y="55357"/>
                </a:lnTo>
                <a:lnTo>
                  <a:pt x="62054" y="58929"/>
                </a:lnTo>
                <a:lnTo>
                  <a:pt x="58036" y="62946"/>
                </a:lnTo>
                <a:lnTo>
                  <a:pt x="54464" y="64732"/>
                </a:lnTo>
                <a:lnTo>
                  <a:pt x="48214" y="65625"/>
                </a:lnTo>
                <a:lnTo>
                  <a:pt x="47768" y="65179"/>
                </a:lnTo>
                <a:lnTo>
                  <a:pt x="47321" y="64732"/>
                </a:lnTo>
                <a:lnTo>
                  <a:pt x="42857" y="63839"/>
                </a:lnTo>
                <a:lnTo>
                  <a:pt x="41071" y="62054"/>
                </a:lnTo>
                <a:lnTo>
                  <a:pt x="40179" y="62054"/>
                </a:lnTo>
                <a:lnTo>
                  <a:pt x="37946" y="59821"/>
                </a:lnTo>
                <a:lnTo>
                  <a:pt x="35268" y="54464"/>
                </a:lnTo>
                <a:lnTo>
                  <a:pt x="35268" y="48214"/>
                </a:lnTo>
                <a:lnTo>
                  <a:pt x="35714" y="47768"/>
                </a:lnTo>
                <a:lnTo>
                  <a:pt x="36161" y="47321"/>
                </a:lnTo>
                <a:lnTo>
                  <a:pt x="36161" y="46429"/>
                </a:lnTo>
                <a:lnTo>
                  <a:pt x="36161" y="45536"/>
                </a:lnTo>
                <a:lnTo>
                  <a:pt x="37946" y="41964"/>
                </a:lnTo>
                <a:lnTo>
                  <a:pt x="40179" y="39732"/>
                </a:lnTo>
                <a:lnTo>
                  <a:pt x="45089" y="37500"/>
                </a:lnTo>
                <a:close/>
                <a:moveTo>
                  <a:pt x="47768" y="45536"/>
                </a:moveTo>
                <a:lnTo>
                  <a:pt x="48214" y="45089"/>
                </a:lnTo>
                <a:lnTo>
                  <a:pt x="50446" y="45536"/>
                </a:lnTo>
                <a:lnTo>
                  <a:pt x="45982" y="50000"/>
                </a:lnTo>
                <a:lnTo>
                  <a:pt x="45982" y="50893"/>
                </a:lnTo>
                <a:lnTo>
                  <a:pt x="49107" y="54018"/>
                </a:lnTo>
                <a:lnTo>
                  <a:pt x="50000" y="54018"/>
                </a:lnTo>
                <a:lnTo>
                  <a:pt x="50893" y="54018"/>
                </a:lnTo>
                <a:lnTo>
                  <a:pt x="54464" y="50446"/>
                </a:lnTo>
                <a:lnTo>
                  <a:pt x="54911" y="50893"/>
                </a:lnTo>
                <a:lnTo>
                  <a:pt x="54911" y="51786"/>
                </a:lnTo>
                <a:lnTo>
                  <a:pt x="54911" y="52679"/>
                </a:lnTo>
                <a:lnTo>
                  <a:pt x="54911" y="53571"/>
                </a:lnTo>
                <a:lnTo>
                  <a:pt x="52679" y="55804"/>
                </a:lnTo>
                <a:lnTo>
                  <a:pt x="51786" y="55804"/>
                </a:lnTo>
                <a:lnTo>
                  <a:pt x="50893" y="55804"/>
                </a:lnTo>
                <a:lnTo>
                  <a:pt x="50446" y="56250"/>
                </a:lnTo>
                <a:lnTo>
                  <a:pt x="50000" y="56696"/>
                </a:lnTo>
                <a:lnTo>
                  <a:pt x="49554" y="56250"/>
                </a:lnTo>
                <a:lnTo>
                  <a:pt x="49107" y="55804"/>
                </a:lnTo>
                <a:lnTo>
                  <a:pt x="48214" y="55804"/>
                </a:lnTo>
                <a:lnTo>
                  <a:pt x="47321" y="55804"/>
                </a:lnTo>
                <a:lnTo>
                  <a:pt x="44196" y="52679"/>
                </a:lnTo>
                <a:lnTo>
                  <a:pt x="44196" y="49107"/>
                </a:lnTo>
                <a:lnTo>
                  <a:pt x="45089" y="47321"/>
                </a:lnTo>
                <a:lnTo>
                  <a:pt x="47768" y="45536"/>
                </a:lnTo>
                <a:close/>
              </a:path>
            </a:pathLst>
          </a:custGeom>
          <a:solidFill>
            <a:srgbClr val="FFFFFF"/>
          </a:solidFill>
          <a:ln>
            <a:noFill/>
          </a:ln>
        </p:spPr>
        <p:txBody>
          <a:bodyPr/>
          <a:p/>
        </p:txBody>
      </p:sp>
      <p:sp>
        <p:nvSpPr>
          <p:cNvPr id="12" name="Text 9"/>
          <p:cNvSpPr/>
          <p:nvPr/>
        </p:nvSpPr>
        <p:spPr>
          <a:xfrm>
            <a:off x="2532888" y="1883664"/>
            <a:ext cx="5221224" cy="393192"/>
          </a:xfrm>
          <a:prstGeom prst="rect">
            <a:avLst/>
          </a:prstGeom>
          <a:noFill/>
          <a:ln/>
        </p:spPr>
        <p:txBody>
          <a:bodyPr wrap="square" lIns="0" tIns="0" rIns="0" bIns="0" rtlCol="0" anchor="ctr"/>
          <a:lstStyle/>
          <a:p>
            <a:pPr indent="0" marL="0">
              <a:buNone/>
            </a:pPr>
            <a:r>
              <a:rPr lang="en-US" sz="2200" b="1" dirty="0">
                <a:solidFill>
                  <a:srgbClr val="17324D"/>
                </a:solidFill>
                <a:latin typeface="Aptos" pitchFamily="34" charset="0"/>
                <a:ea typeface="Segoe UI" pitchFamily="34" charset="-122"/>
                <a:cs typeface="Segoe UI" pitchFamily="34" charset="-120"/>
              </a:rPr>
              <a:t>Contexte &amp; objectifs</a:t>
            </a:r>
            <a:endParaRPr lang="en-US" sz="2200" dirty="0"/>
          </a:p>
        </p:txBody>
      </p:sp>
      <p:sp>
        <p:nvSpPr>
          <p:cNvPr id="13" name="Shape 10"/>
          <p:cNvSpPr/>
          <p:nvPr/>
        </p:nvSpPr>
        <p:spPr>
          <a:xfrm>
            <a:off x="7680960" y="2240280"/>
            <a:ext cx="320040" cy="0"/>
          </a:xfrm>
          <a:prstGeom prst="line">
            <a:avLst/>
          </a:prstGeom>
          <a:noFill/>
          <a:ln w="10160">
            <a:solidFill>
              <a:srgbClr val="6D28D9"/>
            </a:solidFill>
            <a:prstDash val="dot"/>
          </a:ln>
        </p:spPr>
        <p:txBody>
          <a:bodyPr/>
          <a:p/>
        </p:txBody>
      </p:sp>
      <p:sp>
        <p:nvSpPr>
          <p:cNvPr id="14" name="Text 11"/>
          <p:cNvSpPr/>
          <p:nvPr/>
        </p:nvSpPr>
        <p:spPr>
          <a:xfrm>
            <a:off x="7680960" y="1975104"/>
            <a:ext cx="740664" cy="219456"/>
          </a:xfrm>
          <a:prstGeom prst="rect">
            <a:avLst/>
          </a:prstGeom>
          <a:noFill/>
          <a:ln/>
        </p:spPr>
        <p:txBody>
          <a:bodyPr wrap="square" lIns="0" tIns="0" rIns="0" bIns="0" rtlCol="0" anchor="ctr"/>
          <a:lstStyle/>
          <a:p>
            <a:pPr algn="r" indent="0" marL="0">
              <a:buNone/>
            </a:pPr>
            <a:r>
              <a:rPr lang="en-US" sz="1300" dirty="0">
                <a:solidFill>
                  <a:srgbClr val="6D28D9"/>
                </a:solidFill>
                <a:latin typeface="Aptos" pitchFamily="34" charset="0"/>
                <a:ea typeface="Segoe UI" pitchFamily="34" charset="-122"/>
                <a:cs typeface="Segoe UI" pitchFamily="34" charset="-120"/>
              </a:rPr>
              <a:t>03</a:t>
            </a:r>
            <a:endParaRPr lang="en-US" sz="1300" dirty="0"/>
          </a:p>
        </p:txBody>
      </p:sp>
      <p:sp>
        <p:nvSpPr>
          <p:cNvPr id="15" name="Shape 12"/>
          <p:cNvSpPr/>
          <p:nvPr/>
        </p:nvSpPr>
        <p:spPr>
          <a:xfrm>
            <a:off x="603504" y="2770632"/>
            <a:ext cx="530352" cy="530352"/>
          </a:xfrm>
          <a:prstGeom prst="ellipse">
            <a:avLst/>
          </a:prstGeom>
          <a:solidFill>
            <a:srgbClr val="17324D"/>
          </a:solidFill>
          <a:ln w="12700">
            <a:solidFill>
              <a:srgbClr val="17324D">
                <a:alpha val="0"/>
              </a:srgbClr>
            </a:solidFill>
            <a:prstDash val="solid"/>
          </a:ln>
        </p:spPr>
        <p:txBody>
          <a:bodyPr/>
          <a:p/>
        </p:txBody>
      </p:sp>
      <p:sp>
        <p:nvSpPr>
          <p:cNvPr id="16" name="Text 13"/>
          <p:cNvSpPr/>
          <p:nvPr/>
        </p:nvSpPr>
        <p:spPr>
          <a:xfrm>
            <a:off x="621792" y="2907792"/>
            <a:ext cx="493776"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Aptos" pitchFamily="34" charset="0"/>
                <a:ea typeface="Segoe UI" pitchFamily="34" charset="-122"/>
                <a:cs typeface="Segoe UI" pitchFamily="34" charset="-120"/>
              </a:rPr>
              <a:t>02</a:t>
            </a:r>
            <a:endParaRPr lang="en-US" sz="1600" dirty="0"/>
          </a:p>
        </p:txBody>
      </p:sp>
      <p:sp>
        <p:nvSpPr>
          <p:cNvPr id="17" name="Shape 14"/>
          <p:cNvSpPr/>
          <p:nvPr/>
        </p:nvSpPr>
        <p:spPr>
          <a:xfrm>
            <a:off x="1417320" y="2642616"/>
            <a:ext cx="786384" cy="786384"/>
          </a:xfrm>
          <a:prstGeom prst="ellipse">
            <a:avLst/>
          </a:prstGeom>
          <a:solidFill>
            <a:srgbClr val="0F766E"/>
          </a:solidFill>
          <a:ln w="12700">
            <a:solidFill>
              <a:srgbClr val="0F766E">
                <a:alpha val="0"/>
              </a:srgbClr>
            </a:solidFill>
            <a:prstDash val="solid"/>
          </a:ln>
        </p:spPr>
        <p:txBody>
          <a:bodyPr/>
          <a:p/>
        </p:txBody>
      </p:sp>
      <p:sp>
        <p:nvSpPr>
          <p:cNvPr id="18" name="VECTOR_gear_7"/>
          <p:cNvSpPr/>
          <p:nvPr/>
        </p:nvSpPr>
        <p:spPr>
          <a:xfrm>
            <a:off x="1417320" y="2642616"/>
            <a:ext cx="786384" cy="786384"/>
          </a:xfrm>
          <a:custGeom>
            <a:avLst/>
            <a:gdLst/>
            <a:ahLst/>
            <a:cxnLst/>
            <a:rect l="0" t="0" r="r" b="b"/>
            <a:pathLst>
              <a:path w="100000" h="100000" fill="norm" stroke="false" extrusionOk="false">
                <a:moveTo>
                  <a:pt x="46875" y="26786"/>
                </a:moveTo>
                <a:lnTo>
                  <a:pt x="47321" y="26339"/>
                </a:lnTo>
                <a:lnTo>
                  <a:pt x="54464" y="26339"/>
                </a:lnTo>
                <a:lnTo>
                  <a:pt x="55804" y="30357"/>
                </a:lnTo>
                <a:lnTo>
                  <a:pt x="58929" y="33482"/>
                </a:lnTo>
                <a:lnTo>
                  <a:pt x="61607" y="33482"/>
                </a:lnTo>
                <a:lnTo>
                  <a:pt x="64286" y="31696"/>
                </a:lnTo>
                <a:lnTo>
                  <a:pt x="65179" y="31696"/>
                </a:lnTo>
                <a:lnTo>
                  <a:pt x="66071" y="31696"/>
                </a:lnTo>
                <a:lnTo>
                  <a:pt x="68304" y="33929"/>
                </a:lnTo>
                <a:lnTo>
                  <a:pt x="68304" y="34821"/>
                </a:lnTo>
                <a:lnTo>
                  <a:pt x="70089" y="35714"/>
                </a:lnTo>
                <a:lnTo>
                  <a:pt x="70089" y="38393"/>
                </a:lnTo>
                <a:lnTo>
                  <a:pt x="68304" y="40179"/>
                </a:lnTo>
                <a:lnTo>
                  <a:pt x="68304" y="42857"/>
                </a:lnTo>
                <a:lnTo>
                  <a:pt x="71429" y="45982"/>
                </a:lnTo>
                <a:lnTo>
                  <a:pt x="72321" y="45982"/>
                </a:lnTo>
                <a:lnTo>
                  <a:pt x="73214" y="45982"/>
                </a:lnTo>
                <a:lnTo>
                  <a:pt x="74554" y="47321"/>
                </a:lnTo>
                <a:lnTo>
                  <a:pt x="74554" y="52679"/>
                </a:lnTo>
                <a:lnTo>
                  <a:pt x="75000" y="53125"/>
                </a:lnTo>
                <a:lnTo>
                  <a:pt x="75446" y="53571"/>
                </a:lnTo>
                <a:lnTo>
                  <a:pt x="75446" y="54464"/>
                </a:lnTo>
                <a:lnTo>
                  <a:pt x="75000" y="54911"/>
                </a:lnTo>
                <a:lnTo>
                  <a:pt x="74107" y="54911"/>
                </a:lnTo>
                <a:lnTo>
                  <a:pt x="73214" y="54911"/>
                </a:lnTo>
                <a:lnTo>
                  <a:pt x="71429" y="55804"/>
                </a:lnTo>
                <a:lnTo>
                  <a:pt x="68304" y="58929"/>
                </a:lnTo>
                <a:lnTo>
                  <a:pt x="68304" y="61607"/>
                </a:lnTo>
                <a:lnTo>
                  <a:pt x="70089" y="63393"/>
                </a:lnTo>
                <a:lnTo>
                  <a:pt x="70089" y="64286"/>
                </a:lnTo>
                <a:lnTo>
                  <a:pt x="70089" y="65179"/>
                </a:lnTo>
                <a:lnTo>
                  <a:pt x="66071" y="70089"/>
                </a:lnTo>
                <a:lnTo>
                  <a:pt x="65179" y="70089"/>
                </a:lnTo>
                <a:lnTo>
                  <a:pt x="64286" y="70089"/>
                </a:lnTo>
                <a:lnTo>
                  <a:pt x="62500" y="68304"/>
                </a:lnTo>
                <a:lnTo>
                  <a:pt x="58929" y="68304"/>
                </a:lnTo>
                <a:lnTo>
                  <a:pt x="56696" y="69643"/>
                </a:lnTo>
                <a:lnTo>
                  <a:pt x="54911" y="75000"/>
                </a:lnTo>
                <a:lnTo>
                  <a:pt x="52679" y="75446"/>
                </a:lnTo>
                <a:lnTo>
                  <a:pt x="47321" y="75446"/>
                </a:lnTo>
                <a:lnTo>
                  <a:pt x="45982" y="73214"/>
                </a:lnTo>
                <a:lnTo>
                  <a:pt x="45982" y="72321"/>
                </a:lnTo>
                <a:lnTo>
                  <a:pt x="45982" y="71429"/>
                </a:lnTo>
                <a:lnTo>
                  <a:pt x="42857" y="68304"/>
                </a:lnTo>
                <a:lnTo>
                  <a:pt x="39286" y="68304"/>
                </a:lnTo>
                <a:lnTo>
                  <a:pt x="37500" y="70089"/>
                </a:lnTo>
                <a:lnTo>
                  <a:pt x="33929" y="68304"/>
                </a:lnTo>
                <a:lnTo>
                  <a:pt x="30804" y="65179"/>
                </a:lnTo>
                <a:lnTo>
                  <a:pt x="31696" y="62500"/>
                </a:lnTo>
                <a:lnTo>
                  <a:pt x="33482" y="60714"/>
                </a:lnTo>
                <a:lnTo>
                  <a:pt x="33482" y="59821"/>
                </a:lnTo>
                <a:lnTo>
                  <a:pt x="33482" y="58929"/>
                </a:lnTo>
                <a:lnTo>
                  <a:pt x="31250" y="56696"/>
                </a:lnTo>
                <a:lnTo>
                  <a:pt x="26339" y="54464"/>
                </a:lnTo>
                <a:lnTo>
                  <a:pt x="26339" y="49107"/>
                </a:lnTo>
                <a:lnTo>
                  <a:pt x="26786" y="48661"/>
                </a:lnTo>
                <a:lnTo>
                  <a:pt x="27232" y="48214"/>
                </a:lnTo>
                <a:lnTo>
                  <a:pt x="26786" y="47768"/>
                </a:lnTo>
                <a:lnTo>
                  <a:pt x="26339" y="47321"/>
                </a:lnTo>
                <a:lnTo>
                  <a:pt x="27679" y="45982"/>
                </a:lnTo>
                <a:lnTo>
                  <a:pt x="28571" y="45982"/>
                </a:lnTo>
                <a:lnTo>
                  <a:pt x="29464" y="45982"/>
                </a:lnTo>
                <a:lnTo>
                  <a:pt x="31250" y="45089"/>
                </a:lnTo>
                <a:lnTo>
                  <a:pt x="33482" y="42857"/>
                </a:lnTo>
                <a:lnTo>
                  <a:pt x="33482" y="40179"/>
                </a:lnTo>
                <a:lnTo>
                  <a:pt x="31696" y="38393"/>
                </a:lnTo>
                <a:lnTo>
                  <a:pt x="31696" y="35714"/>
                </a:lnTo>
                <a:lnTo>
                  <a:pt x="37500" y="30804"/>
                </a:lnTo>
                <a:lnTo>
                  <a:pt x="41964" y="33482"/>
                </a:lnTo>
                <a:lnTo>
                  <a:pt x="43750" y="32589"/>
                </a:lnTo>
                <a:lnTo>
                  <a:pt x="45089" y="31250"/>
                </a:lnTo>
                <a:lnTo>
                  <a:pt x="45982" y="29464"/>
                </a:lnTo>
                <a:lnTo>
                  <a:pt x="45982" y="28571"/>
                </a:lnTo>
                <a:lnTo>
                  <a:pt x="45982" y="27679"/>
                </a:lnTo>
                <a:lnTo>
                  <a:pt x="46429" y="27232"/>
                </a:lnTo>
                <a:lnTo>
                  <a:pt x="46875" y="26786"/>
                </a:lnTo>
                <a:close/>
                <a:moveTo>
                  <a:pt x="49107" y="28125"/>
                </a:moveTo>
                <a:lnTo>
                  <a:pt x="47768" y="29464"/>
                </a:lnTo>
                <a:lnTo>
                  <a:pt x="47768" y="30357"/>
                </a:lnTo>
                <a:lnTo>
                  <a:pt x="47768" y="31250"/>
                </a:lnTo>
                <a:lnTo>
                  <a:pt x="46875" y="33036"/>
                </a:lnTo>
                <a:lnTo>
                  <a:pt x="46429" y="33482"/>
                </a:lnTo>
                <a:lnTo>
                  <a:pt x="45536" y="33482"/>
                </a:lnTo>
                <a:lnTo>
                  <a:pt x="43750" y="35268"/>
                </a:lnTo>
                <a:lnTo>
                  <a:pt x="40179" y="35268"/>
                </a:lnTo>
                <a:lnTo>
                  <a:pt x="39732" y="34821"/>
                </a:lnTo>
                <a:lnTo>
                  <a:pt x="39286" y="34375"/>
                </a:lnTo>
                <a:lnTo>
                  <a:pt x="36607" y="34375"/>
                </a:lnTo>
                <a:lnTo>
                  <a:pt x="34375" y="36607"/>
                </a:lnTo>
                <a:lnTo>
                  <a:pt x="34375" y="37500"/>
                </a:lnTo>
                <a:lnTo>
                  <a:pt x="34375" y="38393"/>
                </a:lnTo>
                <a:lnTo>
                  <a:pt x="36161" y="41964"/>
                </a:lnTo>
                <a:lnTo>
                  <a:pt x="35714" y="42411"/>
                </a:lnTo>
                <a:lnTo>
                  <a:pt x="35268" y="42857"/>
                </a:lnTo>
                <a:lnTo>
                  <a:pt x="35268" y="43750"/>
                </a:lnTo>
                <a:lnTo>
                  <a:pt x="35268" y="44643"/>
                </a:lnTo>
                <a:lnTo>
                  <a:pt x="33036" y="46875"/>
                </a:lnTo>
                <a:lnTo>
                  <a:pt x="29018" y="48214"/>
                </a:lnTo>
                <a:lnTo>
                  <a:pt x="29018" y="52679"/>
                </a:lnTo>
                <a:lnTo>
                  <a:pt x="30357" y="54018"/>
                </a:lnTo>
                <a:lnTo>
                  <a:pt x="31250" y="54018"/>
                </a:lnTo>
                <a:lnTo>
                  <a:pt x="32143" y="54018"/>
                </a:lnTo>
                <a:lnTo>
                  <a:pt x="34375" y="55357"/>
                </a:lnTo>
                <a:lnTo>
                  <a:pt x="36161" y="59821"/>
                </a:lnTo>
                <a:lnTo>
                  <a:pt x="35714" y="60268"/>
                </a:lnTo>
                <a:lnTo>
                  <a:pt x="35268" y="60714"/>
                </a:lnTo>
                <a:lnTo>
                  <a:pt x="35268" y="61607"/>
                </a:lnTo>
                <a:lnTo>
                  <a:pt x="35268" y="62500"/>
                </a:lnTo>
                <a:lnTo>
                  <a:pt x="33482" y="64286"/>
                </a:lnTo>
                <a:lnTo>
                  <a:pt x="36607" y="67411"/>
                </a:lnTo>
                <a:lnTo>
                  <a:pt x="40179" y="65625"/>
                </a:lnTo>
                <a:lnTo>
                  <a:pt x="41071" y="65625"/>
                </a:lnTo>
                <a:lnTo>
                  <a:pt x="41964" y="65625"/>
                </a:lnTo>
                <a:lnTo>
                  <a:pt x="45536" y="67411"/>
                </a:lnTo>
                <a:lnTo>
                  <a:pt x="46875" y="68750"/>
                </a:lnTo>
                <a:lnTo>
                  <a:pt x="48214" y="72768"/>
                </a:lnTo>
                <a:lnTo>
                  <a:pt x="51786" y="72768"/>
                </a:lnTo>
                <a:lnTo>
                  <a:pt x="52679" y="72768"/>
                </a:lnTo>
                <a:lnTo>
                  <a:pt x="53125" y="72321"/>
                </a:lnTo>
                <a:lnTo>
                  <a:pt x="54018" y="69643"/>
                </a:lnTo>
                <a:lnTo>
                  <a:pt x="56250" y="67411"/>
                </a:lnTo>
                <a:lnTo>
                  <a:pt x="59821" y="65625"/>
                </a:lnTo>
                <a:lnTo>
                  <a:pt x="60714" y="65625"/>
                </a:lnTo>
                <a:lnTo>
                  <a:pt x="61607" y="65625"/>
                </a:lnTo>
                <a:lnTo>
                  <a:pt x="65179" y="67411"/>
                </a:lnTo>
                <a:lnTo>
                  <a:pt x="67411" y="65179"/>
                </a:lnTo>
                <a:lnTo>
                  <a:pt x="65625" y="61607"/>
                </a:lnTo>
                <a:lnTo>
                  <a:pt x="65625" y="58929"/>
                </a:lnTo>
                <a:lnTo>
                  <a:pt x="66518" y="57143"/>
                </a:lnTo>
                <a:lnTo>
                  <a:pt x="69643" y="54018"/>
                </a:lnTo>
                <a:lnTo>
                  <a:pt x="70536" y="54018"/>
                </a:lnTo>
                <a:lnTo>
                  <a:pt x="71429" y="54018"/>
                </a:lnTo>
                <a:lnTo>
                  <a:pt x="72768" y="52679"/>
                </a:lnTo>
                <a:lnTo>
                  <a:pt x="72768" y="49107"/>
                </a:lnTo>
                <a:lnTo>
                  <a:pt x="71429" y="47768"/>
                </a:lnTo>
                <a:lnTo>
                  <a:pt x="70536" y="47768"/>
                </a:lnTo>
                <a:lnTo>
                  <a:pt x="69643" y="47768"/>
                </a:lnTo>
                <a:lnTo>
                  <a:pt x="66518" y="44643"/>
                </a:lnTo>
                <a:lnTo>
                  <a:pt x="65625" y="42857"/>
                </a:lnTo>
                <a:lnTo>
                  <a:pt x="65625" y="40179"/>
                </a:lnTo>
                <a:lnTo>
                  <a:pt x="67411" y="36607"/>
                </a:lnTo>
                <a:lnTo>
                  <a:pt x="65179" y="34375"/>
                </a:lnTo>
                <a:lnTo>
                  <a:pt x="64286" y="34375"/>
                </a:lnTo>
                <a:lnTo>
                  <a:pt x="63393" y="34375"/>
                </a:lnTo>
                <a:lnTo>
                  <a:pt x="62946" y="34821"/>
                </a:lnTo>
                <a:lnTo>
                  <a:pt x="62500" y="35268"/>
                </a:lnTo>
                <a:lnTo>
                  <a:pt x="58036" y="35268"/>
                </a:lnTo>
                <a:lnTo>
                  <a:pt x="54018" y="32143"/>
                </a:lnTo>
                <a:lnTo>
                  <a:pt x="54018" y="31250"/>
                </a:lnTo>
                <a:lnTo>
                  <a:pt x="54018" y="30357"/>
                </a:lnTo>
                <a:lnTo>
                  <a:pt x="51786" y="28125"/>
                </a:lnTo>
                <a:lnTo>
                  <a:pt x="49107" y="28125"/>
                </a:lnTo>
                <a:close/>
                <a:moveTo>
                  <a:pt x="48661" y="41964"/>
                </a:moveTo>
                <a:lnTo>
                  <a:pt x="52679" y="41518"/>
                </a:lnTo>
                <a:lnTo>
                  <a:pt x="53125" y="41964"/>
                </a:lnTo>
                <a:lnTo>
                  <a:pt x="53571" y="42411"/>
                </a:lnTo>
                <a:lnTo>
                  <a:pt x="54464" y="42411"/>
                </a:lnTo>
                <a:lnTo>
                  <a:pt x="55357" y="42411"/>
                </a:lnTo>
                <a:lnTo>
                  <a:pt x="59375" y="46429"/>
                </a:lnTo>
                <a:lnTo>
                  <a:pt x="59375" y="47321"/>
                </a:lnTo>
                <a:lnTo>
                  <a:pt x="59375" y="48214"/>
                </a:lnTo>
                <a:lnTo>
                  <a:pt x="59821" y="48661"/>
                </a:lnTo>
                <a:lnTo>
                  <a:pt x="60268" y="49107"/>
                </a:lnTo>
                <a:lnTo>
                  <a:pt x="60268" y="52679"/>
                </a:lnTo>
                <a:lnTo>
                  <a:pt x="59821" y="53125"/>
                </a:lnTo>
                <a:lnTo>
                  <a:pt x="59375" y="53571"/>
                </a:lnTo>
                <a:lnTo>
                  <a:pt x="59375" y="54464"/>
                </a:lnTo>
                <a:lnTo>
                  <a:pt x="59375" y="55357"/>
                </a:lnTo>
                <a:lnTo>
                  <a:pt x="55357" y="59375"/>
                </a:lnTo>
                <a:lnTo>
                  <a:pt x="53571" y="60268"/>
                </a:lnTo>
                <a:lnTo>
                  <a:pt x="48214" y="60268"/>
                </a:lnTo>
                <a:lnTo>
                  <a:pt x="44643" y="58482"/>
                </a:lnTo>
                <a:lnTo>
                  <a:pt x="41518" y="54464"/>
                </a:lnTo>
                <a:lnTo>
                  <a:pt x="41518" y="48214"/>
                </a:lnTo>
                <a:lnTo>
                  <a:pt x="42411" y="46429"/>
                </a:lnTo>
                <a:lnTo>
                  <a:pt x="46429" y="42411"/>
                </a:lnTo>
                <a:lnTo>
                  <a:pt x="48661" y="41964"/>
                </a:lnTo>
                <a:close/>
                <a:moveTo>
                  <a:pt x="48214" y="44196"/>
                </a:moveTo>
                <a:lnTo>
                  <a:pt x="46429" y="45089"/>
                </a:lnTo>
                <a:lnTo>
                  <a:pt x="44196" y="48214"/>
                </a:lnTo>
                <a:lnTo>
                  <a:pt x="44196" y="53571"/>
                </a:lnTo>
                <a:lnTo>
                  <a:pt x="47321" y="57589"/>
                </a:lnTo>
                <a:lnTo>
                  <a:pt x="48214" y="57589"/>
                </a:lnTo>
                <a:lnTo>
                  <a:pt x="49107" y="57589"/>
                </a:lnTo>
                <a:lnTo>
                  <a:pt x="49554" y="58036"/>
                </a:lnTo>
                <a:lnTo>
                  <a:pt x="50000" y="58482"/>
                </a:lnTo>
                <a:lnTo>
                  <a:pt x="50893" y="58482"/>
                </a:lnTo>
                <a:lnTo>
                  <a:pt x="51786" y="58482"/>
                </a:lnTo>
                <a:lnTo>
                  <a:pt x="52232" y="58036"/>
                </a:lnTo>
                <a:lnTo>
                  <a:pt x="52679" y="57589"/>
                </a:lnTo>
                <a:lnTo>
                  <a:pt x="55357" y="56696"/>
                </a:lnTo>
                <a:lnTo>
                  <a:pt x="56696" y="55357"/>
                </a:lnTo>
                <a:lnTo>
                  <a:pt x="57589" y="53571"/>
                </a:lnTo>
                <a:lnTo>
                  <a:pt x="57589" y="49107"/>
                </a:lnTo>
                <a:lnTo>
                  <a:pt x="56696" y="47321"/>
                </a:lnTo>
                <a:lnTo>
                  <a:pt x="53571" y="44196"/>
                </a:lnTo>
                <a:lnTo>
                  <a:pt x="48214" y="44196"/>
                </a:lnTo>
                <a:close/>
              </a:path>
            </a:pathLst>
          </a:custGeom>
          <a:solidFill>
            <a:srgbClr val="FFFFFF"/>
          </a:solidFill>
          <a:ln>
            <a:noFill/>
          </a:ln>
        </p:spPr>
        <p:txBody>
          <a:bodyPr/>
          <a:p/>
        </p:txBody>
      </p:sp>
      <p:sp>
        <p:nvSpPr>
          <p:cNvPr id="19" name="Text 16"/>
          <p:cNvSpPr/>
          <p:nvPr/>
        </p:nvSpPr>
        <p:spPr>
          <a:xfrm>
            <a:off x="2532888" y="2816352"/>
            <a:ext cx="5221224" cy="393192"/>
          </a:xfrm>
          <a:prstGeom prst="rect">
            <a:avLst/>
          </a:prstGeom>
          <a:noFill/>
          <a:ln/>
        </p:spPr>
        <p:txBody>
          <a:bodyPr wrap="square" lIns="0" tIns="0" rIns="0" bIns="0" rtlCol="0" anchor="ctr"/>
          <a:lstStyle/>
          <a:p>
            <a:pPr indent="0" marL="0">
              <a:buNone/>
            </a:pPr>
            <a:r>
              <a:rPr lang="en-US" sz="2200" b="1" dirty="0">
                <a:solidFill>
                  <a:srgbClr val="17324D"/>
                </a:solidFill>
                <a:latin typeface="Aptos" pitchFamily="34" charset="0"/>
                <a:ea typeface="Segoe UI" pitchFamily="34" charset="-122"/>
                <a:cs typeface="Segoe UI" pitchFamily="34" charset="-120"/>
              </a:rPr>
              <a:t>Démarche méthodologique</a:t>
            </a:r>
            <a:endParaRPr lang="en-US" sz="2200" dirty="0"/>
          </a:p>
        </p:txBody>
      </p:sp>
      <p:sp>
        <p:nvSpPr>
          <p:cNvPr id="20" name="Shape 17"/>
          <p:cNvSpPr/>
          <p:nvPr/>
        </p:nvSpPr>
        <p:spPr>
          <a:xfrm>
            <a:off x="7680960" y="3172968"/>
            <a:ext cx="320040" cy="0"/>
          </a:xfrm>
          <a:prstGeom prst="line">
            <a:avLst/>
          </a:prstGeom>
          <a:noFill/>
          <a:ln w="10160">
            <a:solidFill>
              <a:srgbClr val="6D28D9"/>
            </a:solidFill>
            <a:prstDash val="dot"/>
          </a:ln>
        </p:spPr>
        <p:txBody>
          <a:bodyPr/>
          <a:p/>
        </p:txBody>
      </p:sp>
      <p:sp>
        <p:nvSpPr>
          <p:cNvPr id="21" name="Text 18"/>
          <p:cNvSpPr/>
          <p:nvPr/>
        </p:nvSpPr>
        <p:spPr>
          <a:xfrm>
            <a:off x="7680960" y="2907792"/>
            <a:ext cx="740664" cy="219456"/>
          </a:xfrm>
          <a:prstGeom prst="rect">
            <a:avLst/>
          </a:prstGeom>
          <a:noFill/>
          <a:ln/>
        </p:spPr>
        <p:txBody>
          <a:bodyPr wrap="square" lIns="0" tIns="0" rIns="0" bIns="0" rtlCol="0" anchor="ctr"/>
          <a:lstStyle/>
          <a:p>
            <a:pPr algn="r" indent="0" marL="0">
              <a:buNone/>
            </a:pPr>
            <a:r>
              <a:rPr lang="en-US" sz="1300" dirty="0">
                <a:solidFill>
                  <a:srgbClr val="6D28D9"/>
                </a:solidFill>
                <a:latin typeface="Aptos" pitchFamily="34" charset="0"/>
                <a:ea typeface="Segoe UI" pitchFamily="34" charset="-122"/>
                <a:cs typeface="Segoe UI" pitchFamily="34" charset="-120"/>
              </a:rPr>
              <a:t>04–08</a:t>
            </a:r>
            <a:endParaRPr lang="en-US" sz="1300" dirty="0"/>
          </a:p>
        </p:txBody>
      </p:sp>
      <p:sp>
        <p:nvSpPr>
          <p:cNvPr id="22" name="Shape 19"/>
          <p:cNvSpPr/>
          <p:nvPr/>
        </p:nvSpPr>
        <p:spPr>
          <a:xfrm>
            <a:off x="603504" y="3703320"/>
            <a:ext cx="530352" cy="530352"/>
          </a:xfrm>
          <a:prstGeom prst="ellipse">
            <a:avLst/>
          </a:prstGeom>
          <a:solidFill>
            <a:srgbClr val="17324D"/>
          </a:solidFill>
          <a:ln w="12700">
            <a:solidFill>
              <a:srgbClr val="17324D">
                <a:alpha val="0"/>
              </a:srgbClr>
            </a:solidFill>
            <a:prstDash val="solid"/>
          </a:ln>
        </p:spPr>
        <p:txBody>
          <a:bodyPr/>
          <a:p/>
        </p:txBody>
      </p:sp>
      <p:sp>
        <p:nvSpPr>
          <p:cNvPr id="23" name="Text 20"/>
          <p:cNvSpPr/>
          <p:nvPr/>
        </p:nvSpPr>
        <p:spPr>
          <a:xfrm>
            <a:off x="621792" y="3840480"/>
            <a:ext cx="493776"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Aptos" pitchFamily="34" charset="0"/>
                <a:ea typeface="Segoe UI" pitchFamily="34" charset="-122"/>
                <a:cs typeface="Segoe UI" pitchFamily="34" charset="-120"/>
              </a:rPr>
              <a:t>03</a:t>
            </a:r>
            <a:endParaRPr lang="en-US" sz="1600" dirty="0"/>
          </a:p>
        </p:txBody>
      </p:sp>
      <p:sp>
        <p:nvSpPr>
          <p:cNvPr id="24" name="Shape 21"/>
          <p:cNvSpPr/>
          <p:nvPr/>
        </p:nvSpPr>
        <p:spPr>
          <a:xfrm>
            <a:off x="1417320" y="3575304"/>
            <a:ext cx="786384" cy="786384"/>
          </a:xfrm>
          <a:prstGeom prst="ellipse">
            <a:avLst/>
          </a:prstGeom>
          <a:solidFill>
            <a:srgbClr val="6D28D9"/>
          </a:solidFill>
          <a:ln w="12700">
            <a:solidFill>
              <a:srgbClr val="6D28D9">
                <a:alpha val="0"/>
              </a:srgbClr>
            </a:solidFill>
            <a:prstDash val="solid"/>
          </a:ln>
        </p:spPr>
        <p:txBody>
          <a:bodyPr/>
          <a:p/>
        </p:txBody>
      </p:sp>
      <p:sp>
        <p:nvSpPr>
          <p:cNvPr id="25" name="VECTOR_bars_8"/>
          <p:cNvSpPr/>
          <p:nvPr/>
        </p:nvSpPr>
        <p:spPr>
          <a:xfrm>
            <a:off x="1417320" y="3575304"/>
            <a:ext cx="786384" cy="786384"/>
          </a:xfrm>
          <a:custGeom>
            <a:avLst/>
            <a:gdLst/>
            <a:ahLst/>
            <a:cxnLst/>
            <a:rect l="0" t="0" r="r" b="b"/>
            <a:pathLst>
              <a:path w="100000" h="100000" fill="norm" stroke="false" extrusionOk="false">
                <a:moveTo>
                  <a:pt x="60268" y="29464"/>
                </a:moveTo>
                <a:lnTo>
                  <a:pt x="60714" y="29018"/>
                </a:lnTo>
                <a:lnTo>
                  <a:pt x="73214" y="29018"/>
                </a:lnTo>
                <a:lnTo>
                  <a:pt x="73661" y="29464"/>
                </a:lnTo>
                <a:lnTo>
                  <a:pt x="73661" y="74107"/>
                </a:lnTo>
                <a:lnTo>
                  <a:pt x="73214" y="74554"/>
                </a:lnTo>
                <a:lnTo>
                  <a:pt x="26786" y="74554"/>
                </a:lnTo>
                <a:lnTo>
                  <a:pt x="26339" y="74107"/>
                </a:lnTo>
                <a:lnTo>
                  <a:pt x="26339" y="53571"/>
                </a:lnTo>
                <a:lnTo>
                  <a:pt x="26786" y="53125"/>
                </a:lnTo>
                <a:lnTo>
                  <a:pt x="38393" y="53125"/>
                </a:lnTo>
                <a:lnTo>
                  <a:pt x="38839" y="53571"/>
                </a:lnTo>
                <a:lnTo>
                  <a:pt x="38839" y="61607"/>
                </a:lnTo>
                <a:lnTo>
                  <a:pt x="38839" y="72321"/>
                </a:lnTo>
                <a:lnTo>
                  <a:pt x="39286" y="72768"/>
                </a:lnTo>
                <a:lnTo>
                  <a:pt x="42411" y="72321"/>
                </a:lnTo>
                <a:lnTo>
                  <a:pt x="42411" y="44643"/>
                </a:lnTo>
                <a:lnTo>
                  <a:pt x="42857" y="44196"/>
                </a:lnTo>
                <a:lnTo>
                  <a:pt x="51786" y="44196"/>
                </a:lnTo>
                <a:lnTo>
                  <a:pt x="52232" y="41071"/>
                </a:lnTo>
                <a:lnTo>
                  <a:pt x="53125" y="39286"/>
                </a:lnTo>
                <a:lnTo>
                  <a:pt x="53571" y="38839"/>
                </a:lnTo>
                <a:lnTo>
                  <a:pt x="54464" y="38839"/>
                </a:lnTo>
                <a:lnTo>
                  <a:pt x="55804" y="40179"/>
                </a:lnTo>
                <a:lnTo>
                  <a:pt x="55357" y="40625"/>
                </a:lnTo>
                <a:lnTo>
                  <a:pt x="54911" y="41071"/>
                </a:lnTo>
                <a:lnTo>
                  <a:pt x="54911" y="43750"/>
                </a:lnTo>
                <a:lnTo>
                  <a:pt x="56696" y="44643"/>
                </a:lnTo>
                <a:lnTo>
                  <a:pt x="56696" y="72321"/>
                </a:lnTo>
                <a:lnTo>
                  <a:pt x="59821" y="72768"/>
                </a:lnTo>
                <a:lnTo>
                  <a:pt x="61161" y="71429"/>
                </a:lnTo>
                <a:lnTo>
                  <a:pt x="60268" y="69643"/>
                </a:lnTo>
                <a:lnTo>
                  <a:pt x="60268" y="34821"/>
                </a:lnTo>
                <a:lnTo>
                  <a:pt x="60714" y="34375"/>
                </a:lnTo>
                <a:lnTo>
                  <a:pt x="61161" y="33929"/>
                </a:lnTo>
                <a:lnTo>
                  <a:pt x="60268" y="32143"/>
                </a:lnTo>
                <a:lnTo>
                  <a:pt x="60268" y="29464"/>
                </a:lnTo>
                <a:close/>
                <a:moveTo>
                  <a:pt x="63393" y="30804"/>
                </a:moveTo>
                <a:lnTo>
                  <a:pt x="62946" y="31250"/>
                </a:lnTo>
                <a:lnTo>
                  <a:pt x="62946" y="72321"/>
                </a:lnTo>
                <a:lnTo>
                  <a:pt x="63393" y="72768"/>
                </a:lnTo>
                <a:lnTo>
                  <a:pt x="70536" y="72768"/>
                </a:lnTo>
                <a:lnTo>
                  <a:pt x="70982" y="72321"/>
                </a:lnTo>
                <a:lnTo>
                  <a:pt x="71429" y="71875"/>
                </a:lnTo>
                <a:lnTo>
                  <a:pt x="71875" y="71429"/>
                </a:lnTo>
                <a:lnTo>
                  <a:pt x="71875" y="32143"/>
                </a:lnTo>
                <a:lnTo>
                  <a:pt x="70536" y="30804"/>
                </a:lnTo>
                <a:lnTo>
                  <a:pt x="63393" y="30804"/>
                </a:lnTo>
                <a:close/>
                <a:moveTo>
                  <a:pt x="45536" y="45982"/>
                </a:moveTo>
                <a:lnTo>
                  <a:pt x="45089" y="46429"/>
                </a:lnTo>
                <a:lnTo>
                  <a:pt x="45089" y="71429"/>
                </a:lnTo>
                <a:lnTo>
                  <a:pt x="46429" y="72768"/>
                </a:lnTo>
                <a:lnTo>
                  <a:pt x="53571" y="72768"/>
                </a:lnTo>
                <a:lnTo>
                  <a:pt x="54018" y="72321"/>
                </a:lnTo>
                <a:lnTo>
                  <a:pt x="54464" y="71875"/>
                </a:lnTo>
                <a:lnTo>
                  <a:pt x="54911" y="69643"/>
                </a:lnTo>
                <a:lnTo>
                  <a:pt x="54464" y="69196"/>
                </a:lnTo>
                <a:lnTo>
                  <a:pt x="54018" y="68750"/>
                </a:lnTo>
                <a:lnTo>
                  <a:pt x="54018" y="55357"/>
                </a:lnTo>
                <a:lnTo>
                  <a:pt x="54464" y="54911"/>
                </a:lnTo>
                <a:lnTo>
                  <a:pt x="54911" y="54464"/>
                </a:lnTo>
                <a:lnTo>
                  <a:pt x="54911" y="47321"/>
                </a:lnTo>
                <a:lnTo>
                  <a:pt x="53571" y="45982"/>
                </a:lnTo>
                <a:lnTo>
                  <a:pt x="45536" y="45982"/>
                </a:lnTo>
                <a:close/>
                <a:moveTo>
                  <a:pt x="29464" y="54911"/>
                </a:moveTo>
                <a:lnTo>
                  <a:pt x="29018" y="55357"/>
                </a:lnTo>
                <a:lnTo>
                  <a:pt x="29018" y="72321"/>
                </a:lnTo>
                <a:lnTo>
                  <a:pt x="29464" y="72768"/>
                </a:lnTo>
                <a:lnTo>
                  <a:pt x="35714" y="72768"/>
                </a:lnTo>
                <a:lnTo>
                  <a:pt x="36161" y="72321"/>
                </a:lnTo>
                <a:lnTo>
                  <a:pt x="36607" y="71875"/>
                </a:lnTo>
                <a:lnTo>
                  <a:pt x="37054" y="71429"/>
                </a:lnTo>
                <a:lnTo>
                  <a:pt x="36607" y="70982"/>
                </a:lnTo>
                <a:lnTo>
                  <a:pt x="36161" y="70536"/>
                </a:lnTo>
                <a:lnTo>
                  <a:pt x="36161" y="55357"/>
                </a:lnTo>
                <a:lnTo>
                  <a:pt x="35714" y="54911"/>
                </a:lnTo>
                <a:lnTo>
                  <a:pt x="29464" y="54911"/>
                </a:lnTo>
                <a:close/>
              </a:path>
            </a:pathLst>
          </a:custGeom>
          <a:solidFill>
            <a:srgbClr val="FFFFFF"/>
          </a:solidFill>
          <a:ln>
            <a:noFill/>
          </a:ln>
        </p:spPr>
        <p:txBody>
          <a:bodyPr/>
          <a:p/>
        </p:txBody>
      </p:sp>
      <p:sp>
        <p:nvSpPr>
          <p:cNvPr id="26" name="Text 23"/>
          <p:cNvSpPr/>
          <p:nvPr/>
        </p:nvSpPr>
        <p:spPr>
          <a:xfrm>
            <a:off x="2532888" y="3749040"/>
            <a:ext cx="5221224" cy="393192"/>
          </a:xfrm>
          <a:prstGeom prst="rect">
            <a:avLst/>
          </a:prstGeom>
          <a:noFill/>
          <a:ln/>
        </p:spPr>
        <p:txBody>
          <a:bodyPr wrap="square" lIns="0" tIns="0" rIns="0" bIns="0" rtlCol="0" anchor="ctr"/>
          <a:lstStyle/>
          <a:p>
            <a:pPr indent="0" marL="0">
              <a:buNone/>
            </a:pPr>
            <a:r>
              <a:rPr lang="en-US" sz="2200" b="1" dirty="0">
                <a:solidFill>
                  <a:srgbClr val="17324D"/>
                </a:solidFill>
                <a:latin typeface="Aptos" pitchFamily="34" charset="0"/>
                <a:ea typeface="Segoe UI" pitchFamily="34" charset="-122"/>
                <a:cs typeface="Segoe UI" pitchFamily="34" charset="-120"/>
              </a:rPr>
              <a:t>Résultats de la segmentation</a:t>
            </a:r>
            <a:endParaRPr lang="en-US" sz="2200" dirty="0"/>
          </a:p>
        </p:txBody>
      </p:sp>
      <p:sp>
        <p:nvSpPr>
          <p:cNvPr id="27" name="Shape 24"/>
          <p:cNvSpPr/>
          <p:nvPr/>
        </p:nvSpPr>
        <p:spPr>
          <a:xfrm>
            <a:off x="7680960" y="4105656"/>
            <a:ext cx="320040" cy="0"/>
          </a:xfrm>
          <a:prstGeom prst="line">
            <a:avLst/>
          </a:prstGeom>
          <a:noFill/>
          <a:ln w="10160">
            <a:solidFill>
              <a:srgbClr val="6D28D9"/>
            </a:solidFill>
            <a:prstDash val="dot"/>
          </a:ln>
        </p:spPr>
        <p:txBody>
          <a:bodyPr/>
          <a:p/>
        </p:txBody>
      </p:sp>
      <p:sp>
        <p:nvSpPr>
          <p:cNvPr id="28" name="Text 25"/>
          <p:cNvSpPr/>
          <p:nvPr/>
        </p:nvSpPr>
        <p:spPr>
          <a:xfrm>
            <a:off x="7680960" y="3840480"/>
            <a:ext cx="740664" cy="219456"/>
          </a:xfrm>
          <a:prstGeom prst="rect">
            <a:avLst/>
          </a:prstGeom>
          <a:noFill/>
          <a:ln/>
        </p:spPr>
        <p:txBody>
          <a:bodyPr wrap="square" lIns="0" tIns="0" rIns="0" bIns="0" rtlCol="0" anchor="ctr"/>
          <a:lstStyle/>
          <a:p>
            <a:pPr algn="r" indent="0" marL="0">
              <a:buNone/>
            </a:pPr>
            <a:r>
              <a:rPr lang="en-US" sz="1300" dirty="0">
                <a:solidFill>
                  <a:srgbClr val="6D28D9"/>
                </a:solidFill>
                <a:latin typeface="Aptos" pitchFamily="34" charset="0"/>
                <a:ea typeface="Segoe UI" pitchFamily="34" charset="-122"/>
                <a:cs typeface="Segoe UI" pitchFamily="34" charset="-120"/>
              </a:rPr>
              <a:t>09</a:t>
            </a:r>
            <a:endParaRPr lang="en-US" sz="1300" dirty="0"/>
          </a:p>
        </p:txBody>
      </p:sp>
      <p:sp>
        <p:nvSpPr>
          <p:cNvPr id="29" name="Shape 26"/>
          <p:cNvSpPr/>
          <p:nvPr/>
        </p:nvSpPr>
        <p:spPr>
          <a:xfrm>
            <a:off x="603504" y="4636008"/>
            <a:ext cx="530352" cy="530352"/>
          </a:xfrm>
          <a:prstGeom prst="ellipse">
            <a:avLst/>
          </a:prstGeom>
          <a:solidFill>
            <a:srgbClr val="17324D"/>
          </a:solidFill>
          <a:ln w="12700">
            <a:solidFill>
              <a:srgbClr val="17324D">
                <a:alpha val="0"/>
              </a:srgbClr>
            </a:solidFill>
            <a:prstDash val="solid"/>
          </a:ln>
        </p:spPr>
        <p:txBody>
          <a:bodyPr/>
          <a:p/>
        </p:txBody>
      </p:sp>
      <p:sp>
        <p:nvSpPr>
          <p:cNvPr id="30" name="Text 27"/>
          <p:cNvSpPr/>
          <p:nvPr/>
        </p:nvSpPr>
        <p:spPr>
          <a:xfrm>
            <a:off x="621792" y="4773168"/>
            <a:ext cx="493776"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Aptos" pitchFamily="34" charset="0"/>
                <a:ea typeface="Segoe UI" pitchFamily="34" charset="-122"/>
                <a:cs typeface="Segoe UI" pitchFamily="34" charset="-120"/>
              </a:rPr>
              <a:t>04</a:t>
            </a:r>
            <a:endParaRPr lang="en-US" sz="1600" dirty="0"/>
          </a:p>
        </p:txBody>
      </p:sp>
      <p:sp>
        <p:nvSpPr>
          <p:cNvPr id="31" name="Shape 28"/>
          <p:cNvSpPr/>
          <p:nvPr/>
        </p:nvSpPr>
        <p:spPr>
          <a:xfrm>
            <a:off x="1417320" y="4507992"/>
            <a:ext cx="786384" cy="786384"/>
          </a:xfrm>
          <a:prstGeom prst="ellipse">
            <a:avLst/>
          </a:prstGeom>
          <a:solidFill>
            <a:srgbClr val="1D4ED8"/>
          </a:solidFill>
          <a:ln w="12700">
            <a:solidFill>
              <a:srgbClr val="1D4ED8">
                <a:alpha val="0"/>
              </a:srgbClr>
            </a:solidFill>
            <a:prstDash val="solid"/>
          </a:ln>
        </p:spPr>
        <p:txBody>
          <a:bodyPr/>
          <a:p/>
        </p:txBody>
      </p:sp>
      <p:sp>
        <p:nvSpPr>
          <p:cNvPr id="32" name="VECTOR_people_9"/>
          <p:cNvSpPr/>
          <p:nvPr/>
        </p:nvSpPr>
        <p:spPr>
          <a:xfrm>
            <a:off x="1417320" y="4507992"/>
            <a:ext cx="786384" cy="786384"/>
          </a:xfrm>
          <a:custGeom>
            <a:avLst/>
            <a:gdLst/>
            <a:ahLst/>
            <a:cxnLst/>
            <a:rect l="0" t="0" r="r" b="b"/>
            <a:pathLst>
              <a:path w="100000" h="100000" fill="norm" stroke="false" extrusionOk="false">
                <a:moveTo>
                  <a:pt x="47768" y="28571"/>
                </a:moveTo>
                <a:lnTo>
                  <a:pt x="48214" y="28125"/>
                </a:lnTo>
                <a:lnTo>
                  <a:pt x="52679" y="28125"/>
                </a:lnTo>
                <a:lnTo>
                  <a:pt x="56250" y="29911"/>
                </a:lnTo>
                <a:lnTo>
                  <a:pt x="56696" y="30357"/>
                </a:lnTo>
                <a:lnTo>
                  <a:pt x="56696" y="31250"/>
                </a:lnTo>
                <a:lnTo>
                  <a:pt x="58482" y="33036"/>
                </a:lnTo>
                <a:lnTo>
                  <a:pt x="58482" y="33929"/>
                </a:lnTo>
                <a:lnTo>
                  <a:pt x="58482" y="34821"/>
                </a:lnTo>
                <a:lnTo>
                  <a:pt x="58929" y="35268"/>
                </a:lnTo>
                <a:lnTo>
                  <a:pt x="59375" y="35714"/>
                </a:lnTo>
                <a:lnTo>
                  <a:pt x="58482" y="40179"/>
                </a:lnTo>
                <a:lnTo>
                  <a:pt x="57589" y="41964"/>
                </a:lnTo>
                <a:lnTo>
                  <a:pt x="54018" y="44643"/>
                </a:lnTo>
                <a:lnTo>
                  <a:pt x="53571" y="45089"/>
                </a:lnTo>
                <a:lnTo>
                  <a:pt x="48214" y="45089"/>
                </a:lnTo>
                <a:lnTo>
                  <a:pt x="46429" y="44196"/>
                </a:lnTo>
                <a:lnTo>
                  <a:pt x="43304" y="41071"/>
                </a:lnTo>
                <a:lnTo>
                  <a:pt x="43304" y="40179"/>
                </a:lnTo>
                <a:lnTo>
                  <a:pt x="43304" y="39286"/>
                </a:lnTo>
                <a:lnTo>
                  <a:pt x="42857" y="38839"/>
                </a:lnTo>
                <a:lnTo>
                  <a:pt x="42411" y="38393"/>
                </a:lnTo>
                <a:lnTo>
                  <a:pt x="42411" y="34821"/>
                </a:lnTo>
                <a:lnTo>
                  <a:pt x="42857" y="34375"/>
                </a:lnTo>
                <a:lnTo>
                  <a:pt x="43304" y="33929"/>
                </a:lnTo>
                <a:lnTo>
                  <a:pt x="43304" y="33036"/>
                </a:lnTo>
                <a:lnTo>
                  <a:pt x="43304" y="32143"/>
                </a:lnTo>
                <a:lnTo>
                  <a:pt x="46429" y="29018"/>
                </a:lnTo>
                <a:lnTo>
                  <a:pt x="47321" y="29018"/>
                </a:lnTo>
                <a:lnTo>
                  <a:pt x="47768" y="28571"/>
                </a:lnTo>
                <a:close/>
                <a:moveTo>
                  <a:pt x="48214" y="30804"/>
                </a:moveTo>
                <a:lnTo>
                  <a:pt x="45982" y="32143"/>
                </a:lnTo>
                <a:lnTo>
                  <a:pt x="44196" y="35714"/>
                </a:lnTo>
                <a:lnTo>
                  <a:pt x="44196" y="36607"/>
                </a:lnTo>
                <a:lnTo>
                  <a:pt x="44196" y="37500"/>
                </a:lnTo>
                <a:lnTo>
                  <a:pt x="45982" y="41071"/>
                </a:lnTo>
                <a:lnTo>
                  <a:pt x="48214" y="43304"/>
                </a:lnTo>
                <a:lnTo>
                  <a:pt x="52679" y="43304"/>
                </a:lnTo>
                <a:lnTo>
                  <a:pt x="54464" y="42411"/>
                </a:lnTo>
                <a:lnTo>
                  <a:pt x="56696" y="39286"/>
                </a:lnTo>
                <a:lnTo>
                  <a:pt x="56696" y="33929"/>
                </a:lnTo>
                <a:lnTo>
                  <a:pt x="53571" y="30804"/>
                </a:lnTo>
                <a:lnTo>
                  <a:pt x="48214" y="30804"/>
                </a:lnTo>
                <a:close/>
                <a:moveTo>
                  <a:pt x="28125" y="37500"/>
                </a:moveTo>
                <a:lnTo>
                  <a:pt x="28571" y="37054"/>
                </a:lnTo>
                <a:lnTo>
                  <a:pt x="33036" y="37054"/>
                </a:lnTo>
                <a:lnTo>
                  <a:pt x="36161" y="39286"/>
                </a:lnTo>
                <a:lnTo>
                  <a:pt x="37054" y="41071"/>
                </a:lnTo>
                <a:lnTo>
                  <a:pt x="37054" y="41964"/>
                </a:lnTo>
                <a:lnTo>
                  <a:pt x="37054" y="42857"/>
                </a:lnTo>
                <a:lnTo>
                  <a:pt x="37500" y="43304"/>
                </a:lnTo>
                <a:lnTo>
                  <a:pt x="37946" y="43750"/>
                </a:lnTo>
                <a:lnTo>
                  <a:pt x="37500" y="44196"/>
                </a:lnTo>
                <a:lnTo>
                  <a:pt x="37054" y="44643"/>
                </a:lnTo>
                <a:lnTo>
                  <a:pt x="37054" y="45536"/>
                </a:lnTo>
                <a:lnTo>
                  <a:pt x="37054" y="46429"/>
                </a:lnTo>
                <a:lnTo>
                  <a:pt x="34821" y="48661"/>
                </a:lnTo>
                <a:lnTo>
                  <a:pt x="33929" y="48661"/>
                </a:lnTo>
                <a:lnTo>
                  <a:pt x="33482" y="49107"/>
                </a:lnTo>
                <a:lnTo>
                  <a:pt x="33036" y="49554"/>
                </a:lnTo>
                <a:lnTo>
                  <a:pt x="28571" y="49554"/>
                </a:lnTo>
                <a:lnTo>
                  <a:pt x="25446" y="47321"/>
                </a:lnTo>
                <a:lnTo>
                  <a:pt x="24554" y="45536"/>
                </a:lnTo>
                <a:lnTo>
                  <a:pt x="24554" y="41071"/>
                </a:lnTo>
                <a:lnTo>
                  <a:pt x="25446" y="39286"/>
                </a:lnTo>
                <a:lnTo>
                  <a:pt x="28125" y="37500"/>
                </a:lnTo>
                <a:close/>
                <a:moveTo>
                  <a:pt x="68304" y="37500"/>
                </a:moveTo>
                <a:lnTo>
                  <a:pt x="68750" y="37054"/>
                </a:lnTo>
                <a:lnTo>
                  <a:pt x="73214" y="37054"/>
                </a:lnTo>
                <a:lnTo>
                  <a:pt x="75000" y="37946"/>
                </a:lnTo>
                <a:lnTo>
                  <a:pt x="77232" y="41071"/>
                </a:lnTo>
                <a:lnTo>
                  <a:pt x="77232" y="45536"/>
                </a:lnTo>
                <a:lnTo>
                  <a:pt x="76339" y="47321"/>
                </a:lnTo>
                <a:lnTo>
                  <a:pt x="73214" y="49554"/>
                </a:lnTo>
                <a:lnTo>
                  <a:pt x="67857" y="49554"/>
                </a:lnTo>
                <a:lnTo>
                  <a:pt x="64732" y="46429"/>
                </a:lnTo>
                <a:lnTo>
                  <a:pt x="63839" y="44643"/>
                </a:lnTo>
                <a:lnTo>
                  <a:pt x="64732" y="40179"/>
                </a:lnTo>
                <a:lnTo>
                  <a:pt x="66964" y="37946"/>
                </a:lnTo>
                <a:lnTo>
                  <a:pt x="67857" y="37946"/>
                </a:lnTo>
                <a:lnTo>
                  <a:pt x="68304" y="37500"/>
                </a:lnTo>
                <a:close/>
                <a:moveTo>
                  <a:pt x="30357" y="38839"/>
                </a:moveTo>
                <a:lnTo>
                  <a:pt x="27232" y="41071"/>
                </a:lnTo>
                <a:lnTo>
                  <a:pt x="26339" y="43750"/>
                </a:lnTo>
                <a:lnTo>
                  <a:pt x="28571" y="47768"/>
                </a:lnTo>
                <a:lnTo>
                  <a:pt x="31250" y="47768"/>
                </a:lnTo>
                <a:lnTo>
                  <a:pt x="32143" y="47768"/>
                </a:lnTo>
                <a:lnTo>
                  <a:pt x="33036" y="47768"/>
                </a:lnTo>
                <a:lnTo>
                  <a:pt x="35268" y="45536"/>
                </a:lnTo>
                <a:lnTo>
                  <a:pt x="35268" y="41964"/>
                </a:lnTo>
                <a:lnTo>
                  <a:pt x="33036" y="39732"/>
                </a:lnTo>
                <a:lnTo>
                  <a:pt x="30357" y="38839"/>
                </a:lnTo>
                <a:close/>
                <a:moveTo>
                  <a:pt x="70536" y="38839"/>
                </a:moveTo>
                <a:lnTo>
                  <a:pt x="66518" y="41964"/>
                </a:lnTo>
                <a:lnTo>
                  <a:pt x="66518" y="45536"/>
                </a:lnTo>
                <a:lnTo>
                  <a:pt x="68750" y="47768"/>
                </a:lnTo>
                <a:lnTo>
                  <a:pt x="71429" y="47768"/>
                </a:lnTo>
                <a:lnTo>
                  <a:pt x="72321" y="47768"/>
                </a:lnTo>
                <a:lnTo>
                  <a:pt x="75446" y="44643"/>
                </a:lnTo>
                <a:lnTo>
                  <a:pt x="75446" y="43750"/>
                </a:lnTo>
                <a:lnTo>
                  <a:pt x="75446" y="42857"/>
                </a:lnTo>
                <a:lnTo>
                  <a:pt x="73214" y="39732"/>
                </a:lnTo>
                <a:lnTo>
                  <a:pt x="70536" y="38839"/>
                </a:lnTo>
                <a:close/>
                <a:moveTo>
                  <a:pt x="46875" y="48214"/>
                </a:moveTo>
                <a:lnTo>
                  <a:pt x="47321" y="47768"/>
                </a:lnTo>
                <a:lnTo>
                  <a:pt x="54464" y="47768"/>
                </a:lnTo>
                <a:lnTo>
                  <a:pt x="58036" y="49554"/>
                </a:lnTo>
                <a:lnTo>
                  <a:pt x="62054" y="53571"/>
                </a:lnTo>
                <a:lnTo>
                  <a:pt x="62946" y="55357"/>
                </a:lnTo>
                <a:lnTo>
                  <a:pt x="62946" y="56250"/>
                </a:lnTo>
                <a:lnTo>
                  <a:pt x="62946" y="57143"/>
                </a:lnTo>
                <a:lnTo>
                  <a:pt x="63393" y="57589"/>
                </a:lnTo>
                <a:lnTo>
                  <a:pt x="63839" y="58036"/>
                </a:lnTo>
                <a:lnTo>
                  <a:pt x="63839" y="66964"/>
                </a:lnTo>
                <a:lnTo>
                  <a:pt x="63393" y="67411"/>
                </a:lnTo>
                <a:lnTo>
                  <a:pt x="54464" y="67411"/>
                </a:lnTo>
                <a:lnTo>
                  <a:pt x="37500" y="67411"/>
                </a:lnTo>
                <a:lnTo>
                  <a:pt x="37054" y="66964"/>
                </a:lnTo>
                <a:lnTo>
                  <a:pt x="37054" y="58036"/>
                </a:lnTo>
                <a:lnTo>
                  <a:pt x="38839" y="54464"/>
                </a:lnTo>
                <a:lnTo>
                  <a:pt x="40625" y="52679"/>
                </a:lnTo>
                <a:lnTo>
                  <a:pt x="40625" y="51786"/>
                </a:lnTo>
                <a:lnTo>
                  <a:pt x="41071" y="51339"/>
                </a:lnTo>
                <a:lnTo>
                  <a:pt x="41964" y="51339"/>
                </a:lnTo>
                <a:lnTo>
                  <a:pt x="43750" y="49554"/>
                </a:lnTo>
                <a:lnTo>
                  <a:pt x="46875" y="48214"/>
                </a:lnTo>
                <a:close/>
                <a:moveTo>
                  <a:pt x="49107" y="49554"/>
                </a:moveTo>
                <a:lnTo>
                  <a:pt x="48661" y="50000"/>
                </a:lnTo>
                <a:lnTo>
                  <a:pt x="48214" y="50446"/>
                </a:lnTo>
                <a:lnTo>
                  <a:pt x="47321" y="50446"/>
                </a:lnTo>
                <a:lnTo>
                  <a:pt x="46429" y="50446"/>
                </a:lnTo>
                <a:lnTo>
                  <a:pt x="44643" y="51339"/>
                </a:lnTo>
                <a:lnTo>
                  <a:pt x="41518" y="54464"/>
                </a:lnTo>
                <a:lnTo>
                  <a:pt x="39732" y="58036"/>
                </a:lnTo>
                <a:lnTo>
                  <a:pt x="39732" y="65179"/>
                </a:lnTo>
                <a:lnTo>
                  <a:pt x="40179" y="65625"/>
                </a:lnTo>
                <a:lnTo>
                  <a:pt x="52679" y="65625"/>
                </a:lnTo>
                <a:lnTo>
                  <a:pt x="61607" y="65625"/>
                </a:lnTo>
                <a:lnTo>
                  <a:pt x="62054" y="65179"/>
                </a:lnTo>
                <a:lnTo>
                  <a:pt x="62054" y="58036"/>
                </a:lnTo>
                <a:lnTo>
                  <a:pt x="59375" y="54464"/>
                </a:lnTo>
                <a:lnTo>
                  <a:pt x="59375" y="53571"/>
                </a:lnTo>
                <a:lnTo>
                  <a:pt x="55357" y="50446"/>
                </a:lnTo>
                <a:lnTo>
                  <a:pt x="54464" y="50446"/>
                </a:lnTo>
                <a:lnTo>
                  <a:pt x="53571" y="50446"/>
                </a:lnTo>
                <a:lnTo>
                  <a:pt x="53125" y="50000"/>
                </a:lnTo>
                <a:lnTo>
                  <a:pt x="52679" y="49554"/>
                </a:lnTo>
                <a:lnTo>
                  <a:pt x="49107" y="49554"/>
                </a:lnTo>
                <a:close/>
                <a:moveTo>
                  <a:pt x="28125" y="52679"/>
                </a:moveTo>
                <a:lnTo>
                  <a:pt x="28571" y="52232"/>
                </a:lnTo>
                <a:lnTo>
                  <a:pt x="33036" y="52232"/>
                </a:lnTo>
                <a:lnTo>
                  <a:pt x="35268" y="53571"/>
                </a:lnTo>
                <a:lnTo>
                  <a:pt x="35268" y="54464"/>
                </a:lnTo>
                <a:lnTo>
                  <a:pt x="34821" y="54911"/>
                </a:lnTo>
                <a:lnTo>
                  <a:pt x="34375" y="54464"/>
                </a:lnTo>
                <a:lnTo>
                  <a:pt x="33929" y="54018"/>
                </a:lnTo>
                <a:lnTo>
                  <a:pt x="28571" y="54018"/>
                </a:lnTo>
                <a:lnTo>
                  <a:pt x="26786" y="54911"/>
                </a:lnTo>
                <a:lnTo>
                  <a:pt x="23661" y="58036"/>
                </a:lnTo>
                <a:lnTo>
                  <a:pt x="23661" y="58929"/>
                </a:lnTo>
                <a:lnTo>
                  <a:pt x="23661" y="59821"/>
                </a:lnTo>
                <a:lnTo>
                  <a:pt x="23214" y="60268"/>
                </a:lnTo>
                <a:lnTo>
                  <a:pt x="22768" y="60714"/>
                </a:lnTo>
                <a:lnTo>
                  <a:pt x="22768" y="65179"/>
                </a:lnTo>
                <a:lnTo>
                  <a:pt x="23214" y="65625"/>
                </a:lnTo>
                <a:lnTo>
                  <a:pt x="28571" y="65625"/>
                </a:lnTo>
                <a:lnTo>
                  <a:pt x="33036" y="65625"/>
                </a:lnTo>
                <a:lnTo>
                  <a:pt x="33482" y="66071"/>
                </a:lnTo>
                <a:lnTo>
                  <a:pt x="33482" y="66964"/>
                </a:lnTo>
                <a:lnTo>
                  <a:pt x="33036" y="67411"/>
                </a:lnTo>
                <a:lnTo>
                  <a:pt x="21429" y="67411"/>
                </a:lnTo>
                <a:lnTo>
                  <a:pt x="20982" y="66964"/>
                </a:lnTo>
                <a:lnTo>
                  <a:pt x="20982" y="58929"/>
                </a:lnTo>
                <a:lnTo>
                  <a:pt x="21875" y="57143"/>
                </a:lnTo>
                <a:lnTo>
                  <a:pt x="25000" y="54018"/>
                </a:lnTo>
                <a:lnTo>
                  <a:pt x="28125" y="52679"/>
                </a:lnTo>
                <a:close/>
                <a:moveTo>
                  <a:pt x="67411" y="52679"/>
                </a:moveTo>
                <a:lnTo>
                  <a:pt x="67857" y="52232"/>
                </a:lnTo>
                <a:lnTo>
                  <a:pt x="72321" y="52232"/>
                </a:lnTo>
                <a:lnTo>
                  <a:pt x="72768" y="52679"/>
                </a:lnTo>
                <a:lnTo>
                  <a:pt x="73214" y="53125"/>
                </a:lnTo>
                <a:lnTo>
                  <a:pt x="74107" y="53125"/>
                </a:lnTo>
                <a:lnTo>
                  <a:pt x="75000" y="53125"/>
                </a:lnTo>
                <a:lnTo>
                  <a:pt x="76786" y="54018"/>
                </a:lnTo>
                <a:lnTo>
                  <a:pt x="79911" y="57143"/>
                </a:lnTo>
                <a:lnTo>
                  <a:pt x="79911" y="58036"/>
                </a:lnTo>
                <a:lnTo>
                  <a:pt x="79911" y="58929"/>
                </a:lnTo>
                <a:lnTo>
                  <a:pt x="80357" y="59375"/>
                </a:lnTo>
                <a:lnTo>
                  <a:pt x="80804" y="59821"/>
                </a:lnTo>
                <a:lnTo>
                  <a:pt x="80804" y="66964"/>
                </a:lnTo>
                <a:lnTo>
                  <a:pt x="80357" y="67411"/>
                </a:lnTo>
                <a:lnTo>
                  <a:pt x="67857" y="67411"/>
                </a:lnTo>
                <a:lnTo>
                  <a:pt x="67411" y="66964"/>
                </a:lnTo>
                <a:lnTo>
                  <a:pt x="67411" y="66071"/>
                </a:lnTo>
                <a:lnTo>
                  <a:pt x="67857" y="65625"/>
                </a:lnTo>
                <a:lnTo>
                  <a:pt x="77679" y="65625"/>
                </a:lnTo>
                <a:lnTo>
                  <a:pt x="79018" y="64286"/>
                </a:lnTo>
                <a:lnTo>
                  <a:pt x="79018" y="60714"/>
                </a:lnTo>
                <a:lnTo>
                  <a:pt x="77232" y="57143"/>
                </a:lnTo>
                <a:lnTo>
                  <a:pt x="75000" y="54911"/>
                </a:lnTo>
                <a:lnTo>
                  <a:pt x="73214" y="54018"/>
                </a:lnTo>
                <a:lnTo>
                  <a:pt x="67857" y="54018"/>
                </a:lnTo>
                <a:lnTo>
                  <a:pt x="67411" y="54464"/>
                </a:lnTo>
                <a:lnTo>
                  <a:pt x="66964" y="54911"/>
                </a:lnTo>
                <a:lnTo>
                  <a:pt x="66518" y="54464"/>
                </a:lnTo>
                <a:lnTo>
                  <a:pt x="66518" y="53571"/>
                </a:lnTo>
                <a:lnTo>
                  <a:pt x="66964" y="53125"/>
                </a:lnTo>
                <a:lnTo>
                  <a:pt x="67411" y="52679"/>
                </a:lnTo>
                <a:close/>
              </a:path>
            </a:pathLst>
          </a:custGeom>
          <a:solidFill>
            <a:srgbClr val="FFFFFF"/>
          </a:solidFill>
          <a:ln>
            <a:noFill/>
          </a:ln>
        </p:spPr>
        <p:txBody>
          <a:bodyPr/>
          <a:p/>
        </p:txBody>
      </p:sp>
      <p:sp>
        <p:nvSpPr>
          <p:cNvPr id="33" name="Text 30"/>
          <p:cNvSpPr/>
          <p:nvPr/>
        </p:nvSpPr>
        <p:spPr>
          <a:xfrm>
            <a:off x="2532888" y="4681728"/>
            <a:ext cx="5221224" cy="393192"/>
          </a:xfrm>
          <a:prstGeom prst="rect">
            <a:avLst/>
          </a:prstGeom>
          <a:noFill/>
          <a:ln/>
        </p:spPr>
        <p:txBody>
          <a:bodyPr wrap="square" lIns="0" tIns="0" rIns="0" bIns="0" rtlCol="0" anchor="ctr"/>
          <a:lstStyle/>
          <a:p>
            <a:pPr indent="0" marL="0">
              <a:buNone/>
            </a:pPr>
            <a:r>
              <a:rPr lang="en-US" sz="2200" b="1" dirty="0">
                <a:solidFill>
                  <a:srgbClr val="17324D"/>
                </a:solidFill>
                <a:latin typeface="Aptos" pitchFamily="34" charset="0"/>
                <a:ea typeface="Segoe UI" pitchFamily="34" charset="-122"/>
                <a:cs typeface="Segoe UI" pitchFamily="34" charset="-120"/>
              </a:rPr>
              <a:t>Profils des 4 segments</a:t>
            </a:r>
            <a:endParaRPr lang="en-US" sz="2200" dirty="0"/>
          </a:p>
        </p:txBody>
      </p:sp>
      <p:sp>
        <p:nvSpPr>
          <p:cNvPr id="34" name="Shape 31"/>
          <p:cNvSpPr/>
          <p:nvPr/>
        </p:nvSpPr>
        <p:spPr>
          <a:xfrm>
            <a:off x="7680960" y="5038344"/>
            <a:ext cx="320040" cy="0"/>
          </a:xfrm>
          <a:prstGeom prst="line">
            <a:avLst/>
          </a:prstGeom>
          <a:noFill/>
          <a:ln w="10160">
            <a:solidFill>
              <a:srgbClr val="6D28D9"/>
            </a:solidFill>
            <a:prstDash val="dot"/>
          </a:ln>
        </p:spPr>
        <p:txBody>
          <a:bodyPr/>
          <a:p/>
        </p:txBody>
      </p:sp>
      <p:sp>
        <p:nvSpPr>
          <p:cNvPr id="35" name="Text 32"/>
          <p:cNvSpPr/>
          <p:nvPr/>
        </p:nvSpPr>
        <p:spPr>
          <a:xfrm>
            <a:off x="7680960" y="4773168"/>
            <a:ext cx="740664" cy="219456"/>
          </a:xfrm>
          <a:prstGeom prst="rect">
            <a:avLst/>
          </a:prstGeom>
          <a:noFill/>
          <a:ln/>
        </p:spPr>
        <p:txBody>
          <a:bodyPr wrap="square" lIns="0" tIns="0" rIns="0" bIns="0" rtlCol="0" anchor="ctr"/>
          <a:lstStyle/>
          <a:p>
            <a:pPr algn="r" indent="0" marL="0">
              <a:buNone/>
            </a:pPr>
            <a:r>
              <a:rPr lang="en-US" sz="1300" dirty="0">
                <a:solidFill>
                  <a:srgbClr val="6D28D9"/>
                </a:solidFill>
                <a:latin typeface="Aptos" pitchFamily="34" charset="0"/>
                <a:ea typeface="Segoe UI" pitchFamily="34" charset="-122"/>
                <a:cs typeface="Segoe UI" pitchFamily="34" charset="-120"/>
              </a:rPr>
              <a:t>10–14</a:t>
            </a:r>
            <a:endParaRPr lang="en-US" sz="1300" dirty="0"/>
          </a:p>
        </p:txBody>
      </p:sp>
      <p:sp>
        <p:nvSpPr>
          <p:cNvPr id="36" name="Shape 33"/>
          <p:cNvSpPr/>
          <p:nvPr/>
        </p:nvSpPr>
        <p:spPr>
          <a:xfrm>
            <a:off x="603504" y="5568696"/>
            <a:ext cx="530352" cy="530352"/>
          </a:xfrm>
          <a:prstGeom prst="ellipse">
            <a:avLst/>
          </a:prstGeom>
          <a:solidFill>
            <a:srgbClr val="17324D"/>
          </a:solidFill>
          <a:ln w="12700">
            <a:solidFill>
              <a:srgbClr val="17324D">
                <a:alpha val="0"/>
              </a:srgbClr>
            </a:solidFill>
            <a:prstDash val="solid"/>
          </a:ln>
        </p:spPr>
        <p:txBody>
          <a:bodyPr/>
          <a:p/>
        </p:txBody>
      </p:sp>
      <p:sp>
        <p:nvSpPr>
          <p:cNvPr id="37" name="Text 34"/>
          <p:cNvSpPr/>
          <p:nvPr/>
        </p:nvSpPr>
        <p:spPr>
          <a:xfrm>
            <a:off x="621792" y="5705856"/>
            <a:ext cx="493776"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Aptos" pitchFamily="34" charset="0"/>
                <a:ea typeface="Segoe UI" pitchFamily="34" charset="-122"/>
                <a:cs typeface="Segoe UI" pitchFamily="34" charset="-120"/>
              </a:rPr>
              <a:t>05</a:t>
            </a:r>
            <a:endParaRPr lang="en-US" sz="1600" dirty="0"/>
          </a:p>
        </p:txBody>
      </p:sp>
      <p:sp>
        <p:nvSpPr>
          <p:cNvPr id="38" name="Shape 35"/>
          <p:cNvSpPr/>
          <p:nvPr/>
        </p:nvSpPr>
        <p:spPr>
          <a:xfrm>
            <a:off x="1417320" y="5440680"/>
            <a:ext cx="786384" cy="786384"/>
          </a:xfrm>
          <a:prstGeom prst="ellipse">
            <a:avLst/>
          </a:prstGeom>
          <a:solidFill>
            <a:srgbClr val="0F766E"/>
          </a:solidFill>
          <a:ln w="12700">
            <a:solidFill>
              <a:srgbClr val="0F766E">
                <a:alpha val="0"/>
              </a:srgbClr>
            </a:solidFill>
            <a:prstDash val="solid"/>
          </a:ln>
        </p:spPr>
        <p:txBody>
          <a:bodyPr/>
          <a:p/>
        </p:txBody>
      </p:sp>
      <p:sp>
        <p:nvSpPr>
          <p:cNvPr id="39" name="VECTOR_bulb_10"/>
          <p:cNvSpPr/>
          <p:nvPr/>
        </p:nvSpPr>
        <p:spPr>
          <a:xfrm>
            <a:off x="1417320" y="5440680"/>
            <a:ext cx="786384" cy="786384"/>
          </a:xfrm>
          <a:custGeom>
            <a:avLst/>
            <a:gdLst/>
            <a:ahLst/>
            <a:cxnLst/>
            <a:rect l="0" t="0" r="r" b="b"/>
            <a:pathLst>
              <a:path w="100000" h="100000" fill="norm" stroke="false" extrusionOk="false">
                <a:moveTo>
                  <a:pt x="49554" y="21429"/>
                </a:moveTo>
                <a:lnTo>
                  <a:pt x="50000" y="20982"/>
                </a:lnTo>
                <a:lnTo>
                  <a:pt x="52232" y="21429"/>
                </a:lnTo>
                <a:lnTo>
                  <a:pt x="52232" y="28571"/>
                </a:lnTo>
                <a:lnTo>
                  <a:pt x="51786" y="29018"/>
                </a:lnTo>
                <a:lnTo>
                  <a:pt x="49554" y="28571"/>
                </a:lnTo>
                <a:lnTo>
                  <a:pt x="49554" y="21429"/>
                </a:lnTo>
                <a:close/>
                <a:moveTo>
                  <a:pt x="31696" y="28571"/>
                </a:moveTo>
                <a:lnTo>
                  <a:pt x="32143" y="28125"/>
                </a:lnTo>
                <a:lnTo>
                  <a:pt x="33036" y="28125"/>
                </a:lnTo>
                <a:lnTo>
                  <a:pt x="33482" y="28571"/>
                </a:lnTo>
                <a:lnTo>
                  <a:pt x="33482" y="29464"/>
                </a:lnTo>
                <a:lnTo>
                  <a:pt x="37054" y="33036"/>
                </a:lnTo>
                <a:lnTo>
                  <a:pt x="36607" y="33482"/>
                </a:lnTo>
                <a:lnTo>
                  <a:pt x="36161" y="33929"/>
                </a:lnTo>
                <a:lnTo>
                  <a:pt x="35714" y="34375"/>
                </a:lnTo>
                <a:lnTo>
                  <a:pt x="34821" y="34375"/>
                </a:lnTo>
                <a:lnTo>
                  <a:pt x="31696" y="31250"/>
                </a:lnTo>
                <a:lnTo>
                  <a:pt x="30804" y="29464"/>
                </a:lnTo>
                <a:lnTo>
                  <a:pt x="31250" y="29018"/>
                </a:lnTo>
                <a:lnTo>
                  <a:pt x="31696" y="28571"/>
                </a:lnTo>
                <a:close/>
                <a:moveTo>
                  <a:pt x="68304" y="29464"/>
                </a:moveTo>
                <a:lnTo>
                  <a:pt x="70536" y="29018"/>
                </a:lnTo>
                <a:lnTo>
                  <a:pt x="70982" y="29464"/>
                </a:lnTo>
                <a:lnTo>
                  <a:pt x="70982" y="30357"/>
                </a:lnTo>
                <a:lnTo>
                  <a:pt x="66964" y="34375"/>
                </a:lnTo>
                <a:lnTo>
                  <a:pt x="66518" y="34821"/>
                </a:lnTo>
                <a:lnTo>
                  <a:pt x="66071" y="35268"/>
                </a:lnTo>
                <a:lnTo>
                  <a:pt x="64732" y="33929"/>
                </a:lnTo>
                <a:lnTo>
                  <a:pt x="68304" y="30357"/>
                </a:lnTo>
                <a:lnTo>
                  <a:pt x="68304" y="29464"/>
                </a:lnTo>
                <a:close/>
                <a:moveTo>
                  <a:pt x="46875" y="33929"/>
                </a:moveTo>
                <a:lnTo>
                  <a:pt x="47321" y="33482"/>
                </a:lnTo>
                <a:lnTo>
                  <a:pt x="53571" y="33482"/>
                </a:lnTo>
                <a:lnTo>
                  <a:pt x="54018" y="33929"/>
                </a:lnTo>
                <a:lnTo>
                  <a:pt x="54464" y="34375"/>
                </a:lnTo>
                <a:lnTo>
                  <a:pt x="58929" y="35268"/>
                </a:lnTo>
                <a:lnTo>
                  <a:pt x="63839" y="40179"/>
                </a:lnTo>
                <a:lnTo>
                  <a:pt x="65625" y="43750"/>
                </a:lnTo>
                <a:lnTo>
                  <a:pt x="65625" y="46429"/>
                </a:lnTo>
                <a:lnTo>
                  <a:pt x="66071" y="46875"/>
                </a:lnTo>
                <a:lnTo>
                  <a:pt x="66518" y="47321"/>
                </a:lnTo>
                <a:lnTo>
                  <a:pt x="66518" y="50893"/>
                </a:lnTo>
                <a:lnTo>
                  <a:pt x="66071" y="51339"/>
                </a:lnTo>
                <a:lnTo>
                  <a:pt x="65625" y="51786"/>
                </a:lnTo>
                <a:lnTo>
                  <a:pt x="64732" y="56250"/>
                </a:lnTo>
                <a:lnTo>
                  <a:pt x="62946" y="58036"/>
                </a:lnTo>
                <a:lnTo>
                  <a:pt x="62946" y="58929"/>
                </a:lnTo>
                <a:lnTo>
                  <a:pt x="57589" y="64286"/>
                </a:lnTo>
                <a:lnTo>
                  <a:pt x="57589" y="75893"/>
                </a:lnTo>
                <a:lnTo>
                  <a:pt x="54464" y="79911"/>
                </a:lnTo>
                <a:lnTo>
                  <a:pt x="54018" y="80357"/>
                </a:lnTo>
                <a:lnTo>
                  <a:pt x="53571" y="80804"/>
                </a:lnTo>
                <a:lnTo>
                  <a:pt x="48214" y="80804"/>
                </a:lnTo>
                <a:lnTo>
                  <a:pt x="45982" y="79464"/>
                </a:lnTo>
                <a:lnTo>
                  <a:pt x="43304" y="74107"/>
                </a:lnTo>
                <a:lnTo>
                  <a:pt x="43304" y="64286"/>
                </a:lnTo>
                <a:lnTo>
                  <a:pt x="42411" y="62500"/>
                </a:lnTo>
                <a:lnTo>
                  <a:pt x="37054" y="57143"/>
                </a:lnTo>
                <a:lnTo>
                  <a:pt x="36161" y="55357"/>
                </a:lnTo>
                <a:lnTo>
                  <a:pt x="36161" y="54464"/>
                </a:lnTo>
                <a:lnTo>
                  <a:pt x="36161" y="53571"/>
                </a:lnTo>
                <a:lnTo>
                  <a:pt x="35714" y="53125"/>
                </a:lnTo>
                <a:lnTo>
                  <a:pt x="35268" y="52679"/>
                </a:lnTo>
                <a:lnTo>
                  <a:pt x="35268" y="45536"/>
                </a:lnTo>
                <a:lnTo>
                  <a:pt x="35714" y="45089"/>
                </a:lnTo>
                <a:lnTo>
                  <a:pt x="36161" y="44643"/>
                </a:lnTo>
                <a:lnTo>
                  <a:pt x="36161" y="43750"/>
                </a:lnTo>
                <a:lnTo>
                  <a:pt x="36161" y="42857"/>
                </a:lnTo>
                <a:lnTo>
                  <a:pt x="37946" y="39286"/>
                </a:lnTo>
                <a:lnTo>
                  <a:pt x="42857" y="35268"/>
                </a:lnTo>
                <a:lnTo>
                  <a:pt x="46875" y="33929"/>
                </a:lnTo>
                <a:close/>
                <a:moveTo>
                  <a:pt x="46429" y="36161"/>
                </a:moveTo>
                <a:lnTo>
                  <a:pt x="44643" y="37054"/>
                </a:lnTo>
                <a:lnTo>
                  <a:pt x="39732" y="41964"/>
                </a:lnTo>
                <a:lnTo>
                  <a:pt x="37946" y="45536"/>
                </a:lnTo>
                <a:lnTo>
                  <a:pt x="37946" y="52679"/>
                </a:lnTo>
                <a:lnTo>
                  <a:pt x="39732" y="56250"/>
                </a:lnTo>
                <a:lnTo>
                  <a:pt x="41518" y="58036"/>
                </a:lnTo>
                <a:lnTo>
                  <a:pt x="41518" y="58929"/>
                </a:lnTo>
                <a:lnTo>
                  <a:pt x="45982" y="63393"/>
                </a:lnTo>
                <a:lnTo>
                  <a:pt x="46429" y="66518"/>
                </a:lnTo>
                <a:lnTo>
                  <a:pt x="55357" y="66518"/>
                </a:lnTo>
                <a:lnTo>
                  <a:pt x="55804" y="62500"/>
                </a:lnTo>
                <a:lnTo>
                  <a:pt x="61161" y="57143"/>
                </a:lnTo>
                <a:lnTo>
                  <a:pt x="61161" y="56250"/>
                </a:lnTo>
                <a:lnTo>
                  <a:pt x="62946" y="54464"/>
                </a:lnTo>
                <a:lnTo>
                  <a:pt x="62946" y="53571"/>
                </a:lnTo>
                <a:lnTo>
                  <a:pt x="62946" y="52679"/>
                </a:lnTo>
                <a:lnTo>
                  <a:pt x="63393" y="52232"/>
                </a:lnTo>
                <a:lnTo>
                  <a:pt x="63839" y="51786"/>
                </a:lnTo>
                <a:lnTo>
                  <a:pt x="63839" y="45536"/>
                </a:lnTo>
                <a:lnTo>
                  <a:pt x="63393" y="45089"/>
                </a:lnTo>
                <a:lnTo>
                  <a:pt x="62946" y="44643"/>
                </a:lnTo>
                <a:lnTo>
                  <a:pt x="62946" y="43750"/>
                </a:lnTo>
                <a:lnTo>
                  <a:pt x="62946" y="42857"/>
                </a:lnTo>
                <a:lnTo>
                  <a:pt x="57143" y="37054"/>
                </a:lnTo>
                <a:lnTo>
                  <a:pt x="55357" y="36161"/>
                </a:lnTo>
                <a:lnTo>
                  <a:pt x="46429" y="36161"/>
                </a:lnTo>
                <a:close/>
                <a:moveTo>
                  <a:pt x="21875" y="48214"/>
                </a:moveTo>
                <a:lnTo>
                  <a:pt x="22321" y="47768"/>
                </a:lnTo>
                <a:lnTo>
                  <a:pt x="30357" y="47768"/>
                </a:lnTo>
                <a:lnTo>
                  <a:pt x="30804" y="48214"/>
                </a:lnTo>
                <a:lnTo>
                  <a:pt x="30804" y="49107"/>
                </a:lnTo>
                <a:lnTo>
                  <a:pt x="30357" y="49554"/>
                </a:lnTo>
                <a:lnTo>
                  <a:pt x="22321" y="49554"/>
                </a:lnTo>
                <a:lnTo>
                  <a:pt x="21875" y="49107"/>
                </a:lnTo>
                <a:lnTo>
                  <a:pt x="21875" y="48214"/>
                </a:lnTo>
                <a:close/>
                <a:moveTo>
                  <a:pt x="71875" y="48214"/>
                </a:moveTo>
                <a:lnTo>
                  <a:pt x="72321" y="47768"/>
                </a:lnTo>
                <a:lnTo>
                  <a:pt x="79464" y="47768"/>
                </a:lnTo>
                <a:lnTo>
                  <a:pt x="79911" y="48214"/>
                </a:lnTo>
                <a:lnTo>
                  <a:pt x="79911" y="49107"/>
                </a:lnTo>
                <a:lnTo>
                  <a:pt x="79464" y="49554"/>
                </a:lnTo>
                <a:lnTo>
                  <a:pt x="72321" y="49554"/>
                </a:lnTo>
                <a:lnTo>
                  <a:pt x="71875" y="49107"/>
                </a:lnTo>
                <a:lnTo>
                  <a:pt x="71875" y="48214"/>
                </a:lnTo>
                <a:close/>
                <a:moveTo>
                  <a:pt x="67411" y="61607"/>
                </a:moveTo>
                <a:lnTo>
                  <a:pt x="67857" y="61161"/>
                </a:lnTo>
                <a:lnTo>
                  <a:pt x="73661" y="66964"/>
                </a:lnTo>
                <a:lnTo>
                  <a:pt x="73214" y="67411"/>
                </a:lnTo>
                <a:lnTo>
                  <a:pt x="72768" y="67857"/>
                </a:lnTo>
                <a:lnTo>
                  <a:pt x="72321" y="68304"/>
                </a:lnTo>
                <a:lnTo>
                  <a:pt x="70536" y="67411"/>
                </a:lnTo>
                <a:lnTo>
                  <a:pt x="66518" y="63393"/>
                </a:lnTo>
                <a:lnTo>
                  <a:pt x="67411" y="61607"/>
                </a:lnTo>
                <a:close/>
                <a:moveTo>
                  <a:pt x="33482" y="62500"/>
                </a:moveTo>
                <a:lnTo>
                  <a:pt x="33929" y="62054"/>
                </a:lnTo>
                <a:lnTo>
                  <a:pt x="35268" y="63393"/>
                </a:lnTo>
                <a:lnTo>
                  <a:pt x="30357" y="68304"/>
                </a:lnTo>
                <a:lnTo>
                  <a:pt x="29464" y="68304"/>
                </a:lnTo>
                <a:lnTo>
                  <a:pt x="28125" y="66964"/>
                </a:lnTo>
                <a:lnTo>
                  <a:pt x="32143" y="62946"/>
                </a:lnTo>
                <a:lnTo>
                  <a:pt x="33036" y="62946"/>
                </a:lnTo>
                <a:lnTo>
                  <a:pt x="33482" y="62500"/>
                </a:lnTo>
                <a:close/>
                <a:moveTo>
                  <a:pt x="46429" y="69196"/>
                </a:moveTo>
                <a:lnTo>
                  <a:pt x="45982" y="69643"/>
                </a:lnTo>
                <a:lnTo>
                  <a:pt x="46429" y="71875"/>
                </a:lnTo>
                <a:lnTo>
                  <a:pt x="54464" y="71875"/>
                </a:lnTo>
                <a:lnTo>
                  <a:pt x="54911" y="71429"/>
                </a:lnTo>
                <a:lnTo>
                  <a:pt x="55357" y="70982"/>
                </a:lnTo>
                <a:lnTo>
                  <a:pt x="55804" y="70536"/>
                </a:lnTo>
                <a:lnTo>
                  <a:pt x="54464" y="69196"/>
                </a:lnTo>
                <a:lnTo>
                  <a:pt x="46429" y="69196"/>
                </a:lnTo>
                <a:close/>
                <a:moveTo>
                  <a:pt x="47321" y="74554"/>
                </a:moveTo>
                <a:lnTo>
                  <a:pt x="46875" y="76786"/>
                </a:lnTo>
                <a:lnTo>
                  <a:pt x="49107" y="79018"/>
                </a:lnTo>
                <a:lnTo>
                  <a:pt x="51786" y="79018"/>
                </a:lnTo>
                <a:lnTo>
                  <a:pt x="53125" y="77679"/>
                </a:lnTo>
                <a:lnTo>
                  <a:pt x="54911" y="75893"/>
                </a:lnTo>
                <a:lnTo>
                  <a:pt x="54911" y="75000"/>
                </a:lnTo>
                <a:lnTo>
                  <a:pt x="54464" y="74554"/>
                </a:lnTo>
                <a:lnTo>
                  <a:pt x="47321" y="74554"/>
                </a:lnTo>
                <a:close/>
              </a:path>
            </a:pathLst>
          </a:custGeom>
          <a:solidFill>
            <a:srgbClr val="FFFFFF"/>
          </a:solidFill>
          <a:ln>
            <a:noFill/>
          </a:ln>
        </p:spPr>
        <p:txBody>
          <a:bodyPr/>
          <a:p/>
        </p:txBody>
      </p:sp>
      <p:sp>
        <p:nvSpPr>
          <p:cNvPr id="40" name="Text 37"/>
          <p:cNvSpPr/>
          <p:nvPr/>
        </p:nvSpPr>
        <p:spPr>
          <a:xfrm>
            <a:off x="2532888" y="5614416"/>
            <a:ext cx="5221224" cy="393192"/>
          </a:xfrm>
          <a:prstGeom prst="rect">
            <a:avLst/>
          </a:prstGeom>
          <a:noFill/>
          <a:ln/>
        </p:spPr>
        <p:txBody>
          <a:bodyPr wrap="square" lIns="0" tIns="0" rIns="0" bIns="0" rtlCol="0" anchor="ctr"/>
          <a:lstStyle/>
          <a:p>
            <a:pPr indent="0" marL="0">
              <a:buNone/>
            </a:pPr>
            <a:r>
              <a:rPr lang="en-US" sz="2200" b="1" dirty="0">
                <a:solidFill>
                  <a:srgbClr val="17324D"/>
                </a:solidFill>
                <a:latin typeface="Aptos" pitchFamily="34" charset="0"/>
                <a:ea typeface="Segoe UI" pitchFamily="34" charset="-122"/>
                <a:cs typeface="Segoe UI" pitchFamily="34" charset="-120"/>
              </a:rPr>
              <a:t>Hypothèses &amp; conclusion</a:t>
            </a:r>
            <a:endParaRPr lang="en-US" sz="2200" dirty="0"/>
          </a:p>
        </p:txBody>
      </p:sp>
      <p:sp>
        <p:nvSpPr>
          <p:cNvPr id="41" name="Shape 38"/>
          <p:cNvSpPr/>
          <p:nvPr/>
        </p:nvSpPr>
        <p:spPr>
          <a:xfrm>
            <a:off x="7680960" y="5971032"/>
            <a:ext cx="320040" cy="0"/>
          </a:xfrm>
          <a:prstGeom prst="line">
            <a:avLst/>
          </a:prstGeom>
          <a:noFill/>
          <a:ln w="10160">
            <a:solidFill>
              <a:srgbClr val="6D28D9"/>
            </a:solidFill>
            <a:prstDash val="dot"/>
          </a:ln>
        </p:spPr>
        <p:txBody>
          <a:bodyPr/>
          <a:p/>
        </p:txBody>
      </p:sp>
      <p:sp>
        <p:nvSpPr>
          <p:cNvPr id="42" name="Text 39"/>
          <p:cNvSpPr/>
          <p:nvPr/>
        </p:nvSpPr>
        <p:spPr>
          <a:xfrm>
            <a:off x="7680960" y="5705856"/>
            <a:ext cx="740664" cy="219456"/>
          </a:xfrm>
          <a:prstGeom prst="rect">
            <a:avLst/>
          </a:prstGeom>
          <a:noFill/>
          <a:ln/>
        </p:spPr>
        <p:txBody>
          <a:bodyPr wrap="square" lIns="0" tIns="0" rIns="0" bIns="0" rtlCol="0" anchor="ctr"/>
          <a:lstStyle/>
          <a:p>
            <a:pPr algn="r" indent="0" marL="0">
              <a:buNone/>
            </a:pPr>
            <a:r>
              <a:rPr lang="en-US" sz="1300" dirty="0">
                <a:solidFill>
                  <a:srgbClr val="6D28D9"/>
                </a:solidFill>
                <a:latin typeface="Aptos" pitchFamily="34" charset="0"/>
                <a:ea typeface="Segoe UI" pitchFamily="34" charset="-122"/>
                <a:cs typeface="Segoe UI" pitchFamily="34" charset="-120"/>
              </a:rPr>
              <a:t>15–17</a:t>
            </a:r>
            <a:endParaRPr lang="en-US" sz="1300" dirty="0"/>
          </a:p>
        </p:txBody>
      </p:sp>
      <p:sp>
        <p:nvSpPr>
          <p:cNvPr id="43" name="Shape 40"/>
          <p:cNvSpPr/>
          <p:nvPr/>
        </p:nvSpPr>
        <p:spPr>
          <a:xfrm>
            <a:off x="8695944" y="1874520"/>
            <a:ext cx="0" cy="4361688"/>
          </a:xfrm>
          <a:prstGeom prst="line">
            <a:avLst/>
          </a:prstGeom>
          <a:noFill/>
          <a:ln w="12700">
            <a:solidFill>
              <a:srgbClr val="D1D5DB"/>
            </a:solidFill>
            <a:prstDash val="solid"/>
          </a:ln>
        </p:spPr>
        <p:txBody>
          <a:bodyPr/>
          <a:p/>
        </p:txBody>
      </p:sp>
      <p:sp>
        <p:nvSpPr>
          <p:cNvPr id="44" name="Text 41"/>
          <p:cNvSpPr/>
          <p:nvPr/>
        </p:nvSpPr>
        <p:spPr>
          <a:xfrm>
            <a:off x="9116568" y="1709928"/>
            <a:ext cx="2560320" cy="1636776"/>
          </a:xfrm>
          <a:prstGeom prst="rect">
            <a:avLst/>
          </a:prstGeom>
          <a:noFill/>
          <a:ln/>
        </p:spPr>
        <p:txBody>
          <a:bodyPr wrap="square" lIns="0" tIns="0" rIns="0" bIns="0" rtlCol="0" anchor="ctr"/>
          <a:lstStyle/>
          <a:p>
            <a:pPr indent="0" marL="0">
              <a:buNone/>
            </a:pPr>
            <a:r>
              <a:rPr lang="en-US" sz="12600" b="1" dirty="0">
                <a:solidFill>
                  <a:srgbClr val="17324D"/>
                </a:solidFill>
                <a:latin typeface="Aptos" pitchFamily="34" charset="0"/>
                <a:ea typeface="Segoe UI" pitchFamily="34" charset="-122"/>
                <a:cs typeface="Segoe UI" pitchFamily="34" charset="-120"/>
              </a:rPr>
              <a:t>4</a:t>
            </a:r>
            <a:endParaRPr lang="en-US" sz="12600" dirty="0"/>
          </a:p>
        </p:txBody>
      </p:sp>
      <p:sp>
        <p:nvSpPr>
          <p:cNvPr id="45" name="Text 42"/>
          <p:cNvSpPr/>
          <p:nvPr/>
        </p:nvSpPr>
        <p:spPr>
          <a:xfrm>
            <a:off x="9189720" y="3675888"/>
            <a:ext cx="2560320" cy="292608"/>
          </a:xfrm>
          <a:prstGeom prst="rect">
            <a:avLst/>
          </a:prstGeom>
          <a:noFill/>
          <a:ln/>
        </p:spPr>
        <p:txBody>
          <a:bodyPr wrap="square" lIns="0" tIns="0" rIns="0" bIns="0" rtlCol="0" anchor="ctr"/>
          <a:lstStyle/>
          <a:p>
            <a:pPr indent="0" marL="0">
              <a:buNone/>
            </a:pPr>
            <a:r>
              <a:rPr lang="en-US" sz="1680" b="1" dirty="0">
                <a:solidFill>
                  <a:srgbClr val="17324D"/>
                </a:solidFill>
                <a:latin typeface="Aptos" pitchFamily="34" charset="0"/>
                <a:ea typeface="Segoe UI" pitchFamily="34" charset="-122"/>
                <a:cs typeface="Segoe UI" pitchFamily="34" charset="-120"/>
              </a:rPr>
              <a:t>segments de clientèle</a:t>
            </a:r>
            <a:endParaRPr lang="en-US" sz="1680" dirty="0"/>
          </a:p>
        </p:txBody>
      </p:sp>
      <p:sp>
        <p:nvSpPr>
          <p:cNvPr id="46" name="Shape 43"/>
          <p:cNvSpPr/>
          <p:nvPr/>
        </p:nvSpPr>
        <p:spPr>
          <a:xfrm>
            <a:off x="9235440" y="4105656"/>
            <a:ext cx="1060704" cy="1060704"/>
          </a:xfrm>
          <a:prstGeom prst="ellipse">
            <a:avLst/>
          </a:prstGeom>
          <a:solidFill>
            <a:srgbClr val="1D4ED8"/>
          </a:solidFill>
          <a:ln w="12700">
            <a:solidFill>
              <a:srgbClr val="1D4ED8">
                <a:alpha val="0"/>
              </a:srgbClr>
            </a:solidFill>
            <a:prstDash val="solid"/>
          </a:ln>
        </p:spPr>
        <p:txBody>
          <a:bodyPr/>
          <a:p/>
        </p:txBody>
      </p:sp>
      <p:sp>
        <p:nvSpPr>
          <p:cNvPr id="47" name="VECTOR_woman_11"/>
          <p:cNvSpPr/>
          <p:nvPr/>
        </p:nvSpPr>
        <p:spPr>
          <a:xfrm>
            <a:off x="9235440" y="4105656"/>
            <a:ext cx="1060704" cy="1060704"/>
          </a:xfrm>
          <a:custGeom>
            <a:avLst/>
            <a:gdLst/>
            <a:ahLst/>
            <a:cxnLst/>
            <a:rect l="0" t="0" r="r" b="b"/>
            <a:pathLst>
              <a:path w="100000" h="100000" fill="norm" stroke="false" extrusionOk="false">
                <a:moveTo>
                  <a:pt x="45962" y="15769"/>
                </a:moveTo>
                <a:lnTo>
                  <a:pt x="46154" y="15577"/>
                </a:lnTo>
                <a:lnTo>
                  <a:pt x="48462" y="15577"/>
                </a:lnTo>
                <a:lnTo>
                  <a:pt x="48654" y="15769"/>
                </a:lnTo>
                <a:lnTo>
                  <a:pt x="48846" y="15962"/>
                </a:lnTo>
                <a:lnTo>
                  <a:pt x="50769" y="15962"/>
                </a:lnTo>
                <a:lnTo>
                  <a:pt x="52308" y="16731"/>
                </a:lnTo>
                <a:lnTo>
                  <a:pt x="53077" y="17500"/>
                </a:lnTo>
                <a:lnTo>
                  <a:pt x="54615" y="17500"/>
                </a:lnTo>
                <a:lnTo>
                  <a:pt x="54808" y="17692"/>
                </a:lnTo>
                <a:lnTo>
                  <a:pt x="55000" y="17885"/>
                </a:lnTo>
                <a:lnTo>
                  <a:pt x="56154" y="17885"/>
                </a:lnTo>
                <a:lnTo>
                  <a:pt x="57692" y="18654"/>
                </a:lnTo>
                <a:lnTo>
                  <a:pt x="58462" y="19423"/>
                </a:lnTo>
                <a:lnTo>
                  <a:pt x="58846" y="19423"/>
                </a:lnTo>
                <a:lnTo>
                  <a:pt x="61731" y="22692"/>
                </a:lnTo>
                <a:lnTo>
                  <a:pt x="63269" y="25769"/>
                </a:lnTo>
                <a:lnTo>
                  <a:pt x="63269" y="26154"/>
                </a:lnTo>
                <a:lnTo>
                  <a:pt x="63269" y="26538"/>
                </a:lnTo>
                <a:lnTo>
                  <a:pt x="64038" y="28077"/>
                </a:lnTo>
                <a:lnTo>
                  <a:pt x="64038" y="29615"/>
                </a:lnTo>
                <a:lnTo>
                  <a:pt x="64231" y="29808"/>
                </a:lnTo>
                <a:lnTo>
                  <a:pt x="64423" y="30000"/>
                </a:lnTo>
                <a:lnTo>
                  <a:pt x="64423" y="34615"/>
                </a:lnTo>
                <a:lnTo>
                  <a:pt x="64615" y="34808"/>
                </a:lnTo>
                <a:lnTo>
                  <a:pt x="64808" y="35000"/>
                </a:lnTo>
                <a:lnTo>
                  <a:pt x="64808" y="37308"/>
                </a:lnTo>
                <a:lnTo>
                  <a:pt x="65000" y="37500"/>
                </a:lnTo>
                <a:lnTo>
                  <a:pt x="65192" y="37692"/>
                </a:lnTo>
                <a:lnTo>
                  <a:pt x="65192" y="38846"/>
                </a:lnTo>
                <a:lnTo>
                  <a:pt x="65962" y="40000"/>
                </a:lnTo>
                <a:lnTo>
                  <a:pt x="65962" y="40385"/>
                </a:lnTo>
                <a:lnTo>
                  <a:pt x="65962" y="40769"/>
                </a:lnTo>
                <a:lnTo>
                  <a:pt x="66731" y="42308"/>
                </a:lnTo>
                <a:lnTo>
                  <a:pt x="66731" y="43462"/>
                </a:lnTo>
                <a:lnTo>
                  <a:pt x="66923" y="43654"/>
                </a:lnTo>
                <a:lnTo>
                  <a:pt x="67115" y="43846"/>
                </a:lnTo>
                <a:lnTo>
                  <a:pt x="67115" y="47692"/>
                </a:lnTo>
                <a:lnTo>
                  <a:pt x="66731" y="48462"/>
                </a:lnTo>
                <a:lnTo>
                  <a:pt x="66923" y="48654"/>
                </a:lnTo>
                <a:lnTo>
                  <a:pt x="68846" y="48654"/>
                </a:lnTo>
                <a:lnTo>
                  <a:pt x="69038" y="48846"/>
                </a:lnTo>
                <a:lnTo>
                  <a:pt x="69231" y="49038"/>
                </a:lnTo>
                <a:lnTo>
                  <a:pt x="69615" y="49038"/>
                </a:lnTo>
                <a:lnTo>
                  <a:pt x="70000" y="49038"/>
                </a:lnTo>
                <a:lnTo>
                  <a:pt x="72115" y="51154"/>
                </a:lnTo>
                <a:lnTo>
                  <a:pt x="72115" y="52308"/>
                </a:lnTo>
                <a:lnTo>
                  <a:pt x="72308" y="52500"/>
                </a:lnTo>
                <a:lnTo>
                  <a:pt x="72500" y="52692"/>
                </a:lnTo>
                <a:lnTo>
                  <a:pt x="72692" y="54038"/>
                </a:lnTo>
                <a:lnTo>
                  <a:pt x="75769" y="54038"/>
                </a:lnTo>
                <a:lnTo>
                  <a:pt x="76346" y="54615"/>
                </a:lnTo>
                <a:lnTo>
                  <a:pt x="76346" y="57308"/>
                </a:lnTo>
                <a:lnTo>
                  <a:pt x="76538" y="57500"/>
                </a:lnTo>
                <a:lnTo>
                  <a:pt x="76731" y="57692"/>
                </a:lnTo>
                <a:lnTo>
                  <a:pt x="76731" y="60769"/>
                </a:lnTo>
                <a:lnTo>
                  <a:pt x="76923" y="60962"/>
                </a:lnTo>
                <a:lnTo>
                  <a:pt x="77115" y="61154"/>
                </a:lnTo>
                <a:lnTo>
                  <a:pt x="77115" y="63846"/>
                </a:lnTo>
                <a:lnTo>
                  <a:pt x="77308" y="64038"/>
                </a:lnTo>
                <a:lnTo>
                  <a:pt x="77500" y="64231"/>
                </a:lnTo>
                <a:lnTo>
                  <a:pt x="77500" y="66923"/>
                </a:lnTo>
                <a:lnTo>
                  <a:pt x="77692" y="67115"/>
                </a:lnTo>
                <a:lnTo>
                  <a:pt x="77885" y="67308"/>
                </a:lnTo>
                <a:lnTo>
                  <a:pt x="77885" y="70385"/>
                </a:lnTo>
                <a:lnTo>
                  <a:pt x="78077" y="70577"/>
                </a:lnTo>
                <a:lnTo>
                  <a:pt x="78269" y="70769"/>
                </a:lnTo>
                <a:lnTo>
                  <a:pt x="78269" y="72308"/>
                </a:lnTo>
                <a:lnTo>
                  <a:pt x="77692" y="72885"/>
                </a:lnTo>
                <a:lnTo>
                  <a:pt x="76923" y="72500"/>
                </a:lnTo>
                <a:lnTo>
                  <a:pt x="61923" y="72500"/>
                </a:lnTo>
                <a:lnTo>
                  <a:pt x="61731" y="72692"/>
                </a:lnTo>
                <a:lnTo>
                  <a:pt x="61538" y="72885"/>
                </a:lnTo>
                <a:lnTo>
                  <a:pt x="60000" y="72885"/>
                </a:lnTo>
                <a:lnTo>
                  <a:pt x="59808" y="72692"/>
                </a:lnTo>
                <a:lnTo>
                  <a:pt x="59615" y="72500"/>
                </a:lnTo>
                <a:lnTo>
                  <a:pt x="58846" y="72885"/>
                </a:lnTo>
                <a:lnTo>
                  <a:pt x="58269" y="72308"/>
                </a:lnTo>
                <a:lnTo>
                  <a:pt x="58269" y="69231"/>
                </a:lnTo>
                <a:lnTo>
                  <a:pt x="58462" y="69038"/>
                </a:lnTo>
                <a:lnTo>
                  <a:pt x="58654" y="68846"/>
                </a:lnTo>
                <a:lnTo>
                  <a:pt x="58654" y="65769"/>
                </a:lnTo>
                <a:lnTo>
                  <a:pt x="58846" y="65577"/>
                </a:lnTo>
                <a:lnTo>
                  <a:pt x="59038" y="65385"/>
                </a:lnTo>
                <a:lnTo>
                  <a:pt x="59038" y="62692"/>
                </a:lnTo>
                <a:lnTo>
                  <a:pt x="59231" y="62500"/>
                </a:lnTo>
                <a:lnTo>
                  <a:pt x="59423" y="62308"/>
                </a:lnTo>
                <a:lnTo>
                  <a:pt x="59423" y="59615"/>
                </a:lnTo>
                <a:lnTo>
                  <a:pt x="59615" y="59423"/>
                </a:lnTo>
                <a:lnTo>
                  <a:pt x="59808" y="59231"/>
                </a:lnTo>
                <a:lnTo>
                  <a:pt x="59808" y="56538"/>
                </a:lnTo>
                <a:lnTo>
                  <a:pt x="60000" y="56346"/>
                </a:lnTo>
                <a:lnTo>
                  <a:pt x="60192" y="56154"/>
                </a:lnTo>
                <a:lnTo>
                  <a:pt x="60192" y="55000"/>
                </a:lnTo>
                <a:lnTo>
                  <a:pt x="59615" y="54423"/>
                </a:lnTo>
                <a:lnTo>
                  <a:pt x="59231" y="54423"/>
                </a:lnTo>
                <a:lnTo>
                  <a:pt x="58846" y="54423"/>
                </a:lnTo>
                <a:lnTo>
                  <a:pt x="58654" y="54231"/>
                </a:lnTo>
                <a:lnTo>
                  <a:pt x="58462" y="54038"/>
                </a:lnTo>
                <a:lnTo>
                  <a:pt x="57308" y="54038"/>
                </a:lnTo>
                <a:lnTo>
                  <a:pt x="57115" y="55000"/>
                </a:lnTo>
                <a:lnTo>
                  <a:pt x="55962" y="57308"/>
                </a:lnTo>
                <a:lnTo>
                  <a:pt x="54231" y="59038"/>
                </a:lnTo>
                <a:lnTo>
                  <a:pt x="53462" y="59808"/>
                </a:lnTo>
                <a:lnTo>
                  <a:pt x="51923" y="60577"/>
                </a:lnTo>
                <a:lnTo>
                  <a:pt x="47692" y="61346"/>
                </a:lnTo>
                <a:lnTo>
                  <a:pt x="47500" y="61154"/>
                </a:lnTo>
                <a:lnTo>
                  <a:pt x="47308" y="60962"/>
                </a:lnTo>
                <a:lnTo>
                  <a:pt x="45385" y="60962"/>
                </a:lnTo>
                <a:lnTo>
                  <a:pt x="45192" y="60769"/>
                </a:lnTo>
                <a:lnTo>
                  <a:pt x="45000" y="60577"/>
                </a:lnTo>
                <a:lnTo>
                  <a:pt x="44615" y="60577"/>
                </a:lnTo>
                <a:lnTo>
                  <a:pt x="44231" y="60577"/>
                </a:lnTo>
                <a:lnTo>
                  <a:pt x="42692" y="59808"/>
                </a:lnTo>
                <a:lnTo>
                  <a:pt x="41923" y="59038"/>
                </a:lnTo>
                <a:lnTo>
                  <a:pt x="41538" y="59038"/>
                </a:lnTo>
                <a:lnTo>
                  <a:pt x="39808" y="56923"/>
                </a:lnTo>
                <a:lnTo>
                  <a:pt x="38846" y="54038"/>
                </a:lnTo>
                <a:lnTo>
                  <a:pt x="37308" y="54038"/>
                </a:lnTo>
                <a:lnTo>
                  <a:pt x="37115" y="54231"/>
                </a:lnTo>
                <a:lnTo>
                  <a:pt x="36923" y="54423"/>
                </a:lnTo>
                <a:lnTo>
                  <a:pt x="35000" y="54808"/>
                </a:lnTo>
                <a:lnTo>
                  <a:pt x="33846" y="55577"/>
                </a:lnTo>
                <a:lnTo>
                  <a:pt x="33462" y="55577"/>
                </a:lnTo>
                <a:lnTo>
                  <a:pt x="33077" y="55577"/>
                </a:lnTo>
                <a:lnTo>
                  <a:pt x="30769" y="56731"/>
                </a:lnTo>
                <a:lnTo>
                  <a:pt x="29615" y="57885"/>
                </a:lnTo>
                <a:lnTo>
                  <a:pt x="29231" y="57885"/>
                </a:lnTo>
                <a:lnTo>
                  <a:pt x="27115" y="60385"/>
                </a:lnTo>
                <a:lnTo>
                  <a:pt x="26731" y="61154"/>
                </a:lnTo>
                <a:lnTo>
                  <a:pt x="26731" y="61538"/>
                </a:lnTo>
                <a:lnTo>
                  <a:pt x="26731" y="61923"/>
                </a:lnTo>
                <a:lnTo>
                  <a:pt x="25962" y="63077"/>
                </a:lnTo>
                <a:lnTo>
                  <a:pt x="25962" y="64231"/>
                </a:lnTo>
                <a:lnTo>
                  <a:pt x="25769" y="64423"/>
                </a:lnTo>
                <a:lnTo>
                  <a:pt x="25577" y="64615"/>
                </a:lnTo>
                <a:lnTo>
                  <a:pt x="25577" y="66538"/>
                </a:lnTo>
                <a:lnTo>
                  <a:pt x="25385" y="66731"/>
                </a:lnTo>
                <a:lnTo>
                  <a:pt x="25192" y="66923"/>
                </a:lnTo>
                <a:lnTo>
                  <a:pt x="25192" y="70385"/>
                </a:lnTo>
                <a:lnTo>
                  <a:pt x="25000" y="70577"/>
                </a:lnTo>
                <a:lnTo>
                  <a:pt x="24808" y="70769"/>
                </a:lnTo>
                <a:lnTo>
                  <a:pt x="24808" y="72692"/>
                </a:lnTo>
                <a:lnTo>
                  <a:pt x="24615" y="72885"/>
                </a:lnTo>
                <a:lnTo>
                  <a:pt x="24231" y="72885"/>
                </a:lnTo>
                <a:lnTo>
                  <a:pt x="23654" y="72308"/>
                </a:lnTo>
                <a:lnTo>
                  <a:pt x="23654" y="70385"/>
                </a:lnTo>
                <a:lnTo>
                  <a:pt x="23846" y="70192"/>
                </a:lnTo>
                <a:lnTo>
                  <a:pt x="24038" y="70000"/>
                </a:lnTo>
                <a:lnTo>
                  <a:pt x="24038" y="67692"/>
                </a:lnTo>
                <a:lnTo>
                  <a:pt x="24231" y="67500"/>
                </a:lnTo>
                <a:lnTo>
                  <a:pt x="24423" y="67308"/>
                </a:lnTo>
                <a:lnTo>
                  <a:pt x="24423" y="65000"/>
                </a:lnTo>
                <a:lnTo>
                  <a:pt x="24615" y="64808"/>
                </a:lnTo>
                <a:lnTo>
                  <a:pt x="24808" y="64615"/>
                </a:lnTo>
                <a:lnTo>
                  <a:pt x="24808" y="63077"/>
                </a:lnTo>
                <a:lnTo>
                  <a:pt x="25000" y="62885"/>
                </a:lnTo>
                <a:lnTo>
                  <a:pt x="25192" y="62692"/>
                </a:lnTo>
                <a:lnTo>
                  <a:pt x="25192" y="62308"/>
                </a:lnTo>
                <a:lnTo>
                  <a:pt x="25192" y="61923"/>
                </a:lnTo>
                <a:lnTo>
                  <a:pt x="26346" y="59615"/>
                </a:lnTo>
                <a:lnTo>
                  <a:pt x="27115" y="58846"/>
                </a:lnTo>
                <a:lnTo>
                  <a:pt x="27115" y="58462"/>
                </a:lnTo>
                <a:lnTo>
                  <a:pt x="28846" y="56731"/>
                </a:lnTo>
                <a:lnTo>
                  <a:pt x="29231" y="56731"/>
                </a:lnTo>
                <a:lnTo>
                  <a:pt x="30000" y="55962"/>
                </a:lnTo>
                <a:lnTo>
                  <a:pt x="31346" y="55385"/>
                </a:lnTo>
                <a:lnTo>
                  <a:pt x="31346" y="55000"/>
                </a:lnTo>
                <a:lnTo>
                  <a:pt x="31346" y="54615"/>
                </a:lnTo>
                <a:lnTo>
                  <a:pt x="30577" y="53846"/>
                </a:lnTo>
                <a:lnTo>
                  <a:pt x="29038" y="50769"/>
                </a:lnTo>
                <a:lnTo>
                  <a:pt x="29038" y="49615"/>
                </a:lnTo>
                <a:lnTo>
                  <a:pt x="28846" y="49423"/>
                </a:lnTo>
                <a:lnTo>
                  <a:pt x="28654" y="49231"/>
                </a:lnTo>
                <a:lnTo>
                  <a:pt x="28654" y="44231"/>
                </a:lnTo>
                <a:lnTo>
                  <a:pt x="28846" y="44038"/>
                </a:lnTo>
                <a:lnTo>
                  <a:pt x="29038" y="43846"/>
                </a:lnTo>
                <a:lnTo>
                  <a:pt x="29423" y="41923"/>
                </a:lnTo>
                <a:lnTo>
                  <a:pt x="30192" y="40385"/>
                </a:lnTo>
                <a:lnTo>
                  <a:pt x="30962" y="39615"/>
                </a:lnTo>
                <a:lnTo>
                  <a:pt x="30962" y="39231"/>
                </a:lnTo>
                <a:lnTo>
                  <a:pt x="30962" y="38846"/>
                </a:lnTo>
                <a:lnTo>
                  <a:pt x="31731" y="37692"/>
                </a:lnTo>
                <a:lnTo>
                  <a:pt x="31731" y="36538"/>
                </a:lnTo>
                <a:lnTo>
                  <a:pt x="31923" y="36346"/>
                </a:lnTo>
                <a:lnTo>
                  <a:pt x="32115" y="36154"/>
                </a:lnTo>
                <a:lnTo>
                  <a:pt x="32115" y="30769"/>
                </a:lnTo>
                <a:lnTo>
                  <a:pt x="32308" y="30577"/>
                </a:lnTo>
                <a:lnTo>
                  <a:pt x="32500" y="30385"/>
                </a:lnTo>
                <a:lnTo>
                  <a:pt x="32500" y="28462"/>
                </a:lnTo>
                <a:lnTo>
                  <a:pt x="32692" y="28269"/>
                </a:lnTo>
                <a:lnTo>
                  <a:pt x="32885" y="28077"/>
                </a:lnTo>
                <a:lnTo>
                  <a:pt x="33269" y="26154"/>
                </a:lnTo>
                <a:lnTo>
                  <a:pt x="34038" y="25000"/>
                </a:lnTo>
                <a:lnTo>
                  <a:pt x="34038" y="24615"/>
                </a:lnTo>
                <a:lnTo>
                  <a:pt x="34038" y="24231"/>
                </a:lnTo>
                <a:lnTo>
                  <a:pt x="37692" y="19423"/>
                </a:lnTo>
                <a:lnTo>
                  <a:pt x="38077" y="19423"/>
                </a:lnTo>
                <a:lnTo>
                  <a:pt x="39231" y="18269"/>
                </a:lnTo>
                <a:lnTo>
                  <a:pt x="39615" y="18269"/>
                </a:lnTo>
                <a:lnTo>
                  <a:pt x="40385" y="17500"/>
                </a:lnTo>
                <a:lnTo>
                  <a:pt x="41923" y="16731"/>
                </a:lnTo>
                <a:lnTo>
                  <a:pt x="42308" y="16731"/>
                </a:lnTo>
                <a:lnTo>
                  <a:pt x="42692" y="16731"/>
                </a:lnTo>
                <a:lnTo>
                  <a:pt x="44231" y="15962"/>
                </a:lnTo>
                <a:lnTo>
                  <a:pt x="45962" y="15769"/>
                </a:lnTo>
                <a:close/>
                <a:moveTo>
                  <a:pt x="45385" y="16731"/>
                </a:moveTo>
                <a:lnTo>
                  <a:pt x="45192" y="16923"/>
                </a:lnTo>
                <a:lnTo>
                  <a:pt x="45000" y="17115"/>
                </a:lnTo>
                <a:lnTo>
                  <a:pt x="43846" y="17115"/>
                </a:lnTo>
                <a:lnTo>
                  <a:pt x="43654" y="17308"/>
                </a:lnTo>
                <a:lnTo>
                  <a:pt x="43462" y="17500"/>
                </a:lnTo>
                <a:lnTo>
                  <a:pt x="43077" y="17500"/>
                </a:lnTo>
                <a:lnTo>
                  <a:pt x="42692" y="17500"/>
                </a:lnTo>
                <a:lnTo>
                  <a:pt x="41154" y="18654"/>
                </a:lnTo>
                <a:lnTo>
                  <a:pt x="40769" y="18654"/>
                </a:lnTo>
                <a:lnTo>
                  <a:pt x="40000" y="19423"/>
                </a:lnTo>
                <a:lnTo>
                  <a:pt x="39615" y="19423"/>
                </a:lnTo>
                <a:lnTo>
                  <a:pt x="36346" y="22692"/>
                </a:lnTo>
                <a:lnTo>
                  <a:pt x="36346" y="23077"/>
                </a:lnTo>
                <a:lnTo>
                  <a:pt x="35577" y="23846"/>
                </a:lnTo>
                <a:lnTo>
                  <a:pt x="34423" y="26154"/>
                </a:lnTo>
                <a:lnTo>
                  <a:pt x="34423" y="26538"/>
                </a:lnTo>
                <a:lnTo>
                  <a:pt x="34423" y="26923"/>
                </a:lnTo>
                <a:lnTo>
                  <a:pt x="33654" y="28462"/>
                </a:lnTo>
                <a:lnTo>
                  <a:pt x="33654" y="29615"/>
                </a:lnTo>
                <a:lnTo>
                  <a:pt x="33462" y="29808"/>
                </a:lnTo>
                <a:lnTo>
                  <a:pt x="33269" y="30000"/>
                </a:lnTo>
                <a:lnTo>
                  <a:pt x="33269" y="33077"/>
                </a:lnTo>
                <a:lnTo>
                  <a:pt x="33077" y="33269"/>
                </a:lnTo>
                <a:lnTo>
                  <a:pt x="32885" y="33462"/>
                </a:lnTo>
                <a:lnTo>
                  <a:pt x="32885" y="37308"/>
                </a:lnTo>
                <a:lnTo>
                  <a:pt x="32692" y="37500"/>
                </a:lnTo>
                <a:lnTo>
                  <a:pt x="32500" y="37692"/>
                </a:lnTo>
                <a:lnTo>
                  <a:pt x="32500" y="38846"/>
                </a:lnTo>
                <a:lnTo>
                  <a:pt x="29808" y="43846"/>
                </a:lnTo>
                <a:lnTo>
                  <a:pt x="29808" y="45385"/>
                </a:lnTo>
                <a:lnTo>
                  <a:pt x="29615" y="45577"/>
                </a:lnTo>
                <a:lnTo>
                  <a:pt x="29423" y="45769"/>
                </a:lnTo>
                <a:lnTo>
                  <a:pt x="29423" y="47692"/>
                </a:lnTo>
                <a:lnTo>
                  <a:pt x="29615" y="47885"/>
                </a:lnTo>
                <a:lnTo>
                  <a:pt x="29808" y="48077"/>
                </a:lnTo>
                <a:lnTo>
                  <a:pt x="29808" y="49615"/>
                </a:lnTo>
                <a:lnTo>
                  <a:pt x="32115" y="54231"/>
                </a:lnTo>
                <a:lnTo>
                  <a:pt x="33077" y="54423"/>
                </a:lnTo>
                <a:lnTo>
                  <a:pt x="34615" y="53654"/>
                </a:lnTo>
                <a:lnTo>
                  <a:pt x="35769" y="53654"/>
                </a:lnTo>
                <a:lnTo>
                  <a:pt x="35962" y="53462"/>
                </a:lnTo>
                <a:lnTo>
                  <a:pt x="36154" y="53269"/>
                </a:lnTo>
                <a:lnTo>
                  <a:pt x="37308" y="53269"/>
                </a:lnTo>
                <a:lnTo>
                  <a:pt x="37500" y="53077"/>
                </a:lnTo>
                <a:lnTo>
                  <a:pt x="37692" y="52885"/>
                </a:lnTo>
                <a:lnTo>
                  <a:pt x="39231" y="52885"/>
                </a:lnTo>
                <a:lnTo>
                  <a:pt x="39423" y="52692"/>
                </a:lnTo>
                <a:lnTo>
                  <a:pt x="39615" y="52500"/>
                </a:lnTo>
                <a:lnTo>
                  <a:pt x="40769" y="52500"/>
                </a:lnTo>
                <a:lnTo>
                  <a:pt x="42115" y="51538"/>
                </a:lnTo>
                <a:lnTo>
                  <a:pt x="42115" y="46923"/>
                </a:lnTo>
                <a:lnTo>
                  <a:pt x="39808" y="44615"/>
                </a:lnTo>
                <a:lnTo>
                  <a:pt x="39038" y="43077"/>
                </a:lnTo>
                <a:lnTo>
                  <a:pt x="38654" y="41154"/>
                </a:lnTo>
                <a:lnTo>
                  <a:pt x="38077" y="40577"/>
                </a:lnTo>
                <a:lnTo>
                  <a:pt x="36923" y="40192"/>
                </a:lnTo>
                <a:lnTo>
                  <a:pt x="35962" y="39231"/>
                </a:lnTo>
                <a:lnTo>
                  <a:pt x="35577" y="38462"/>
                </a:lnTo>
                <a:lnTo>
                  <a:pt x="35577" y="35769"/>
                </a:lnTo>
                <a:lnTo>
                  <a:pt x="36923" y="34423"/>
                </a:lnTo>
                <a:lnTo>
                  <a:pt x="39615" y="34423"/>
                </a:lnTo>
                <a:lnTo>
                  <a:pt x="39808" y="34231"/>
                </a:lnTo>
                <a:lnTo>
                  <a:pt x="40000" y="34038"/>
                </a:lnTo>
                <a:lnTo>
                  <a:pt x="41923" y="33654"/>
                </a:lnTo>
                <a:lnTo>
                  <a:pt x="44231" y="32500"/>
                </a:lnTo>
                <a:lnTo>
                  <a:pt x="45000" y="31731"/>
                </a:lnTo>
                <a:lnTo>
                  <a:pt x="45385" y="31731"/>
                </a:lnTo>
                <a:lnTo>
                  <a:pt x="49038" y="28077"/>
                </a:lnTo>
                <a:lnTo>
                  <a:pt x="49038" y="27692"/>
                </a:lnTo>
                <a:lnTo>
                  <a:pt x="49808" y="26923"/>
                </a:lnTo>
                <a:lnTo>
                  <a:pt x="50769" y="24808"/>
                </a:lnTo>
                <a:lnTo>
                  <a:pt x="50962" y="24615"/>
                </a:lnTo>
                <a:lnTo>
                  <a:pt x="50962" y="24231"/>
                </a:lnTo>
                <a:lnTo>
                  <a:pt x="51154" y="24038"/>
                </a:lnTo>
                <a:lnTo>
                  <a:pt x="51346" y="24231"/>
                </a:lnTo>
                <a:lnTo>
                  <a:pt x="51346" y="24615"/>
                </a:lnTo>
                <a:lnTo>
                  <a:pt x="51346" y="25000"/>
                </a:lnTo>
                <a:lnTo>
                  <a:pt x="51538" y="25192"/>
                </a:lnTo>
                <a:lnTo>
                  <a:pt x="51731" y="25385"/>
                </a:lnTo>
                <a:lnTo>
                  <a:pt x="51731" y="26538"/>
                </a:lnTo>
                <a:lnTo>
                  <a:pt x="51923" y="26731"/>
                </a:lnTo>
                <a:lnTo>
                  <a:pt x="52115" y="26923"/>
                </a:lnTo>
                <a:lnTo>
                  <a:pt x="52115" y="27308"/>
                </a:lnTo>
                <a:lnTo>
                  <a:pt x="52115" y="27692"/>
                </a:lnTo>
                <a:lnTo>
                  <a:pt x="53269" y="30000"/>
                </a:lnTo>
                <a:lnTo>
                  <a:pt x="56538" y="33269"/>
                </a:lnTo>
                <a:lnTo>
                  <a:pt x="58846" y="34423"/>
                </a:lnTo>
                <a:lnTo>
                  <a:pt x="59231" y="34423"/>
                </a:lnTo>
                <a:lnTo>
                  <a:pt x="59615" y="34423"/>
                </a:lnTo>
                <a:lnTo>
                  <a:pt x="60385" y="34808"/>
                </a:lnTo>
                <a:lnTo>
                  <a:pt x="60962" y="35769"/>
                </a:lnTo>
                <a:lnTo>
                  <a:pt x="60962" y="38462"/>
                </a:lnTo>
                <a:lnTo>
                  <a:pt x="60577" y="39231"/>
                </a:lnTo>
                <a:lnTo>
                  <a:pt x="59231" y="40577"/>
                </a:lnTo>
                <a:lnTo>
                  <a:pt x="57885" y="41154"/>
                </a:lnTo>
                <a:lnTo>
                  <a:pt x="57885" y="41538"/>
                </a:lnTo>
                <a:lnTo>
                  <a:pt x="57885" y="41923"/>
                </a:lnTo>
                <a:lnTo>
                  <a:pt x="56346" y="45000"/>
                </a:lnTo>
                <a:lnTo>
                  <a:pt x="54038" y="47308"/>
                </a:lnTo>
                <a:lnTo>
                  <a:pt x="54038" y="50769"/>
                </a:lnTo>
                <a:lnTo>
                  <a:pt x="54423" y="51538"/>
                </a:lnTo>
                <a:lnTo>
                  <a:pt x="55000" y="52115"/>
                </a:lnTo>
                <a:lnTo>
                  <a:pt x="55385" y="52115"/>
                </a:lnTo>
                <a:lnTo>
                  <a:pt x="55769" y="52115"/>
                </a:lnTo>
                <a:lnTo>
                  <a:pt x="55962" y="52308"/>
                </a:lnTo>
                <a:lnTo>
                  <a:pt x="56154" y="52500"/>
                </a:lnTo>
                <a:lnTo>
                  <a:pt x="56538" y="52500"/>
                </a:lnTo>
                <a:lnTo>
                  <a:pt x="56923" y="52500"/>
                </a:lnTo>
                <a:lnTo>
                  <a:pt x="57115" y="52692"/>
                </a:lnTo>
                <a:lnTo>
                  <a:pt x="57308" y="52885"/>
                </a:lnTo>
                <a:lnTo>
                  <a:pt x="59231" y="53269"/>
                </a:lnTo>
                <a:lnTo>
                  <a:pt x="60385" y="54038"/>
                </a:lnTo>
                <a:lnTo>
                  <a:pt x="63462" y="54038"/>
                </a:lnTo>
                <a:lnTo>
                  <a:pt x="64038" y="51154"/>
                </a:lnTo>
                <a:lnTo>
                  <a:pt x="64423" y="50385"/>
                </a:lnTo>
                <a:lnTo>
                  <a:pt x="65962" y="48846"/>
                </a:lnTo>
                <a:lnTo>
                  <a:pt x="65962" y="43462"/>
                </a:lnTo>
                <a:lnTo>
                  <a:pt x="65769" y="43269"/>
                </a:lnTo>
                <a:lnTo>
                  <a:pt x="65577" y="43077"/>
                </a:lnTo>
                <a:lnTo>
                  <a:pt x="65577" y="42692"/>
                </a:lnTo>
                <a:lnTo>
                  <a:pt x="65577" y="42308"/>
                </a:lnTo>
                <a:lnTo>
                  <a:pt x="65385" y="42115"/>
                </a:lnTo>
                <a:lnTo>
                  <a:pt x="65192" y="41923"/>
                </a:lnTo>
                <a:lnTo>
                  <a:pt x="65192" y="41538"/>
                </a:lnTo>
                <a:lnTo>
                  <a:pt x="65192" y="41154"/>
                </a:lnTo>
                <a:lnTo>
                  <a:pt x="64423" y="39615"/>
                </a:lnTo>
                <a:lnTo>
                  <a:pt x="64038" y="36923"/>
                </a:lnTo>
                <a:lnTo>
                  <a:pt x="63846" y="36731"/>
                </a:lnTo>
                <a:lnTo>
                  <a:pt x="63654" y="36538"/>
                </a:lnTo>
                <a:lnTo>
                  <a:pt x="63654" y="31538"/>
                </a:lnTo>
                <a:lnTo>
                  <a:pt x="63462" y="31346"/>
                </a:lnTo>
                <a:lnTo>
                  <a:pt x="63269" y="31154"/>
                </a:lnTo>
                <a:lnTo>
                  <a:pt x="63269" y="29231"/>
                </a:lnTo>
                <a:lnTo>
                  <a:pt x="63077" y="29038"/>
                </a:lnTo>
                <a:lnTo>
                  <a:pt x="62885" y="28846"/>
                </a:lnTo>
                <a:lnTo>
                  <a:pt x="62500" y="26923"/>
                </a:lnTo>
                <a:lnTo>
                  <a:pt x="60577" y="23077"/>
                </a:lnTo>
                <a:lnTo>
                  <a:pt x="59423" y="21923"/>
                </a:lnTo>
                <a:lnTo>
                  <a:pt x="59423" y="21538"/>
                </a:lnTo>
                <a:lnTo>
                  <a:pt x="56923" y="19423"/>
                </a:lnTo>
                <a:lnTo>
                  <a:pt x="56154" y="19038"/>
                </a:lnTo>
                <a:lnTo>
                  <a:pt x="55769" y="19038"/>
                </a:lnTo>
                <a:lnTo>
                  <a:pt x="55385" y="19038"/>
                </a:lnTo>
                <a:lnTo>
                  <a:pt x="55192" y="18846"/>
                </a:lnTo>
                <a:lnTo>
                  <a:pt x="55000" y="18654"/>
                </a:lnTo>
                <a:lnTo>
                  <a:pt x="53077" y="18654"/>
                </a:lnTo>
                <a:lnTo>
                  <a:pt x="52308" y="17885"/>
                </a:lnTo>
                <a:lnTo>
                  <a:pt x="50769" y="17115"/>
                </a:lnTo>
                <a:lnTo>
                  <a:pt x="49615" y="17115"/>
                </a:lnTo>
                <a:lnTo>
                  <a:pt x="49423" y="16923"/>
                </a:lnTo>
                <a:lnTo>
                  <a:pt x="49231" y="16731"/>
                </a:lnTo>
                <a:lnTo>
                  <a:pt x="45385" y="16731"/>
                </a:lnTo>
                <a:close/>
                <a:moveTo>
                  <a:pt x="50769" y="27500"/>
                </a:moveTo>
                <a:lnTo>
                  <a:pt x="46538" y="32115"/>
                </a:lnTo>
                <a:lnTo>
                  <a:pt x="46154" y="32115"/>
                </a:lnTo>
                <a:lnTo>
                  <a:pt x="44231" y="33654"/>
                </a:lnTo>
                <a:lnTo>
                  <a:pt x="43462" y="34038"/>
                </a:lnTo>
                <a:lnTo>
                  <a:pt x="43077" y="34038"/>
                </a:lnTo>
                <a:lnTo>
                  <a:pt x="42692" y="34038"/>
                </a:lnTo>
                <a:lnTo>
                  <a:pt x="41538" y="34808"/>
                </a:lnTo>
                <a:lnTo>
                  <a:pt x="40385" y="34808"/>
                </a:lnTo>
                <a:lnTo>
                  <a:pt x="40192" y="35000"/>
                </a:lnTo>
                <a:lnTo>
                  <a:pt x="40000" y="35192"/>
                </a:lnTo>
                <a:lnTo>
                  <a:pt x="38654" y="35385"/>
                </a:lnTo>
                <a:lnTo>
                  <a:pt x="38654" y="38462"/>
                </a:lnTo>
                <a:lnTo>
                  <a:pt x="38846" y="38654"/>
                </a:lnTo>
                <a:lnTo>
                  <a:pt x="39038" y="38846"/>
                </a:lnTo>
                <a:lnTo>
                  <a:pt x="39038" y="40385"/>
                </a:lnTo>
                <a:lnTo>
                  <a:pt x="39231" y="40577"/>
                </a:lnTo>
                <a:lnTo>
                  <a:pt x="39423" y="40769"/>
                </a:lnTo>
                <a:lnTo>
                  <a:pt x="39423" y="41154"/>
                </a:lnTo>
                <a:lnTo>
                  <a:pt x="39423" y="41538"/>
                </a:lnTo>
                <a:lnTo>
                  <a:pt x="40577" y="43846"/>
                </a:lnTo>
                <a:lnTo>
                  <a:pt x="42692" y="46346"/>
                </a:lnTo>
                <a:lnTo>
                  <a:pt x="43077" y="46346"/>
                </a:lnTo>
                <a:lnTo>
                  <a:pt x="43846" y="47115"/>
                </a:lnTo>
                <a:lnTo>
                  <a:pt x="46154" y="48269"/>
                </a:lnTo>
                <a:lnTo>
                  <a:pt x="48846" y="48654"/>
                </a:lnTo>
                <a:lnTo>
                  <a:pt x="49038" y="48462"/>
                </a:lnTo>
                <a:lnTo>
                  <a:pt x="49231" y="48269"/>
                </a:lnTo>
                <a:lnTo>
                  <a:pt x="51154" y="47885"/>
                </a:lnTo>
                <a:lnTo>
                  <a:pt x="52692" y="46731"/>
                </a:lnTo>
                <a:lnTo>
                  <a:pt x="53077" y="46731"/>
                </a:lnTo>
                <a:lnTo>
                  <a:pt x="55962" y="43846"/>
                </a:lnTo>
                <a:lnTo>
                  <a:pt x="56731" y="42308"/>
                </a:lnTo>
                <a:lnTo>
                  <a:pt x="56731" y="41923"/>
                </a:lnTo>
                <a:lnTo>
                  <a:pt x="56731" y="41538"/>
                </a:lnTo>
                <a:lnTo>
                  <a:pt x="56923" y="41346"/>
                </a:lnTo>
                <a:lnTo>
                  <a:pt x="57115" y="41154"/>
                </a:lnTo>
                <a:lnTo>
                  <a:pt x="57115" y="40000"/>
                </a:lnTo>
                <a:lnTo>
                  <a:pt x="57308" y="39808"/>
                </a:lnTo>
                <a:lnTo>
                  <a:pt x="57500" y="39615"/>
                </a:lnTo>
                <a:lnTo>
                  <a:pt x="57500" y="38462"/>
                </a:lnTo>
                <a:lnTo>
                  <a:pt x="57692" y="38269"/>
                </a:lnTo>
                <a:lnTo>
                  <a:pt x="57885" y="38077"/>
                </a:lnTo>
                <a:lnTo>
                  <a:pt x="57885" y="35000"/>
                </a:lnTo>
                <a:lnTo>
                  <a:pt x="57308" y="34423"/>
                </a:lnTo>
                <a:lnTo>
                  <a:pt x="55000" y="33269"/>
                </a:lnTo>
                <a:lnTo>
                  <a:pt x="52885" y="31154"/>
                </a:lnTo>
                <a:lnTo>
                  <a:pt x="52885" y="30769"/>
                </a:lnTo>
                <a:lnTo>
                  <a:pt x="52115" y="30000"/>
                </a:lnTo>
                <a:lnTo>
                  <a:pt x="51346" y="28462"/>
                </a:lnTo>
                <a:lnTo>
                  <a:pt x="51346" y="28077"/>
                </a:lnTo>
                <a:lnTo>
                  <a:pt x="51346" y="27692"/>
                </a:lnTo>
                <a:lnTo>
                  <a:pt x="51154" y="27500"/>
                </a:lnTo>
                <a:lnTo>
                  <a:pt x="50769" y="27500"/>
                </a:lnTo>
                <a:close/>
                <a:moveTo>
                  <a:pt x="37308" y="35192"/>
                </a:moveTo>
                <a:lnTo>
                  <a:pt x="36346" y="36538"/>
                </a:lnTo>
                <a:lnTo>
                  <a:pt x="36346" y="37692"/>
                </a:lnTo>
                <a:lnTo>
                  <a:pt x="37308" y="39423"/>
                </a:lnTo>
                <a:lnTo>
                  <a:pt x="38269" y="39231"/>
                </a:lnTo>
                <a:lnTo>
                  <a:pt x="38077" y="39038"/>
                </a:lnTo>
                <a:lnTo>
                  <a:pt x="37885" y="38846"/>
                </a:lnTo>
                <a:lnTo>
                  <a:pt x="37885" y="35769"/>
                </a:lnTo>
                <a:lnTo>
                  <a:pt x="37308" y="35192"/>
                </a:lnTo>
                <a:close/>
                <a:moveTo>
                  <a:pt x="59231" y="35577"/>
                </a:moveTo>
                <a:lnTo>
                  <a:pt x="59038" y="36923"/>
                </a:lnTo>
                <a:lnTo>
                  <a:pt x="58846" y="37115"/>
                </a:lnTo>
                <a:lnTo>
                  <a:pt x="58654" y="37308"/>
                </a:lnTo>
                <a:lnTo>
                  <a:pt x="58654" y="39231"/>
                </a:lnTo>
                <a:lnTo>
                  <a:pt x="58846" y="39423"/>
                </a:lnTo>
                <a:lnTo>
                  <a:pt x="59231" y="39423"/>
                </a:lnTo>
                <a:lnTo>
                  <a:pt x="59423" y="39231"/>
                </a:lnTo>
                <a:lnTo>
                  <a:pt x="60192" y="37692"/>
                </a:lnTo>
                <a:lnTo>
                  <a:pt x="60192" y="36154"/>
                </a:lnTo>
                <a:lnTo>
                  <a:pt x="59615" y="35577"/>
                </a:lnTo>
                <a:lnTo>
                  <a:pt x="59231" y="35577"/>
                </a:lnTo>
                <a:close/>
                <a:moveTo>
                  <a:pt x="43462" y="47885"/>
                </a:moveTo>
                <a:lnTo>
                  <a:pt x="42885" y="48462"/>
                </a:lnTo>
                <a:lnTo>
                  <a:pt x="42885" y="51538"/>
                </a:lnTo>
                <a:lnTo>
                  <a:pt x="42500" y="52308"/>
                </a:lnTo>
                <a:lnTo>
                  <a:pt x="41538" y="53269"/>
                </a:lnTo>
                <a:lnTo>
                  <a:pt x="41154" y="53269"/>
                </a:lnTo>
                <a:lnTo>
                  <a:pt x="40769" y="53269"/>
                </a:lnTo>
                <a:lnTo>
                  <a:pt x="39808" y="53846"/>
                </a:lnTo>
                <a:lnTo>
                  <a:pt x="40192" y="54615"/>
                </a:lnTo>
                <a:lnTo>
                  <a:pt x="40192" y="55000"/>
                </a:lnTo>
                <a:lnTo>
                  <a:pt x="40192" y="55385"/>
                </a:lnTo>
                <a:lnTo>
                  <a:pt x="40962" y="56154"/>
                </a:lnTo>
                <a:lnTo>
                  <a:pt x="40962" y="56538"/>
                </a:lnTo>
                <a:lnTo>
                  <a:pt x="43846" y="59423"/>
                </a:lnTo>
                <a:lnTo>
                  <a:pt x="44231" y="59423"/>
                </a:lnTo>
                <a:lnTo>
                  <a:pt x="44615" y="59423"/>
                </a:lnTo>
                <a:lnTo>
                  <a:pt x="46154" y="60192"/>
                </a:lnTo>
                <a:lnTo>
                  <a:pt x="49615" y="60192"/>
                </a:lnTo>
                <a:lnTo>
                  <a:pt x="49808" y="60000"/>
                </a:lnTo>
                <a:lnTo>
                  <a:pt x="50000" y="59808"/>
                </a:lnTo>
                <a:lnTo>
                  <a:pt x="51154" y="59808"/>
                </a:lnTo>
                <a:lnTo>
                  <a:pt x="52692" y="59038"/>
                </a:lnTo>
                <a:lnTo>
                  <a:pt x="53846" y="57885"/>
                </a:lnTo>
                <a:lnTo>
                  <a:pt x="54231" y="57885"/>
                </a:lnTo>
                <a:lnTo>
                  <a:pt x="54423" y="57692"/>
                </a:lnTo>
                <a:lnTo>
                  <a:pt x="54423" y="57308"/>
                </a:lnTo>
                <a:lnTo>
                  <a:pt x="55577" y="56154"/>
                </a:lnTo>
                <a:lnTo>
                  <a:pt x="56346" y="54615"/>
                </a:lnTo>
                <a:lnTo>
                  <a:pt x="56346" y="54231"/>
                </a:lnTo>
                <a:lnTo>
                  <a:pt x="56346" y="53846"/>
                </a:lnTo>
                <a:lnTo>
                  <a:pt x="55769" y="53269"/>
                </a:lnTo>
                <a:lnTo>
                  <a:pt x="55385" y="53269"/>
                </a:lnTo>
                <a:lnTo>
                  <a:pt x="55000" y="53269"/>
                </a:lnTo>
                <a:lnTo>
                  <a:pt x="53654" y="52308"/>
                </a:lnTo>
                <a:lnTo>
                  <a:pt x="53654" y="50385"/>
                </a:lnTo>
                <a:lnTo>
                  <a:pt x="53462" y="50192"/>
                </a:lnTo>
                <a:lnTo>
                  <a:pt x="53269" y="50000"/>
                </a:lnTo>
                <a:lnTo>
                  <a:pt x="53269" y="48462"/>
                </a:lnTo>
                <a:lnTo>
                  <a:pt x="52308" y="48269"/>
                </a:lnTo>
                <a:lnTo>
                  <a:pt x="51154" y="49038"/>
                </a:lnTo>
                <a:lnTo>
                  <a:pt x="50000" y="49038"/>
                </a:lnTo>
                <a:lnTo>
                  <a:pt x="49808" y="49231"/>
                </a:lnTo>
                <a:lnTo>
                  <a:pt x="49615" y="49423"/>
                </a:lnTo>
                <a:lnTo>
                  <a:pt x="46538" y="49423"/>
                </a:lnTo>
                <a:lnTo>
                  <a:pt x="43462" y="47885"/>
                </a:lnTo>
                <a:close/>
                <a:moveTo>
                  <a:pt x="66923" y="49808"/>
                </a:moveTo>
                <a:lnTo>
                  <a:pt x="66154" y="50192"/>
                </a:lnTo>
                <a:lnTo>
                  <a:pt x="64808" y="51538"/>
                </a:lnTo>
                <a:lnTo>
                  <a:pt x="64808" y="53077"/>
                </a:lnTo>
                <a:lnTo>
                  <a:pt x="64615" y="53269"/>
                </a:lnTo>
                <a:lnTo>
                  <a:pt x="64423" y="53462"/>
                </a:lnTo>
                <a:lnTo>
                  <a:pt x="65000" y="54038"/>
                </a:lnTo>
                <a:lnTo>
                  <a:pt x="68846" y="54038"/>
                </a:lnTo>
                <a:lnTo>
                  <a:pt x="71154" y="54038"/>
                </a:lnTo>
                <a:lnTo>
                  <a:pt x="71346" y="52308"/>
                </a:lnTo>
                <a:lnTo>
                  <a:pt x="70577" y="50769"/>
                </a:lnTo>
                <a:lnTo>
                  <a:pt x="70000" y="50192"/>
                </a:lnTo>
                <a:lnTo>
                  <a:pt x="69231" y="49808"/>
                </a:lnTo>
                <a:lnTo>
                  <a:pt x="66923" y="49808"/>
                </a:lnTo>
                <a:close/>
                <a:moveTo>
                  <a:pt x="61154" y="55192"/>
                </a:moveTo>
                <a:lnTo>
                  <a:pt x="60962" y="55385"/>
                </a:lnTo>
                <a:lnTo>
                  <a:pt x="60962" y="57692"/>
                </a:lnTo>
                <a:lnTo>
                  <a:pt x="60769" y="57885"/>
                </a:lnTo>
                <a:lnTo>
                  <a:pt x="60577" y="58077"/>
                </a:lnTo>
                <a:lnTo>
                  <a:pt x="60577" y="61154"/>
                </a:lnTo>
                <a:lnTo>
                  <a:pt x="60385" y="61346"/>
                </a:lnTo>
                <a:lnTo>
                  <a:pt x="60192" y="61538"/>
                </a:lnTo>
                <a:lnTo>
                  <a:pt x="60192" y="63846"/>
                </a:lnTo>
                <a:lnTo>
                  <a:pt x="60000" y="64038"/>
                </a:lnTo>
                <a:lnTo>
                  <a:pt x="59808" y="64231"/>
                </a:lnTo>
                <a:lnTo>
                  <a:pt x="59808" y="67308"/>
                </a:lnTo>
                <a:lnTo>
                  <a:pt x="59615" y="67500"/>
                </a:lnTo>
                <a:lnTo>
                  <a:pt x="59423" y="67692"/>
                </a:lnTo>
                <a:lnTo>
                  <a:pt x="59423" y="70769"/>
                </a:lnTo>
                <a:lnTo>
                  <a:pt x="59231" y="70962"/>
                </a:lnTo>
                <a:lnTo>
                  <a:pt x="59038" y="71154"/>
                </a:lnTo>
                <a:lnTo>
                  <a:pt x="59615" y="71731"/>
                </a:lnTo>
                <a:lnTo>
                  <a:pt x="76923" y="71731"/>
                </a:lnTo>
                <a:lnTo>
                  <a:pt x="77115" y="70000"/>
                </a:lnTo>
                <a:lnTo>
                  <a:pt x="76923" y="69808"/>
                </a:lnTo>
                <a:lnTo>
                  <a:pt x="76731" y="69615"/>
                </a:lnTo>
                <a:lnTo>
                  <a:pt x="76731" y="68077"/>
                </a:lnTo>
                <a:lnTo>
                  <a:pt x="76731" y="66923"/>
                </a:lnTo>
                <a:lnTo>
                  <a:pt x="76538" y="66731"/>
                </a:lnTo>
                <a:lnTo>
                  <a:pt x="76346" y="66538"/>
                </a:lnTo>
                <a:lnTo>
                  <a:pt x="76346" y="63462"/>
                </a:lnTo>
                <a:lnTo>
                  <a:pt x="76154" y="63269"/>
                </a:lnTo>
                <a:lnTo>
                  <a:pt x="75962" y="63077"/>
                </a:lnTo>
                <a:lnTo>
                  <a:pt x="75962" y="60000"/>
                </a:lnTo>
                <a:lnTo>
                  <a:pt x="75769" y="59808"/>
                </a:lnTo>
                <a:lnTo>
                  <a:pt x="75577" y="59615"/>
                </a:lnTo>
                <a:lnTo>
                  <a:pt x="75577" y="56538"/>
                </a:lnTo>
                <a:lnTo>
                  <a:pt x="75385" y="56346"/>
                </a:lnTo>
                <a:lnTo>
                  <a:pt x="75192" y="56154"/>
                </a:lnTo>
                <a:lnTo>
                  <a:pt x="75000" y="55192"/>
                </a:lnTo>
                <a:lnTo>
                  <a:pt x="72692" y="55192"/>
                </a:lnTo>
                <a:lnTo>
                  <a:pt x="72500" y="55385"/>
                </a:lnTo>
                <a:lnTo>
                  <a:pt x="72500" y="57692"/>
                </a:lnTo>
                <a:lnTo>
                  <a:pt x="71923" y="58269"/>
                </a:lnTo>
                <a:lnTo>
                  <a:pt x="71538" y="58269"/>
                </a:lnTo>
                <a:lnTo>
                  <a:pt x="71346" y="58077"/>
                </a:lnTo>
                <a:lnTo>
                  <a:pt x="71346" y="55385"/>
                </a:lnTo>
                <a:lnTo>
                  <a:pt x="71154" y="55192"/>
                </a:lnTo>
                <a:lnTo>
                  <a:pt x="65000" y="55192"/>
                </a:lnTo>
                <a:lnTo>
                  <a:pt x="64423" y="55769"/>
                </a:lnTo>
                <a:lnTo>
                  <a:pt x="64423" y="58077"/>
                </a:lnTo>
                <a:lnTo>
                  <a:pt x="64231" y="58269"/>
                </a:lnTo>
                <a:lnTo>
                  <a:pt x="63654" y="57692"/>
                </a:lnTo>
                <a:lnTo>
                  <a:pt x="63654" y="55385"/>
                </a:lnTo>
                <a:lnTo>
                  <a:pt x="63462" y="55192"/>
                </a:lnTo>
                <a:lnTo>
                  <a:pt x="61154" y="55192"/>
                </a:lnTo>
                <a:close/>
              </a:path>
            </a:pathLst>
          </a:custGeom>
          <a:solidFill>
            <a:srgbClr val="FFFFFF"/>
          </a:solidFill>
          <a:ln>
            <a:noFill/>
          </a:ln>
        </p:spPr>
        <p:txBody>
          <a:bodyPr/>
          <a:p/>
        </p:txBody>
      </p:sp>
      <p:sp>
        <p:nvSpPr>
          <p:cNvPr id="48" name="Shape 45"/>
          <p:cNvSpPr/>
          <p:nvPr/>
        </p:nvSpPr>
        <p:spPr>
          <a:xfrm>
            <a:off x="10543032" y="4105656"/>
            <a:ext cx="1060704" cy="1060704"/>
          </a:xfrm>
          <a:prstGeom prst="ellipse">
            <a:avLst/>
          </a:prstGeom>
          <a:solidFill>
            <a:srgbClr val="0F766E"/>
          </a:solidFill>
          <a:ln w="12700">
            <a:solidFill>
              <a:srgbClr val="0F766E">
                <a:alpha val="0"/>
              </a:srgbClr>
            </a:solidFill>
            <a:prstDash val="solid"/>
          </a:ln>
        </p:spPr>
        <p:txBody>
          <a:bodyPr/>
          <a:p/>
        </p:txBody>
      </p:sp>
      <p:sp>
        <p:nvSpPr>
          <p:cNvPr id="49" name="VECTOR_man_12"/>
          <p:cNvSpPr/>
          <p:nvPr/>
        </p:nvSpPr>
        <p:spPr>
          <a:xfrm>
            <a:off x="10543032" y="4105656"/>
            <a:ext cx="1060704" cy="1060704"/>
          </a:xfrm>
          <a:custGeom>
            <a:avLst/>
            <a:gdLst/>
            <a:ahLst/>
            <a:cxnLst/>
            <a:rect l="0" t="0" r="r" b="b"/>
            <a:pathLst>
              <a:path w="100000" h="100000" fill="norm" stroke="false" extrusionOk="false">
                <a:moveTo>
                  <a:pt x="45962" y="16154"/>
                </a:moveTo>
                <a:lnTo>
                  <a:pt x="46154" y="15962"/>
                </a:lnTo>
                <a:lnTo>
                  <a:pt x="51154" y="15962"/>
                </a:lnTo>
                <a:lnTo>
                  <a:pt x="51346" y="16154"/>
                </a:lnTo>
                <a:lnTo>
                  <a:pt x="51538" y="16346"/>
                </a:lnTo>
                <a:lnTo>
                  <a:pt x="52692" y="16346"/>
                </a:lnTo>
                <a:lnTo>
                  <a:pt x="52885" y="16538"/>
                </a:lnTo>
                <a:lnTo>
                  <a:pt x="53077" y="16731"/>
                </a:lnTo>
                <a:lnTo>
                  <a:pt x="54615" y="16731"/>
                </a:lnTo>
                <a:lnTo>
                  <a:pt x="54808" y="16923"/>
                </a:lnTo>
                <a:lnTo>
                  <a:pt x="55000" y="17115"/>
                </a:lnTo>
                <a:lnTo>
                  <a:pt x="56923" y="17115"/>
                </a:lnTo>
                <a:lnTo>
                  <a:pt x="57115" y="16923"/>
                </a:lnTo>
                <a:lnTo>
                  <a:pt x="57308" y="16731"/>
                </a:lnTo>
                <a:lnTo>
                  <a:pt x="60000" y="16346"/>
                </a:lnTo>
                <a:lnTo>
                  <a:pt x="60962" y="17692"/>
                </a:lnTo>
                <a:lnTo>
                  <a:pt x="61346" y="20385"/>
                </a:lnTo>
                <a:lnTo>
                  <a:pt x="61538" y="20577"/>
                </a:lnTo>
                <a:lnTo>
                  <a:pt x="61923" y="20577"/>
                </a:lnTo>
                <a:lnTo>
                  <a:pt x="62115" y="20385"/>
                </a:lnTo>
                <a:lnTo>
                  <a:pt x="62308" y="20192"/>
                </a:lnTo>
                <a:lnTo>
                  <a:pt x="62885" y="20769"/>
                </a:lnTo>
                <a:lnTo>
                  <a:pt x="62885" y="21154"/>
                </a:lnTo>
                <a:lnTo>
                  <a:pt x="62885" y="21538"/>
                </a:lnTo>
                <a:lnTo>
                  <a:pt x="62692" y="21731"/>
                </a:lnTo>
                <a:lnTo>
                  <a:pt x="62500" y="21923"/>
                </a:lnTo>
                <a:lnTo>
                  <a:pt x="62500" y="23077"/>
                </a:lnTo>
                <a:lnTo>
                  <a:pt x="63269" y="23846"/>
                </a:lnTo>
                <a:lnTo>
                  <a:pt x="63269" y="24231"/>
                </a:lnTo>
                <a:lnTo>
                  <a:pt x="63269" y="24615"/>
                </a:lnTo>
                <a:lnTo>
                  <a:pt x="63462" y="24808"/>
                </a:lnTo>
                <a:lnTo>
                  <a:pt x="63654" y="25000"/>
                </a:lnTo>
                <a:lnTo>
                  <a:pt x="63654" y="29615"/>
                </a:lnTo>
                <a:lnTo>
                  <a:pt x="63462" y="29808"/>
                </a:lnTo>
                <a:lnTo>
                  <a:pt x="63269" y="30000"/>
                </a:lnTo>
                <a:lnTo>
                  <a:pt x="63269" y="31538"/>
                </a:lnTo>
                <a:lnTo>
                  <a:pt x="63077" y="31731"/>
                </a:lnTo>
                <a:lnTo>
                  <a:pt x="62885" y="31923"/>
                </a:lnTo>
                <a:lnTo>
                  <a:pt x="62885" y="33462"/>
                </a:lnTo>
                <a:lnTo>
                  <a:pt x="62500" y="34231"/>
                </a:lnTo>
                <a:lnTo>
                  <a:pt x="63077" y="34808"/>
                </a:lnTo>
                <a:lnTo>
                  <a:pt x="63462" y="34808"/>
                </a:lnTo>
                <a:lnTo>
                  <a:pt x="64423" y="36154"/>
                </a:lnTo>
                <a:lnTo>
                  <a:pt x="64423" y="40000"/>
                </a:lnTo>
                <a:lnTo>
                  <a:pt x="64038" y="40769"/>
                </a:lnTo>
                <a:lnTo>
                  <a:pt x="62308" y="42500"/>
                </a:lnTo>
                <a:lnTo>
                  <a:pt x="61154" y="42500"/>
                </a:lnTo>
                <a:lnTo>
                  <a:pt x="60577" y="43077"/>
                </a:lnTo>
                <a:lnTo>
                  <a:pt x="60577" y="43462"/>
                </a:lnTo>
                <a:lnTo>
                  <a:pt x="60577" y="43846"/>
                </a:lnTo>
                <a:lnTo>
                  <a:pt x="59808" y="45000"/>
                </a:lnTo>
                <a:lnTo>
                  <a:pt x="59808" y="45385"/>
                </a:lnTo>
                <a:lnTo>
                  <a:pt x="59808" y="45769"/>
                </a:lnTo>
                <a:lnTo>
                  <a:pt x="59423" y="46538"/>
                </a:lnTo>
                <a:lnTo>
                  <a:pt x="57115" y="49231"/>
                </a:lnTo>
                <a:lnTo>
                  <a:pt x="57308" y="49423"/>
                </a:lnTo>
                <a:lnTo>
                  <a:pt x="57500" y="49615"/>
                </a:lnTo>
                <a:lnTo>
                  <a:pt x="57500" y="52308"/>
                </a:lnTo>
                <a:lnTo>
                  <a:pt x="58077" y="52885"/>
                </a:lnTo>
                <a:lnTo>
                  <a:pt x="58462" y="52885"/>
                </a:lnTo>
                <a:lnTo>
                  <a:pt x="61154" y="55962"/>
                </a:lnTo>
                <a:lnTo>
                  <a:pt x="61538" y="55962"/>
                </a:lnTo>
                <a:lnTo>
                  <a:pt x="61923" y="55962"/>
                </a:lnTo>
                <a:lnTo>
                  <a:pt x="62115" y="56154"/>
                </a:lnTo>
                <a:lnTo>
                  <a:pt x="62308" y="56346"/>
                </a:lnTo>
                <a:lnTo>
                  <a:pt x="62692" y="56346"/>
                </a:lnTo>
                <a:lnTo>
                  <a:pt x="63077" y="56346"/>
                </a:lnTo>
                <a:lnTo>
                  <a:pt x="63269" y="56538"/>
                </a:lnTo>
                <a:lnTo>
                  <a:pt x="63462" y="56731"/>
                </a:lnTo>
                <a:lnTo>
                  <a:pt x="63846" y="56731"/>
                </a:lnTo>
                <a:lnTo>
                  <a:pt x="64231" y="56731"/>
                </a:lnTo>
                <a:lnTo>
                  <a:pt x="64423" y="56923"/>
                </a:lnTo>
                <a:lnTo>
                  <a:pt x="64615" y="57115"/>
                </a:lnTo>
                <a:lnTo>
                  <a:pt x="65000" y="57115"/>
                </a:lnTo>
                <a:lnTo>
                  <a:pt x="65385" y="57115"/>
                </a:lnTo>
                <a:lnTo>
                  <a:pt x="65577" y="57308"/>
                </a:lnTo>
                <a:lnTo>
                  <a:pt x="65769" y="57500"/>
                </a:lnTo>
                <a:lnTo>
                  <a:pt x="67692" y="57885"/>
                </a:lnTo>
                <a:lnTo>
                  <a:pt x="71538" y="59808"/>
                </a:lnTo>
                <a:lnTo>
                  <a:pt x="74038" y="62308"/>
                </a:lnTo>
                <a:lnTo>
                  <a:pt x="75577" y="65385"/>
                </a:lnTo>
                <a:lnTo>
                  <a:pt x="75577" y="65769"/>
                </a:lnTo>
                <a:lnTo>
                  <a:pt x="75577" y="66154"/>
                </a:lnTo>
                <a:lnTo>
                  <a:pt x="75769" y="66346"/>
                </a:lnTo>
                <a:lnTo>
                  <a:pt x="75962" y="66538"/>
                </a:lnTo>
                <a:lnTo>
                  <a:pt x="75962" y="67692"/>
                </a:lnTo>
                <a:lnTo>
                  <a:pt x="76154" y="67885"/>
                </a:lnTo>
                <a:lnTo>
                  <a:pt x="76346" y="68077"/>
                </a:lnTo>
                <a:lnTo>
                  <a:pt x="76346" y="70385"/>
                </a:lnTo>
                <a:lnTo>
                  <a:pt x="76538" y="70577"/>
                </a:lnTo>
                <a:lnTo>
                  <a:pt x="76731" y="70769"/>
                </a:lnTo>
                <a:lnTo>
                  <a:pt x="76731" y="72308"/>
                </a:lnTo>
                <a:lnTo>
                  <a:pt x="76154" y="72885"/>
                </a:lnTo>
                <a:lnTo>
                  <a:pt x="75577" y="72308"/>
                </a:lnTo>
                <a:lnTo>
                  <a:pt x="75577" y="70769"/>
                </a:lnTo>
                <a:lnTo>
                  <a:pt x="75385" y="70577"/>
                </a:lnTo>
                <a:lnTo>
                  <a:pt x="75192" y="70385"/>
                </a:lnTo>
                <a:lnTo>
                  <a:pt x="75192" y="68462"/>
                </a:lnTo>
                <a:lnTo>
                  <a:pt x="75000" y="68269"/>
                </a:lnTo>
                <a:lnTo>
                  <a:pt x="74808" y="68077"/>
                </a:lnTo>
                <a:lnTo>
                  <a:pt x="74808" y="66538"/>
                </a:lnTo>
                <a:lnTo>
                  <a:pt x="74615" y="66346"/>
                </a:lnTo>
                <a:lnTo>
                  <a:pt x="74423" y="66154"/>
                </a:lnTo>
                <a:lnTo>
                  <a:pt x="74423" y="65769"/>
                </a:lnTo>
                <a:lnTo>
                  <a:pt x="74423" y="65385"/>
                </a:lnTo>
                <a:lnTo>
                  <a:pt x="73654" y="63846"/>
                </a:lnTo>
                <a:lnTo>
                  <a:pt x="71154" y="60962"/>
                </a:lnTo>
                <a:lnTo>
                  <a:pt x="70769" y="60962"/>
                </a:lnTo>
                <a:lnTo>
                  <a:pt x="70000" y="60192"/>
                </a:lnTo>
                <a:lnTo>
                  <a:pt x="68462" y="59423"/>
                </a:lnTo>
                <a:lnTo>
                  <a:pt x="68077" y="59423"/>
                </a:lnTo>
                <a:lnTo>
                  <a:pt x="67692" y="59423"/>
                </a:lnTo>
                <a:lnTo>
                  <a:pt x="66538" y="58654"/>
                </a:lnTo>
                <a:lnTo>
                  <a:pt x="66154" y="58654"/>
                </a:lnTo>
                <a:lnTo>
                  <a:pt x="65769" y="58654"/>
                </a:lnTo>
                <a:lnTo>
                  <a:pt x="65577" y="58462"/>
                </a:lnTo>
                <a:lnTo>
                  <a:pt x="65385" y="58269"/>
                </a:lnTo>
                <a:lnTo>
                  <a:pt x="63462" y="57885"/>
                </a:lnTo>
                <a:lnTo>
                  <a:pt x="62308" y="57115"/>
                </a:lnTo>
                <a:lnTo>
                  <a:pt x="61154" y="57115"/>
                </a:lnTo>
                <a:lnTo>
                  <a:pt x="60577" y="57692"/>
                </a:lnTo>
                <a:lnTo>
                  <a:pt x="57500" y="63846"/>
                </a:lnTo>
                <a:lnTo>
                  <a:pt x="57500" y="64231"/>
                </a:lnTo>
                <a:lnTo>
                  <a:pt x="57500" y="64615"/>
                </a:lnTo>
                <a:lnTo>
                  <a:pt x="56923" y="65192"/>
                </a:lnTo>
                <a:lnTo>
                  <a:pt x="56538" y="65192"/>
                </a:lnTo>
                <a:lnTo>
                  <a:pt x="56154" y="65192"/>
                </a:lnTo>
                <a:lnTo>
                  <a:pt x="55385" y="64423"/>
                </a:lnTo>
                <a:lnTo>
                  <a:pt x="55000" y="64423"/>
                </a:lnTo>
                <a:lnTo>
                  <a:pt x="53077" y="62500"/>
                </a:lnTo>
                <a:lnTo>
                  <a:pt x="52692" y="62500"/>
                </a:lnTo>
                <a:lnTo>
                  <a:pt x="51538" y="61346"/>
                </a:lnTo>
                <a:lnTo>
                  <a:pt x="50769" y="60962"/>
                </a:lnTo>
                <a:lnTo>
                  <a:pt x="50385" y="60962"/>
                </a:lnTo>
                <a:lnTo>
                  <a:pt x="50192" y="61154"/>
                </a:lnTo>
                <a:lnTo>
                  <a:pt x="50192" y="63846"/>
                </a:lnTo>
                <a:lnTo>
                  <a:pt x="50192" y="64231"/>
                </a:lnTo>
                <a:lnTo>
                  <a:pt x="50192" y="64615"/>
                </a:lnTo>
                <a:lnTo>
                  <a:pt x="50385" y="64808"/>
                </a:lnTo>
                <a:lnTo>
                  <a:pt x="50577" y="65000"/>
                </a:lnTo>
                <a:lnTo>
                  <a:pt x="50577" y="66538"/>
                </a:lnTo>
                <a:lnTo>
                  <a:pt x="50192" y="67308"/>
                </a:lnTo>
                <a:lnTo>
                  <a:pt x="50385" y="67500"/>
                </a:lnTo>
                <a:lnTo>
                  <a:pt x="50577" y="67692"/>
                </a:lnTo>
                <a:lnTo>
                  <a:pt x="50000" y="68269"/>
                </a:lnTo>
                <a:lnTo>
                  <a:pt x="49615" y="68269"/>
                </a:lnTo>
                <a:lnTo>
                  <a:pt x="49038" y="67692"/>
                </a:lnTo>
                <a:lnTo>
                  <a:pt x="49038" y="64615"/>
                </a:lnTo>
                <a:lnTo>
                  <a:pt x="49231" y="64423"/>
                </a:lnTo>
                <a:lnTo>
                  <a:pt x="49423" y="64231"/>
                </a:lnTo>
                <a:lnTo>
                  <a:pt x="49423" y="61538"/>
                </a:lnTo>
                <a:lnTo>
                  <a:pt x="48846" y="60962"/>
                </a:lnTo>
                <a:lnTo>
                  <a:pt x="48077" y="61731"/>
                </a:lnTo>
                <a:lnTo>
                  <a:pt x="47692" y="61731"/>
                </a:lnTo>
                <a:lnTo>
                  <a:pt x="45385" y="64038"/>
                </a:lnTo>
                <a:lnTo>
                  <a:pt x="45000" y="64038"/>
                </a:lnTo>
                <a:lnTo>
                  <a:pt x="43846" y="65192"/>
                </a:lnTo>
                <a:lnTo>
                  <a:pt x="43462" y="65192"/>
                </a:lnTo>
                <a:lnTo>
                  <a:pt x="42500" y="64231"/>
                </a:lnTo>
                <a:lnTo>
                  <a:pt x="39038" y="57308"/>
                </a:lnTo>
                <a:lnTo>
                  <a:pt x="37692" y="57115"/>
                </a:lnTo>
                <a:lnTo>
                  <a:pt x="35385" y="58269"/>
                </a:lnTo>
                <a:lnTo>
                  <a:pt x="33462" y="58654"/>
                </a:lnTo>
                <a:lnTo>
                  <a:pt x="31538" y="59808"/>
                </a:lnTo>
                <a:lnTo>
                  <a:pt x="31154" y="59808"/>
                </a:lnTo>
                <a:lnTo>
                  <a:pt x="30769" y="59808"/>
                </a:lnTo>
                <a:lnTo>
                  <a:pt x="30000" y="60577"/>
                </a:lnTo>
                <a:lnTo>
                  <a:pt x="29615" y="60577"/>
                </a:lnTo>
                <a:lnTo>
                  <a:pt x="26346" y="63846"/>
                </a:lnTo>
                <a:lnTo>
                  <a:pt x="25192" y="66154"/>
                </a:lnTo>
                <a:lnTo>
                  <a:pt x="25192" y="66538"/>
                </a:lnTo>
                <a:lnTo>
                  <a:pt x="25192" y="66923"/>
                </a:lnTo>
                <a:lnTo>
                  <a:pt x="25000" y="67115"/>
                </a:lnTo>
                <a:lnTo>
                  <a:pt x="24808" y="67308"/>
                </a:lnTo>
                <a:lnTo>
                  <a:pt x="24808" y="68462"/>
                </a:lnTo>
                <a:lnTo>
                  <a:pt x="24615" y="68654"/>
                </a:lnTo>
                <a:lnTo>
                  <a:pt x="24423" y="68846"/>
                </a:lnTo>
                <a:lnTo>
                  <a:pt x="24423" y="72308"/>
                </a:lnTo>
                <a:lnTo>
                  <a:pt x="23846" y="72885"/>
                </a:lnTo>
                <a:lnTo>
                  <a:pt x="23462" y="72885"/>
                </a:lnTo>
                <a:lnTo>
                  <a:pt x="23269" y="72692"/>
                </a:lnTo>
                <a:lnTo>
                  <a:pt x="23269" y="69231"/>
                </a:lnTo>
                <a:lnTo>
                  <a:pt x="23462" y="69038"/>
                </a:lnTo>
                <a:lnTo>
                  <a:pt x="23654" y="68846"/>
                </a:lnTo>
                <a:lnTo>
                  <a:pt x="24038" y="66154"/>
                </a:lnTo>
                <a:lnTo>
                  <a:pt x="25962" y="62308"/>
                </a:lnTo>
                <a:lnTo>
                  <a:pt x="28077" y="60192"/>
                </a:lnTo>
                <a:lnTo>
                  <a:pt x="28462" y="60192"/>
                </a:lnTo>
                <a:lnTo>
                  <a:pt x="29231" y="59423"/>
                </a:lnTo>
                <a:lnTo>
                  <a:pt x="31538" y="58269"/>
                </a:lnTo>
                <a:lnTo>
                  <a:pt x="31923" y="58269"/>
                </a:lnTo>
                <a:lnTo>
                  <a:pt x="32308" y="58269"/>
                </a:lnTo>
                <a:lnTo>
                  <a:pt x="35385" y="56731"/>
                </a:lnTo>
                <a:lnTo>
                  <a:pt x="36538" y="56731"/>
                </a:lnTo>
                <a:lnTo>
                  <a:pt x="36731" y="56538"/>
                </a:lnTo>
                <a:lnTo>
                  <a:pt x="36923" y="56346"/>
                </a:lnTo>
                <a:lnTo>
                  <a:pt x="38846" y="55962"/>
                </a:lnTo>
                <a:lnTo>
                  <a:pt x="40192" y="54231"/>
                </a:lnTo>
                <a:lnTo>
                  <a:pt x="40192" y="53846"/>
                </a:lnTo>
                <a:lnTo>
                  <a:pt x="41923" y="52115"/>
                </a:lnTo>
                <a:lnTo>
                  <a:pt x="42308" y="52115"/>
                </a:lnTo>
                <a:lnTo>
                  <a:pt x="42500" y="51923"/>
                </a:lnTo>
                <a:lnTo>
                  <a:pt x="42500" y="49231"/>
                </a:lnTo>
                <a:lnTo>
                  <a:pt x="40962" y="47692"/>
                </a:lnTo>
                <a:lnTo>
                  <a:pt x="39423" y="44615"/>
                </a:lnTo>
                <a:lnTo>
                  <a:pt x="39423" y="44231"/>
                </a:lnTo>
                <a:lnTo>
                  <a:pt x="39423" y="43846"/>
                </a:lnTo>
                <a:lnTo>
                  <a:pt x="39038" y="43077"/>
                </a:lnTo>
                <a:lnTo>
                  <a:pt x="38462" y="42500"/>
                </a:lnTo>
                <a:lnTo>
                  <a:pt x="38077" y="42500"/>
                </a:lnTo>
                <a:lnTo>
                  <a:pt x="37692" y="42500"/>
                </a:lnTo>
                <a:lnTo>
                  <a:pt x="35577" y="40385"/>
                </a:lnTo>
                <a:lnTo>
                  <a:pt x="35192" y="39615"/>
                </a:lnTo>
                <a:lnTo>
                  <a:pt x="35192" y="36538"/>
                </a:lnTo>
                <a:lnTo>
                  <a:pt x="35577" y="35769"/>
                </a:lnTo>
                <a:lnTo>
                  <a:pt x="36923" y="34423"/>
                </a:lnTo>
                <a:lnTo>
                  <a:pt x="37308" y="34423"/>
                </a:lnTo>
                <a:lnTo>
                  <a:pt x="37500" y="34231"/>
                </a:lnTo>
                <a:lnTo>
                  <a:pt x="37500" y="33846"/>
                </a:lnTo>
                <a:lnTo>
                  <a:pt x="37500" y="33462"/>
                </a:lnTo>
                <a:lnTo>
                  <a:pt x="37308" y="33269"/>
                </a:lnTo>
                <a:lnTo>
                  <a:pt x="37115" y="33077"/>
                </a:lnTo>
                <a:lnTo>
                  <a:pt x="37115" y="31538"/>
                </a:lnTo>
                <a:lnTo>
                  <a:pt x="36923" y="31346"/>
                </a:lnTo>
                <a:lnTo>
                  <a:pt x="36731" y="31154"/>
                </a:lnTo>
                <a:lnTo>
                  <a:pt x="36731" y="28846"/>
                </a:lnTo>
                <a:lnTo>
                  <a:pt x="36538" y="28654"/>
                </a:lnTo>
                <a:lnTo>
                  <a:pt x="36346" y="28462"/>
                </a:lnTo>
                <a:lnTo>
                  <a:pt x="36346" y="24231"/>
                </a:lnTo>
                <a:lnTo>
                  <a:pt x="36538" y="24038"/>
                </a:lnTo>
                <a:lnTo>
                  <a:pt x="36731" y="23846"/>
                </a:lnTo>
                <a:lnTo>
                  <a:pt x="36731" y="23462"/>
                </a:lnTo>
                <a:lnTo>
                  <a:pt x="36731" y="23077"/>
                </a:lnTo>
                <a:lnTo>
                  <a:pt x="38462" y="21346"/>
                </a:lnTo>
                <a:lnTo>
                  <a:pt x="39615" y="21346"/>
                </a:lnTo>
                <a:lnTo>
                  <a:pt x="40192" y="20769"/>
                </a:lnTo>
                <a:lnTo>
                  <a:pt x="40192" y="20385"/>
                </a:lnTo>
                <a:lnTo>
                  <a:pt x="40192" y="20000"/>
                </a:lnTo>
                <a:lnTo>
                  <a:pt x="40577" y="19231"/>
                </a:lnTo>
                <a:lnTo>
                  <a:pt x="42308" y="17500"/>
                </a:lnTo>
                <a:lnTo>
                  <a:pt x="44615" y="16346"/>
                </a:lnTo>
                <a:lnTo>
                  <a:pt x="45962" y="16154"/>
                </a:lnTo>
                <a:close/>
                <a:moveTo>
                  <a:pt x="45769" y="17115"/>
                </a:moveTo>
                <a:lnTo>
                  <a:pt x="45577" y="17308"/>
                </a:lnTo>
                <a:lnTo>
                  <a:pt x="45385" y="17500"/>
                </a:lnTo>
                <a:lnTo>
                  <a:pt x="45000" y="17500"/>
                </a:lnTo>
                <a:lnTo>
                  <a:pt x="44615" y="17500"/>
                </a:lnTo>
                <a:lnTo>
                  <a:pt x="43077" y="18269"/>
                </a:lnTo>
                <a:lnTo>
                  <a:pt x="41731" y="19615"/>
                </a:lnTo>
                <a:lnTo>
                  <a:pt x="40962" y="21154"/>
                </a:lnTo>
                <a:lnTo>
                  <a:pt x="40962" y="21538"/>
                </a:lnTo>
                <a:lnTo>
                  <a:pt x="40962" y="21923"/>
                </a:lnTo>
                <a:lnTo>
                  <a:pt x="39615" y="22115"/>
                </a:lnTo>
                <a:lnTo>
                  <a:pt x="37885" y="23462"/>
                </a:lnTo>
                <a:lnTo>
                  <a:pt x="37500" y="24231"/>
                </a:lnTo>
                <a:lnTo>
                  <a:pt x="37500" y="28462"/>
                </a:lnTo>
                <a:lnTo>
                  <a:pt x="37692" y="28654"/>
                </a:lnTo>
                <a:lnTo>
                  <a:pt x="37885" y="28846"/>
                </a:lnTo>
                <a:lnTo>
                  <a:pt x="37885" y="30769"/>
                </a:lnTo>
                <a:lnTo>
                  <a:pt x="38077" y="30962"/>
                </a:lnTo>
                <a:lnTo>
                  <a:pt x="38269" y="31154"/>
                </a:lnTo>
                <a:lnTo>
                  <a:pt x="38269" y="32308"/>
                </a:lnTo>
                <a:lnTo>
                  <a:pt x="38462" y="32500"/>
                </a:lnTo>
                <a:lnTo>
                  <a:pt x="38846" y="32500"/>
                </a:lnTo>
                <a:lnTo>
                  <a:pt x="39038" y="32308"/>
                </a:lnTo>
                <a:lnTo>
                  <a:pt x="39038" y="31923"/>
                </a:lnTo>
                <a:lnTo>
                  <a:pt x="39038" y="31538"/>
                </a:lnTo>
                <a:lnTo>
                  <a:pt x="40192" y="29615"/>
                </a:lnTo>
                <a:lnTo>
                  <a:pt x="40192" y="29231"/>
                </a:lnTo>
                <a:lnTo>
                  <a:pt x="40192" y="28846"/>
                </a:lnTo>
                <a:lnTo>
                  <a:pt x="40385" y="28654"/>
                </a:lnTo>
                <a:lnTo>
                  <a:pt x="40577" y="28462"/>
                </a:lnTo>
                <a:lnTo>
                  <a:pt x="40577" y="28077"/>
                </a:lnTo>
                <a:lnTo>
                  <a:pt x="40577" y="27692"/>
                </a:lnTo>
                <a:lnTo>
                  <a:pt x="40962" y="26923"/>
                </a:lnTo>
                <a:lnTo>
                  <a:pt x="42692" y="25577"/>
                </a:lnTo>
                <a:lnTo>
                  <a:pt x="43846" y="25577"/>
                </a:lnTo>
                <a:lnTo>
                  <a:pt x="44038" y="25769"/>
                </a:lnTo>
                <a:lnTo>
                  <a:pt x="44231" y="25962"/>
                </a:lnTo>
                <a:lnTo>
                  <a:pt x="44615" y="25962"/>
                </a:lnTo>
                <a:lnTo>
                  <a:pt x="45000" y="25962"/>
                </a:lnTo>
                <a:lnTo>
                  <a:pt x="46538" y="26731"/>
                </a:lnTo>
                <a:lnTo>
                  <a:pt x="47692" y="26731"/>
                </a:lnTo>
                <a:lnTo>
                  <a:pt x="47885" y="26923"/>
                </a:lnTo>
                <a:lnTo>
                  <a:pt x="48077" y="27115"/>
                </a:lnTo>
                <a:lnTo>
                  <a:pt x="52308" y="27115"/>
                </a:lnTo>
                <a:lnTo>
                  <a:pt x="52500" y="26923"/>
                </a:lnTo>
                <a:lnTo>
                  <a:pt x="52692" y="26731"/>
                </a:lnTo>
                <a:lnTo>
                  <a:pt x="54615" y="26731"/>
                </a:lnTo>
                <a:lnTo>
                  <a:pt x="54808" y="26538"/>
                </a:lnTo>
                <a:lnTo>
                  <a:pt x="55000" y="26346"/>
                </a:lnTo>
                <a:lnTo>
                  <a:pt x="56923" y="25962"/>
                </a:lnTo>
                <a:lnTo>
                  <a:pt x="59231" y="24808"/>
                </a:lnTo>
                <a:lnTo>
                  <a:pt x="60962" y="23077"/>
                </a:lnTo>
                <a:lnTo>
                  <a:pt x="60962" y="22692"/>
                </a:lnTo>
                <a:lnTo>
                  <a:pt x="61731" y="21923"/>
                </a:lnTo>
                <a:lnTo>
                  <a:pt x="60577" y="21154"/>
                </a:lnTo>
                <a:lnTo>
                  <a:pt x="60192" y="20385"/>
                </a:lnTo>
                <a:lnTo>
                  <a:pt x="60192" y="20000"/>
                </a:lnTo>
                <a:lnTo>
                  <a:pt x="60192" y="19615"/>
                </a:lnTo>
                <a:lnTo>
                  <a:pt x="60000" y="19423"/>
                </a:lnTo>
                <a:lnTo>
                  <a:pt x="59808" y="19231"/>
                </a:lnTo>
                <a:lnTo>
                  <a:pt x="59808" y="18846"/>
                </a:lnTo>
                <a:lnTo>
                  <a:pt x="59808" y="18462"/>
                </a:lnTo>
                <a:lnTo>
                  <a:pt x="59231" y="17500"/>
                </a:lnTo>
                <a:lnTo>
                  <a:pt x="58462" y="17885"/>
                </a:lnTo>
                <a:lnTo>
                  <a:pt x="56538" y="17885"/>
                </a:lnTo>
                <a:lnTo>
                  <a:pt x="56346" y="18077"/>
                </a:lnTo>
                <a:lnTo>
                  <a:pt x="56154" y="18269"/>
                </a:lnTo>
                <a:lnTo>
                  <a:pt x="55769" y="18269"/>
                </a:lnTo>
                <a:lnTo>
                  <a:pt x="55385" y="18269"/>
                </a:lnTo>
                <a:lnTo>
                  <a:pt x="55192" y="18077"/>
                </a:lnTo>
                <a:lnTo>
                  <a:pt x="55000" y="17885"/>
                </a:lnTo>
                <a:lnTo>
                  <a:pt x="53462" y="17885"/>
                </a:lnTo>
                <a:lnTo>
                  <a:pt x="53269" y="17692"/>
                </a:lnTo>
                <a:lnTo>
                  <a:pt x="53077" y="17500"/>
                </a:lnTo>
                <a:lnTo>
                  <a:pt x="51923" y="17500"/>
                </a:lnTo>
                <a:lnTo>
                  <a:pt x="51731" y="17308"/>
                </a:lnTo>
                <a:lnTo>
                  <a:pt x="51538" y="17115"/>
                </a:lnTo>
                <a:lnTo>
                  <a:pt x="45769" y="17115"/>
                </a:lnTo>
                <a:close/>
                <a:moveTo>
                  <a:pt x="61538" y="24038"/>
                </a:moveTo>
                <a:lnTo>
                  <a:pt x="59615" y="25962"/>
                </a:lnTo>
                <a:lnTo>
                  <a:pt x="59231" y="25962"/>
                </a:lnTo>
                <a:lnTo>
                  <a:pt x="59038" y="26154"/>
                </a:lnTo>
                <a:lnTo>
                  <a:pt x="59038" y="27692"/>
                </a:lnTo>
                <a:lnTo>
                  <a:pt x="60192" y="30000"/>
                </a:lnTo>
                <a:lnTo>
                  <a:pt x="60192" y="30385"/>
                </a:lnTo>
                <a:lnTo>
                  <a:pt x="60192" y="30769"/>
                </a:lnTo>
                <a:lnTo>
                  <a:pt x="60385" y="30962"/>
                </a:lnTo>
                <a:lnTo>
                  <a:pt x="60577" y="31154"/>
                </a:lnTo>
                <a:lnTo>
                  <a:pt x="60577" y="31538"/>
                </a:lnTo>
                <a:lnTo>
                  <a:pt x="60577" y="31923"/>
                </a:lnTo>
                <a:lnTo>
                  <a:pt x="60962" y="32692"/>
                </a:lnTo>
                <a:lnTo>
                  <a:pt x="60962" y="33077"/>
                </a:lnTo>
                <a:lnTo>
                  <a:pt x="60962" y="33462"/>
                </a:lnTo>
                <a:lnTo>
                  <a:pt x="61154" y="33654"/>
                </a:lnTo>
                <a:lnTo>
                  <a:pt x="61538" y="33654"/>
                </a:lnTo>
                <a:lnTo>
                  <a:pt x="61731" y="33462"/>
                </a:lnTo>
                <a:lnTo>
                  <a:pt x="61731" y="33077"/>
                </a:lnTo>
                <a:lnTo>
                  <a:pt x="61731" y="32692"/>
                </a:lnTo>
                <a:lnTo>
                  <a:pt x="61923" y="32500"/>
                </a:lnTo>
                <a:lnTo>
                  <a:pt x="62115" y="32308"/>
                </a:lnTo>
                <a:lnTo>
                  <a:pt x="62115" y="30769"/>
                </a:lnTo>
                <a:lnTo>
                  <a:pt x="62308" y="30577"/>
                </a:lnTo>
                <a:lnTo>
                  <a:pt x="62500" y="30385"/>
                </a:lnTo>
                <a:lnTo>
                  <a:pt x="62500" y="25385"/>
                </a:lnTo>
                <a:lnTo>
                  <a:pt x="62308" y="25192"/>
                </a:lnTo>
                <a:lnTo>
                  <a:pt x="62115" y="25000"/>
                </a:lnTo>
                <a:lnTo>
                  <a:pt x="62115" y="24615"/>
                </a:lnTo>
                <a:lnTo>
                  <a:pt x="62115" y="24231"/>
                </a:lnTo>
                <a:lnTo>
                  <a:pt x="61923" y="24038"/>
                </a:lnTo>
                <a:lnTo>
                  <a:pt x="61538" y="24038"/>
                </a:lnTo>
                <a:close/>
                <a:moveTo>
                  <a:pt x="42692" y="26731"/>
                </a:moveTo>
                <a:lnTo>
                  <a:pt x="42115" y="27308"/>
                </a:lnTo>
                <a:lnTo>
                  <a:pt x="41731" y="28077"/>
                </a:lnTo>
                <a:lnTo>
                  <a:pt x="41731" y="28462"/>
                </a:lnTo>
                <a:lnTo>
                  <a:pt x="41731" y="28846"/>
                </a:lnTo>
                <a:lnTo>
                  <a:pt x="40192" y="31538"/>
                </a:lnTo>
                <a:lnTo>
                  <a:pt x="40192" y="31923"/>
                </a:lnTo>
                <a:lnTo>
                  <a:pt x="40192" y="32308"/>
                </a:lnTo>
                <a:lnTo>
                  <a:pt x="40000" y="32500"/>
                </a:lnTo>
                <a:lnTo>
                  <a:pt x="39808" y="32692"/>
                </a:lnTo>
                <a:lnTo>
                  <a:pt x="39808" y="33077"/>
                </a:lnTo>
                <a:lnTo>
                  <a:pt x="39808" y="33462"/>
                </a:lnTo>
                <a:lnTo>
                  <a:pt x="39038" y="35000"/>
                </a:lnTo>
                <a:lnTo>
                  <a:pt x="39038" y="35385"/>
                </a:lnTo>
                <a:lnTo>
                  <a:pt x="40000" y="36346"/>
                </a:lnTo>
                <a:lnTo>
                  <a:pt x="40385" y="36346"/>
                </a:lnTo>
                <a:lnTo>
                  <a:pt x="40962" y="35769"/>
                </a:lnTo>
                <a:lnTo>
                  <a:pt x="40962" y="35385"/>
                </a:lnTo>
                <a:lnTo>
                  <a:pt x="40962" y="35000"/>
                </a:lnTo>
                <a:lnTo>
                  <a:pt x="41346" y="34231"/>
                </a:lnTo>
                <a:lnTo>
                  <a:pt x="41923" y="33654"/>
                </a:lnTo>
                <a:lnTo>
                  <a:pt x="43462" y="32885"/>
                </a:lnTo>
                <a:lnTo>
                  <a:pt x="45769" y="32885"/>
                </a:lnTo>
                <a:lnTo>
                  <a:pt x="46538" y="33269"/>
                </a:lnTo>
                <a:lnTo>
                  <a:pt x="48269" y="35000"/>
                </a:lnTo>
                <a:lnTo>
                  <a:pt x="48269" y="35385"/>
                </a:lnTo>
                <a:lnTo>
                  <a:pt x="48846" y="35962"/>
                </a:lnTo>
                <a:lnTo>
                  <a:pt x="51154" y="35962"/>
                </a:lnTo>
                <a:lnTo>
                  <a:pt x="51731" y="34615"/>
                </a:lnTo>
                <a:lnTo>
                  <a:pt x="52692" y="33654"/>
                </a:lnTo>
                <a:lnTo>
                  <a:pt x="54231" y="32885"/>
                </a:lnTo>
                <a:lnTo>
                  <a:pt x="54615" y="32885"/>
                </a:lnTo>
                <a:lnTo>
                  <a:pt x="55000" y="32885"/>
                </a:lnTo>
                <a:lnTo>
                  <a:pt x="56154" y="32885"/>
                </a:lnTo>
                <a:lnTo>
                  <a:pt x="57692" y="33654"/>
                </a:lnTo>
                <a:lnTo>
                  <a:pt x="58654" y="34615"/>
                </a:lnTo>
                <a:lnTo>
                  <a:pt x="58654" y="35000"/>
                </a:lnTo>
                <a:lnTo>
                  <a:pt x="58654" y="35385"/>
                </a:lnTo>
                <a:lnTo>
                  <a:pt x="59231" y="35962"/>
                </a:lnTo>
                <a:lnTo>
                  <a:pt x="60577" y="35385"/>
                </a:lnTo>
                <a:lnTo>
                  <a:pt x="60577" y="34231"/>
                </a:lnTo>
                <a:lnTo>
                  <a:pt x="60385" y="34038"/>
                </a:lnTo>
                <a:lnTo>
                  <a:pt x="60192" y="33846"/>
                </a:lnTo>
                <a:lnTo>
                  <a:pt x="59808" y="31923"/>
                </a:lnTo>
                <a:lnTo>
                  <a:pt x="58269" y="29231"/>
                </a:lnTo>
                <a:lnTo>
                  <a:pt x="57885" y="27308"/>
                </a:lnTo>
                <a:lnTo>
                  <a:pt x="57308" y="26731"/>
                </a:lnTo>
                <a:lnTo>
                  <a:pt x="56538" y="27115"/>
                </a:lnTo>
                <a:lnTo>
                  <a:pt x="56154" y="27115"/>
                </a:lnTo>
                <a:lnTo>
                  <a:pt x="55769" y="27115"/>
                </a:lnTo>
                <a:lnTo>
                  <a:pt x="55577" y="27308"/>
                </a:lnTo>
                <a:lnTo>
                  <a:pt x="55385" y="27500"/>
                </a:lnTo>
                <a:lnTo>
                  <a:pt x="54231" y="27500"/>
                </a:lnTo>
                <a:lnTo>
                  <a:pt x="54038" y="27692"/>
                </a:lnTo>
                <a:lnTo>
                  <a:pt x="53846" y="27885"/>
                </a:lnTo>
                <a:lnTo>
                  <a:pt x="51923" y="27885"/>
                </a:lnTo>
                <a:lnTo>
                  <a:pt x="51731" y="28077"/>
                </a:lnTo>
                <a:lnTo>
                  <a:pt x="51538" y="28269"/>
                </a:lnTo>
                <a:lnTo>
                  <a:pt x="47692" y="28269"/>
                </a:lnTo>
                <a:lnTo>
                  <a:pt x="47500" y="28077"/>
                </a:lnTo>
                <a:lnTo>
                  <a:pt x="47308" y="27885"/>
                </a:lnTo>
                <a:lnTo>
                  <a:pt x="46154" y="27885"/>
                </a:lnTo>
                <a:lnTo>
                  <a:pt x="45962" y="27692"/>
                </a:lnTo>
                <a:lnTo>
                  <a:pt x="45769" y="27500"/>
                </a:lnTo>
                <a:lnTo>
                  <a:pt x="44615" y="27500"/>
                </a:lnTo>
                <a:lnTo>
                  <a:pt x="44423" y="27308"/>
                </a:lnTo>
                <a:lnTo>
                  <a:pt x="44231" y="27115"/>
                </a:lnTo>
                <a:lnTo>
                  <a:pt x="43846" y="27115"/>
                </a:lnTo>
                <a:lnTo>
                  <a:pt x="43462" y="27115"/>
                </a:lnTo>
                <a:lnTo>
                  <a:pt x="42692" y="26731"/>
                </a:lnTo>
                <a:close/>
                <a:moveTo>
                  <a:pt x="43462" y="34038"/>
                </a:moveTo>
                <a:lnTo>
                  <a:pt x="42115" y="35385"/>
                </a:lnTo>
                <a:lnTo>
                  <a:pt x="41731" y="36154"/>
                </a:lnTo>
                <a:lnTo>
                  <a:pt x="41731" y="38077"/>
                </a:lnTo>
                <a:lnTo>
                  <a:pt x="43462" y="39808"/>
                </a:lnTo>
                <a:lnTo>
                  <a:pt x="45769" y="39808"/>
                </a:lnTo>
                <a:lnTo>
                  <a:pt x="45962" y="39615"/>
                </a:lnTo>
                <a:lnTo>
                  <a:pt x="46154" y="39423"/>
                </a:lnTo>
                <a:lnTo>
                  <a:pt x="46538" y="39423"/>
                </a:lnTo>
                <a:lnTo>
                  <a:pt x="47500" y="38077"/>
                </a:lnTo>
                <a:lnTo>
                  <a:pt x="47500" y="37692"/>
                </a:lnTo>
                <a:lnTo>
                  <a:pt x="47500" y="37308"/>
                </a:lnTo>
                <a:lnTo>
                  <a:pt x="47692" y="37115"/>
                </a:lnTo>
                <a:lnTo>
                  <a:pt x="47885" y="36923"/>
                </a:lnTo>
                <a:lnTo>
                  <a:pt x="47692" y="36731"/>
                </a:lnTo>
                <a:lnTo>
                  <a:pt x="47500" y="36538"/>
                </a:lnTo>
                <a:lnTo>
                  <a:pt x="47500" y="36154"/>
                </a:lnTo>
                <a:lnTo>
                  <a:pt x="47500" y="35769"/>
                </a:lnTo>
                <a:lnTo>
                  <a:pt x="47115" y="35000"/>
                </a:lnTo>
                <a:lnTo>
                  <a:pt x="45769" y="34038"/>
                </a:lnTo>
                <a:lnTo>
                  <a:pt x="43462" y="34038"/>
                </a:lnTo>
                <a:close/>
                <a:moveTo>
                  <a:pt x="54231" y="34038"/>
                </a:moveTo>
                <a:lnTo>
                  <a:pt x="53462" y="34808"/>
                </a:lnTo>
                <a:lnTo>
                  <a:pt x="53077" y="34808"/>
                </a:lnTo>
                <a:lnTo>
                  <a:pt x="52885" y="35000"/>
                </a:lnTo>
                <a:lnTo>
                  <a:pt x="52115" y="37308"/>
                </a:lnTo>
                <a:lnTo>
                  <a:pt x="52885" y="38846"/>
                </a:lnTo>
                <a:lnTo>
                  <a:pt x="53462" y="39423"/>
                </a:lnTo>
                <a:lnTo>
                  <a:pt x="54231" y="39808"/>
                </a:lnTo>
                <a:lnTo>
                  <a:pt x="55769" y="39808"/>
                </a:lnTo>
                <a:lnTo>
                  <a:pt x="56923" y="39423"/>
                </a:lnTo>
                <a:lnTo>
                  <a:pt x="57500" y="38846"/>
                </a:lnTo>
                <a:lnTo>
                  <a:pt x="57885" y="38077"/>
                </a:lnTo>
                <a:lnTo>
                  <a:pt x="57885" y="35769"/>
                </a:lnTo>
                <a:lnTo>
                  <a:pt x="57500" y="35000"/>
                </a:lnTo>
                <a:lnTo>
                  <a:pt x="56154" y="34038"/>
                </a:lnTo>
                <a:lnTo>
                  <a:pt x="54231" y="34038"/>
                </a:lnTo>
                <a:close/>
                <a:moveTo>
                  <a:pt x="37308" y="35577"/>
                </a:moveTo>
                <a:lnTo>
                  <a:pt x="36346" y="36923"/>
                </a:lnTo>
                <a:lnTo>
                  <a:pt x="36346" y="38846"/>
                </a:lnTo>
                <a:lnTo>
                  <a:pt x="36538" y="39038"/>
                </a:lnTo>
                <a:lnTo>
                  <a:pt x="36731" y="39231"/>
                </a:lnTo>
                <a:lnTo>
                  <a:pt x="36731" y="39615"/>
                </a:lnTo>
                <a:lnTo>
                  <a:pt x="36731" y="40000"/>
                </a:lnTo>
                <a:lnTo>
                  <a:pt x="37885" y="41154"/>
                </a:lnTo>
                <a:lnTo>
                  <a:pt x="38077" y="41346"/>
                </a:lnTo>
                <a:lnTo>
                  <a:pt x="38462" y="41346"/>
                </a:lnTo>
                <a:lnTo>
                  <a:pt x="38654" y="40385"/>
                </a:lnTo>
                <a:lnTo>
                  <a:pt x="38462" y="40192"/>
                </a:lnTo>
                <a:lnTo>
                  <a:pt x="38269" y="40000"/>
                </a:lnTo>
                <a:lnTo>
                  <a:pt x="38269" y="38462"/>
                </a:lnTo>
                <a:lnTo>
                  <a:pt x="38077" y="38269"/>
                </a:lnTo>
                <a:lnTo>
                  <a:pt x="37885" y="38077"/>
                </a:lnTo>
                <a:lnTo>
                  <a:pt x="37885" y="35769"/>
                </a:lnTo>
                <a:lnTo>
                  <a:pt x="37692" y="35577"/>
                </a:lnTo>
                <a:lnTo>
                  <a:pt x="37308" y="35577"/>
                </a:lnTo>
                <a:close/>
                <a:moveTo>
                  <a:pt x="61923" y="35577"/>
                </a:moveTo>
                <a:lnTo>
                  <a:pt x="61731" y="35769"/>
                </a:lnTo>
                <a:lnTo>
                  <a:pt x="61731" y="38077"/>
                </a:lnTo>
                <a:lnTo>
                  <a:pt x="61538" y="38269"/>
                </a:lnTo>
                <a:lnTo>
                  <a:pt x="61346" y="38462"/>
                </a:lnTo>
                <a:lnTo>
                  <a:pt x="61346" y="40385"/>
                </a:lnTo>
                <a:lnTo>
                  <a:pt x="60962" y="41154"/>
                </a:lnTo>
                <a:lnTo>
                  <a:pt x="61923" y="41346"/>
                </a:lnTo>
                <a:lnTo>
                  <a:pt x="62115" y="41154"/>
                </a:lnTo>
                <a:lnTo>
                  <a:pt x="62308" y="40962"/>
                </a:lnTo>
                <a:lnTo>
                  <a:pt x="63269" y="39615"/>
                </a:lnTo>
                <a:lnTo>
                  <a:pt x="63654" y="37692"/>
                </a:lnTo>
                <a:lnTo>
                  <a:pt x="63462" y="37500"/>
                </a:lnTo>
                <a:lnTo>
                  <a:pt x="63269" y="37308"/>
                </a:lnTo>
                <a:lnTo>
                  <a:pt x="63269" y="36923"/>
                </a:lnTo>
                <a:lnTo>
                  <a:pt x="63269" y="36538"/>
                </a:lnTo>
                <a:lnTo>
                  <a:pt x="62308" y="35577"/>
                </a:lnTo>
                <a:lnTo>
                  <a:pt x="61923" y="35577"/>
                </a:lnTo>
                <a:close/>
                <a:moveTo>
                  <a:pt x="60000" y="36731"/>
                </a:moveTo>
                <a:lnTo>
                  <a:pt x="59038" y="37692"/>
                </a:lnTo>
                <a:lnTo>
                  <a:pt x="59038" y="38077"/>
                </a:lnTo>
                <a:lnTo>
                  <a:pt x="59038" y="38462"/>
                </a:lnTo>
                <a:lnTo>
                  <a:pt x="58654" y="39231"/>
                </a:lnTo>
                <a:lnTo>
                  <a:pt x="57308" y="40577"/>
                </a:lnTo>
                <a:lnTo>
                  <a:pt x="56538" y="40962"/>
                </a:lnTo>
                <a:lnTo>
                  <a:pt x="53846" y="40962"/>
                </a:lnTo>
                <a:lnTo>
                  <a:pt x="53077" y="40577"/>
                </a:lnTo>
                <a:lnTo>
                  <a:pt x="51731" y="39231"/>
                </a:lnTo>
                <a:lnTo>
                  <a:pt x="51154" y="37115"/>
                </a:lnTo>
                <a:lnTo>
                  <a:pt x="48846" y="37115"/>
                </a:lnTo>
                <a:lnTo>
                  <a:pt x="48269" y="39231"/>
                </a:lnTo>
                <a:lnTo>
                  <a:pt x="46923" y="40577"/>
                </a:lnTo>
                <a:lnTo>
                  <a:pt x="46154" y="40962"/>
                </a:lnTo>
                <a:lnTo>
                  <a:pt x="43077" y="40962"/>
                </a:lnTo>
                <a:lnTo>
                  <a:pt x="42308" y="40577"/>
                </a:lnTo>
                <a:lnTo>
                  <a:pt x="40962" y="39231"/>
                </a:lnTo>
                <a:lnTo>
                  <a:pt x="40577" y="38462"/>
                </a:lnTo>
                <a:lnTo>
                  <a:pt x="40577" y="38077"/>
                </a:lnTo>
                <a:lnTo>
                  <a:pt x="40577" y="37692"/>
                </a:lnTo>
                <a:lnTo>
                  <a:pt x="40000" y="37115"/>
                </a:lnTo>
                <a:lnTo>
                  <a:pt x="39615" y="37115"/>
                </a:lnTo>
                <a:lnTo>
                  <a:pt x="39038" y="37692"/>
                </a:lnTo>
                <a:lnTo>
                  <a:pt x="39231" y="37885"/>
                </a:lnTo>
                <a:lnTo>
                  <a:pt x="39423" y="38077"/>
                </a:lnTo>
                <a:lnTo>
                  <a:pt x="39423" y="40769"/>
                </a:lnTo>
                <a:lnTo>
                  <a:pt x="39615" y="40962"/>
                </a:lnTo>
                <a:lnTo>
                  <a:pt x="39808" y="41154"/>
                </a:lnTo>
                <a:lnTo>
                  <a:pt x="40192" y="43077"/>
                </a:lnTo>
                <a:lnTo>
                  <a:pt x="40577" y="43846"/>
                </a:lnTo>
                <a:lnTo>
                  <a:pt x="40577" y="44231"/>
                </a:lnTo>
                <a:lnTo>
                  <a:pt x="40577" y="44615"/>
                </a:lnTo>
                <a:lnTo>
                  <a:pt x="41346" y="46154"/>
                </a:lnTo>
                <a:lnTo>
                  <a:pt x="42115" y="46923"/>
                </a:lnTo>
                <a:lnTo>
                  <a:pt x="42115" y="47308"/>
                </a:lnTo>
                <a:lnTo>
                  <a:pt x="43462" y="48654"/>
                </a:lnTo>
                <a:lnTo>
                  <a:pt x="43846" y="48654"/>
                </a:lnTo>
                <a:lnTo>
                  <a:pt x="46154" y="50577"/>
                </a:lnTo>
                <a:lnTo>
                  <a:pt x="46538" y="50577"/>
                </a:lnTo>
                <a:lnTo>
                  <a:pt x="46923" y="50577"/>
                </a:lnTo>
                <a:lnTo>
                  <a:pt x="48462" y="51346"/>
                </a:lnTo>
                <a:lnTo>
                  <a:pt x="51154" y="51346"/>
                </a:lnTo>
                <a:lnTo>
                  <a:pt x="51346" y="51154"/>
                </a:lnTo>
                <a:lnTo>
                  <a:pt x="51538" y="50962"/>
                </a:lnTo>
                <a:lnTo>
                  <a:pt x="52692" y="50962"/>
                </a:lnTo>
                <a:lnTo>
                  <a:pt x="54231" y="50192"/>
                </a:lnTo>
                <a:lnTo>
                  <a:pt x="55769" y="48654"/>
                </a:lnTo>
                <a:lnTo>
                  <a:pt x="56154" y="48654"/>
                </a:lnTo>
                <a:lnTo>
                  <a:pt x="58269" y="46154"/>
                </a:lnTo>
                <a:lnTo>
                  <a:pt x="59038" y="44615"/>
                </a:lnTo>
                <a:lnTo>
                  <a:pt x="59038" y="44231"/>
                </a:lnTo>
                <a:lnTo>
                  <a:pt x="59038" y="43846"/>
                </a:lnTo>
                <a:lnTo>
                  <a:pt x="59808" y="42308"/>
                </a:lnTo>
                <a:lnTo>
                  <a:pt x="59808" y="40769"/>
                </a:lnTo>
                <a:lnTo>
                  <a:pt x="60000" y="40577"/>
                </a:lnTo>
                <a:lnTo>
                  <a:pt x="60192" y="40385"/>
                </a:lnTo>
                <a:lnTo>
                  <a:pt x="60192" y="38462"/>
                </a:lnTo>
                <a:lnTo>
                  <a:pt x="60385" y="38269"/>
                </a:lnTo>
                <a:lnTo>
                  <a:pt x="60577" y="38077"/>
                </a:lnTo>
                <a:lnTo>
                  <a:pt x="60577" y="37692"/>
                </a:lnTo>
                <a:lnTo>
                  <a:pt x="60577" y="37308"/>
                </a:lnTo>
                <a:lnTo>
                  <a:pt x="60000" y="36731"/>
                </a:lnTo>
                <a:close/>
                <a:moveTo>
                  <a:pt x="55769" y="50192"/>
                </a:moveTo>
                <a:lnTo>
                  <a:pt x="54231" y="51346"/>
                </a:lnTo>
                <a:lnTo>
                  <a:pt x="52692" y="52115"/>
                </a:lnTo>
                <a:lnTo>
                  <a:pt x="51538" y="52115"/>
                </a:lnTo>
                <a:lnTo>
                  <a:pt x="51346" y="52308"/>
                </a:lnTo>
                <a:lnTo>
                  <a:pt x="51154" y="52500"/>
                </a:lnTo>
                <a:lnTo>
                  <a:pt x="48077" y="52500"/>
                </a:lnTo>
                <a:lnTo>
                  <a:pt x="47885" y="52308"/>
                </a:lnTo>
                <a:lnTo>
                  <a:pt x="47692" y="52115"/>
                </a:lnTo>
                <a:lnTo>
                  <a:pt x="47308" y="52115"/>
                </a:lnTo>
                <a:lnTo>
                  <a:pt x="46923" y="52115"/>
                </a:lnTo>
                <a:lnTo>
                  <a:pt x="43846" y="50577"/>
                </a:lnTo>
                <a:lnTo>
                  <a:pt x="43654" y="50769"/>
                </a:lnTo>
                <a:lnTo>
                  <a:pt x="43654" y="53462"/>
                </a:lnTo>
                <a:lnTo>
                  <a:pt x="45962" y="55385"/>
                </a:lnTo>
                <a:lnTo>
                  <a:pt x="49231" y="58654"/>
                </a:lnTo>
                <a:lnTo>
                  <a:pt x="50000" y="59038"/>
                </a:lnTo>
                <a:lnTo>
                  <a:pt x="51538" y="57500"/>
                </a:lnTo>
                <a:lnTo>
                  <a:pt x="51923" y="57500"/>
                </a:lnTo>
                <a:lnTo>
                  <a:pt x="55769" y="53654"/>
                </a:lnTo>
                <a:lnTo>
                  <a:pt x="56154" y="53654"/>
                </a:lnTo>
                <a:lnTo>
                  <a:pt x="56346" y="53462"/>
                </a:lnTo>
                <a:lnTo>
                  <a:pt x="56346" y="50769"/>
                </a:lnTo>
                <a:lnTo>
                  <a:pt x="55769" y="50192"/>
                </a:lnTo>
                <a:close/>
                <a:moveTo>
                  <a:pt x="41923" y="53654"/>
                </a:moveTo>
                <a:lnTo>
                  <a:pt x="41731" y="53846"/>
                </a:lnTo>
                <a:lnTo>
                  <a:pt x="41731" y="54231"/>
                </a:lnTo>
                <a:lnTo>
                  <a:pt x="39808" y="56538"/>
                </a:lnTo>
                <a:lnTo>
                  <a:pt x="39808" y="56923"/>
                </a:lnTo>
                <a:lnTo>
                  <a:pt x="40962" y="58462"/>
                </a:lnTo>
                <a:lnTo>
                  <a:pt x="41346" y="59615"/>
                </a:lnTo>
                <a:lnTo>
                  <a:pt x="42115" y="60385"/>
                </a:lnTo>
                <a:lnTo>
                  <a:pt x="43269" y="63077"/>
                </a:lnTo>
                <a:lnTo>
                  <a:pt x="43846" y="63654"/>
                </a:lnTo>
                <a:lnTo>
                  <a:pt x="44615" y="62885"/>
                </a:lnTo>
                <a:lnTo>
                  <a:pt x="45000" y="62885"/>
                </a:lnTo>
                <a:lnTo>
                  <a:pt x="45192" y="62692"/>
                </a:lnTo>
                <a:lnTo>
                  <a:pt x="48269" y="60000"/>
                </a:lnTo>
                <a:lnTo>
                  <a:pt x="48269" y="59615"/>
                </a:lnTo>
                <a:lnTo>
                  <a:pt x="48269" y="59231"/>
                </a:lnTo>
                <a:lnTo>
                  <a:pt x="46923" y="57885"/>
                </a:lnTo>
                <a:lnTo>
                  <a:pt x="46538" y="57885"/>
                </a:lnTo>
                <a:lnTo>
                  <a:pt x="42308" y="53654"/>
                </a:lnTo>
                <a:lnTo>
                  <a:pt x="41923" y="53654"/>
                </a:lnTo>
                <a:close/>
                <a:moveTo>
                  <a:pt x="57692" y="53654"/>
                </a:moveTo>
                <a:lnTo>
                  <a:pt x="54615" y="56731"/>
                </a:lnTo>
                <a:lnTo>
                  <a:pt x="54231" y="56731"/>
                </a:lnTo>
                <a:lnTo>
                  <a:pt x="51923" y="59038"/>
                </a:lnTo>
                <a:lnTo>
                  <a:pt x="51538" y="59038"/>
                </a:lnTo>
                <a:lnTo>
                  <a:pt x="51346" y="59231"/>
                </a:lnTo>
                <a:lnTo>
                  <a:pt x="51346" y="59615"/>
                </a:lnTo>
                <a:lnTo>
                  <a:pt x="51346" y="60000"/>
                </a:lnTo>
                <a:lnTo>
                  <a:pt x="51538" y="60192"/>
                </a:lnTo>
                <a:lnTo>
                  <a:pt x="51923" y="60192"/>
                </a:lnTo>
                <a:lnTo>
                  <a:pt x="53077" y="61346"/>
                </a:lnTo>
                <a:lnTo>
                  <a:pt x="53462" y="61346"/>
                </a:lnTo>
                <a:lnTo>
                  <a:pt x="54615" y="62500"/>
                </a:lnTo>
                <a:lnTo>
                  <a:pt x="56154" y="63654"/>
                </a:lnTo>
                <a:lnTo>
                  <a:pt x="56731" y="63077"/>
                </a:lnTo>
                <a:lnTo>
                  <a:pt x="57500" y="61154"/>
                </a:lnTo>
                <a:lnTo>
                  <a:pt x="58269" y="60385"/>
                </a:lnTo>
                <a:lnTo>
                  <a:pt x="59423" y="58077"/>
                </a:lnTo>
                <a:lnTo>
                  <a:pt x="59808" y="56154"/>
                </a:lnTo>
                <a:lnTo>
                  <a:pt x="57692" y="53654"/>
                </a:lnTo>
                <a:close/>
              </a:path>
            </a:pathLst>
          </a:custGeom>
          <a:solidFill>
            <a:srgbClr val="FFFFFF"/>
          </a:solidFill>
          <a:ln>
            <a:noFill/>
          </a:ln>
        </p:spPr>
        <p:txBody>
          <a:bodyPr/>
          <a:p/>
        </p:txBody>
      </p:sp>
      <p:sp>
        <p:nvSpPr>
          <p:cNvPr id="50" name="Shape 47"/>
          <p:cNvSpPr/>
          <p:nvPr/>
        </p:nvSpPr>
        <p:spPr>
          <a:xfrm>
            <a:off x="9235440" y="5285232"/>
            <a:ext cx="1060704" cy="1060704"/>
          </a:xfrm>
          <a:prstGeom prst="ellipse">
            <a:avLst/>
          </a:prstGeom>
          <a:solidFill>
            <a:srgbClr val="6D28D9"/>
          </a:solidFill>
          <a:ln w="12700">
            <a:solidFill>
              <a:srgbClr val="6D28D9">
                <a:alpha val="0"/>
              </a:srgbClr>
            </a:solidFill>
            <a:prstDash val="solid"/>
          </a:ln>
        </p:spPr>
        <p:txBody>
          <a:bodyPr/>
          <a:p/>
        </p:txBody>
      </p:sp>
      <p:sp>
        <p:nvSpPr>
          <p:cNvPr id="51" name="VECTOR_family_13"/>
          <p:cNvSpPr/>
          <p:nvPr/>
        </p:nvSpPr>
        <p:spPr>
          <a:xfrm>
            <a:off x="9235440" y="5285232"/>
            <a:ext cx="1060704" cy="1060704"/>
          </a:xfrm>
          <a:custGeom>
            <a:avLst/>
            <a:gdLst/>
            <a:ahLst/>
            <a:cxnLst/>
            <a:rect l="0" t="0" r="r" b="b"/>
            <a:pathLst>
              <a:path w="100000" h="100000" fill="norm" stroke="false" extrusionOk="false">
                <a:moveTo>
                  <a:pt x="64423" y="20385"/>
                </a:moveTo>
                <a:lnTo>
                  <a:pt x="64615" y="20192"/>
                </a:lnTo>
                <a:lnTo>
                  <a:pt x="68462" y="20192"/>
                </a:lnTo>
                <a:lnTo>
                  <a:pt x="68654" y="20385"/>
                </a:lnTo>
                <a:lnTo>
                  <a:pt x="68846" y="20577"/>
                </a:lnTo>
                <a:lnTo>
                  <a:pt x="69231" y="20577"/>
                </a:lnTo>
                <a:lnTo>
                  <a:pt x="69615" y="20577"/>
                </a:lnTo>
                <a:lnTo>
                  <a:pt x="69808" y="20769"/>
                </a:lnTo>
                <a:lnTo>
                  <a:pt x="70000" y="20962"/>
                </a:lnTo>
                <a:lnTo>
                  <a:pt x="70385" y="20962"/>
                </a:lnTo>
                <a:lnTo>
                  <a:pt x="70769" y="20962"/>
                </a:lnTo>
                <a:lnTo>
                  <a:pt x="71538" y="21346"/>
                </a:lnTo>
                <a:lnTo>
                  <a:pt x="73269" y="22692"/>
                </a:lnTo>
                <a:lnTo>
                  <a:pt x="73269" y="23077"/>
                </a:lnTo>
                <a:lnTo>
                  <a:pt x="74038" y="23846"/>
                </a:lnTo>
                <a:lnTo>
                  <a:pt x="75192" y="26154"/>
                </a:lnTo>
                <a:lnTo>
                  <a:pt x="75192" y="27692"/>
                </a:lnTo>
                <a:lnTo>
                  <a:pt x="75385" y="27885"/>
                </a:lnTo>
                <a:lnTo>
                  <a:pt x="75577" y="28077"/>
                </a:lnTo>
                <a:lnTo>
                  <a:pt x="75192" y="31538"/>
                </a:lnTo>
                <a:lnTo>
                  <a:pt x="76346" y="33077"/>
                </a:lnTo>
                <a:lnTo>
                  <a:pt x="76346" y="34231"/>
                </a:lnTo>
                <a:lnTo>
                  <a:pt x="76154" y="34423"/>
                </a:lnTo>
                <a:lnTo>
                  <a:pt x="75962" y="34615"/>
                </a:lnTo>
                <a:lnTo>
                  <a:pt x="75962" y="35000"/>
                </a:lnTo>
                <a:lnTo>
                  <a:pt x="75962" y="35385"/>
                </a:lnTo>
                <a:lnTo>
                  <a:pt x="73654" y="37308"/>
                </a:lnTo>
                <a:lnTo>
                  <a:pt x="72885" y="39231"/>
                </a:lnTo>
                <a:lnTo>
                  <a:pt x="70962" y="41154"/>
                </a:lnTo>
                <a:lnTo>
                  <a:pt x="70962" y="42692"/>
                </a:lnTo>
                <a:lnTo>
                  <a:pt x="71346" y="43462"/>
                </a:lnTo>
                <a:lnTo>
                  <a:pt x="72308" y="44038"/>
                </a:lnTo>
                <a:lnTo>
                  <a:pt x="72692" y="44038"/>
                </a:lnTo>
                <a:lnTo>
                  <a:pt x="73077" y="44038"/>
                </a:lnTo>
                <a:lnTo>
                  <a:pt x="73269" y="44231"/>
                </a:lnTo>
                <a:lnTo>
                  <a:pt x="73462" y="44423"/>
                </a:lnTo>
                <a:lnTo>
                  <a:pt x="75385" y="44808"/>
                </a:lnTo>
                <a:lnTo>
                  <a:pt x="80000" y="47115"/>
                </a:lnTo>
                <a:lnTo>
                  <a:pt x="82115" y="49231"/>
                </a:lnTo>
                <a:lnTo>
                  <a:pt x="82115" y="49615"/>
                </a:lnTo>
                <a:lnTo>
                  <a:pt x="83269" y="51154"/>
                </a:lnTo>
                <a:lnTo>
                  <a:pt x="83269" y="51538"/>
                </a:lnTo>
                <a:lnTo>
                  <a:pt x="83269" y="51923"/>
                </a:lnTo>
                <a:lnTo>
                  <a:pt x="83462" y="52115"/>
                </a:lnTo>
                <a:lnTo>
                  <a:pt x="83654" y="52308"/>
                </a:lnTo>
                <a:lnTo>
                  <a:pt x="83654" y="53462"/>
                </a:lnTo>
                <a:lnTo>
                  <a:pt x="83846" y="53654"/>
                </a:lnTo>
                <a:lnTo>
                  <a:pt x="84038" y="53846"/>
                </a:lnTo>
                <a:lnTo>
                  <a:pt x="84038" y="70000"/>
                </a:lnTo>
                <a:lnTo>
                  <a:pt x="84231" y="70192"/>
                </a:lnTo>
                <a:lnTo>
                  <a:pt x="84423" y="70385"/>
                </a:lnTo>
                <a:lnTo>
                  <a:pt x="83846" y="70962"/>
                </a:lnTo>
                <a:lnTo>
                  <a:pt x="83462" y="70962"/>
                </a:lnTo>
                <a:lnTo>
                  <a:pt x="82885" y="70385"/>
                </a:lnTo>
                <a:lnTo>
                  <a:pt x="82885" y="54231"/>
                </a:lnTo>
                <a:lnTo>
                  <a:pt x="82692" y="54038"/>
                </a:lnTo>
                <a:lnTo>
                  <a:pt x="82500" y="53846"/>
                </a:lnTo>
                <a:lnTo>
                  <a:pt x="82500" y="52692"/>
                </a:lnTo>
                <a:lnTo>
                  <a:pt x="82308" y="52500"/>
                </a:lnTo>
                <a:lnTo>
                  <a:pt x="82115" y="52308"/>
                </a:lnTo>
                <a:lnTo>
                  <a:pt x="82115" y="51923"/>
                </a:lnTo>
                <a:lnTo>
                  <a:pt x="82115" y="51538"/>
                </a:lnTo>
                <a:lnTo>
                  <a:pt x="81346" y="50000"/>
                </a:lnTo>
                <a:lnTo>
                  <a:pt x="78846" y="47500"/>
                </a:lnTo>
                <a:lnTo>
                  <a:pt x="76538" y="46346"/>
                </a:lnTo>
                <a:lnTo>
                  <a:pt x="76154" y="46346"/>
                </a:lnTo>
                <a:lnTo>
                  <a:pt x="75769" y="46346"/>
                </a:lnTo>
                <a:lnTo>
                  <a:pt x="74615" y="45577"/>
                </a:lnTo>
                <a:lnTo>
                  <a:pt x="73462" y="45577"/>
                </a:lnTo>
                <a:lnTo>
                  <a:pt x="73269" y="45385"/>
                </a:lnTo>
                <a:lnTo>
                  <a:pt x="73077" y="45192"/>
                </a:lnTo>
                <a:lnTo>
                  <a:pt x="72692" y="45192"/>
                </a:lnTo>
                <a:lnTo>
                  <a:pt x="70385" y="47885"/>
                </a:lnTo>
                <a:lnTo>
                  <a:pt x="68846" y="48654"/>
                </a:lnTo>
                <a:lnTo>
                  <a:pt x="68462" y="48654"/>
                </a:lnTo>
                <a:lnTo>
                  <a:pt x="68077" y="48654"/>
                </a:lnTo>
                <a:lnTo>
                  <a:pt x="67885" y="48846"/>
                </a:lnTo>
                <a:lnTo>
                  <a:pt x="67692" y="49038"/>
                </a:lnTo>
                <a:lnTo>
                  <a:pt x="65385" y="49038"/>
                </a:lnTo>
                <a:lnTo>
                  <a:pt x="65192" y="48846"/>
                </a:lnTo>
                <a:lnTo>
                  <a:pt x="65000" y="48654"/>
                </a:lnTo>
                <a:lnTo>
                  <a:pt x="64615" y="48654"/>
                </a:lnTo>
                <a:lnTo>
                  <a:pt x="64231" y="48654"/>
                </a:lnTo>
                <a:lnTo>
                  <a:pt x="63462" y="48269"/>
                </a:lnTo>
                <a:lnTo>
                  <a:pt x="61346" y="46538"/>
                </a:lnTo>
                <a:lnTo>
                  <a:pt x="60769" y="45192"/>
                </a:lnTo>
                <a:lnTo>
                  <a:pt x="58462" y="45192"/>
                </a:lnTo>
                <a:lnTo>
                  <a:pt x="58269" y="45385"/>
                </a:lnTo>
                <a:lnTo>
                  <a:pt x="58269" y="47692"/>
                </a:lnTo>
                <a:lnTo>
                  <a:pt x="58462" y="47885"/>
                </a:lnTo>
                <a:lnTo>
                  <a:pt x="58654" y="48077"/>
                </a:lnTo>
                <a:lnTo>
                  <a:pt x="58654" y="49231"/>
                </a:lnTo>
                <a:lnTo>
                  <a:pt x="58846" y="49423"/>
                </a:lnTo>
                <a:lnTo>
                  <a:pt x="59038" y="49615"/>
                </a:lnTo>
                <a:lnTo>
                  <a:pt x="59038" y="51923"/>
                </a:lnTo>
                <a:lnTo>
                  <a:pt x="60192" y="53462"/>
                </a:lnTo>
                <a:lnTo>
                  <a:pt x="60192" y="56923"/>
                </a:lnTo>
                <a:lnTo>
                  <a:pt x="59423" y="58462"/>
                </a:lnTo>
                <a:lnTo>
                  <a:pt x="58654" y="59231"/>
                </a:lnTo>
                <a:lnTo>
                  <a:pt x="60192" y="60769"/>
                </a:lnTo>
                <a:lnTo>
                  <a:pt x="60962" y="62308"/>
                </a:lnTo>
                <a:lnTo>
                  <a:pt x="61346" y="64231"/>
                </a:lnTo>
                <a:lnTo>
                  <a:pt x="61538" y="64423"/>
                </a:lnTo>
                <a:lnTo>
                  <a:pt x="61731" y="64615"/>
                </a:lnTo>
                <a:lnTo>
                  <a:pt x="61731" y="66538"/>
                </a:lnTo>
                <a:lnTo>
                  <a:pt x="61923" y="66731"/>
                </a:lnTo>
                <a:lnTo>
                  <a:pt x="62115" y="66923"/>
                </a:lnTo>
                <a:lnTo>
                  <a:pt x="62115" y="69615"/>
                </a:lnTo>
                <a:lnTo>
                  <a:pt x="62308" y="69808"/>
                </a:lnTo>
                <a:lnTo>
                  <a:pt x="62500" y="70000"/>
                </a:lnTo>
                <a:lnTo>
                  <a:pt x="62308" y="70962"/>
                </a:lnTo>
                <a:lnTo>
                  <a:pt x="61538" y="71346"/>
                </a:lnTo>
                <a:lnTo>
                  <a:pt x="61346" y="71154"/>
                </a:lnTo>
                <a:lnTo>
                  <a:pt x="61346" y="70000"/>
                </a:lnTo>
                <a:lnTo>
                  <a:pt x="61154" y="69808"/>
                </a:lnTo>
                <a:lnTo>
                  <a:pt x="60962" y="69615"/>
                </a:lnTo>
                <a:lnTo>
                  <a:pt x="60962" y="66154"/>
                </a:lnTo>
                <a:lnTo>
                  <a:pt x="60769" y="65962"/>
                </a:lnTo>
                <a:lnTo>
                  <a:pt x="60577" y="65769"/>
                </a:lnTo>
                <a:lnTo>
                  <a:pt x="60577" y="64231"/>
                </a:lnTo>
                <a:lnTo>
                  <a:pt x="60385" y="64038"/>
                </a:lnTo>
                <a:lnTo>
                  <a:pt x="60192" y="63846"/>
                </a:lnTo>
                <a:lnTo>
                  <a:pt x="60192" y="63462"/>
                </a:lnTo>
                <a:lnTo>
                  <a:pt x="60192" y="63077"/>
                </a:lnTo>
                <a:lnTo>
                  <a:pt x="59423" y="61538"/>
                </a:lnTo>
                <a:lnTo>
                  <a:pt x="57308" y="59423"/>
                </a:lnTo>
                <a:lnTo>
                  <a:pt x="56923" y="59423"/>
                </a:lnTo>
                <a:lnTo>
                  <a:pt x="56538" y="59423"/>
                </a:lnTo>
                <a:lnTo>
                  <a:pt x="55385" y="58654"/>
                </a:lnTo>
                <a:lnTo>
                  <a:pt x="54231" y="58654"/>
                </a:lnTo>
                <a:lnTo>
                  <a:pt x="54038" y="58462"/>
                </a:lnTo>
                <a:lnTo>
                  <a:pt x="53846" y="58269"/>
                </a:lnTo>
                <a:lnTo>
                  <a:pt x="53462" y="58269"/>
                </a:lnTo>
                <a:lnTo>
                  <a:pt x="53077" y="58269"/>
                </a:lnTo>
                <a:lnTo>
                  <a:pt x="52885" y="57308"/>
                </a:lnTo>
                <a:lnTo>
                  <a:pt x="52308" y="56731"/>
                </a:lnTo>
                <a:lnTo>
                  <a:pt x="51538" y="57115"/>
                </a:lnTo>
                <a:lnTo>
                  <a:pt x="50000" y="57115"/>
                </a:lnTo>
                <a:lnTo>
                  <a:pt x="49808" y="57308"/>
                </a:lnTo>
                <a:lnTo>
                  <a:pt x="49615" y="57500"/>
                </a:lnTo>
                <a:lnTo>
                  <a:pt x="49423" y="57308"/>
                </a:lnTo>
                <a:lnTo>
                  <a:pt x="49231" y="57115"/>
                </a:lnTo>
                <a:lnTo>
                  <a:pt x="48846" y="57115"/>
                </a:lnTo>
                <a:lnTo>
                  <a:pt x="48462" y="57115"/>
                </a:lnTo>
                <a:lnTo>
                  <a:pt x="47692" y="56731"/>
                </a:lnTo>
                <a:lnTo>
                  <a:pt x="46538" y="58269"/>
                </a:lnTo>
                <a:lnTo>
                  <a:pt x="46154" y="58269"/>
                </a:lnTo>
                <a:lnTo>
                  <a:pt x="45769" y="58269"/>
                </a:lnTo>
                <a:lnTo>
                  <a:pt x="45577" y="58462"/>
                </a:lnTo>
                <a:lnTo>
                  <a:pt x="45385" y="58654"/>
                </a:lnTo>
                <a:lnTo>
                  <a:pt x="45000" y="58654"/>
                </a:lnTo>
                <a:lnTo>
                  <a:pt x="44615" y="58654"/>
                </a:lnTo>
                <a:lnTo>
                  <a:pt x="43077" y="59423"/>
                </a:lnTo>
                <a:lnTo>
                  <a:pt x="40577" y="61923"/>
                </a:lnTo>
                <a:lnTo>
                  <a:pt x="40192" y="62692"/>
                </a:lnTo>
                <a:lnTo>
                  <a:pt x="40192" y="63077"/>
                </a:lnTo>
                <a:lnTo>
                  <a:pt x="40192" y="63462"/>
                </a:lnTo>
                <a:lnTo>
                  <a:pt x="40000" y="63654"/>
                </a:lnTo>
                <a:lnTo>
                  <a:pt x="39808" y="63846"/>
                </a:lnTo>
                <a:lnTo>
                  <a:pt x="39808" y="65000"/>
                </a:lnTo>
                <a:lnTo>
                  <a:pt x="39615" y="65192"/>
                </a:lnTo>
                <a:lnTo>
                  <a:pt x="39423" y="65385"/>
                </a:lnTo>
                <a:lnTo>
                  <a:pt x="39423" y="68077"/>
                </a:lnTo>
                <a:lnTo>
                  <a:pt x="39231" y="68269"/>
                </a:lnTo>
                <a:lnTo>
                  <a:pt x="39038" y="68462"/>
                </a:lnTo>
                <a:lnTo>
                  <a:pt x="39038" y="70769"/>
                </a:lnTo>
                <a:lnTo>
                  <a:pt x="38846" y="70962"/>
                </a:lnTo>
                <a:lnTo>
                  <a:pt x="37885" y="70769"/>
                </a:lnTo>
                <a:lnTo>
                  <a:pt x="37885" y="70385"/>
                </a:lnTo>
                <a:lnTo>
                  <a:pt x="37885" y="70000"/>
                </a:lnTo>
                <a:lnTo>
                  <a:pt x="38077" y="69808"/>
                </a:lnTo>
                <a:lnTo>
                  <a:pt x="38269" y="69615"/>
                </a:lnTo>
                <a:lnTo>
                  <a:pt x="38269" y="66154"/>
                </a:lnTo>
                <a:lnTo>
                  <a:pt x="38654" y="65385"/>
                </a:lnTo>
                <a:lnTo>
                  <a:pt x="38654" y="63846"/>
                </a:lnTo>
                <a:lnTo>
                  <a:pt x="38846" y="63654"/>
                </a:lnTo>
                <a:lnTo>
                  <a:pt x="39038" y="63462"/>
                </a:lnTo>
                <a:lnTo>
                  <a:pt x="39038" y="62308"/>
                </a:lnTo>
                <a:lnTo>
                  <a:pt x="39423" y="61538"/>
                </a:lnTo>
                <a:lnTo>
                  <a:pt x="41731" y="59231"/>
                </a:lnTo>
                <a:lnTo>
                  <a:pt x="40577" y="58077"/>
                </a:lnTo>
                <a:lnTo>
                  <a:pt x="40192" y="57308"/>
                </a:lnTo>
                <a:lnTo>
                  <a:pt x="40192" y="56923"/>
                </a:lnTo>
                <a:lnTo>
                  <a:pt x="40192" y="56538"/>
                </a:lnTo>
                <a:lnTo>
                  <a:pt x="40000" y="56346"/>
                </a:lnTo>
                <a:lnTo>
                  <a:pt x="39808" y="56154"/>
                </a:lnTo>
                <a:lnTo>
                  <a:pt x="39808" y="54231"/>
                </a:lnTo>
                <a:lnTo>
                  <a:pt x="40000" y="54038"/>
                </a:lnTo>
                <a:lnTo>
                  <a:pt x="40192" y="53846"/>
                </a:lnTo>
                <a:lnTo>
                  <a:pt x="40192" y="53462"/>
                </a:lnTo>
                <a:lnTo>
                  <a:pt x="40192" y="53077"/>
                </a:lnTo>
                <a:lnTo>
                  <a:pt x="40962" y="51538"/>
                </a:lnTo>
                <a:lnTo>
                  <a:pt x="40769" y="51346"/>
                </a:lnTo>
                <a:lnTo>
                  <a:pt x="40385" y="51346"/>
                </a:lnTo>
                <a:lnTo>
                  <a:pt x="39231" y="52500"/>
                </a:lnTo>
                <a:lnTo>
                  <a:pt x="37692" y="53269"/>
                </a:lnTo>
                <a:lnTo>
                  <a:pt x="35769" y="53269"/>
                </a:lnTo>
                <a:lnTo>
                  <a:pt x="35577" y="53077"/>
                </a:lnTo>
                <a:lnTo>
                  <a:pt x="35385" y="52885"/>
                </a:lnTo>
                <a:lnTo>
                  <a:pt x="35000" y="52885"/>
                </a:lnTo>
                <a:lnTo>
                  <a:pt x="34615" y="52885"/>
                </a:lnTo>
                <a:lnTo>
                  <a:pt x="33077" y="52115"/>
                </a:lnTo>
                <a:lnTo>
                  <a:pt x="31346" y="50000"/>
                </a:lnTo>
                <a:lnTo>
                  <a:pt x="30962" y="49231"/>
                </a:lnTo>
                <a:lnTo>
                  <a:pt x="30962" y="48846"/>
                </a:lnTo>
                <a:lnTo>
                  <a:pt x="30962" y="48462"/>
                </a:lnTo>
                <a:lnTo>
                  <a:pt x="30769" y="48269"/>
                </a:lnTo>
                <a:lnTo>
                  <a:pt x="30577" y="48077"/>
                </a:lnTo>
                <a:lnTo>
                  <a:pt x="30577" y="46923"/>
                </a:lnTo>
                <a:lnTo>
                  <a:pt x="30385" y="46731"/>
                </a:lnTo>
                <a:lnTo>
                  <a:pt x="30192" y="46538"/>
                </a:lnTo>
                <a:lnTo>
                  <a:pt x="30192" y="46154"/>
                </a:lnTo>
                <a:lnTo>
                  <a:pt x="30192" y="45769"/>
                </a:lnTo>
                <a:lnTo>
                  <a:pt x="30000" y="45577"/>
                </a:lnTo>
                <a:lnTo>
                  <a:pt x="29615" y="45577"/>
                </a:lnTo>
                <a:lnTo>
                  <a:pt x="29423" y="45769"/>
                </a:lnTo>
                <a:lnTo>
                  <a:pt x="29231" y="45962"/>
                </a:lnTo>
                <a:lnTo>
                  <a:pt x="28846" y="45962"/>
                </a:lnTo>
                <a:lnTo>
                  <a:pt x="28462" y="45962"/>
                </a:lnTo>
                <a:lnTo>
                  <a:pt x="28269" y="46154"/>
                </a:lnTo>
                <a:lnTo>
                  <a:pt x="28077" y="46346"/>
                </a:lnTo>
                <a:lnTo>
                  <a:pt x="26154" y="46731"/>
                </a:lnTo>
                <a:lnTo>
                  <a:pt x="23846" y="47885"/>
                </a:lnTo>
                <a:lnTo>
                  <a:pt x="22115" y="49615"/>
                </a:lnTo>
                <a:lnTo>
                  <a:pt x="22115" y="50000"/>
                </a:lnTo>
                <a:lnTo>
                  <a:pt x="20962" y="51538"/>
                </a:lnTo>
                <a:lnTo>
                  <a:pt x="20962" y="51923"/>
                </a:lnTo>
                <a:lnTo>
                  <a:pt x="20962" y="52308"/>
                </a:lnTo>
                <a:lnTo>
                  <a:pt x="20769" y="52500"/>
                </a:lnTo>
                <a:lnTo>
                  <a:pt x="20577" y="52692"/>
                </a:lnTo>
                <a:lnTo>
                  <a:pt x="20577" y="54231"/>
                </a:lnTo>
                <a:lnTo>
                  <a:pt x="20385" y="54423"/>
                </a:lnTo>
                <a:lnTo>
                  <a:pt x="20192" y="54615"/>
                </a:lnTo>
                <a:lnTo>
                  <a:pt x="20192" y="70769"/>
                </a:lnTo>
                <a:lnTo>
                  <a:pt x="20000" y="70962"/>
                </a:lnTo>
                <a:lnTo>
                  <a:pt x="19038" y="70769"/>
                </a:lnTo>
                <a:lnTo>
                  <a:pt x="19038" y="53846"/>
                </a:lnTo>
                <a:lnTo>
                  <a:pt x="19231" y="53654"/>
                </a:lnTo>
                <a:lnTo>
                  <a:pt x="19423" y="53462"/>
                </a:lnTo>
                <a:lnTo>
                  <a:pt x="19423" y="52308"/>
                </a:lnTo>
                <a:lnTo>
                  <a:pt x="19615" y="52115"/>
                </a:lnTo>
                <a:lnTo>
                  <a:pt x="19808" y="51923"/>
                </a:lnTo>
                <a:lnTo>
                  <a:pt x="19808" y="51538"/>
                </a:lnTo>
                <a:lnTo>
                  <a:pt x="19808" y="51154"/>
                </a:lnTo>
                <a:lnTo>
                  <a:pt x="20577" y="49615"/>
                </a:lnTo>
                <a:lnTo>
                  <a:pt x="22692" y="47500"/>
                </a:lnTo>
                <a:lnTo>
                  <a:pt x="23846" y="47115"/>
                </a:lnTo>
                <a:lnTo>
                  <a:pt x="24615" y="46346"/>
                </a:lnTo>
                <a:lnTo>
                  <a:pt x="25577" y="46154"/>
                </a:lnTo>
                <a:lnTo>
                  <a:pt x="25577" y="45769"/>
                </a:lnTo>
                <a:lnTo>
                  <a:pt x="25577" y="45385"/>
                </a:lnTo>
                <a:lnTo>
                  <a:pt x="24808" y="43846"/>
                </a:lnTo>
                <a:lnTo>
                  <a:pt x="24808" y="40000"/>
                </a:lnTo>
                <a:lnTo>
                  <a:pt x="25577" y="38846"/>
                </a:lnTo>
                <a:lnTo>
                  <a:pt x="25577" y="38462"/>
                </a:lnTo>
                <a:lnTo>
                  <a:pt x="25577" y="38077"/>
                </a:lnTo>
                <a:lnTo>
                  <a:pt x="25769" y="37885"/>
                </a:lnTo>
                <a:lnTo>
                  <a:pt x="25962" y="37692"/>
                </a:lnTo>
                <a:lnTo>
                  <a:pt x="25962" y="37308"/>
                </a:lnTo>
                <a:lnTo>
                  <a:pt x="25962" y="36923"/>
                </a:lnTo>
                <a:lnTo>
                  <a:pt x="26154" y="36731"/>
                </a:lnTo>
                <a:lnTo>
                  <a:pt x="26346" y="36538"/>
                </a:lnTo>
                <a:lnTo>
                  <a:pt x="26346" y="36154"/>
                </a:lnTo>
                <a:lnTo>
                  <a:pt x="26346" y="35769"/>
                </a:lnTo>
                <a:lnTo>
                  <a:pt x="27115" y="34231"/>
                </a:lnTo>
                <a:lnTo>
                  <a:pt x="27115" y="30000"/>
                </a:lnTo>
                <a:lnTo>
                  <a:pt x="27308" y="29808"/>
                </a:lnTo>
                <a:lnTo>
                  <a:pt x="27500" y="29615"/>
                </a:lnTo>
                <a:lnTo>
                  <a:pt x="27500" y="28462"/>
                </a:lnTo>
                <a:lnTo>
                  <a:pt x="27692" y="28269"/>
                </a:lnTo>
                <a:lnTo>
                  <a:pt x="27885" y="28077"/>
                </a:lnTo>
                <a:lnTo>
                  <a:pt x="27885" y="27692"/>
                </a:lnTo>
                <a:lnTo>
                  <a:pt x="27885" y="27308"/>
                </a:lnTo>
                <a:lnTo>
                  <a:pt x="29038" y="25000"/>
                </a:lnTo>
                <a:lnTo>
                  <a:pt x="30769" y="23269"/>
                </a:lnTo>
                <a:lnTo>
                  <a:pt x="31154" y="23269"/>
                </a:lnTo>
                <a:lnTo>
                  <a:pt x="31923" y="22500"/>
                </a:lnTo>
                <a:lnTo>
                  <a:pt x="32692" y="22115"/>
                </a:lnTo>
                <a:lnTo>
                  <a:pt x="33077" y="22115"/>
                </a:lnTo>
                <a:lnTo>
                  <a:pt x="33462" y="22115"/>
                </a:lnTo>
                <a:lnTo>
                  <a:pt x="33654" y="21923"/>
                </a:lnTo>
                <a:lnTo>
                  <a:pt x="33846" y="21731"/>
                </a:lnTo>
                <a:lnTo>
                  <a:pt x="35385" y="21731"/>
                </a:lnTo>
                <a:lnTo>
                  <a:pt x="35577" y="21538"/>
                </a:lnTo>
                <a:lnTo>
                  <a:pt x="35769" y="21346"/>
                </a:lnTo>
                <a:lnTo>
                  <a:pt x="36538" y="21731"/>
                </a:lnTo>
                <a:lnTo>
                  <a:pt x="38077" y="21731"/>
                </a:lnTo>
                <a:lnTo>
                  <a:pt x="39231" y="22500"/>
                </a:lnTo>
                <a:lnTo>
                  <a:pt x="40769" y="22500"/>
                </a:lnTo>
                <a:lnTo>
                  <a:pt x="41538" y="22885"/>
                </a:lnTo>
                <a:lnTo>
                  <a:pt x="43654" y="24615"/>
                </a:lnTo>
                <a:lnTo>
                  <a:pt x="43654" y="25000"/>
                </a:lnTo>
                <a:lnTo>
                  <a:pt x="44423" y="25769"/>
                </a:lnTo>
                <a:lnTo>
                  <a:pt x="45192" y="27308"/>
                </a:lnTo>
                <a:lnTo>
                  <a:pt x="45192" y="27692"/>
                </a:lnTo>
                <a:lnTo>
                  <a:pt x="45192" y="28077"/>
                </a:lnTo>
                <a:lnTo>
                  <a:pt x="45385" y="28269"/>
                </a:lnTo>
                <a:lnTo>
                  <a:pt x="45577" y="28462"/>
                </a:lnTo>
                <a:lnTo>
                  <a:pt x="45577" y="31538"/>
                </a:lnTo>
                <a:lnTo>
                  <a:pt x="45769" y="31731"/>
                </a:lnTo>
                <a:lnTo>
                  <a:pt x="45962" y="31923"/>
                </a:lnTo>
                <a:lnTo>
                  <a:pt x="45962" y="35000"/>
                </a:lnTo>
                <a:lnTo>
                  <a:pt x="46154" y="35192"/>
                </a:lnTo>
                <a:lnTo>
                  <a:pt x="46346" y="35385"/>
                </a:lnTo>
                <a:lnTo>
                  <a:pt x="46346" y="36538"/>
                </a:lnTo>
                <a:lnTo>
                  <a:pt x="46538" y="36731"/>
                </a:lnTo>
                <a:lnTo>
                  <a:pt x="46731" y="36923"/>
                </a:lnTo>
                <a:lnTo>
                  <a:pt x="46731" y="38077"/>
                </a:lnTo>
                <a:lnTo>
                  <a:pt x="47115" y="38846"/>
                </a:lnTo>
                <a:lnTo>
                  <a:pt x="48077" y="39038"/>
                </a:lnTo>
                <a:lnTo>
                  <a:pt x="48269" y="38846"/>
                </a:lnTo>
                <a:lnTo>
                  <a:pt x="48462" y="38654"/>
                </a:lnTo>
                <a:lnTo>
                  <a:pt x="51538" y="38654"/>
                </a:lnTo>
                <a:lnTo>
                  <a:pt x="51731" y="38846"/>
                </a:lnTo>
                <a:lnTo>
                  <a:pt x="51923" y="39038"/>
                </a:lnTo>
                <a:lnTo>
                  <a:pt x="53846" y="39423"/>
                </a:lnTo>
                <a:lnTo>
                  <a:pt x="55385" y="40577"/>
                </a:lnTo>
                <a:lnTo>
                  <a:pt x="55769" y="40577"/>
                </a:lnTo>
                <a:lnTo>
                  <a:pt x="56731" y="41538"/>
                </a:lnTo>
                <a:lnTo>
                  <a:pt x="56731" y="41923"/>
                </a:lnTo>
                <a:lnTo>
                  <a:pt x="57500" y="42692"/>
                </a:lnTo>
                <a:lnTo>
                  <a:pt x="57500" y="43077"/>
                </a:lnTo>
                <a:lnTo>
                  <a:pt x="57500" y="43462"/>
                </a:lnTo>
                <a:lnTo>
                  <a:pt x="58077" y="44423"/>
                </a:lnTo>
                <a:lnTo>
                  <a:pt x="58846" y="44038"/>
                </a:lnTo>
                <a:lnTo>
                  <a:pt x="59615" y="44423"/>
                </a:lnTo>
                <a:lnTo>
                  <a:pt x="61731" y="43077"/>
                </a:lnTo>
                <a:lnTo>
                  <a:pt x="62115" y="41154"/>
                </a:lnTo>
                <a:lnTo>
                  <a:pt x="60577" y="39615"/>
                </a:lnTo>
                <a:lnTo>
                  <a:pt x="60577" y="39231"/>
                </a:lnTo>
                <a:lnTo>
                  <a:pt x="59808" y="38462"/>
                </a:lnTo>
                <a:lnTo>
                  <a:pt x="59808" y="38077"/>
                </a:lnTo>
                <a:lnTo>
                  <a:pt x="59808" y="37692"/>
                </a:lnTo>
                <a:lnTo>
                  <a:pt x="59231" y="37115"/>
                </a:lnTo>
                <a:lnTo>
                  <a:pt x="58846" y="37115"/>
                </a:lnTo>
                <a:lnTo>
                  <a:pt x="58462" y="37115"/>
                </a:lnTo>
                <a:lnTo>
                  <a:pt x="57500" y="36154"/>
                </a:lnTo>
                <a:lnTo>
                  <a:pt x="56731" y="33462"/>
                </a:lnTo>
                <a:lnTo>
                  <a:pt x="56923" y="33269"/>
                </a:lnTo>
                <a:lnTo>
                  <a:pt x="57115" y="33077"/>
                </a:lnTo>
                <a:lnTo>
                  <a:pt x="57115" y="32692"/>
                </a:lnTo>
                <a:lnTo>
                  <a:pt x="57115" y="32308"/>
                </a:lnTo>
                <a:lnTo>
                  <a:pt x="58654" y="31154"/>
                </a:lnTo>
                <a:lnTo>
                  <a:pt x="58269" y="30385"/>
                </a:lnTo>
                <a:lnTo>
                  <a:pt x="58269" y="28462"/>
                </a:lnTo>
                <a:lnTo>
                  <a:pt x="57885" y="27692"/>
                </a:lnTo>
                <a:lnTo>
                  <a:pt x="58077" y="27500"/>
                </a:lnTo>
                <a:lnTo>
                  <a:pt x="58269" y="27308"/>
                </a:lnTo>
                <a:lnTo>
                  <a:pt x="58269" y="25769"/>
                </a:lnTo>
                <a:lnTo>
                  <a:pt x="59038" y="24231"/>
                </a:lnTo>
                <a:lnTo>
                  <a:pt x="61154" y="21731"/>
                </a:lnTo>
                <a:lnTo>
                  <a:pt x="63462" y="20577"/>
                </a:lnTo>
                <a:lnTo>
                  <a:pt x="64423" y="20385"/>
                </a:lnTo>
                <a:close/>
                <a:moveTo>
                  <a:pt x="66154" y="20962"/>
                </a:moveTo>
                <a:lnTo>
                  <a:pt x="65962" y="21154"/>
                </a:lnTo>
                <a:lnTo>
                  <a:pt x="65769" y="21346"/>
                </a:lnTo>
                <a:lnTo>
                  <a:pt x="64615" y="21346"/>
                </a:lnTo>
                <a:lnTo>
                  <a:pt x="64423" y="21538"/>
                </a:lnTo>
                <a:lnTo>
                  <a:pt x="64231" y="21731"/>
                </a:lnTo>
                <a:lnTo>
                  <a:pt x="63846" y="21731"/>
                </a:lnTo>
                <a:lnTo>
                  <a:pt x="63462" y="21731"/>
                </a:lnTo>
                <a:lnTo>
                  <a:pt x="62692" y="22115"/>
                </a:lnTo>
                <a:lnTo>
                  <a:pt x="60192" y="24231"/>
                </a:lnTo>
                <a:lnTo>
                  <a:pt x="59423" y="25769"/>
                </a:lnTo>
                <a:lnTo>
                  <a:pt x="59423" y="26923"/>
                </a:lnTo>
                <a:lnTo>
                  <a:pt x="59231" y="27115"/>
                </a:lnTo>
                <a:lnTo>
                  <a:pt x="59038" y="27308"/>
                </a:lnTo>
                <a:lnTo>
                  <a:pt x="59038" y="28846"/>
                </a:lnTo>
                <a:lnTo>
                  <a:pt x="59231" y="29038"/>
                </a:lnTo>
                <a:lnTo>
                  <a:pt x="59423" y="29231"/>
                </a:lnTo>
                <a:lnTo>
                  <a:pt x="59423" y="29615"/>
                </a:lnTo>
                <a:lnTo>
                  <a:pt x="59423" y="30000"/>
                </a:lnTo>
                <a:lnTo>
                  <a:pt x="59615" y="30192"/>
                </a:lnTo>
                <a:lnTo>
                  <a:pt x="60000" y="30192"/>
                </a:lnTo>
                <a:lnTo>
                  <a:pt x="60962" y="28077"/>
                </a:lnTo>
                <a:lnTo>
                  <a:pt x="62692" y="26346"/>
                </a:lnTo>
                <a:lnTo>
                  <a:pt x="63077" y="26346"/>
                </a:lnTo>
                <a:lnTo>
                  <a:pt x="64615" y="27500"/>
                </a:lnTo>
                <a:lnTo>
                  <a:pt x="65769" y="27500"/>
                </a:lnTo>
                <a:lnTo>
                  <a:pt x="65962" y="27692"/>
                </a:lnTo>
                <a:lnTo>
                  <a:pt x="66154" y="27885"/>
                </a:lnTo>
                <a:lnTo>
                  <a:pt x="66923" y="27500"/>
                </a:lnTo>
                <a:lnTo>
                  <a:pt x="67308" y="27500"/>
                </a:lnTo>
                <a:lnTo>
                  <a:pt x="67692" y="27500"/>
                </a:lnTo>
                <a:lnTo>
                  <a:pt x="69231" y="26346"/>
                </a:lnTo>
                <a:lnTo>
                  <a:pt x="70000" y="25962"/>
                </a:lnTo>
                <a:lnTo>
                  <a:pt x="70385" y="25962"/>
                </a:lnTo>
                <a:lnTo>
                  <a:pt x="70769" y="25962"/>
                </a:lnTo>
                <a:lnTo>
                  <a:pt x="72500" y="29615"/>
                </a:lnTo>
                <a:lnTo>
                  <a:pt x="73846" y="30962"/>
                </a:lnTo>
                <a:lnTo>
                  <a:pt x="74038" y="30769"/>
                </a:lnTo>
                <a:lnTo>
                  <a:pt x="74038" y="26154"/>
                </a:lnTo>
                <a:lnTo>
                  <a:pt x="73269" y="24615"/>
                </a:lnTo>
                <a:lnTo>
                  <a:pt x="70769" y="22115"/>
                </a:lnTo>
                <a:lnTo>
                  <a:pt x="69231" y="21346"/>
                </a:lnTo>
                <a:lnTo>
                  <a:pt x="68077" y="21346"/>
                </a:lnTo>
                <a:lnTo>
                  <a:pt x="67885" y="21154"/>
                </a:lnTo>
                <a:lnTo>
                  <a:pt x="67692" y="20962"/>
                </a:lnTo>
                <a:lnTo>
                  <a:pt x="66154" y="20962"/>
                </a:lnTo>
                <a:close/>
                <a:moveTo>
                  <a:pt x="34615" y="22500"/>
                </a:moveTo>
                <a:lnTo>
                  <a:pt x="34423" y="22692"/>
                </a:lnTo>
                <a:lnTo>
                  <a:pt x="34231" y="22885"/>
                </a:lnTo>
                <a:lnTo>
                  <a:pt x="33846" y="22885"/>
                </a:lnTo>
                <a:lnTo>
                  <a:pt x="33462" y="22885"/>
                </a:lnTo>
                <a:lnTo>
                  <a:pt x="31923" y="23654"/>
                </a:lnTo>
                <a:lnTo>
                  <a:pt x="30192" y="25385"/>
                </a:lnTo>
                <a:lnTo>
                  <a:pt x="30192" y="25769"/>
                </a:lnTo>
                <a:lnTo>
                  <a:pt x="29423" y="26538"/>
                </a:lnTo>
                <a:lnTo>
                  <a:pt x="29038" y="27308"/>
                </a:lnTo>
                <a:lnTo>
                  <a:pt x="29038" y="27692"/>
                </a:lnTo>
                <a:lnTo>
                  <a:pt x="29038" y="28077"/>
                </a:lnTo>
                <a:lnTo>
                  <a:pt x="28846" y="28269"/>
                </a:lnTo>
                <a:lnTo>
                  <a:pt x="28654" y="28462"/>
                </a:lnTo>
                <a:lnTo>
                  <a:pt x="28654" y="29615"/>
                </a:lnTo>
                <a:lnTo>
                  <a:pt x="28462" y="29808"/>
                </a:lnTo>
                <a:lnTo>
                  <a:pt x="28269" y="30000"/>
                </a:lnTo>
                <a:lnTo>
                  <a:pt x="28269" y="33846"/>
                </a:lnTo>
                <a:lnTo>
                  <a:pt x="28462" y="34038"/>
                </a:lnTo>
                <a:lnTo>
                  <a:pt x="28846" y="34038"/>
                </a:lnTo>
                <a:lnTo>
                  <a:pt x="29231" y="32885"/>
                </a:lnTo>
                <a:lnTo>
                  <a:pt x="30385" y="32885"/>
                </a:lnTo>
                <a:lnTo>
                  <a:pt x="30577" y="32692"/>
                </a:lnTo>
                <a:lnTo>
                  <a:pt x="30769" y="32500"/>
                </a:lnTo>
                <a:lnTo>
                  <a:pt x="31154" y="32500"/>
                </a:lnTo>
                <a:lnTo>
                  <a:pt x="31538" y="32500"/>
                </a:lnTo>
                <a:lnTo>
                  <a:pt x="31731" y="32308"/>
                </a:lnTo>
                <a:lnTo>
                  <a:pt x="31923" y="32115"/>
                </a:lnTo>
                <a:lnTo>
                  <a:pt x="33846" y="31731"/>
                </a:lnTo>
                <a:lnTo>
                  <a:pt x="35385" y="30577"/>
                </a:lnTo>
                <a:lnTo>
                  <a:pt x="35769" y="30577"/>
                </a:lnTo>
                <a:lnTo>
                  <a:pt x="37115" y="29231"/>
                </a:lnTo>
                <a:lnTo>
                  <a:pt x="38077" y="27115"/>
                </a:lnTo>
                <a:lnTo>
                  <a:pt x="38269" y="26923"/>
                </a:lnTo>
                <a:lnTo>
                  <a:pt x="38462" y="26731"/>
                </a:lnTo>
                <a:lnTo>
                  <a:pt x="38846" y="26731"/>
                </a:lnTo>
                <a:lnTo>
                  <a:pt x="39038" y="26923"/>
                </a:lnTo>
                <a:lnTo>
                  <a:pt x="39038" y="28846"/>
                </a:lnTo>
                <a:lnTo>
                  <a:pt x="39423" y="29615"/>
                </a:lnTo>
                <a:lnTo>
                  <a:pt x="41923" y="32115"/>
                </a:lnTo>
                <a:lnTo>
                  <a:pt x="44615" y="33269"/>
                </a:lnTo>
                <a:lnTo>
                  <a:pt x="44808" y="33077"/>
                </a:lnTo>
                <a:lnTo>
                  <a:pt x="44808" y="30000"/>
                </a:lnTo>
                <a:lnTo>
                  <a:pt x="44615" y="29808"/>
                </a:lnTo>
                <a:lnTo>
                  <a:pt x="44423" y="29615"/>
                </a:lnTo>
                <a:lnTo>
                  <a:pt x="44423" y="28462"/>
                </a:lnTo>
                <a:lnTo>
                  <a:pt x="43654" y="27308"/>
                </a:lnTo>
                <a:lnTo>
                  <a:pt x="43654" y="26923"/>
                </a:lnTo>
                <a:lnTo>
                  <a:pt x="43654" y="26538"/>
                </a:lnTo>
                <a:lnTo>
                  <a:pt x="42885" y="25769"/>
                </a:lnTo>
                <a:lnTo>
                  <a:pt x="42885" y="25385"/>
                </a:lnTo>
                <a:lnTo>
                  <a:pt x="41538" y="24038"/>
                </a:lnTo>
                <a:lnTo>
                  <a:pt x="40769" y="23654"/>
                </a:lnTo>
                <a:lnTo>
                  <a:pt x="39231" y="23654"/>
                </a:lnTo>
                <a:lnTo>
                  <a:pt x="37692" y="22500"/>
                </a:lnTo>
                <a:lnTo>
                  <a:pt x="34615" y="22500"/>
                </a:lnTo>
                <a:close/>
                <a:moveTo>
                  <a:pt x="63077" y="27500"/>
                </a:moveTo>
                <a:lnTo>
                  <a:pt x="62115" y="28462"/>
                </a:lnTo>
                <a:lnTo>
                  <a:pt x="62115" y="28846"/>
                </a:lnTo>
                <a:lnTo>
                  <a:pt x="61346" y="29615"/>
                </a:lnTo>
                <a:lnTo>
                  <a:pt x="60577" y="31154"/>
                </a:lnTo>
                <a:lnTo>
                  <a:pt x="59423" y="31923"/>
                </a:lnTo>
                <a:lnTo>
                  <a:pt x="59423" y="33077"/>
                </a:lnTo>
                <a:lnTo>
                  <a:pt x="59615" y="33269"/>
                </a:lnTo>
                <a:lnTo>
                  <a:pt x="59808" y="33462"/>
                </a:lnTo>
                <a:lnTo>
                  <a:pt x="59808" y="35000"/>
                </a:lnTo>
                <a:lnTo>
                  <a:pt x="60000" y="35192"/>
                </a:lnTo>
                <a:lnTo>
                  <a:pt x="60192" y="35385"/>
                </a:lnTo>
                <a:lnTo>
                  <a:pt x="60577" y="37308"/>
                </a:lnTo>
                <a:lnTo>
                  <a:pt x="61346" y="38846"/>
                </a:lnTo>
                <a:lnTo>
                  <a:pt x="63846" y="41346"/>
                </a:lnTo>
                <a:lnTo>
                  <a:pt x="65385" y="42115"/>
                </a:lnTo>
                <a:lnTo>
                  <a:pt x="67308" y="42115"/>
                </a:lnTo>
                <a:lnTo>
                  <a:pt x="69615" y="40962"/>
                </a:lnTo>
                <a:lnTo>
                  <a:pt x="71731" y="38846"/>
                </a:lnTo>
                <a:lnTo>
                  <a:pt x="71731" y="38462"/>
                </a:lnTo>
                <a:lnTo>
                  <a:pt x="72500" y="37692"/>
                </a:lnTo>
                <a:lnTo>
                  <a:pt x="72500" y="37308"/>
                </a:lnTo>
                <a:lnTo>
                  <a:pt x="72500" y="36923"/>
                </a:lnTo>
                <a:lnTo>
                  <a:pt x="73269" y="35385"/>
                </a:lnTo>
                <a:lnTo>
                  <a:pt x="73269" y="34231"/>
                </a:lnTo>
                <a:lnTo>
                  <a:pt x="73462" y="34038"/>
                </a:lnTo>
                <a:lnTo>
                  <a:pt x="73654" y="33846"/>
                </a:lnTo>
                <a:lnTo>
                  <a:pt x="73654" y="31923"/>
                </a:lnTo>
                <a:lnTo>
                  <a:pt x="73462" y="31731"/>
                </a:lnTo>
                <a:lnTo>
                  <a:pt x="73077" y="31731"/>
                </a:lnTo>
                <a:lnTo>
                  <a:pt x="71731" y="30385"/>
                </a:lnTo>
                <a:lnTo>
                  <a:pt x="70385" y="27500"/>
                </a:lnTo>
                <a:lnTo>
                  <a:pt x="70000" y="27500"/>
                </a:lnTo>
                <a:lnTo>
                  <a:pt x="69615" y="27500"/>
                </a:lnTo>
                <a:lnTo>
                  <a:pt x="68462" y="28269"/>
                </a:lnTo>
                <a:lnTo>
                  <a:pt x="64231" y="28269"/>
                </a:lnTo>
                <a:lnTo>
                  <a:pt x="63462" y="27500"/>
                </a:lnTo>
                <a:lnTo>
                  <a:pt x="63077" y="27500"/>
                </a:lnTo>
                <a:close/>
                <a:moveTo>
                  <a:pt x="38077" y="29423"/>
                </a:moveTo>
                <a:lnTo>
                  <a:pt x="35385" y="32115"/>
                </a:lnTo>
                <a:lnTo>
                  <a:pt x="33846" y="32885"/>
                </a:lnTo>
                <a:lnTo>
                  <a:pt x="33462" y="32885"/>
                </a:lnTo>
                <a:lnTo>
                  <a:pt x="33077" y="32885"/>
                </a:lnTo>
                <a:lnTo>
                  <a:pt x="32885" y="33077"/>
                </a:lnTo>
                <a:lnTo>
                  <a:pt x="32692" y="33269"/>
                </a:lnTo>
                <a:lnTo>
                  <a:pt x="30769" y="33654"/>
                </a:lnTo>
                <a:lnTo>
                  <a:pt x="30192" y="34231"/>
                </a:lnTo>
                <a:lnTo>
                  <a:pt x="30577" y="35000"/>
                </a:lnTo>
                <a:lnTo>
                  <a:pt x="30577" y="36538"/>
                </a:lnTo>
                <a:lnTo>
                  <a:pt x="30769" y="36731"/>
                </a:lnTo>
                <a:lnTo>
                  <a:pt x="30962" y="36923"/>
                </a:lnTo>
                <a:lnTo>
                  <a:pt x="30962" y="37308"/>
                </a:lnTo>
                <a:lnTo>
                  <a:pt x="30962" y="37692"/>
                </a:lnTo>
                <a:lnTo>
                  <a:pt x="31731" y="39231"/>
                </a:lnTo>
                <a:lnTo>
                  <a:pt x="32885" y="40385"/>
                </a:lnTo>
                <a:lnTo>
                  <a:pt x="32885" y="40769"/>
                </a:lnTo>
                <a:lnTo>
                  <a:pt x="33077" y="40962"/>
                </a:lnTo>
                <a:lnTo>
                  <a:pt x="33462" y="40962"/>
                </a:lnTo>
                <a:lnTo>
                  <a:pt x="34231" y="41731"/>
                </a:lnTo>
                <a:lnTo>
                  <a:pt x="34615" y="41731"/>
                </a:lnTo>
                <a:lnTo>
                  <a:pt x="34808" y="41923"/>
                </a:lnTo>
                <a:lnTo>
                  <a:pt x="35000" y="42115"/>
                </a:lnTo>
                <a:lnTo>
                  <a:pt x="37692" y="42115"/>
                </a:lnTo>
                <a:lnTo>
                  <a:pt x="38462" y="41731"/>
                </a:lnTo>
                <a:lnTo>
                  <a:pt x="39615" y="40577"/>
                </a:lnTo>
                <a:lnTo>
                  <a:pt x="40000" y="40577"/>
                </a:lnTo>
                <a:lnTo>
                  <a:pt x="40962" y="39615"/>
                </a:lnTo>
                <a:lnTo>
                  <a:pt x="41731" y="38077"/>
                </a:lnTo>
                <a:lnTo>
                  <a:pt x="42115" y="36154"/>
                </a:lnTo>
                <a:lnTo>
                  <a:pt x="42308" y="35962"/>
                </a:lnTo>
                <a:lnTo>
                  <a:pt x="42500" y="35769"/>
                </a:lnTo>
                <a:lnTo>
                  <a:pt x="42500" y="33462"/>
                </a:lnTo>
                <a:lnTo>
                  <a:pt x="41154" y="32885"/>
                </a:lnTo>
                <a:lnTo>
                  <a:pt x="39423" y="31154"/>
                </a:lnTo>
                <a:lnTo>
                  <a:pt x="38654" y="29615"/>
                </a:lnTo>
                <a:lnTo>
                  <a:pt x="38462" y="29423"/>
                </a:lnTo>
                <a:lnTo>
                  <a:pt x="38077" y="29423"/>
                </a:lnTo>
                <a:close/>
                <a:moveTo>
                  <a:pt x="58077" y="32885"/>
                </a:moveTo>
                <a:lnTo>
                  <a:pt x="57500" y="33846"/>
                </a:lnTo>
                <a:lnTo>
                  <a:pt x="57692" y="34038"/>
                </a:lnTo>
                <a:lnTo>
                  <a:pt x="57885" y="34231"/>
                </a:lnTo>
                <a:lnTo>
                  <a:pt x="57885" y="34615"/>
                </a:lnTo>
                <a:lnTo>
                  <a:pt x="57885" y="35000"/>
                </a:lnTo>
                <a:lnTo>
                  <a:pt x="58462" y="35962"/>
                </a:lnTo>
                <a:lnTo>
                  <a:pt x="58846" y="35962"/>
                </a:lnTo>
                <a:lnTo>
                  <a:pt x="59038" y="35769"/>
                </a:lnTo>
                <a:lnTo>
                  <a:pt x="59038" y="35385"/>
                </a:lnTo>
                <a:lnTo>
                  <a:pt x="59038" y="35000"/>
                </a:lnTo>
                <a:lnTo>
                  <a:pt x="58846" y="34808"/>
                </a:lnTo>
                <a:lnTo>
                  <a:pt x="58654" y="34615"/>
                </a:lnTo>
                <a:lnTo>
                  <a:pt x="58654" y="33077"/>
                </a:lnTo>
                <a:lnTo>
                  <a:pt x="58462" y="32885"/>
                </a:lnTo>
                <a:lnTo>
                  <a:pt x="58077" y="32885"/>
                </a:lnTo>
                <a:close/>
                <a:moveTo>
                  <a:pt x="74615" y="32885"/>
                </a:moveTo>
                <a:lnTo>
                  <a:pt x="74423" y="33846"/>
                </a:lnTo>
                <a:lnTo>
                  <a:pt x="74231" y="34038"/>
                </a:lnTo>
                <a:lnTo>
                  <a:pt x="74038" y="34231"/>
                </a:lnTo>
                <a:lnTo>
                  <a:pt x="74038" y="35385"/>
                </a:lnTo>
                <a:lnTo>
                  <a:pt x="74231" y="35577"/>
                </a:lnTo>
                <a:lnTo>
                  <a:pt x="74423" y="35385"/>
                </a:lnTo>
                <a:lnTo>
                  <a:pt x="74615" y="35192"/>
                </a:lnTo>
                <a:lnTo>
                  <a:pt x="75577" y="33846"/>
                </a:lnTo>
                <a:lnTo>
                  <a:pt x="75192" y="33077"/>
                </a:lnTo>
                <a:lnTo>
                  <a:pt x="75000" y="32885"/>
                </a:lnTo>
                <a:lnTo>
                  <a:pt x="74615" y="32885"/>
                </a:lnTo>
                <a:close/>
                <a:moveTo>
                  <a:pt x="43462" y="34423"/>
                </a:moveTo>
                <a:lnTo>
                  <a:pt x="43269" y="34615"/>
                </a:lnTo>
                <a:lnTo>
                  <a:pt x="43269" y="35000"/>
                </a:lnTo>
                <a:lnTo>
                  <a:pt x="43462" y="35192"/>
                </a:lnTo>
                <a:lnTo>
                  <a:pt x="43846" y="35192"/>
                </a:lnTo>
                <a:lnTo>
                  <a:pt x="44038" y="35000"/>
                </a:lnTo>
                <a:lnTo>
                  <a:pt x="44038" y="34615"/>
                </a:lnTo>
                <a:lnTo>
                  <a:pt x="43846" y="34423"/>
                </a:lnTo>
                <a:lnTo>
                  <a:pt x="43462" y="34423"/>
                </a:lnTo>
                <a:close/>
                <a:moveTo>
                  <a:pt x="28077" y="34808"/>
                </a:moveTo>
                <a:lnTo>
                  <a:pt x="27885" y="35769"/>
                </a:lnTo>
                <a:lnTo>
                  <a:pt x="27692" y="35962"/>
                </a:lnTo>
                <a:lnTo>
                  <a:pt x="27500" y="36154"/>
                </a:lnTo>
                <a:lnTo>
                  <a:pt x="27500" y="36538"/>
                </a:lnTo>
                <a:lnTo>
                  <a:pt x="27500" y="36923"/>
                </a:lnTo>
                <a:lnTo>
                  <a:pt x="27308" y="37115"/>
                </a:lnTo>
                <a:lnTo>
                  <a:pt x="27115" y="37308"/>
                </a:lnTo>
                <a:lnTo>
                  <a:pt x="27115" y="37692"/>
                </a:lnTo>
                <a:lnTo>
                  <a:pt x="27115" y="38077"/>
                </a:lnTo>
                <a:lnTo>
                  <a:pt x="25962" y="40000"/>
                </a:lnTo>
                <a:lnTo>
                  <a:pt x="25962" y="43846"/>
                </a:lnTo>
                <a:lnTo>
                  <a:pt x="26154" y="44038"/>
                </a:lnTo>
                <a:lnTo>
                  <a:pt x="26346" y="44231"/>
                </a:lnTo>
                <a:lnTo>
                  <a:pt x="26538" y="45192"/>
                </a:lnTo>
                <a:lnTo>
                  <a:pt x="27692" y="45192"/>
                </a:lnTo>
                <a:lnTo>
                  <a:pt x="27885" y="45000"/>
                </a:lnTo>
                <a:lnTo>
                  <a:pt x="28077" y="44808"/>
                </a:lnTo>
                <a:lnTo>
                  <a:pt x="30000" y="44423"/>
                </a:lnTo>
                <a:lnTo>
                  <a:pt x="30385" y="44423"/>
                </a:lnTo>
                <a:lnTo>
                  <a:pt x="30769" y="44423"/>
                </a:lnTo>
                <a:lnTo>
                  <a:pt x="32115" y="43462"/>
                </a:lnTo>
                <a:lnTo>
                  <a:pt x="32115" y="41538"/>
                </a:lnTo>
                <a:lnTo>
                  <a:pt x="30577" y="39615"/>
                </a:lnTo>
                <a:lnTo>
                  <a:pt x="30192" y="38846"/>
                </a:lnTo>
                <a:lnTo>
                  <a:pt x="30192" y="38462"/>
                </a:lnTo>
                <a:lnTo>
                  <a:pt x="30192" y="38077"/>
                </a:lnTo>
                <a:lnTo>
                  <a:pt x="28654" y="36538"/>
                </a:lnTo>
                <a:lnTo>
                  <a:pt x="28654" y="36154"/>
                </a:lnTo>
                <a:lnTo>
                  <a:pt x="28846" y="35962"/>
                </a:lnTo>
                <a:lnTo>
                  <a:pt x="29231" y="35962"/>
                </a:lnTo>
                <a:lnTo>
                  <a:pt x="29423" y="35769"/>
                </a:lnTo>
                <a:lnTo>
                  <a:pt x="29423" y="35385"/>
                </a:lnTo>
                <a:lnTo>
                  <a:pt x="28077" y="34808"/>
                </a:lnTo>
                <a:close/>
                <a:moveTo>
                  <a:pt x="44615" y="34808"/>
                </a:moveTo>
                <a:lnTo>
                  <a:pt x="44423" y="36154"/>
                </a:lnTo>
                <a:lnTo>
                  <a:pt x="42885" y="37308"/>
                </a:lnTo>
                <a:lnTo>
                  <a:pt x="41731" y="40000"/>
                </a:lnTo>
                <a:lnTo>
                  <a:pt x="40577" y="41154"/>
                </a:lnTo>
                <a:lnTo>
                  <a:pt x="40577" y="43462"/>
                </a:lnTo>
                <a:lnTo>
                  <a:pt x="41538" y="44423"/>
                </a:lnTo>
                <a:lnTo>
                  <a:pt x="41923" y="44423"/>
                </a:lnTo>
                <a:lnTo>
                  <a:pt x="42500" y="43846"/>
                </a:lnTo>
                <a:lnTo>
                  <a:pt x="42500" y="43462"/>
                </a:lnTo>
                <a:lnTo>
                  <a:pt x="42500" y="43077"/>
                </a:lnTo>
                <a:lnTo>
                  <a:pt x="45962" y="39615"/>
                </a:lnTo>
                <a:lnTo>
                  <a:pt x="45962" y="37692"/>
                </a:lnTo>
                <a:lnTo>
                  <a:pt x="45769" y="37500"/>
                </a:lnTo>
                <a:lnTo>
                  <a:pt x="45577" y="37308"/>
                </a:lnTo>
                <a:lnTo>
                  <a:pt x="45577" y="35385"/>
                </a:lnTo>
                <a:lnTo>
                  <a:pt x="45000" y="34808"/>
                </a:lnTo>
                <a:lnTo>
                  <a:pt x="44615" y="34808"/>
                </a:lnTo>
                <a:close/>
                <a:moveTo>
                  <a:pt x="48077" y="39808"/>
                </a:moveTo>
                <a:lnTo>
                  <a:pt x="46538" y="40577"/>
                </a:lnTo>
                <a:lnTo>
                  <a:pt x="45769" y="41346"/>
                </a:lnTo>
                <a:lnTo>
                  <a:pt x="45385" y="41346"/>
                </a:lnTo>
                <a:lnTo>
                  <a:pt x="44038" y="42692"/>
                </a:lnTo>
                <a:lnTo>
                  <a:pt x="42885" y="45000"/>
                </a:lnTo>
                <a:lnTo>
                  <a:pt x="42885" y="46923"/>
                </a:lnTo>
                <a:lnTo>
                  <a:pt x="42692" y="47115"/>
                </a:lnTo>
                <a:lnTo>
                  <a:pt x="42500" y="47308"/>
                </a:lnTo>
                <a:lnTo>
                  <a:pt x="42500" y="47692"/>
                </a:lnTo>
                <a:lnTo>
                  <a:pt x="42500" y="48077"/>
                </a:lnTo>
                <a:lnTo>
                  <a:pt x="43077" y="48654"/>
                </a:lnTo>
                <a:lnTo>
                  <a:pt x="43269" y="48462"/>
                </a:lnTo>
                <a:lnTo>
                  <a:pt x="43462" y="48269"/>
                </a:lnTo>
                <a:lnTo>
                  <a:pt x="43846" y="48269"/>
                </a:lnTo>
                <a:lnTo>
                  <a:pt x="44231" y="48269"/>
                </a:lnTo>
                <a:lnTo>
                  <a:pt x="45769" y="47500"/>
                </a:lnTo>
                <a:lnTo>
                  <a:pt x="46538" y="46731"/>
                </a:lnTo>
                <a:lnTo>
                  <a:pt x="46923" y="46731"/>
                </a:lnTo>
                <a:lnTo>
                  <a:pt x="47115" y="46538"/>
                </a:lnTo>
                <a:lnTo>
                  <a:pt x="47115" y="46154"/>
                </a:lnTo>
                <a:lnTo>
                  <a:pt x="46346" y="45769"/>
                </a:lnTo>
                <a:lnTo>
                  <a:pt x="46923" y="45192"/>
                </a:lnTo>
                <a:lnTo>
                  <a:pt x="48077" y="45192"/>
                </a:lnTo>
                <a:lnTo>
                  <a:pt x="48269" y="45385"/>
                </a:lnTo>
                <a:lnTo>
                  <a:pt x="48462" y="45577"/>
                </a:lnTo>
                <a:lnTo>
                  <a:pt x="48654" y="45385"/>
                </a:lnTo>
                <a:lnTo>
                  <a:pt x="48846" y="45192"/>
                </a:lnTo>
                <a:lnTo>
                  <a:pt x="49231" y="45192"/>
                </a:lnTo>
                <a:lnTo>
                  <a:pt x="49615" y="45192"/>
                </a:lnTo>
                <a:lnTo>
                  <a:pt x="49808" y="45385"/>
                </a:lnTo>
                <a:lnTo>
                  <a:pt x="50000" y="45577"/>
                </a:lnTo>
                <a:lnTo>
                  <a:pt x="51154" y="45192"/>
                </a:lnTo>
                <a:lnTo>
                  <a:pt x="52308" y="44038"/>
                </a:lnTo>
                <a:lnTo>
                  <a:pt x="52885" y="44615"/>
                </a:lnTo>
                <a:lnTo>
                  <a:pt x="52885" y="45000"/>
                </a:lnTo>
                <a:lnTo>
                  <a:pt x="52885" y="45385"/>
                </a:lnTo>
                <a:lnTo>
                  <a:pt x="53269" y="46154"/>
                </a:lnTo>
                <a:lnTo>
                  <a:pt x="54615" y="47500"/>
                </a:lnTo>
                <a:lnTo>
                  <a:pt x="56154" y="48269"/>
                </a:lnTo>
                <a:lnTo>
                  <a:pt x="57308" y="48269"/>
                </a:lnTo>
                <a:lnTo>
                  <a:pt x="57500" y="46923"/>
                </a:lnTo>
                <a:lnTo>
                  <a:pt x="57308" y="46731"/>
                </a:lnTo>
                <a:lnTo>
                  <a:pt x="57115" y="46538"/>
                </a:lnTo>
                <a:lnTo>
                  <a:pt x="57115" y="44615"/>
                </a:lnTo>
                <a:lnTo>
                  <a:pt x="56346" y="43077"/>
                </a:lnTo>
                <a:lnTo>
                  <a:pt x="53846" y="40577"/>
                </a:lnTo>
                <a:lnTo>
                  <a:pt x="53077" y="40192"/>
                </a:lnTo>
                <a:lnTo>
                  <a:pt x="52692" y="40192"/>
                </a:lnTo>
                <a:lnTo>
                  <a:pt x="52308" y="40192"/>
                </a:lnTo>
                <a:lnTo>
                  <a:pt x="52115" y="40000"/>
                </a:lnTo>
                <a:lnTo>
                  <a:pt x="51923" y="39808"/>
                </a:lnTo>
                <a:lnTo>
                  <a:pt x="48077" y="39808"/>
                </a:lnTo>
                <a:close/>
                <a:moveTo>
                  <a:pt x="63077" y="41731"/>
                </a:moveTo>
                <a:lnTo>
                  <a:pt x="62500" y="42308"/>
                </a:lnTo>
                <a:lnTo>
                  <a:pt x="62500" y="43462"/>
                </a:lnTo>
                <a:lnTo>
                  <a:pt x="61731" y="44231"/>
                </a:lnTo>
                <a:lnTo>
                  <a:pt x="61731" y="44615"/>
                </a:lnTo>
                <a:lnTo>
                  <a:pt x="61731" y="45000"/>
                </a:lnTo>
                <a:lnTo>
                  <a:pt x="62115" y="45769"/>
                </a:lnTo>
                <a:lnTo>
                  <a:pt x="63462" y="47115"/>
                </a:lnTo>
                <a:lnTo>
                  <a:pt x="65000" y="47885"/>
                </a:lnTo>
                <a:lnTo>
                  <a:pt x="68077" y="47885"/>
                </a:lnTo>
                <a:lnTo>
                  <a:pt x="69808" y="46923"/>
                </a:lnTo>
                <a:lnTo>
                  <a:pt x="71346" y="45385"/>
                </a:lnTo>
                <a:lnTo>
                  <a:pt x="71346" y="45000"/>
                </a:lnTo>
                <a:lnTo>
                  <a:pt x="71346" y="44615"/>
                </a:lnTo>
                <a:lnTo>
                  <a:pt x="70192" y="43462"/>
                </a:lnTo>
                <a:lnTo>
                  <a:pt x="70000" y="42115"/>
                </a:lnTo>
                <a:lnTo>
                  <a:pt x="68846" y="42115"/>
                </a:lnTo>
                <a:lnTo>
                  <a:pt x="67308" y="42885"/>
                </a:lnTo>
                <a:lnTo>
                  <a:pt x="65769" y="42885"/>
                </a:lnTo>
                <a:lnTo>
                  <a:pt x="65577" y="42692"/>
                </a:lnTo>
                <a:lnTo>
                  <a:pt x="65385" y="42500"/>
                </a:lnTo>
                <a:lnTo>
                  <a:pt x="65000" y="42500"/>
                </a:lnTo>
                <a:lnTo>
                  <a:pt x="64615" y="42500"/>
                </a:lnTo>
                <a:lnTo>
                  <a:pt x="63077" y="41731"/>
                </a:lnTo>
                <a:close/>
                <a:moveTo>
                  <a:pt x="33462" y="42115"/>
                </a:moveTo>
                <a:lnTo>
                  <a:pt x="32885" y="42692"/>
                </a:lnTo>
                <a:lnTo>
                  <a:pt x="32885" y="43846"/>
                </a:lnTo>
                <a:lnTo>
                  <a:pt x="30962" y="45385"/>
                </a:lnTo>
                <a:lnTo>
                  <a:pt x="31346" y="46154"/>
                </a:lnTo>
                <a:lnTo>
                  <a:pt x="31346" y="46538"/>
                </a:lnTo>
                <a:lnTo>
                  <a:pt x="31346" y="46923"/>
                </a:lnTo>
                <a:lnTo>
                  <a:pt x="31538" y="47115"/>
                </a:lnTo>
                <a:lnTo>
                  <a:pt x="31731" y="47308"/>
                </a:lnTo>
                <a:lnTo>
                  <a:pt x="31731" y="48462"/>
                </a:lnTo>
                <a:lnTo>
                  <a:pt x="32500" y="50000"/>
                </a:lnTo>
                <a:lnTo>
                  <a:pt x="33846" y="51346"/>
                </a:lnTo>
                <a:lnTo>
                  <a:pt x="35385" y="52115"/>
                </a:lnTo>
                <a:lnTo>
                  <a:pt x="37692" y="52115"/>
                </a:lnTo>
                <a:lnTo>
                  <a:pt x="39231" y="50962"/>
                </a:lnTo>
                <a:lnTo>
                  <a:pt x="39615" y="50962"/>
                </a:lnTo>
                <a:lnTo>
                  <a:pt x="40577" y="50000"/>
                </a:lnTo>
                <a:lnTo>
                  <a:pt x="40577" y="49615"/>
                </a:lnTo>
                <a:lnTo>
                  <a:pt x="41731" y="48077"/>
                </a:lnTo>
                <a:lnTo>
                  <a:pt x="41731" y="45769"/>
                </a:lnTo>
                <a:lnTo>
                  <a:pt x="41154" y="45192"/>
                </a:lnTo>
                <a:lnTo>
                  <a:pt x="40769" y="45192"/>
                </a:lnTo>
                <a:lnTo>
                  <a:pt x="40385" y="45192"/>
                </a:lnTo>
                <a:lnTo>
                  <a:pt x="39808" y="44615"/>
                </a:lnTo>
                <a:lnTo>
                  <a:pt x="39808" y="42308"/>
                </a:lnTo>
                <a:lnTo>
                  <a:pt x="39615" y="42115"/>
                </a:lnTo>
                <a:lnTo>
                  <a:pt x="39231" y="42115"/>
                </a:lnTo>
                <a:lnTo>
                  <a:pt x="38077" y="42885"/>
                </a:lnTo>
                <a:lnTo>
                  <a:pt x="36154" y="43269"/>
                </a:lnTo>
                <a:lnTo>
                  <a:pt x="35962" y="43077"/>
                </a:lnTo>
                <a:lnTo>
                  <a:pt x="35769" y="42885"/>
                </a:lnTo>
                <a:lnTo>
                  <a:pt x="34615" y="42885"/>
                </a:lnTo>
                <a:lnTo>
                  <a:pt x="33462" y="42115"/>
                </a:lnTo>
                <a:close/>
                <a:moveTo>
                  <a:pt x="52308" y="45577"/>
                </a:moveTo>
                <a:lnTo>
                  <a:pt x="51538" y="46346"/>
                </a:lnTo>
                <a:lnTo>
                  <a:pt x="49231" y="46346"/>
                </a:lnTo>
                <a:lnTo>
                  <a:pt x="47692" y="47115"/>
                </a:lnTo>
                <a:lnTo>
                  <a:pt x="46923" y="47885"/>
                </a:lnTo>
                <a:lnTo>
                  <a:pt x="44038" y="49231"/>
                </a:lnTo>
                <a:lnTo>
                  <a:pt x="44423" y="50000"/>
                </a:lnTo>
                <a:lnTo>
                  <a:pt x="44423" y="51923"/>
                </a:lnTo>
                <a:lnTo>
                  <a:pt x="45192" y="53462"/>
                </a:lnTo>
                <a:lnTo>
                  <a:pt x="47692" y="55962"/>
                </a:lnTo>
                <a:lnTo>
                  <a:pt x="48077" y="55962"/>
                </a:lnTo>
                <a:lnTo>
                  <a:pt x="48462" y="55962"/>
                </a:lnTo>
                <a:lnTo>
                  <a:pt x="48654" y="56154"/>
                </a:lnTo>
                <a:lnTo>
                  <a:pt x="48846" y="56346"/>
                </a:lnTo>
                <a:lnTo>
                  <a:pt x="50769" y="56346"/>
                </a:lnTo>
                <a:lnTo>
                  <a:pt x="52308" y="55577"/>
                </a:lnTo>
                <a:lnTo>
                  <a:pt x="53077" y="54808"/>
                </a:lnTo>
                <a:lnTo>
                  <a:pt x="53462" y="54808"/>
                </a:lnTo>
                <a:lnTo>
                  <a:pt x="54808" y="52692"/>
                </a:lnTo>
                <a:lnTo>
                  <a:pt x="55577" y="48846"/>
                </a:lnTo>
                <a:lnTo>
                  <a:pt x="54231" y="48269"/>
                </a:lnTo>
                <a:lnTo>
                  <a:pt x="52885" y="46923"/>
                </a:lnTo>
                <a:lnTo>
                  <a:pt x="52308" y="45577"/>
                </a:lnTo>
                <a:close/>
                <a:moveTo>
                  <a:pt x="58077" y="50577"/>
                </a:moveTo>
                <a:lnTo>
                  <a:pt x="57500" y="51154"/>
                </a:lnTo>
                <a:lnTo>
                  <a:pt x="57500" y="51538"/>
                </a:lnTo>
                <a:lnTo>
                  <a:pt x="56154" y="52885"/>
                </a:lnTo>
                <a:lnTo>
                  <a:pt x="55769" y="52885"/>
                </a:lnTo>
                <a:lnTo>
                  <a:pt x="55577" y="53077"/>
                </a:lnTo>
                <a:lnTo>
                  <a:pt x="54808" y="55000"/>
                </a:lnTo>
                <a:lnTo>
                  <a:pt x="53269" y="56538"/>
                </a:lnTo>
                <a:lnTo>
                  <a:pt x="54231" y="57500"/>
                </a:lnTo>
                <a:lnTo>
                  <a:pt x="54615" y="57500"/>
                </a:lnTo>
                <a:lnTo>
                  <a:pt x="55000" y="57500"/>
                </a:lnTo>
                <a:lnTo>
                  <a:pt x="55192" y="57692"/>
                </a:lnTo>
                <a:lnTo>
                  <a:pt x="55385" y="57885"/>
                </a:lnTo>
                <a:lnTo>
                  <a:pt x="55769" y="57885"/>
                </a:lnTo>
                <a:lnTo>
                  <a:pt x="56154" y="57885"/>
                </a:lnTo>
                <a:lnTo>
                  <a:pt x="57692" y="58654"/>
                </a:lnTo>
                <a:lnTo>
                  <a:pt x="58654" y="57692"/>
                </a:lnTo>
                <a:lnTo>
                  <a:pt x="59423" y="56154"/>
                </a:lnTo>
                <a:lnTo>
                  <a:pt x="59423" y="54615"/>
                </a:lnTo>
                <a:lnTo>
                  <a:pt x="58654" y="53462"/>
                </a:lnTo>
                <a:lnTo>
                  <a:pt x="58077" y="50577"/>
                </a:lnTo>
                <a:close/>
                <a:moveTo>
                  <a:pt x="41923" y="51346"/>
                </a:moveTo>
                <a:lnTo>
                  <a:pt x="41731" y="52308"/>
                </a:lnTo>
                <a:lnTo>
                  <a:pt x="41538" y="52500"/>
                </a:lnTo>
                <a:lnTo>
                  <a:pt x="41346" y="52692"/>
                </a:lnTo>
                <a:lnTo>
                  <a:pt x="41346" y="53077"/>
                </a:lnTo>
                <a:lnTo>
                  <a:pt x="41346" y="53462"/>
                </a:lnTo>
                <a:lnTo>
                  <a:pt x="41154" y="53654"/>
                </a:lnTo>
                <a:lnTo>
                  <a:pt x="40962" y="53846"/>
                </a:lnTo>
                <a:lnTo>
                  <a:pt x="40962" y="56538"/>
                </a:lnTo>
                <a:lnTo>
                  <a:pt x="42308" y="58269"/>
                </a:lnTo>
                <a:lnTo>
                  <a:pt x="43462" y="58269"/>
                </a:lnTo>
                <a:lnTo>
                  <a:pt x="44615" y="57500"/>
                </a:lnTo>
                <a:lnTo>
                  <a:pt x="45000" y="57500"/>
                </a:lnTo>
                <a:lnTo>
                  <a:pt x="45385" y="57500"/>
                </a:lnTo>
                <a:lnTo>
                  <a:pt x="46154" y="57115"/>
                </a:lnTo>
                <a:lnTo>
                  <a:pt x="46346" y="56154"/>
                </a:lnTo>
                <a:lnTo>
                  <a:pt x="44423" y="54231"/>
                </a:lnTo>
                <a:lnTo>
                  <a:pt x="44423" y="53846"/>
                </a:lnTo>
                <a:lnTo>
                  <a:pt x="42885" y="52308"/>
                </a:lnTo>
                <a:lnTo>
                  <a:pt x="42885" y="51923"/>
                </a:lnTo>
                <a:lnTo>
                  <a:pt x="42308" y="51346"/>
                </a:lnTo>
                <a:lnTo>
                  <a:pt x="41923" y="51346"/>
                </a:lnTo>
                <a:close/>
              </a:path>
            </a:pathLst>
          </a:custGeom>
          <a:solidFill>
            <a:srgbClr val="FFFFFF"/>
          </a:solidFill>
          <a:ln>
            <a:noFill/>
          </a:ln>
        </p:spPr>
        <p:txBody>
          <a:bodyPr/>
          <a:p/>
        </p:txBody>
      </p:sp>
      <p:sp>
        <p:nvSpPr>
          <p:cNvPr id="52" name="Shape 49"/>
          <p:cNvSpPr/>
          <p:nvPr/>
        </p:nvSpPr>
        <p:spPr>
          <a:xfrm>
            <a:off x="10543032" y="5285232"/>
            <a:ext cx="1060704" cy="1060704"/>
          </a:xfrm>
          <a:prstGeom prst="ellipse">
            <a:avLst/>
          </a:prstGeom>
          <a:solidFill>
            <a:srgbClr val="17324D"/>
          </a:solidFill>
          <a:ln w="12700">
            <a:solidFill>
              <a:srgbClr val="17324D">
                <a:alpha val="0"/>
              </a:srgbClr>
            </a:solidFill>
            <a:prstDash val="solid"/>
          </a:ln>
        </p:spPr>
        <p:txBody>
          <a:bodyPr/>
          <a:p/>
        </p:txBody>
      </p:sp>
      <p:sp>
        <p:nvSpPr>
          <p:cNvPr id="53" name="VECTOR_young_14"/>
          <p:cNvSpPr/>
          <p:nvPr/>
        </p:nvSpPr>
        <p:spPr>
          <a:xfrm>
            <a:off x="10543032" y="5285232"/>
            <a:ext cx="1060704" cy="1060704"/>
          </a:xfrm>
          <a:custGeom>
            <a:avLst/>
            <a:gdLst/>
            <a:ahLst/>
            <a:cxnLst/>
            <a:rect l="0" t="0" r="r" b="b"/>
            <a:pathLst>
              <a:path w="100000" h="100000" fill="norm" stroke="false" extrusionOk="false">
                <a:moveTo>
                  <a:pt x="48654" y="16154"/>
                </a:moveTo>
                <a:lnTo>
                  <a:pt x="50385" y="15962"/>
                </a:lnTo>
                <a:lnTo>
                  <a:pt x="50577" y="16154"/>
                </a:lnTo>
                <a:lnTo>
                  <a:pt x="50769" y="16346"/>
                </a:lnTo>
                <a:lnTo>
                  <a:pt x="51154" y="16346"/>
                </a:lnTo>
                <a:lnTo>
                  <a:pt x="51538" y="16346"/>
                </a:lnTo>
                <a:lnTo>
                  <a:pt x="53077" y="17115"/>
                </a:lnTo>
                <a:lnTo>
                  <a:pt x="53846" y="17885"/>
                </a:lnTo>
                <a:lnTo>
                  <a:pt x="57308" y="17885"/>
                </a:lnTo>
                <a:lnTo>
                  <a:pt x="58846" y="18654"/>
                </a:lnTo>
                <a:lnTo>
                  <a:pt x="60192" y="20385"/>
                </a:lnTo>
                <a:lnTo>
                  <a:pt x="60192" y="21538"/>
                </a:lnTo>
                <a:lnTo>
                  <a:pt x="61154" y="22115"/>
                </a:lnTo>
                <a:lnTo>
                  <a:pt x="61538" y="22115"/>
                </a:lnTo>
                <a:lnTo>
                  <a:pt x="61923" y="22115"/>
                </a:lnTo>
                <a:lnTo>
                  <a:pt x="63654" y="23846"/>
                </a:lnTo>
                <a:lnTo>
                  <a:pt x="64038" y="24615"/>
                </a:lnTo>
                <a:lnTo>
                  <a:pt x="64038" y="27308"/>
                </a:lnTo>
                <a:lnTo>
                  <a:pt x="63269" y="28462"/>
                </a:lnTo>
                <a:lnTo>
                  <a:pt x="63269" y="28846"/>
                </a:lnTo>
                <a:lnTo>
                  <a:pt x="63269" y="29231"/>
                </a:lnTo>
                <a:lnTo>
                  <a:pt x="63462" y="29423"/>
                </a:lnTo>
                <a:lnTo>
                  <a:pt x="63654" y="29615"/>
                </a:lnTo>
                <a:lnTo>
                  <a:pt x="63654" y="32692"/>
                </a:lnTo>
                <a:lnTo>
                  <a:pt x="62500" y="33846"/>
                </a:lnTo>
                <a:lnTo>
                  <a:pt x="62500" y="34231"/>
                </a:lnTo>
                <a:lnTo>
                  <a:pt x="62500" y="34615"/>
                </a:lnTo>
                <a:lnTo>
                  <a:pt x="63269" y="35769"/>
                </a:lnTo>
                <a:lnTo>
                  <a:pt x="63269" y="36923"/>
                </a:lnTo>
                <a:lnTo>
                  <a:pt x="63462" y="37115"/>
                </a:lnTo>
                <a:lnTo>
                  <a:pt x="63654" y="37308"/>
                </a:lnTo>
                <a:lnTo>
                  <a:pt x="63462" y="37500"/>
                </a:lnTo>
                <a:lnTo>
                  <a:pt x="63269" y="37692"/>
                </a:lnTo>
                <a:lnTo>
                  <a:pt x="63269" y="38846"/>
                </a:lnTo>
                <a:lnTo>
                  <a:pt x="62885" y="39615"/>
                </a:lnTo>
                <a:lnTo>
                  <a:pt x="61154" y="41346"/>
                </a:lnTo>
                <a:lnTo>
                  <a:pt x="60000" y="41346"/>
                </a:lnTo>
                <a:lnTo>
                  <a:pt x="59423" y="41923"/>
                </a:lnTo>
                <a:lnTo>
                  <a:pt x="59423" y="42308"/>
                </a:lnTo>
                <a:lnTo>
                  <a:pt x="59423" y="42692"/>
                </a:lnTo>
                <a:lnTo>
                  <a:pt x="58654" y="43846"/>
                </a:lnTo>
                <a:lnTo>
                  <a:pt x="58654" y="44231"/>
                </a:lnTo>
                <a:lnTo>
                  <a:pt x="58654" y="44615"/>
                </a:lnTo>
                <a:lnTo>
                  <a:pt x="58269" y="45385"/>
                </a:lnTo>
                <a:lnTo>
                  <a:pt x="57115" y="46538"/>
                </a:lnTo>
                <a:lnTo>
                  <a:pt x="57115" y="46923"/>
                </a:lnTo>
                <a:lnTo>
                  <a:pt x="57692" y="47500"/>
                </a:lnTo>
                <a:lnTo>
                  <a:pt x="59231" y="47500"/>
                </a:lnTo>
                <a:lnTo>
                  <a:pt x="59423" y="47692"/>
                </a:lnTo>
                <a:lnTo>
                  <a:pt x="59615" y="47885"/>
                </a:lnTo>
                <a:lnTo>
                  <a:pt x="60000" y="47885"/>
                </a:lnTo>
                <a:lnTo>
                  <a:pt x="60385" y="47885"/>
                </a:lnTo>
                <a:lnTo>
                  <a:pt x="61923" y="49038"/>
                </a:lnTo>
                <a:lnTo>
                  <a:pt x="62308" y="49038"/>
                </a:lnTo>
                <a:lnTo>
                  <a:pt x="64038" y="50769"/>
                </a:lnTo>
                <a:lnTo>
                  <a:pt x="64808" y="52308"/>
                </a:lnTo>
                <a:lnTo>
                  <a:pt x="64808" y="52692"/>
                </a:lnTo>
                <a:lnTo>
                  <a:pt x="64808" y="53077"/>
                </a:lnTo>
                <a:lnTo>
                  <a:pt x="65000" y="53269"/>
                </a:lnTo>
                <a:lnTo>
                  <a:pt x="65192" y="53462"/>
                </a:lnTo>
                <a:lnTo>
                  <a:pt x="65385" y="54423"/>
                </a:lnTo>
                <a:lnTo>
                  <a:pt x="66154" y="54808"/>
                </a:lnTo>
                <a:lnTo>
                  <a:pt x="66538" y="54808"/>
                </a:lnTo>
                <a:lnTo>
                  <a:pt x="66923" y="54808"/>
                </a:lnTo>
                <a:lnTo>
                  <a:pt x="70000" y="56346"/>
                </a:lnTo>
                <a:lnTo>
                  <a:pt x="70769" y="57115"/>
                </a:lnTo>
                <a:lnTo>
                  <a:pt x="71154" y="57115"/>
                </a:lnTo>
                <a:lnTo>
                  <a:pt x="72885" y="58846"/>
                </a:lnTo>
                <a:lnTo>
                  <a:pt x="72885" y="59231"/>
                </a:lnTo>
                <a:lnTo>
                  <a:pt x="74038" y="60769"/>
                </a:lnTo>
                <a:lnTo>
                  <a:pt x="74038" y="61154"/>
                </a:lnTo>
                <a:lnTo>
                  <a:pt x="74038" y="61538"/>
                </a:lnTo>
                <a:lnTo>
                  <a:pt x="75192" y="63846"/>
                </a:lnTo>
                <a:lnTo>
                  <a:pt x="75192" y="65000"/>
                </a:lnTo>
                <a:lnTo>
                  <a:pt x="75385" y="65192"/>
                </a:lnTo>
                <a:lnTo>
                  <a:pt x="75577" y="65385"/>
                </a:lnTo>
                <a:lnTo>
                  <a:pt x="75577" y="66538"/>
                </a:lnTo>
                <a:lnTo>
                  <a:pt x="75769" y="66731"/>
                </a:lnTo>
                <a:lnTo>
                  <a:pt x="75962" y="66923"/>
                </a:lnTo>
                <a:lnTo>
                  <a:pt x="75962" y="68462"/>
                </a:lnTo>
                <a:lnTo>
                  <a:pt x="76154" y="68654"/>
                </a:lnTo>
                <a:lnTo>
                  <a:pt x="76346" y="68846"/>
                </a:lnTo>
                <a:lnTo>
                  <a:pt x="76346" y="71154"/>
                </a:lnTo>
                <a:lnTo>
                  <a:pt x="76538" y="71346"/>
                </a:lnTo>
                <a:lnTo>
                  <a:pt x="76731" y="71538"/>
                </a:lnTo>
                <a:lnTo>
                  <a:pt x="76731" y="71923"/>
                </a:lnTo>
                <a:lnTo>
                  <a:pt x="76731" y="72308"/>
                </a:lnTo>
                <a:lnTo>
                  <a:pt x="76154" y="72885"/>
                </a:lnTo>
                <a:lnTo>
                  <a:pt x="75577" y="72308"/>
                </a:lnTo>
                <a:lnTo>
                  <a:pt x="75577" y="70769"/>
                </a:lnTo>
                <a:lnTo>
                  <a:pt x="75385" y="70577"/>
                </a:lnTo>
                <a:lnTo>
                  <a:pt x="75192" y="70385"/>
                </a:lnTo>
                <a:lnTo>
                  <a:pt x="75192" y="68462"/>
                </a:lnTo>
                <a:lnTo>
                  <a:pt x="75000" y="68269"/>
                </a:lnTo>
                <a:lnTo>
                  <a:pt x="74808" y="68077"/>
                </a:lnTo>
                <a:lnTo>
                  <a:pt x="74808" y="66538"/>
                </a:lnTo>
                <a:lnTo>
                  <a:pt x="74615" y="66346"/>
                </a:lnTo>
                <a:lnTo>
                  <a:pt x="74423" y="66154"/>
                </a:lnTo>
                <a:lnTo>
                  <a:pt x="74423" y="65000"/>
                </a:lnTo>
                <a:lnTo>
                  <a:pt x="73269" y="62692"/>
                </a:lnTo>
                <a:lnTo>
                  <a:pt x="73269" y="62308"/>
                </a:lnTo>
                <a:lnTo>
                  <a:pt x="73269" y="61923"/>
                </a:lnTo>
                <a:lnTo>
                  <a:pt x="72500" y="60385"/>
                </a:lnTo>
                <a:lnTo>
                  <a:pt x="71346" y="59231"/>
                </a:lnTo>
                <a:lnTo>
                  <a:pt x="71346" y="58846"/>
                </a:lnTo>
                <a:lnTo>
                  <a:pt x="71154" y="58654"/>
                </a:lnTo>
                <a:lnTo>
                  <a:pt x="70769" y="58654"/>
                </a:lnTo>
                <a:lnTo>
                  <a:pt x="69231" y="57115"/>
                </a:lnTo>
                <a:lnTo>
                  <a:pt x="67692" y="56346"/>
                </a:lnTo>
                <a:lnTo>
                  <a:pt x="67308" y="56346"/>
                </a:lnTo>
                <a:lnTo>
                  <a:pt x="66923" y="56346"/>
                </a:lnTo>
                <a:lnTo>
                  <a:pt x="65769" y="55577"/>
                </a:lnTo>
                <a:lnTo>
                  <a:pt x="65385" y="55577"/>
                </a:lnTo>
                <a:lnTo>
                  <a:pt x="65000" y="55577"/>
                </a:lnTo>
                <a:lnTo>
                  <a:pt x="64231" y="55192"/>
                </a:lnTo>
                <a:lnTo>
                  <a:pt x="64038" y="55000"/>
                </a:lnTo>
                <a:lnTo>
                  <a:pt x="64038" y="53077"/>
                </a:lnTo>
                <a:lnTo>
                  <a:pt x="63269" y="51538"/>
                </a:lnTo>
                <a:lnTo>
                  <a:pt x="61154" y="49423"/>
                </a:lnTo>
                <a:lnTo>
                  <a:pt x="60385" y="49038"/>
                </a:lnTo>
                <a:lnTo>
                  <a:pt x="60192" y="49231"/>
                </a:lnTo>
                <a:lnTo>
                  <a:pt x="60000" y="49423"/>
                </a:lnTo>
                <a:lnTo>
                  <a:pt x="59231" y="48269"/>
                </a:lnTo>
                <a:lnTo>
                  <a:pt x="57692" y="48269"/>
                </a:lnTo>
                <a:lnTo>
                  <a:pt x="57500" y="48077"/>
                </a:lnTo>
                <a:lnTo>
                  <a:pt x="57308" y="47885"/>
                </a:lnTo>
                <a:lnTo>
                  <a:pt x="56346" y="48077"/>
                </a:lnTo>
                <a:lnTo>
                  <a:pt x="56346" y="51923"/>
                </a:lnTo>
                <a:lnTo>
                  <a:pt x="56538" y="52115"/>
                </a:lnTo>
                <a:lnTo>
                  <a:pt x="56923" y="52115"/>
                </a:lnTo>
                <a:lnTo>
                  <a:pt x="59615" y="49423"/>
                </a:lnTo>
                <a:lnTo>
                  <a:pt x="59808" y="50769"/>
                </a:lnTo>
                <a:lnTo>
                  <a:pt x="50769" y="59038"/>
                </a:lnTo>
                <a:lnTo>
                  <a:pt x="50000" y="59808"/>
                </a:lnTo>
                <a:lnTo>
                  <a:pt x="49615" y="59808"/>
                </a:lnTo>
                <a:lnTo>
                  <a:pt x="49231" y="59808"/>
                </a:lnTo>
                <a:lnTo>
                  <a:pt x="47308" y="57500"/>
                </a:lnTo>
                <a:lnTo>
                  <a:pt x="46923" y="57500"/>
                </a:lnTo>
                <a:lnTo>
                  <a:pt x="44231" y="54808"/>
                </a:lnTo>
                <a:lnTo>
                  <a:pt x="43846" y="54808"/>
                </a:lnTo>
                <a:lnTo>
                  <a:pt x="41923" y="52885"/>
                </a:lnTo>
                <a:lnTo>
                  <a:pt x="41538" y="52885"/>
                </a:lnTo>
                <a:lnTo>
                  <a:pt x="39423" y="50769"/>
                </a:lnTo>
                <a:lnTo>
                  <a:pt x="40000" y="50192"/>
                </a:lnTo>
                <a:lnTo>
                  <a:pt x="40385" y="50192"/>
                </a:lnTo>
                <a:lnTo>
                  <a:pt x="42692" y="52500"/>
                </a:lnTo>
                <a:lnTo>
                  <a:pt x="42885" y="51538"/>
                </a:lnTo>
                <a:lnTo>
                  <a:pt x="43077" y="51346"/>
                </a:lnTo>
                <a:lnTo>
                  <a:pt x="43269" y="51154"/>
                </a:lnTo>
                <a:lnTo>
                  <a:pt x="43269" y="48462"/>
                </a:lnTo>
                <a:lnTo>
                  <a:pt x="43077" y="48269"/>
                </a:lnTo>
                <a:lnTo>
                  <a:pt x="40385" y="48269"/>
                </a:lnTo>
                <a:lnTo>
                  <a:pt x="40192" y="48462"/>
                </a:lnTo>
                <a:lnTo>
                  <a:pt x="40000" y="48654"/>
                </a:lnTo>
                <a:lnTo>
                  <a:pt x="39615" y="48654"/>
                </a:lnTo>
                <a:lnTo>
                  <a:pt x="39231" y="48654"/>
                </a:lnTo>
                <a:lnTo>
                  <a:pt x="38462" y="49423"/>
                </a:lnTo>
                <a:lnTo>
                  <a:pt x="38077" y="49423"/>
                </a:lnTo>
                <a:lnTo>
                  <a:pt x="36346" y="51538"/>
                </a:lnTo>
                <a:lnTo>
                  <a:pt x="35577" y="53077"/>
                </a:lnTo>
                <a:lnTo>
                  <a:pt x="35577" y="55000"/>
                </a:lnTo>
                <a:lnTo>
                  <a:pt x="35385" y="55192"/>
                </a:lnTo>
                <a:lnTo>
                  <a:pt x="35000" y="55192"/>
                </a:lnTo>
                <a:lnTo>
                  <a:pt x="34615" y="55192"/>
                </a:lnTo>
                <a:lnTo>
                  <a:pt x="33462" y="55962"/>
                </a:lnTo>
                <a:lnTo>
                  <a:pt x="33077" y="55962"/>
                </a:lnTo>
                <a:lnTo>
                  <a:pt x="32692" y="55962"/>
                </a:lnTo>
                <a:lnTo>
                  <a:pt x="31923" y="56346"/>
                </a:lnTo>
                <a:lnTo>
                  <a:pt x="31154" y="57115"/>
                </a:lnTo>
                <a:lnTo>
                  <a:pt x="29615" y="57885"/>
                </a:lnTo>
                <a:lnTo>
                  <a:pt x="28269" y="59231"/>
                </a:lnTo>
                <a:lnTo>
                  <a:pt x="28269" y="59615"/>
                </a:lnTo>
                <a:lnTo>
                  <a:pt x="26731" y="61538"/>
                </a:lnTo>
                <a:lnTo>
                  <a:pt x="25962" y="63077"/>
                </a:lnTo>
                <a:lnTo>
                  <a:pt x="25577" y="65000"/>
                </a:lnTo>
                <a:lnTo>
                  <a:pt x="25385" y="65192"/>
                </a:lnTo>
                <a:lnTo>
                  <a:pt x="25192" y="65385"/>
                </a:lnTo>
                <a:lnTo>
                  <a:pt x="25192" y="66538"/>
                </a:lnTo>
                <a:lnTo>
                  <a:pt x="25000" y="66731"/>
                </a:lnTo>
                <a:lnTo>
                  <a:pt x="24808" y="66923"/>
                </a:lnTo>
                <a:lnTo>
                  <a:pt x="24808" y="68462"/>
                </a:lnTo>
                <a:lnTo>
                  <a:pt x="24615" y="68654"/>
                </a:lnTo>
                <a:lnTo>
                  <a:pt x="24423" y="68846"/>
                </a:lnTo>
                <a:lnTo>
                  <a:pt x="24423" y="70769"/>
                </a:lnTo>
                <a:lnTo>
                  <a:pt x="24231" y="70962"/>
                </a:lnTo>
                <a:lnTo>
                  <a:pt x="24038" y="71154"/>
                </a:lnTo>
                <a:lnTo>
                  <a:pt x="24038" y="72308"/>
                </a:lnTo>
                <a:lnTo>
                  <a:pt x="23846" y="72500"/>
                </a:lnTo>
                <a:lnTo>
                  <a:pt x="23462" y="72500"/>
                </a:lnTo>
                <a:lnTo>
                  <a:pt x="22885" y="71923"/>
                </a:lnTo>
                <a:lnTo>
                  <a:pt x="23269" y="71154"/>
                </a:lnTo>
                <a:lnTo>
                  <a:pt x="23269" y="68846"/>
                </a:lnTo>
                <a:lnTo>
                  <a:pt x="23462" y="68654"/>
                </a:lnTo>
                <a:lnTo>
                  <a:pt x="23654" y="68462"/>
                </a:lnTo>
                <a:lnTo>
                  <a:pt x="23654" y="67308"/>
                </a:lnTo>
                <a:lnTo>
                  <a:pt x="23846" y="67115"/>
                </a:lnTo>
                <a:lnTo>
                  <a:pt x="24038" y="66923"/>
                </a:lnTo>
                <a:lnTo>
                  <a:pt x="24423" y="64231"/>
                </a:lnTo>
                <a:lnTo>
                  <a:pt x="24615" y="64038"/>
                </a:lnTo>
                <a:lnTo>
                  <a:pt x="24808" y="63846"/>
                </a:lnTo>
                <a:lnTo>
                  <a:pt x="25192" y="61923"/>
                </a:lnTo>
                <a:lnTo>
                  <a:pt x="26346" y="60385"/>
                </a:lnTo>
                <a:lnTo>
                  <a:pt x="26731" y="59231"/>
                </a:lnTo>
                <a:lnTo>
                  <a:pt x="29231" y="56731"/>
                </a:lnTo>
                <a:lnTo>
                  <a:pt x="29615" y="56731"/>
                </a:lnTo>
                <a:lnTo>
                  <a:pt x="30385" y="55962"/>
                </a:lnTo>
                <a:lnTo>
                  <a:pt x="32692" y="54808"/>
                </a:lnTo>
                <a:lnTo>
                  <a:pt x="33077" y="54808"/>
                </a:lnTo>
                <a:lnTo>
                  <a:pt x="33462" y="54808"/>
                </a:lnTo>
                <a:lnTo>
                  <a:pt x="34231" y="54423"/>
                </a:lnTo>
                <a:lnTo>
                  <a:pt x="34423" y="52692"/>
                </a:lnTo>
                <a:lnTo>
                  <a:pt x="35192" y="51154"/>
                </a:lnTo>
                <a:lnTo>
                  <a:pt x="35962" y="50385"/>
                </a:lnTo>
                <a:lnTo>
                  <a:pt x="35962" y="50000"/>
                </a:lnTo>
                <a:lnTo>
                  <a:pt x="36923" y="49038"/>
                </a:lnTo>
                <a:lnTo>
                  <a:pt x="37308" y="49038"/>
                </a:lnTo>
                <a:lnTo>
                  <a:pt x="38846" y="47885"/>
                </a:lnTo>
                <a:lnTo>
                  <a:pt x="39231" y="47885"/>
                </a:lnTo>
                <a:lnTo>
                  <a:pt x="39615" y="47885"/>
                </a:lnTo>
                <a:lnTo>
                  <a:pt x="39808" y="47692"/>
                </a:lnTo>
                <a:lnTo>
                  <a:pt x="40000" y="47500"/>
                </a:lnTo>
                <a:lnTo>
                  <a:pt x="41154" y="47500"/>
                </a:lnTo>
                <a:lnTo>
                  <a:pt x="42115" y="46923"/>
                </a:lnTo>
                <a:lnTo>
                  <a:pt x="40577" y="45000"/>
                </a:lnTo>
                <a:lnTo>
                  <a:pt x="39808" y="43462"/>
                </a:lnTo>
                <a:lnTo>
                  <a:pt x="39808" y="43077"/>
                </a:lnTo>
                <a:lnTo>
                  <a:pt x="39808" y="42692"/>
                </a:lnTo>
                <a:lnTo>
                  <a:pt x="39423" y="41923"/>
                </a:lnTo>
                <a:lnTo>
                  <a:pt x="38846" y="41346"/>
                </a:lnTo>
                <a:lnTo>
                  <a:pt x="38462" y="41346"/>
                </a:lnTo>
                <a:lnTo>
                  <a:pt x="38077" y="41346"/>
                </a:lnTo>
                <a:lnTo>
                  <a:pt x="37308" y="40962"/>
                </a:lnTo>
                <a:lnTo>
                  <a:pt x="35962" y="39615"/>
                </a:lnTo>
                <a:lnTo>
                  <a:pt x="35577" y="38846"/>
                </a:lnTo>
                <a:lnTo>
                  <a:pt x="35577" y="35385"/>
                </a:lnTo>
                <a:lnTo>
                  <a:pt x="36346" y="33846"/>
                </a:lnTo>
                <a:lnTo>
                  <a:pt x="35192" y="32308"/>
                </a:lnTo>
                <a:lnTo>
                  <a:pt x="35192" y="30000"/>
                </a:lnTo>
                <a:lnTo>
                  <a:pt x="35962" y="28846"/>
                </a:lnTo>
                <a:lnTo>
                  <a:pt x="35192" y="27308"/>
                </a:lnTo>
                <a:lnTo>
                  <a:pt x="35192" y="26154"/>
                </a:lnTo>
                <a:lnTo>
                  <a:pt x="35000" y="25962"/>
                </a:lnTo>
                <a:lnTo>
                  <a:pt x="34808" y="25769"/>
                </a:lnTo>
                <a:lnTo>
                  <a:pt x="35000" y="25577"/>
                </a:lnTo>
                <a:lnTo>
                  <a:pt x="35192" y="25385"/>
                </a:lnTo>
                <a:lnTo>
                  <a:pt x="35192" y="24231"/>
                </a:lnTo>
                <a:lnTo>
                  <a:pt x="35962" y="23462"/>
                </a:lnTo>
                <a:lnTo>
                  <a:pt x="35962" y="23077"/>
                </a:lnTo>
                <a:lnTo>
                  <a:pt x="36154" y="22885"/>
                </a:lnTo>
                <a:lnTo>
                  <a:pt x="36538" y="22885"/>
                </a:lnTo>
                <a:lnTo>
                  <a:pt x="37308" y="22115"/>
                </a:lnTo>
                <a:lnTo>
                  <a:pt x="37692" y="22115"/>
                </a:lnTo>
                <a:lnTo>
                  <a:pt x="38077" y="22115"/>
                </a:lnTo>
                <a:lnTo>
                  <a:pt x="39038" y="21538"/>
                </a:lnTo>
                <a:lnTo>
                  <a:pt x="39038" y="20385"/>
                </a:lnTo>
                <a:lnTo>
                  <a:pt x="39423" y="19615"/>
                </a:lnTo>
                <a:lnTo>
                  <a:pt x="40769" y="18269"/>
                </a:lnTo>
                <a:lnTo>
                  <a:pt x="41538" y="17885"/>
                </a:lnTo>
                <a:lnTo>
                  <a:pt x="44615" y="17885"/>
                </a:lnTo>
                <a:lnTo>
                  <a:pt x="44808" y="18077"/>
                </a:lnTo>
                <a:lnTo>
                  <a:pt x="45000" y="18269"/>
                </a:lnTo>
                <a:lnTo>
                  <a:pt x="46154" y="17115"/>
                </a:lnTo>
                <a:lnTo>
                  <a:pt x="48654" y="16154"/>
                </a:lnTo>
                <a:close/>
                <a:moveTo>
                  <a:pt x="48077" y="17115"/>
                </a:moveTo>
                <a:lnTo>
                  <a:pt x="47308" y="17500"/>
                </a:lnTo>
                <a:lnTo>
                  <a:pt x="45385" y="19423"/>
                </a:lnTo>
                <a:lnTo>
                  <a:pt x="44615" y="18654"/>
                </a:lnTo>
                <a:lnTo>
                  <a:pt x="42308" y="18654"/>
                </a:lnTo>
                <a:lnTo>
                  <a:pt x="41538" y="19038"/>
                </a:lnTo>
                <a:lnTo>
                  <a:pt x="40192" y="20769"/>
                </a:lnTo>
                <a:lnTo>
                  <a:pt x="40192" y="22308"/>
                </a:lnTo>
                <a:lnTo>
                  <a:pt x="39615" y="22885"/>
                </a:lnTo>
                <a:lnTo>
                  <a:pt x="38077" y="22885"/>
                </a:lnTo>
                <a:lnTo>
                  <a:pt x="36731" y="23846"/>
                </a:lnTo>
                <a:lnTo>
                  <a:pt x="36346" y="24615"/>
                </a:lnTo>
                <a:lnTo>
                  <a:pt x="36346" y="27308"/>
                </a:lnTo>
                <a:lnTo>
                  <a:pt x="37115" y="28846"/>
                </a:lnTo>
                <a:lnTo>
                  <a:pt x="36346" y="30000"/>
                </a:lnTo>
                <a:lnTo>
                  <a:pt x="36346" y="31923"/>
                </a:lnTo>
                <a:lnTo>
                  <a:pt x="37692" y="33654"/>
                </a:lnTo>
                <a:lnTo>
                  <a:pt x="39231" y="33654"/>
                </a:lnTo>
                <a:lnTo>
                  <a:pt x="40192" y="33077"/>
                </a:lnTo>
                <a:lnTo>
                  <a:pt x="40962" y="31538"/>
                </a:lnTo>
                <a:lnTo>
                  <a:pt x="40962" y="29231"/>
                </a:lnTo>
                <a:lnTo>
                  <a:pt x="41154" y="29038"/>
                </a:lnTo>
                <a:lnTo>
                  <a:pt x="41923" y="29423"/>
                </a:lnTo>
                <a:lnTo>
                  <a:pt x="44615" y="29423"/>
                </a:lnTo>
                <a:lnTo>
                  <a:pt x="45385" y="28654"/>
                </a:lnTo>
                <a:lnTo>
                  <a:pt x="45769" y="28654"/>
                </a:lnTo>
                <a:lnTo>
                  <a:pt x="45962" y="28846"/>
                </a:lnTo>
                <a:lnTo>
                  <a:pt x="44231" y="30192"/>
                </a:lnTo>
                <a:lnTo>
                  <a:pt x="43846" y="30192"/>
                </a:lnTo>
                <a:lnTo>
                  <a:pt x="43462" y="30192"/>
                </a:lnTo>
                <a:lnTo>
                  <a:pt x="43269" y="30385"/>
                </a:lnTo>
                <a:lnTo>
                  <a:pt x="43077" y="30577"/>
                </a:lnTo>
                <a:lnTo>
                  <a:pt x="42308" y="30192"/>
                </a:lnTo>
                <a:lnTo>
                  <a:pt x="41731" y="30769"/>
                </a:lnTo>
                <a:lnTo>
                  <a:pt x="41731" y="32308"/>
                </a:lnTo>
                <a:lnTo>
                  <a:pt x="40385" y="34038"/>
                </a:lnTo>
                <a:lnTo>
                  <a:pt x="38846" y="34808"/>
                </a:lnTo>
                <a:lnTo>
                  <a:pt x="37692" y="34423"/>
                </a:lnTo>
                <a:lnTo>
                  <a:pt x="37115" y="35000"/>
                </a:lnTo>
                <a:lnTo>
                  <a:pt x="36731" y="35769"/>
                </a:lnTo>
                <a:lnTo>
                  <a:pt x="36731" y="38462"/>
                </a:lnTo>
                <a:lnTo>
                  <a:pt x="38077" y="40192"/>
                </a:lnTo>
                <a:lnTo>
                  <a:pt x="40192" y="40769"/>
                </a:lnTo>
                <a:lnTo>
                  <a:pt x="40192" y="41154"/>
                </a:lnTo>
                <a:lnTo>
                  <a:pt x="40192" y="41538"/>
                </a:lnTo>
                <a:lnTo>
                  <a:pt x="40385" y="41731"/>
                </a:lnTo>
                <a:lnTo>
                  <a:pt x="40577" y="41923"/>
                </a:lnTo>
                <a:lnTo>
                  <a:pt x="40577" y="42308"/>
                </a:lnTo>
                <a:lnTo>
                  <a:pt x="40577" y="42692"/>
                </a:lnTo>
                <a:lnTo>
                  <a:pt x="41346" y="44231"/>
                </a:lnTo>
                <a:lnTo>
                  <a:pt x="42500" y="45385"/>
                </a:lnTo>
                <a:lnTo>
                  <a:pt x="42500" y="45769"/>
                </a:lnTo>
                <a:lnTo>
                  <a:pt x="45000" y="48269"/>
                </a:lnTo>
                <a:lnTo>
                  <a:pt x="47308" y="49423"/>
                </a:lnTo>
                <a:lnTo>
                  <a:pt x="47692" y="49423"/>
                </a:lnTo>
                <a:lnTo>
                  <a:pt x="48077" y="49423"/>
                </a:lnTo>
                <a:lnTo>
                  <a:pt x="48269" y="49615"/>
                </a:lnTo>
                <a:lnTo>
                  <a:pt x="48462" y="49808"/>
                </a:lnTo>
                <a:lnTo>
                  <a:pt x="50385" y="49808"/>
                </a:lnTo>
                <a:lnTo>
                  <a:pt x="50577" y="49615"/>
                </a:lnTo>
                <a:lnTo>
                  <a:pt x="50769" y="49423"/>
                </a:lnTo>
                <a:lnTo>
                  <a:pt x="51923" y="49423"/>
                </a:lnTo>
                <a:lnTo>
                  <a:pt x="53462" y="48654"/>
                </a:lnTo>
                <a:lnTo>
                  <a:pt x="55577" y="46923"/>
                </a:lnTo>
                <a:lnTo>
                  <a:pt x="55577" y="46538"/>
                </a:lnTo>
                <a:lnTo>
                  <a:pt x="57115" y="45000"/>
                </a:lnTo>
                <a:lnTo>
                  <a:pt x="57500" y="44231"/>
                </a:lnTo>
                <a:lnTo>
                  <a:pt x="58269" y="43077"/>
                </a:lnTo>
                <a:lnTo>
                  <a:pt x="58654" y="41154"/>
                </a:lnTo>
                <a:lnTo>
                  <a:pt x="59231" y="40577"/>
                </a:lnTo>
                <a:lnTo>
                  <a:pt x="60769" y="40577"/>
                </a:lnTo>
                <a:lnTo>
                  <a:pt x="61731" y="39615"/>
                </a:lnTo>
                <a:lnTo>
                  <a:pt x="62500" y="38077"/>
                </a:lnTo>
                <a:lnTo>
                  <a:pt x="62500" y="35769"/>
                </a:lnTo>
                <a:lnTo>
                  <a:pt x="62115" y="35000"/>
                </a:lnTo>
                <a:lnTo>
                  <a:pt x="61538" y="34423"/>
                </a:lnTo>
                <a:lnTo>
                  <a:pt x="59231" y="34423"/>
                </a:lnTo>
                <a:lnTo>
                  <a:pt x="58462" y="34038"/>
                </a:lnTo>
                <a:lnTo>
                  <a:pt x="57885" y="33462"/>
                </a:lnTo>
                <a:lnTo>
                  <a:pt x="57115" y="31923"/>
                </a:lnTo>
                <a:lnTo>
                  <a:pt x="57115" y="30000"/>
                </a:lnTo>
                <a:lnTo>
                  <a:pt x="56923" y="29808"/>
                </a:lnTo>
                <a:lnTo>
                  <a:pt x="56154" y="30192"/>
                </a:lnTo>
                <a:lnTo>
                  <a:pt x="55000" y="30192"/>
                </a:lnTo>
                <a:lnTo>
                  <a:pt x="53077" y="29038"/>
                </a:lnTo>
                <a:lnTo>
                  <a:pt x="51154" y="30192"/>
                </a:lnTo>
                <a:lnTo>
                  <a:pt x="48077" y="30192"/>
                </a:lnTo>
                <a:lnTo>
                  <a:pt x="47308" y="29808"/>
                </a:lnTo>
                <a:lnTo>
                  <a:pt x="45962" y="28462"/>
                </a:lnTo>
                <a:lnTo>
                  <a:pt x="45962" y="28077"/>
                </a:lnTo>
                <a:lnTo>
                  <a:pt x="45962" y="27692"/>
                </a:lnTo>
                <a:lnTo>
                  <a:pt x="46154" y="27500"/>
                </a:lnTo>
                <a:lnTo>
                  <a:pt x="46538" y="27500"/>
                </a:lnTo>
                <a:lnTo>
                  <a:pt x="47308" y="28654"/>
                </a:lnTo>
                <a:lnTo>
                  <a:pt x="48846" y="29423"/>
                </a:lnTo>
                <a:lnTo>
                  <a:pt x="50385" y="29423"/>
                </a:lnTo>
                <a:lnTo>
                  <a:pt x="50577" y="29231"/>
                </a:lnTo>
                <a:lnTo>
                  <a:pt x="50769" y="29038"/>
                </a:lnTo>
                <a:lnTo>
                  <a:pt x="51154" y="29038"/>
                </a:lnTo>
                <a:lnTo>
                  <a:pt x="51538" y="29038"/>
                </a:lnTo>
                <a:lnTo>
                  <a:pt x="53077" y="27500"/>
                </a:lnTo>
                <a:lnTo>
                  <a:pt x="53654" y="28077"/>
                </a:lnTo>
                <a:lnTo>
                  <a:pt x="53654" y="28462"/>
                </a:lnTo>
                <a:lnTo>
                  <a:pt x="53846" y="28654"/>
                </a:lnTo>
                <a:lnTo>
                  <a:pt x="54231" y="28654"/>
                </a:lnTo>
                <a:lnTo>
                  <a:pt x="55000" y="29423"/>
                </a:lnTo>
                <a:lnTo>
                  <a:pt x="56538" y="29423"/>
                </a:lnTo>
                <a:lnTo>
                  <a:pt x="57692" y="28654"/>
                </a:lnTo>
                <a:lnTo>
                  <a:pt x="57885" y="28846"/>
                </a:lnTo>
                <a:lnTo>
                  <a:pt x="57885" y="31154"/>
                </a:lnTo>
                <a:lnTo>
                  <a:pt x="58077" y="31346"/>
                </a:lnTo>
                <a:lnTo>
                  <a:pt x="58269" y="31538"/>
                </a:lnTo>
                <a:lnTo>
                  <a:pt x="58269" y="31923"/>
                </a:lnTo>
                <a:lnTo>
                  <a:pt x="58269" y="32308"/>
                </a:lnTo>
                <a:lnTo>
                  <a:pt x="59615" y="33654"/>
                </a:lnTo>
                <a:lnTo>
                  <a:pt x="61154" y="33654"/>
                </a:lnTo>
                <a:lnTo>
                  <a:pt x="62500" y="32308"/>
                </a:lnTo>
                <a:lnTo>
                  <a:pt x="62885" y="31538"/>
                </a:lnTo>
                <a:lnTo>
                  <a:pt x="62885" y="30385"/>
                </a:lnTo>
                <a:lnTo>
                  <a:pt x="61731" y="28462"/>
                </a:lnTo>
                <a:lnTo>
                  <a:pt x="62885" y="27308"/>
                </a:lnTo>
                <a:lnTo>
                  <a:pt x="62885" y="24615"/>
                </a:lnTo>
                <a:lnTo>
                  <a:pt x="61538" y="23269"/>
                </a:lnTo>
                <a:lnTo>
                  <a:pt x="60769" y="22885"/>
                </a:lnTo>
                <a:lnTo>
                  <a:pt x="59231" y="22885"/>
                </a:lnTo>
                <a:lnTo>
                  <a:pt x="59038" y="22692"/>
                </a:lnTo>
                <a:lnTo>
                  <a:pt x="59038" y="20769"/>
                </a:lnTo>
                <a:lnTo>
                  <a:pt x="57308" y="19038"/>
                </a:lnTo>
                <a:lnTo>
                  <a:pt x="56538" y="18654"/>
                </a:lnTo>
                <a:lnTo>
                  <a:pt x="54615" y="18654"/>
                </a:lnTo>
                <a:lnTo>
                  <a:pt x="53462" y="19423"/>
                </a:lnTo>
                <a:lnTo>
                  <a:pt x="53269" y="19231"/>
                </a:lnTo>
                <a:lnTo>
                  <a:pt x="53269" y="18846"/>
                </a:lnTo>
                <a:lnTo>
                  <a:pt x="52308" y="17885"/>
                </a:lnTo>
                <a:lnTo>
                  <a:pt x="50769" y="17115"/>
                </a:lnTo>
                <a:lnTo>
                  <a:pt x="48077" y="17115"/>
                </a:lnTo>
                <a:close/>
                <a:moveTo>
                  <a:pt x="49038" y="21154"/>
                </a:moveTo>
                <a:lnTo>
                  <a:pt x="50385" y="20962"/>
                </a:lnTo>
                <a:lnTo>
                  <a:pt x="50577" y="21154"/>
                </a:lnTo>
                <a:lnTo>
                  <a:pt x="50577" y="21538"/>
                </a:lnTo>
                <a:lnTo>
                  <a:pt x="50385" y="21731"/>
                </a:lnTo>
                <a:lnTo>
                  <a:pt x="50000" y="21731"/>
                </a:lnTo>
                <a:lnTo>
                  <a:pt x="49038" y="21154"/>
                </a:lnTo>
                <a:close/>
                <a:moveTo>
                  <a:pt x="48269" y="21923"/>
                </a:moveTo>
                <a:lnTo>
                  <a:pt x="48462" y="21731"/>
                </a:lnTo>
                <a:lnTo>
                  <a:pt x="48654" y="21923"/>
                </a:lnTo>
                <a:lnTo>
                  <a:pt x="48654" y="22308"/>
                </a:lnTo>
                <a:lnTo>
                  <a:pt x="48462" y="22500"/>
                </a:lnTo>
                <a:lnTo>
                  <a:pt x="48077" y="22500"/>
                </a:lnTo>
                <a:lnTo>
                  <a:pt x="47885" y="22308"/>
                </a:lnTo>
                <a:lnTo>
                  <a:pt x="48077" y="22115"/>
                </a:lnTo>
                <a:lnTo>
                  <a:pt x="48269" y="21923"/>
                </a:lnTo>
                <a:close/>
                <a:moveTo>
                  <a:pt x="42885" y="23846"/>
                </a:moveTo>
                <a:lnTo>
                  <a:pt x="44231" y="23654"/>
                </a:lnTo>
                <a:lnTo>
                  <a:pt x="45192" y="24615"/>
                </a:lnTo>
                <a:lnTo>
                  <a:pt x="45000" y="24808"/>
                </a:lnTo>
                <a:lnTo>
                  <a:pt x="44615" y="24808"/>
                </a:lnTo>
                <a:lnTo>
                  <a:pt x="44423" y="24615"/>
                </a:lnTo>
                <a:lnTo>
                  <a:pt x="44231" y="24423"/>
                </a:lnTo>
                <a:lnTo>
                  <a:pt x="43077" y="24423"/>
                </a:lnTo>
                <a:lnTo>
                  <a:pt x="42308" y="25192"/>
                </a:lnTo>
                <a:lnTo>
                  <a:pt x="42115" y="25000"/>
                </a:lnTo>
                <a:lnTo>
                  <a:pt x="42115" y="24615"/>
                </a:lnTo>
                <a:lnTo>
                  <a:pt x="42885" y="23846"/>
                </a:lnTo>
                <a:close/>
                <a:moveTo>
                  <a:pt x="54038" y="23846"/>
                </a:moveTo>
                <a:lnTo>
                  <a:pt x="54231" y="23654"/>
                </a:lnTo>
                <a:lnTo>
                  <a:pt x="54615" y="23654"/>
                </a:lnTo>
                <a:lnTo>
                  <a:pt x="54808" y="23846"/>
                </a:lnTo>
                <a:lnTo>
                  <a:pt x="55000" y="24038"/>
                </a:lnTo>
                <a:lnTo>
                  <a:pt x="56154" y="24038"/>
                </a:lnTo>
                <a:lnTo>
                  <a:pt x="56346" y="24231"/>
                </a:lnTo>
                <a:lnTo>
                  <a:pt x="56346" y="24615"/>
                </a:lnTo>
                <a:lnTo>
                  <a:pt x="56154" y="24808"/>
                </a:lnTo>
                <a:lnTo>
                  <a:pt x="55769" y="24808"/>
                </a:lnTo>
                <a:lnTo>
                  <a:pt x="55577" y="24615"/>
                </a:lnTo>
                <a:lnTo>
                  <a:pt x="55385" y="24423"/>
                </a:lnTo>
                <a:lnTo>
                  <a:pt x="54231" y="24423"/>
                </a:lnTo>
                <a:lnTo>
                  <a:pt x="54038" y="24231"/>
                </a:lnTo>
                <a:lnTo>
                  <a:pt x="54038" y="23846"/>
                </a:lnTo>
                <a:close/>
                <a:moveTo>
                  <a:pt x="41731" y="25385"/>
                </a:moveTo>
                <a:lnTo>
                  <a:pt x="41923" y="25192"/>
                </a:lnTo>
                <a:lnTo>
                  <a:pt x="42115" y="25385"/>
                </a:lnTo>
                <a:lnTo>
                  <a:pt x="42115" y="25769"/>
                </a:lnTo>
                <a:lnTo>
                  <a:pt x="42115" y="26154"/>
                </a:lnTo>
                <a:lnTo>
                  <a:pt x="40769" y="26346"/>
                </a:lnTo>
                <a:lnTo>
                  <a:pt x="40000" y="27115"/>
                </a:lnTo>
                <a:lnTo>
                  <a:pt x="39423" y="26538"/>
                </a:lnTo>
                <a:lnTo>
                  <a:pt x="39423" y="26154"/>
                </a:lnTo>
                <a:lnTo>
                  <a:pt x="41154" y="25962"/>
                </a:lnTo>
                <a:lnTo>
                  <a:pt x="41731" y="25385"/>
                </a:lnTo>
                <a:close/>
                <a:moveTo>
                  <a:pt x="59038" y="26154"/>
                </a:moveTo>
                <a:lnTo>
                  <a:pt x="59231" y="25962"/>
                </a:lnTo>
                <a:lnTo>
                  <a:pt x="59808" y="26538"/>
                </a:lnTo>
                <a:lnTo>
                  <a:pt x="59808" y="26923"/>
                </a:lnTo>
                <a:lnTo>
                  <a:pt x="59038" y="27692"/>
                </a:lnTo>
                <a:lnTo>
                  <a:pt x="58846" y="27885"/>
                </a:lnTo>
                <a:lnTo>
                  <a:pt x="58269" y="26923"/>
                </a:lnTo>
                <a:lnTo>
                  <a:pt x="59038" y="26154"/>
                </a:lnTo>
                <a:close/>
                <a:moveTo>
                  <a:pt x="43269" y="34231"/>
                </a:moveTo>
                <a:lnTo>
                  <a:pt x="43462" y="34038"/>
                </a:lnTo>
                <a:lnTo>
                  <a:pt x="46538" y="34038"/>
                </a:lnTo>
                <a:lnTo>
                  <a:pt x="47115" y="34615"/>
                </a:lnTo>
                <a:lnTo>
                  <a:pt x="47115" y="35000"/>
                </a:lnTo>
                <a:lnTo>
                  <a:pt x="47115" y="35385"/>
                </a:lnTo>
                <a:lnTo>
                  <a:pt x="46923" y="35577"/>
                </a:lnTo>
                <a:lnTo>
                  <a:pt x="46731" y="35385"/>
                </a:lnTo>
                <a:lnTo>
                  <a:pt x="46538" y="35192"/>
                </a:lnTo>
                <a:lnTo>
                  <a:pt x="45769" y="34808"/>
                </a:lnTo>
                <a:lnTo>
                  <a:pt x="44231" y="34808"/>
                </a:lnTo>
                <a:lnTo>
                  <a:pt x="43462" y="35577"/>
                </a:lnTo>
                <a:lnTo>
                  <a:pt x="43077" y="35577"/>
                </a:lnTo>
                <a:lnTo>
                  <a:pt x="42885" y="34615"/>
                </a:lnTo>
                <a:lnTo>
                  <a:pt x="43077" y="34423"/>
                </a:lnTo>
                <a:lnTo>
                  <a:pt x="43269" y="34231"/>
                </a:lnTo>
                <a:close/>
                <a:moveTo>
                  <a:pt x="52885" y="34231"/>
                </a:moveTo>
                <a:lnTo>
                  <a:pt x="53077" y="34038"/>
                </a:lnTo>
                <a:lnTo>
                  <a:pt x="55385" y="34038"/>
                </a:lnTo>
                <a:lnTo>
                  <a:pt x="56346" y="35000"/>
                </a:lnTo>
                <a:lnTo>
                  <a:pt x="56346" y="35385"/>
                </a:lnTo>
                <a:lnTo>
                  <a:pt x="56154" y="35577"/>
                </a:lnTo>
                <a:lnTo>
                  <a:pt x="55192" y="35385"/>
                </a:lnTo>
                <a:lnTo>
                  <a:pt x="54615" y="34808"/>
                </a:lnTo>
                <a:lnTo>
                  <a:pt x="54231" y="34808"/>
                </a:lnTo>
                <a:lnTo>
                  <a:pt x="53846" y="34808"/>
                </a:lnTo>
                <a:lnTo>
                  <a:pt x="52308" y="35577"/>
                </a:lnTo>
                <a:lnTo>
                  <a:pt x="52115" y="35385"/>
                </a:lnTo>
                <a:lnTo>
                  <a:pt x="52115" y="35000"/>
                </a:lnTo>
                <a:lnTo>
                  <a:pt x="52885" y="34231"/>
                </a:lnTo>
                <a:close/>
                <a:moveTo>
                  <a:pt x="44423" y="36154"/>
                </a:moveTo>
                <a:lnTo>
                  <a:pt x="45385" y="35962"/>
                </a:lnTo>
                <a:lnTo>
                  <a:pt x="45962" y="36538"/>
                </a:lnTo>
                <a:lnTo>
                  <a:pt x="45962" y="36923"/>
                </a:lnTo>
                <a:lnTo>
                  <a:pt x="45962" y="37308"/>
                </a:lnTo>
                <a:lnTo>
                  <a:pt x="45769" y="37500"/>
                </a:lnTo>
                <a:lnTo>
                  <a:pt x="45577" y="37692"/>
                </a:lnTo>
                <a:lnTo>
                  <a:pt x="45385" y="37885"/>
                </a:lnTo>
                <a:lnTo>
                  <a:pt x="45000" y="37885"/>
                </a:lnTo>
                <a:lnTo>
                  <a:pt x="44038" y="36923"/>
                </a:lnTo>
                <a:lnTo>
                  <a:pt x="44423" y="36154"/>
                </a:lnTo>
                <a:close/>
                <a:moveTo>
                  <a:pt x="53654" y="36154"/>
                </a:moveTo>
                <a:lnTo>
                  <a:pt x="53846" y="35962"/>
                </a:lnTo>
                <a:lnTo>
                  <a:pt x="54808" y="36154"/>
                </a:lnTo>
                <a:lnTo>
                  <a:pt x="55192" y="36923"/>
                </a:lnTo>
                <a:lnTo>
                  <a:pt x="54615" y="37500"/>
                </a:lnTo>
                <a:lnTo>
                  <a:pt x="54423" y="37692"/>
                </a:lnTo>
                <a:lnTo>
                  <a:pt x="54231" y="37885"/>
                </a:lnTo>
                <a:lnTo>
                  <a:pt x="53269" y="36923"/>
                </a:lnTo>
                <a:lnTo>
                  <a:pt x="53654" y="36154"/>
                </a:lnTo>
                <a:close/>
                <a:moveTo>
                  <a:pt x="47500" y="44615"/>
                </a:moveTo>
                <a:lnTo>
                  <a:pt x="48846" y="44423"/>
                </a:lnTo>
                <a:lnTo>
                  <a:pt x="49038" y="44615"/>
                </a:lnTo>
                <a:lnTo>
                  <a:pt x="49231" y="44808"/>
                </a:lnTo>
                <a:lnTo>
                  <a:pt x="50385" y="44808"/>
                </a:lnTo>
                <a:lnTo>
                  <a:pt x="51154" y="44423"/>
                </a:lnTo>
                <a:lnTo>
                  <a:pt x="51346" y="44615"/>
                </a:lnTo>
                <a:lnTo>
                  <a:pt x="51346" y="45000"/>
                </a:lnTo>
                <a:lnTo>
                  <a:pt x="51154" y="45192"/>
                </a:lnTo>
                <a:lnTo>
                  <a:pt x="50000" y="45962"/>
                </a:lnTo>
                <a:lnTo>
                  <a:pt x="48846" y="45962"/>
                </a:lnTo>
                <a:lnTo>
                  <a:pt x="48077" y="45577"/>
                </a:lnTo>
                <a:lnTo>
                  <a:pt x="47500" y="45000"/>
                </a:lnTo>
                <a:lnTo>
                  <a:pt x="47500" y="44615"/>
                </a:lnTo>
                <a:close/>
                <a:moveTo>
                  <a:pt x="44231" y="48654"/>
                </a:moveTo>
                <a:lnTo>
                  <a:pt x="44038" y="48846"/>
                </a:lnTo>
                <a:lnTo>
                  <a:pt x="44038" y="53077"/>
                </a:lnTo>
                <a:lnTo>
                  <a:pt x="47692" y="56731"/>
                </a:lnTo>
                <a:lnTo>
                  <a:pt x="48077" y="56731"/>
                </a:lnTo>
                <a:lnTo>
                  <a:pt x="49038" y="57692"/>
                </a:lnTo>
                <a:lnTo>
                  <a:pt x="49038" y="58077"/>
                </a:lnTo>
                <a:lnTo>
                  <a:pt x="49231" y="58269"/>
                </a:lnTo>
                <a:lnTo>
                  <a:pt x="49615" y="58269"/>
                </a:lnTo>
                <a:lnTo>
                  <a:pt x="50000" y="58269"/>
                </a:lnTo>
                <a:lnTo>
                  <a:pt x="53846" y="54808"/>
                </a:lnTo>
                <a:lnTo>
                  <a:pt x="55577" y="53462"/>
                </a:lnTo>
                <a:lnTo>
                  <a:pt x="55577" y="48846"/>
                </a:lnTo>
                <a:lnTo>
                  <a:pt x="55385" y="48654"/>
                </a:lnTo>
                <a:lnTo>
                  <a:pt x="51538" y="50577"/>
                </a:lnTo>
                <a:lnTo>
                  <a:pt x="47692" y="50577"/>
                </a:lnTo>
                <a:lnTo>
                  <a:pt x="47500" y="50385"/>
                </a:lnTo>
                <a:lnTo>
                  <a:pt x="47308" y="50192"/>
                </a:lnTo>
                <a:lnTo>
                  <a:pt x="46923" y="50192"/>
                </a:lnTo>
                <a:lnTo>
                  <a:pt x="46538" y="50192"/>
                </a:lnTo>
                <a:lnTo>
                  <a:pt x="45000" y="49423"/>
                </a:lnTo>
                <a:lnTo>
                  <a:pt x="44231" y="48654"/>
                </a:lnTo>
                <a:close/>
                <a:moveTo>
                  <a:pt x="44808" y="58462"/>
                </a:moveTo>
                <a:lnTo>
                  <a:pt x="45000" y="58269"/>
                </a:lnTo>
                <a:lnTo>
                  <a:pt x="45385" y="58269"/>
                </a:lnTo>
                <a:lnTo>
                  <a:pt x="45962" y="58846"/>
                </a:lnTo>
                <a:lnTo>
                  <a:pt x="45962" y="68462"/>
                </a:lnTo>
                <a:lnTo>
                  <a:pt x="45769" y="68654"/>
                </a:lnTo>
                <a:lnTo>
                  <a:pt x="45577" y="68846"/>
                </a:lnTo>
                <a:lnTo>
                  <a:pt x="45385" y="69038"/>
                </a:lnTo>
                <a:lnTo>
                  <a:pt x="44808" y="68462"/>
                </a:lnTo>
                <a:lnTo>
                  <a:pt x="44808" y="58462"/>
                </a:lnTo>
                <a:close/>
                <a:moveTo>
                  <a:pt x="53654" y="58462"/>
                </a:moveTo>
                <a:lnTo>
                  <a:pt x="53846" y="58269"/>
                </a:lnTo>
                <a:lnTo>
                  <a:pt x="54808" y="58462"/>
                </a:lnTo>
                <a:lnTo>
                  <a:pt x="54808" y="68462"/>
                </a:lnTo>
                <a:lnTo>
                  <a:pt x="54615" y="68654"/>
                </a:lnTo>
                <a:lnTo>
                  <a:pt x="53654" y="68462"/>
                </a:lnTo>
                <a:lnTo>
                  <a:pt x="53654" y="58462"/>
                </a:lnTo>
                <a:close/>
                <a:moveTo>
                  <a:pt x="70192" y="60000"/>
                </a:moveTo>
                <a:lnTo>
                  <a:pt x="70385" y="59808"/>
                </a:lnTo>
                <a:lnTo>
                  <a:pt x="70577" y="60000"/>
                </a:lnTo>
                <a:lnTo>
                  <a:pt x="70577" y="61154"/>
                </a:lnTo>
                <a:lnTo>
                  <a:pt x="69808" y="62308"/>
                </a:lnTo>
                <a:lnTo>
                  <a:pt x="69808" y="62692"/>
                </a:lnTo>
                <a:lnTo>
                  <a:pt x="69808" y="63077"/>
                </a:lnTo>
                <a:lnTo>
                  <a:pt x="69615" y="63269"/>
                </a:lnTo>
                <a:lnTo>
                  <a:pt x="69423" y="63462"/>
                </a:lnTo>
                <a:lnTo>
                  <a:pt x="69423" y="64615"/>
                </a:lnTo>
                <a:lnTo>
                  <a:pt x="69231" y="64808"/>
                </a:lnTo>
                <a:lnTo>
                  <a:pt x="69038" y="65000"/>
                </a:lnTo>
                <a:lnTo>
                  <a:pt x="69038" y="66538"/>
                </a:lnTo>
                <a:lnTo>
                  <a:pt x="68846" y="66731"/>
                </a:lnTo>
                <a:lnTo>
                  <a:pt x="68654" y="66923"/>
                </a:lnTo>
                <a:lnTo>
                  <a:pt x="68654" y="70000"/>
                </a:lnTo>
                <a:lnTo>
                  <a:pt x="68462" y="70192"/>
                </a:lnTo>
                <a:lnTo>
                  <a:pt x="68269" y="70385"/>
                </a:lnTo>
                <a:lnTo>
                  <a:pt x="68269" y="72308"/>
                </a:lnTo>
                <a:lnTo>
                  <a:pt x="68077" y="72500"/>
                </a:lnTo>
                <a:lnTo>
                  <a:pt x="67692" y="72500"/>
                </a:lnTo>
                <a:lnTo>
                  <a:pt x="67500" y="72308"/>
                </a:lnTo>
                <a:lnTo>
                  <a:pt x="67500" y="69231"/>
                </a:lnTo>
                <a:lnTo>
                  <a:pt x="67692" y="69038"/>
                </a:lnTo>
                <a:lnTo>
                  <a:pt x="67885" y="68846"/>
                </a:lnTo>
                <a:lnTo>
                  <a:pt x="67885" y="66154"/>
                </a:lnTo>
                <a:lnTo>
                  <a:pt x="68077" y="65962"/>
                </a:lnTo>
                <a:lnTo>
                  <a:pt x="68269" y="65769"/>
                </a:lnTo>
                <a:lnTo>
                  <a:pt x="68269" y="64615"/>
                </a:lnTo>
                <a:lnTo>
                  <a:pt x="68462" y="64423"/>
                </a:lnTo>
                <a:lnTo>
                  <a:pt x="68654" y="64231"/>
                </a:lnTo>
                <a:lnTo>
                  <a:pt x="68654" y="63077"/>
                </a:lnTo>
                <a:lnTo>
                  <a:pt x="68846" y="62885"/>
                </a:lnTo>
                <a:lnTo>
                  <a:pt x="69038" y="62692"/>
                </a:lnTo>
                <a:lnTo>
                  <a:pt x="69038" y="62308"/>
                </a:lnTo>
                <a:lnTo>
                  <a:pt x="69038" y="61923"/>
                </a:lnTo>
                <a:lnTo>
                  <a:pt x="70192" y="60000"/>
                </a:lnTo>
                <a:close/>
              </a:path>
            </a:pathLst>
          </a:custGeom>
          <a:solidFill>
            <a:srgbClr val="FFFFFF"/>
          </a:solidFill>
          <a:ln>
            <a:noFill/>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4200" b="1" dirty="0">
                <a:solidFill>
                  <a:srgbClr val="2563EB"/>
                </a:solidFill>
                <a:latin typeface="Aptos" pitchFamily="34" charset="0"/>
                <a:ea typeface="Segoe UI" pitchFamily="34" charset="-122"/>
                <a:cs typeface="Segoe UI" pitchFamily="34" charset="-120"/>
              </a:rPr>
              <a:t>03. Contexte &amp; objectifs</a:t>
            </a:r>
            <a:endParaRPr lang="en-US" sz="42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650" dirty="0">
                <a:solidFill>
                  <a:srgbClr val="17324D"/>
                </a:solidFill>
                <a:latin typeface="Aptos" pitchFamily="34" charset="0"/>
                <a:ea typeface="Segoe UI" pitchFamily="34" charset="-122"/>
                <a:cs typeface="Segoe UI" pitchFamily="34" charset="-120"/>
              </a:rPr>
              <a:t>Décrire des profils d’achat et formuler des hypothèses de ciblage à évaluer.</a:t>
            </a:r>
            <a:endParaRPr lang="en-US" sz="165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Customer Personality Analysis · Projet collectif ENSEA · Abdoulaye KONE</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03</a:t>
            </a:r>
            <a:endParaRPr lang="en-US" sz="1000" dirty="0"/>
          </a:p>
        </p:txBody>
      </p:sp>
      <p:sp>
        <p:nvSpPr>
          <p:cNvPr id="7" name="VECTOR_database_dark_15"/>
          <p:cNvSpPr/>
          <p:nvPr/>
        </p:nvSpPr>
        <p:spPr>
          <a:xfrm>
            <a:off x="457200" y="2084832"/>
            <a:ext cx="1627632" cy="1627632"/>
          </a:xfrm>
          <a:custGeom>
            <a:avLst/>
            <a:gdLst/>
            <a:ahLst/>
            <a:cxnLst/>
            <a:rect l="0" t="0" r="r" b="b"/>
            <a:pathLst>
              <a:path w="100000" h="100000" fill="norm" stroke="false" extrusionOk="false">
                <a:moveTo>
                  <a:pt x="42708" y="7083"/>
                </a:moveTo>
                <a:lnTo>
                  <a:pt x="42917" y="6875"/>
                </a:lnTo>
                <a:lnTo>
                  <a:pt x="57500" y="6875"/>
                </a:lnTo>
                <a:lnTo>
                  <a:pt x="57708" y="7083"/>
                </a:lnTo>
                <a:lnTo>
                  <a:pt x="57917" y="7292"/>
                </a:lnTo>
                <a:lnTo>
                  <a:pt x="60833" y="7292"/>
                </a:lnTo>
                <a:lnTo>
                  <a:pt x="61042" y="7500"/>
                </a:lnTo>
                <a:lnTo>
                  <a:pt x="61250" y="7708"/>
                </a:lnTo>
                <a:lnTo>
                  <a:pt x="63333" y="7708"/>
                </a:lnTo>
                <a:lnTo>
                  <a:pt x="63542" y="7917"/>
                </a:lnTo>
                <a:lnTo>
                  <a:pt x="63750" y="8125"/>
                </a:lnTo>
                <a:lnTo>
                  <a:pt x="65000" y="8125"/>
                </a:lnTo>
                <a:lnTo>
                  <a:pt x="65208" y="8333"/>
                </a:lnTo>
                <a:lnTo>
                  <a:pt x="65417" y="8542"/>
                </a:lnTo>
                <a:lnTo>
                  <a:pt x="66667" y="8542"/>
                </a:lnTo>
                <a:lnTo>
                  <a:pt x="66875" y="8750"/>
                </a:lnTo>
                <a:lnTo>
                  <a:pt x="67083" y="8958"/>
                </a:lnTo>
                <a:lnTo>
                  <a:pt x="70000" y="9375"/>
                </a:lnTo>
                <a:lnTo>
                  <a:pt x="72500" y="10625"/>
                </a:lnTo>
                <a:lnTo>
                  <a:pt x="72917" y="10625"/>
                </a:lnTo>
                <a:lnTo>
                  <a:pt x="73333" y="10625"/>
                </a:lnTo>
                <a:lnTo>
                  <a:pt x="75000" y="11458"/>
                </a:lnTo>
                <a:lnTo>
                  <a:pt x="75833" y="12292"/>
                </a:lnTo>
                <a:lnTo>
                  <a:pt x="77917" y="13125"/>
                </a:lnTo>
                <a:lnTo>
                  <a:pt x="81042" y="15833"/>
                </a:lnTo>
                <a:lnTo>
                  <a:pt x="81042" y="16250"/>
                </a:lnTo>
                <a:lnTo>
                  <a:pt x="81875" y="17083"/>
                </a:lnTo>
                <a:lnTo>
                  <a:pt x="82708" y="18750"/>
                </a:lnTo>
                <a:lnTo>
                  <a:pt x="82708" y="27083"/>
                </a:lnTo>
                <a:lnTo>
                  <a:pt x="82917" y="27292"/>
                </a:lnTo>
                <a:lnTo>
                  <a:pt x="83125" y="27500"/>
                </a:lnTo>
                <a:lnTo>
                  <a:pt x="82917" y="27708"/>
                </a:lnTo>
                <a:lnTo>
                  <a:pt x="82708" y="27917"/>
                </a:lnTo>
                <a:lnTo>
                  <a:pt x="83125" y="28750"/>
                </a:lnTo>
                <a:lnTo>
                  <a:pt x="83125" y="31250"/>
                </a:lnTo>
                <a:lnTo>
                  <a:pt x="82917" y="31458"/>
                </a:lnTo>
                <a:lnTo>
                  <a:pt x="82708" y="31667"/>
                </a:lnTo>
                <a:lnTo>
                  <a:pt x="82708" y="39167"/>
                </a:lnTo>
                <a:lnTo>
                  <a:pt x="82917" y="39375"/>
                </a:lnTo>
                <a:lnTo>
                  <a:pt x="83125" y="39583"/>
                </a:lnTo>
                <a:lnTo>
                  <a:pt x="83125" y="41667"/>
                </a:lnTo>
                <a:lnTo>
                  <a:pt x="82917" y="41875"/>
                </a:lnTo>
                <a:lnTo>
                  <a:pt x="82708" y="42083"/>
                </a:lnTo>
                <a:lnTo>
                  <a:pt x="82708" y="44583"/>
                </a:lnTo>
                <a:lnTo>
                  <a:pt x="82917" y="44792"/>
                </a:lnTo>
                <a:lnTo>
                  <a:pt x="83125" y="45000"/>
                </a:lnTo>
                <a:lnTo>
                  <a:pt x="83125" y="46250"/>
                </a:lnTo>
                <a:lnTo>
                  <a:pt x="82917" y="46458"/>
                </a:lnTo>
                <a:lnTo>
                  <a:pt x="82708" y="46667"/>
                </a:lnTo>
                <a:lnTo>
                  <a:pt x="82708" y="50000"/>
                </a:lnTo>
                <a:lnTo>
                  <a:pt x="82917" y="50208"/>
                </a:lnTo>
                <a:lnTo>
                  <a:pt x="83125" y="50417"/>
                </a:lnTo>
                <a:lnTo>
                  <a:pt x="83125" y="52500"/>
                </a:lnTo>
                <a:lnTo>
                  <a:pt x="82917" y="52708"/>
                </a:lnTo>
                <a:lnTo>
                  <a:pt x="82708" y="52917"/>
                </a:lnTo>
                <a:lnTo>
                  <a:pt x="82708" y="56250"/>
                </a:lnTo>
                <a:lnTo>
                  <a:pt x="82917" y="56458"/>
                </a:lnTo>
                <a:lnTo>
                  <a:pt x="83125" y="56667"/>
                </a:lnTo>
                <a:lnTo>
                  <a:pt x="83125" y="59583"/>
                </a:lnTo>
                <a:lnTo>
                  <a:pt x="82917" y="59792"/>
                </a:lnTo>
                <a:lnTo>
                  <a:pt x="82708" y="60000"/>
                </a:lnTo>
                <a:lnTo>
                  <a:pt x="82708" y="63750"/>
                </a:lnTo>
                <a:lnTo>
                  <a:pt x="82917" y="63958"/>
                </a:lnTo>
                <a:lnTo>
                  <a:pt x="83125" y="64167"/>
                </a:lnTo>
                <a:lnTo>
                  <a:pt x="83125" y="66250"/>
                </a:lnTo>
                <a:lnTo>
                  <a:pt x="82917" y="66458"/>
                </a:lnTo>
                <a:lnTo>
                  <a:pt x="82708" y="66667"/>
                </a:lnTo>
                <a:lnTo>
                  <a:pt x="82708" y="81667"/>
                </a:lnTo>
                <a:lnTo>
                  <a:pt x="81875" y="83333"/>
                </a:lnTo>
                <a:lnTo>
                  <a:pt x="81042" y="84167"/>
                </a:lnTo>
                <a:lnTo>
                  <a:pt x="81042" y="84583"/>
                </a:lnTo>
                <a:lnTo>
                  <a:pt x="79583" y="86042"/>
                </a:lnTo>
                <a:lnTo>
                  <a:pt x="79167" y="86042"/>
                </a:lnTo>
                <a:lnTo>
                  <a:pt x="77917" y="87292"/>
                </a:lnTo>
                <a:lnTo>
                  <a:pt x="76667" y="87708"/>
                </a:lnTo>
                <a:lnTo>
                  <a:pt x="75833" y="88542"/>
                </a:lnTo>
                <a:lnTo>
                  <a:pt x="73333" y="89792"/>
                </a:lnTo>
                <a:lnTo>
                  <a:pt x="72917" y="89792"/>
                </a:lnTo>
                <a:lnTo>
                  <a:pt x="72500" y="89792"/>
                </a:lnTo>
                <a:lnTo>
                  <a:pt x="72292" y="90000"/>
                </a:lnTo>
                <a:lnTo>
                  <a:pt x="72083" y="90208"/>
                </a:lnTo>
                <a:lnTo>
                  <a:pt x="71667" y="90208"/>
                </a:lnTo>
                <a:lnTo>
                  <a:pt x="71250" y="90208"/>
                </a:lnTo>
                <a:lnTo>
                  <a:pt x="71042" y="90417"/>
                </a:lnTo>
                <a:lnTo>
                  <a:pt x="70833" y="90625"/>
                </a:lnTo>
                <a:lnTo>
                  <a:pt x="70417" y="90625"/>
                </a:lnTo>
                <a:lnTo>
                  <a:pt x="70000" y="90625"/>
                </a:lnTo>
                <a:lnTo>
                  <a:pt x="69792" y="90833"/>
                </a:lnTo>
                <a:lnTo>
                  <a:pt x="69583" y="91042"/>
                </a:lnTo>
                <a:lnTo>
                  <a:pt x="69167" y="91042"/>
                </a:lnTo>
                <a:lnTo>
                  <a:pt x="68750" y="91042"/>
                </a:lnTo>
                <a:lnTo>
                  <a:pt x="67083" y="91875"/>
                </a:lnTo>
                <a:lnTo>
                  <a:pt x="65833" y="91875"/>
                </a:lnTo>
                <a:lnTo>
                  <a:pt x="65625" y="92083"/>
                </a:lnTo>
                <a:lnTo>
                  <a:pt x="65417" y="92292"/>
                </a:lnTo>
                <a:lnTo>
                  <a:pt x="63750" y="92292"/>
                </a:lnTo>
                <a:lnTo>
                  <a:pt x="63542" y="92500"/>
                </a:lnTo>
                <a:lnTo>
                  <a:pt x="63333" y="92708"/>
                </a:lnTo>
                <a:lnTo>
                  <a:pt x="61250" y="92708"/>
                </a:lnTo>
                <a:lnTo>
                  <a:pt x="61042" y="92917"/>
                </a:lnTo>
                <a:lnTo>
                  <a:pt x="60833" y="93125"/>
                </a:lnTo>
                <a:lnTo>
                  <a:pt x="60417" y="93125"/>
                </a:lnTo>
                <a:lnTo>
                  <a:pt x="60000" y="93125"/>
                </a:lnTo>
                <a:lnTo>
                  <a:pt x="57917" y="93125"/>
                </a:lnTo>
                <a:lnTo>
                  <a:pt x="57708" y="93333"/>
                </a:lnTo>
                <a:lnTo>
                  <a:pt x="57500" y="93542"/>
                </a:lnTo>
                <a:lnTo>
                  <a:pt x="42083" y="93542"/>
                </a:lnTo>
                <a:lnTo>
                  <a:pt x="41875" y="93333"/>
                </a:lnTo>
                <a:lnTo>
                  <a:pt x="41667" y="93125"/>
                </a:lnTo>
                <a:lnTo>
                  <a:pt x="39167" y="93125"/>
                </a:lnTo>
                <a:lnTo>
                  <a:pt x="38958" y="92917"/>
                </a:lnTo>
                <a:lnTo>
                  <a:pt x="38750" y="92708"/>
                </a:lnTo>
                <a:lnTo>
                  <a:pt x="36667" y="92708"/>
                </a:lnTo>
                <a:lnTo>
                  <a:pt x="36458" y="92500"/>
                </a:lnTo>
                <a:lnTo>
                  <a:pt x="36250" y="92292"/>
                </a:lnTo>
                <a:lnTo>
                  <a:pt x="34583" y="92292"/>
                </a:lnTo>
                <a:lnTo>
                  <a:pt x="34375" y="92083"/>
                </a:lnTo>
                <a:lnTo>
                  <a:pt x="34167" y="91875"/>
                </a:lnTo>
                <a:lnTo>
                  <a:pt x="32917" y="91875"/>
                </a:lnTo>
                <a:lnTo>
                  <a:pt x="32708" y="91667"/>
                </a:lnTo>
                <a:lnTo>
                  <a:pt x="32500" y="91458"/>
                </a:lnTo>
                <a:lnTo>
                  <a:pt x="32083" y="91458"/>
                </a:lnTo>
                <a:lnTo>
                  <a:pt x="31667" y="91458"/>
                </a:lnTo>
                <a:lnTo>
                  <a:pt x="31458" y="91250"/>
                </a:lnTo>
                <a:lnTo>
                  <a:pt x="31250" y="91042"/>
                </a:lnTo>
                <a:lnTo>
                  <a:pt x="30833" y="91042"/>
                </a:lnTo>
                <a:lnTo>
                  <a:pt x="30417" y="91042"/>
                </a:lnTo>
                <a:lnTo>
                  <a:pt x="30208" y="90833"/>
                </a:lnTo>
                <a:lnTo>
                  <a:pt x="30000" y="90625"/>
                </a:lnTo>
                <a:lnTo>
                  <a:pt x="29583" y="90625"/>
                </a:lnTo>
                <a:lnTo>
                  <a:pt x="29167" y="90625"/>
                </a:lnTo>
                <a:lnTo>
                  <a:pt x="28958" y="90417"/>
                </a:lnTo>
                <a:lnTo>
                  <a:pt x="28750" y="90208"/>
                </a:lnTo>
                <a:lnTo>
                  <a:pt x="26667" y="89792"/>
                </a:lnTo>
                <a:lnTo>
                  <a:pt x="23333" y="88125"/>
                </a:lnTo>
                <a:lnTo>
                  <a:pt x="22500" y="87292"/>
                </a:lnTo>
                <a:lnTo>
                  <a:pt x="22083" y="87292"/>
                </a:lnTo>
                <a:lnTo>
                  <a:pt x="18958" y="84583"/>
                </a:lnTo>
                <a:lnTo>
                  <a:pt x="17292" y="81250"/>
                </a:lnTo>
                <a:lnTo>
                  <a:pt x="17292" y="19167"/>
                </a:lnTo>
                <a:lnTo>
                  <a:pt x="18125" y="17500"/>
                </a:lnTo>
                <a:lnTo>
                  <a:pt x="18958" y="16667"/>
                </a:lnTo>
                <a:lnTo>
                  <a:pt x="18958" y="16250"/>
                </a:lnTo>
                <a:lnTo>
                  <a:pt x="21250" y="13958"/>
                </a:lnTo>
                <a:lnTo>
                  <a:pt x="21667" y="13958"/>
                </a:lnTo>
                <a:lnTo>
                  <a:pt x="22500" y="13125"/>
                </a:lnTo>
                <a:lnTo>
                  <a:pt x="23750" y="12708"/>
                </a:lnTo>
                <a:lnTo>
                  <a:pt x="24583" y="11875"/>
                </a:lnTo>
                <a:lnTo>
                  <a:pt x="27083" y="10625"/>
                </a:lnTo>
                <a:lnTo>
                  <a:pt x="27500" y="10625"/>
                </a:lnTo>
                <a:lnTo>
                  <a:pt x="27917" y="10625"/>
                </a:lnTo>
                <a:lnTo>
                  <a:pt x="28125" y="10417"/>
                </a:lnTo>
                <a:lnTo>
                  <a:pt x="28333" y="10208"/>
                </a:lnTo>
                <a:lnTo>
                  <a:pt x="28750" y="10208"/>
                </a:lnTo>
                <a:lnTo>
                  <a:pt x="29167" y="10208"/>
                </a:lnTo>
                <a:lnTo>
                  <a:pt x="29375" y="10000"/>
                </a:lnTo>
                <a:lnTo>
                  <a:pt x="29583" y="9792"/>
                </a:lnTo>
                <a:lnTo>
                  <a:pt x="30000" y="9792"/>
                </a:lnTo>
                <a:lnTo>
                  <a:pt x="30417" y="9792"/>
                </a:lnTo>
                <a:lnTo>
                  <a:pt x="32083" y="8958"/>
                </a:lnTo>
                <a:lnTo>
                  <a:pt x="35000" y="8542"/>
                </a:lnTo>
                <a:lnTo>
                  <a:pt x="35208" y="8333"/>
                </a:lnTo>
                <a:lnTo>
                  <a:pt x="35417" y="8125"/>
                </a:lnTo>
                <a:lnTo>
                  <a:pt x="37083" y="8125"/>
                </a:lnTo>
                <a:lnTo>
                  <a:pt x="37292" y="7917"/>
                </a:lnTo>
                <a:lnTo>
                  <a:pt x="37500" y="7708"/>
                </a:lnTo>
                <a:lnTo>
                  <a:pt x="39167" y="7708"/>
                </a:lnTo>
                <a:lnTo>
                  <a:pt x="39375" y="7500"/>
                </a:lnTo>
                <a:lnTo>
                  <a:pt x="39583" y="7292"/>
                </a:lnTo>
                <a:lnTo>
                  <a:pt x="42500" y="7292"/>
                </a:lnTo>
                <a:lnTo>
                  <a:pt x="42708" y="7083"/>
                </a:lnTo>
                <a:close/>
                <a:moveTo>
                  <a:pt x="45417" y="8542"/>
                </a:moveTo>
                <a:lnTo>
                  <a:pt x="45208" y="8750"/>
                </a:lnTo>
                <a:lnTo>
                  <a:pt x="45000" y="8958"/>
                </a:lnTo>
                <a:lnTo>
                  <a:pt x="40833" y="8958"/>
                </a:lnTo>
                <a:lnTo>
                  <a:pt x="40625" y="9167"/>
                </a:lnTo>
                <a:lnTo>
                  <a:pt x="40417" y="9375"/>
                </a:lnTo>
                <a:lnTo>
                  <a:pt x="37917" y="9375"/>
                </a:lnTo>
                <a:lnTo>
                  <a:pt x="37708" y="9583"/>
                </a:lnTo>
                <a:lnTo>
                  <a:pt x="37500" y="9792"/>
                </a:lnTo>
                <a:lnTo>
                  <a:pt x="35833" y="9792"/>
                </a:lnTo>
                <a:lnTo>
                  <a:pt x="35625" y="10000"/>
                </a:lnTo>
                <a:lnTo>
                  <a:pt x="35417" y="10208"/>
                </a:lnTo>
                <a:lnTo>
                  <a:pt x="34167" y="10208"/>
                </a:lnTo>
                <a:lnTo>
                  <a:pt x="32500" y="11042"/>
                </a:lnTo>
                <a:lnTo>
                  <a:pt x="31250" y="11042"/>
                </a:lnTo>
                <a:lnTo>
                  <a:pt x="31042" y="11250"/>
                </a:lnTo>
                <a:lnTo>
                  <a:pt x="30833" y="11458"/>
                </a:lnTo>
                <a:lnTo>
                  <a:pt x="30417" y="11458"/>
                </a:lnTo>
                <a:lnTo>
                  <a:pt x="30000" y="11458"/>
                </a:lnTo>
                <a:lnTo>
                  <a:pt x="28750" y="12292"/>
                </a:lnTo>
                <a:lnTo>
                  <a:pt x="28333" y="12292"/>
                </a:lnTo>
                <a:lnTo>
                  <a:pt x="27917" y="12292"/>
                </a:lnTo>
                <a:lnTo>
                  <a:pt x="24583" y="13958"/>
                </a:lnTo>
                <a:lnTo>
                  <a:pt x="22083" y="16042"/>
                </a:lnTo>
                <a:lnTo>
                  <a:pt x="21667" y="16042"/>
                </a:lnTo>
                <a:lnTo>
                  <a:pt x="19375" y="18750"/>
                </a:lnTo>
                <a:lnTo>
                  <a:pt x="19375" y="19167"/>
                </a:lnTo>
                <a:lnTo>
                  <a:pt x="19375" y="19583"/>
                </a:lnTo>
                <a:lnTo>
                  <a:pt x="19167" y="19792"/>
                </a:lnTo>
                <a:lnTo>
                  <a:pt x="18958" y="20000"/>
                </a:lnTo>
                <a:lnTo>
                  <a:pt x="18958" y="22500"/>
                </a:lnTo>
                <a:lnTo>
                  <a:pt x="19167" y="22708"/>
                </a:lnTo>
                <a:lnTo>
                  <a:pt x="19375" y="22917"/>
                </a:lnTo>
                <a:lnTo>
                  <a:pt x="19375" y="23333"/>
                </a:lnTo>
                <a:lnTo>
                  <a:pt x="19375" y="23750"/>
                </a:lnTo>
                <a:lnTo>
                  <a:pt x="20208" y="24583"/>
                </a:lnTo>
                <a:lnTo>
                  <a:pt x="20208" y="25000"/>
                </a:lnTo>
                <a:lnTo>
                  <a:pt x="22500" y="27292"/>
                </a:lnTo>
                <a:lnTo>
                  <a:pt x="25000" y="28542"/>
                </a:lnTo>
                <a:lnTo>
                  <a:pt x="25833" y="29375"/>
                </a:lnTo>
                <a:lnTo>
                  <a:pt x="26667" y="29792"/>
                </a:lnTo>
                <a:lnTo>
                  <a:pt x="27083" y="29792"/>
                </a:lnTo>
                <a:lnTo>
                  <a:pt x="27500" y="29792"/>
                </a:lnTo>
                <a:lnTo>
                  <a:pt x="27708" y="30000"/>
                </a:lnTo>
                <a:lnTo>
                  <a:pt x="27917" y="30208"/>
                </a:lnTo>
                <a:lnTo>
                  <a:pt x="28333" y="30208"/>
                </a:lnTo>
                <a:lnTo>
                  <a:pt x="28750" y="30208"/>
                </a:lnTo>
                <a:lnTo>
                  <a:pt x="31250" y="31458"/>
                </a:lnTo>
                <a:lnTo>
                  <a:pt x="32500" y="31458"/>
                </a:lnTo>
                <a:lnTo>
                  <a:pt x="32708" y="31667"/>
                </a:lnTo>
                <a:lnTo>
                  <a:pt x="32917" y="31875"/>
                </a:lnTo>
                <a:lnTo>
                  <a:pt x="33333" y="31875"/>
                </a:lnTo>
                <a:lnTo>
                  <a:pt x="33750" y="31875"/>
                </a:lnTo>
                <a:lnTo>
                  <a:pt x="33958" y="32083"/>
                </a:lnTo>
                <a:lnTo>
                  <a:pt x="34167" y="32292"/>
                </a:lnTo>
                <a:lnTo>
                  <a:pt x="35833" y="32292"/>
                </a:lnTo>
                <a:lnTo>
                  <a:pt x="36042" y="32500"/>
                </a:lnTo>
                <a:lnTo>
                  <a:pt x="36250" y="32708"/>
                </a:lnTo>
                <a:lnTo>
                  <a:pt x="37917" y="32708"/>
                </a:lnTo>
                <a:lnTo>
                  <a:pt x="38125" y="32917"/>
                </a:lnTo>
                <a:lnTo>
                  <a:pt x="38333" y="33125"/>
                </a:lnTo>
                <a:lnTo>
                  <a:pt x="40833" y="33125"/>
                </a:lnTo>
                <a:lnTo>
                  <a:pt x="41042" y="33333"/>
                </a:lnTo>
                <a:lnTo>
                  <a:pt x="41250" y="33542"/>
                </a:lnTo>
                <a:lnTo>
                  <a:pt x="45417" y="33542"/>
                </a:lnTo>
                <a:lnTo>
                  <a:pt x="45625" y="33750"/>
                </a:lnTo>
                <a:lnTo>
                  <a:pt x="45833" y="33958"/>
                </a:lnTo>
                <a:lnTo>
                  <a:pt x="53750" y="33958"/>
                </a:lnTo>
                <a:lnTo>
                  <a:pt x="53958" y="33750"/>
                </a:lnTo>
                <a:lnTo>
                  <a:pt x="54167" y="33542"/>
                </a:lnTo>
                <a:lnTo>
                  <a:pt x="59167" y="33542"/>
                </a:lnTo>
                <a:lnTo>
                  <a:pt x="59375" y="33333"/>
                </a:lnTo>
                <a:lnTo>
                  <a:pt x="59583" y="33125"/>
                </a:lnTo>
                <a:lnTo>
                  <a:pt x="62083" y="33125"/>
                </a:lnTo>
                <a:lnTo>
                  <a:pt x="62292" y="32917"/>
                </a:lnTo>
                <a:lnTo>
                  <a:pt x="62500" y="32708"/>
                </a:lnTo>
                <a:lnTo>
                  <a:pt x="64167" y="32708"/>
                </a:lnTo>
                <a:lnTo>
                  <a:pt x="64375" y="32500"/>
                </a:lnTo>
                <a:lnTo>
                  <a:pt x="64583" y="32292"/>
                </a:lnTo>
                <a:lnTo>
                  <a:pt x="65833" y="32292"/>
                </a:lnTo>
                <a:lnTo>
                  <a:pt x="66042" y="32083"/>
                </a:lnTo>
                <a:lnTo>
                  <a:pt x="66250" y="31875"/>
                </a:lnTo>
                <a:lnTo>
                  <a:pt x="67500" y="31875"/>
                </a:lnTo>
                <a:lnTo>
                  <a:pt x="67708" y="31667"/>
                </a:lnTo>
                <a:lnTo>
                  <a:pt x="67917" y="31458"/>
                </a:lnTo>
                <a:lnTo>
                  <a:pt x="68333" y="31458"/>
                </a:lnTo>
                <a:lnTo>
                  <a:pt x="68750" y="31458"/>
                </a:lnTo>
                <a:lnTo>
                  <a:pt x="68958" y="31250"/>
                </a:lnTo>
                <a:lnTo>
                  <a:pt x="69167" y="31042"/>
                </a:lnTo>
                <a:lnTo>
                  <a:pt x="71250" y="30625"/>
                </a:lnTo>
                <a:lnTo>
                  <a:pt x="72500" y="29792"/>
                </a:lnTo>
                <a:lnTo>
                  <a:pt x="72917" y="29792"/>
                </a:lnTo>
                <a:lnTo>
                  <a:pt x="73333" y="29792"/>
                </a:lnTo>
                <a:lnTo>
                  <a:pt x="75000" y="28958"/>
                </a:lnTo>
                <a:lnTo>
                  <a:pt x="75833" y="28125"/>
                </a:lnTo>
                <a:lnTo>
                  <a:pt x="77500" y="27292"/>
                </a:lnTo>
                <a:lnTo>
                  <a:pt x="80208" y="24583"/>
                </a:lnTo>
                <a:lnTo>
                  <a:pt x="80625" y="23750"/>
                </a:lnTo>
                <a:lnTo>
                  <a:pt x="80625" y="23333"/>
                </a:lnTo>
                <a:lnTo>
                  <a:pt x="80625" y="22917"/>
                </a:lnTo>
                <a:lnTo>
                  <a:pt x="80833" y="22708"/>
                </a:lnTo>
                <a:lnTo>
                  <a:pt x="81042" y="22500"/>
                </a:lnTo>
                <a:lnTo>
                  <a:pt x="81042" y="19583"/>
                </a:lnTo>
                <a:lnTo>
                  <a:pt x="80208" y="17917"/>
                </a:lnTo>
                <a:lnTo>
                  <a:pt x="77083" y="14792"/>
                </a:lnTo>
                <a:lnTo>
                  <a:pt x="76667" y="14792"/>
                </a:lnTo>
                <a:lnTo>
                  <a:pt x="75833" y="13958"/>
                </a:lnTo>
                <a:lnTo>
                  <a:pt x="72500" y="12292"/>
                </a:lnTo>
                <a:lnTo>
                  <a:pt x="72083" y="12292"/>
                </a:lnTo>
                <a:lnTo>
                  <a:pt x="71667" y="12292"/>
                </a:lnTo>
                <a:lnTo>
                  <a:pt x="70417" y="11458"/>
                </a:lnTo>
                <a:lnTo>
                  <a:pt x="70000" y="11458"/>
                </a:lnTo>
                <a:lnTo>
                  <a:pt x="69583" y="11458"/>
                </a:lnTo>
                <a:lnTo>
                  <a:pt x="67917" y="10625"/>
                </a:lnTo>
                <a:lnTo>
                  <a:pt x="66667" y="10625"/>
                </a:lnTo>
                <a:lnTo>
                  <a:pt x="66458" y="10417"/>
                </a:lnTo>
                <a:lnTo>
                  <a:pt x="66250" y="10208"/>
                </a:lnTo>
                <a:lnTo>
                  <a:pt x="65000" y="10208"/>
                </a:lnTo>
                <a:lnTo>
                  <a:pt x="64792" y="10000"/>
                </a:lnTo>
                <a:lnTo>
                  <a:pt x="64583" y="9792"/>
                </a:lnTo>
                <a:lnTo>
                  <a:pt x="62917" y="9792"/>
                </a:lnTo>
                <a:lnTo>
                  <a:pt x="62708" y="9583"/>
                </a:lnTo>
                <a:lnTo>
                  <a:pt x="62500" y="9375"/>
                </a:lnTo>
                <a:lnTo>
                  <a:pt x="60417" y="9375"/>
                </a:lnTo>
                <a:lnTo>
                  <a:pt x="60208" y="9167"/>
                </a:lnTo>
                <a:lnTo>
                  <a:pt x="60000" y="8958"/>
                </a:lnTo>
                <a:lnTo>
                  <a:pt x="55833" y="8958"/>
                </a:lnTo>
                <a:lnTo>
                  <a:pt x="55625" y="8750"/>
                </a:lnTo>
                <a:lnTo>
                  <a:pt x="55417" y="8542"/>
                </a:lnTo>
                <a:lnTo>
                  <a:pt x="45417" y="8542"/>
                </a:lnTo>
                <a:close/>
                <a:moveTo>
                  <a:pt x="19167" y="26458"/>
                </a:moveTo>
                <a:lnTo>
                  <a:pt x="18958" y="26667"/>
                </a:lnTo>
                <a:lnTo>
                  <a:pt x="18958" y="42083"/>
                </a:lnTo>
                <a:lnTo>
                  <a:pt x="19792" y="43750"/>
                </a:lnTo>
                <a:lnTo>
                  <a:pt x="22917" y="46875"/>
                </a:lnTo>
                <a:lnTo>
                  <a:pt x="23333" y="46875"/>
                </a:lnTo>
                <a:lnTo>
                  <a:pt x="24167" y="47708"/>
                </a:lnTo>
                <a:lnTo>
                  <a:pt x="28333" y="49792"/>
                </a:lnTo>
                <a:lnTo>
                  <a:pt x="28750" y="49792"/>
                </a:lnTo>
                <a:lnTo>
                  <a:pt x="29167" y="49792"/>
                </a:lnTo>
                <a:lnTo>
                  <a:pt x="30833" y="50625"/>
                </a:lnTo>
                <a:lnTo>
                  <a:pt x="32083" y="50625"/>
                </a:lnTo>
                <a:lnTo>
                  <a:pt x="32292" y="50833"/>
                </a:lnTo>
                <a:lnTo>
                  <a:pt x="32500" y="51042"/>
                </a:lnTo>
                <a:lnTo>
                  <a:pt x="33750" y="51042"/>
                </a:lnTo>
                <a:lnTo>
                  <a:pt x="33958" y="51250"/>
                </a:lnTo>
                <a:lnTo>
                  <a:pt x="34167" y="51458"/>
                </a:lnTo>
                <a:lnTo>
                  <a:pt x="35833" y="51458"/>
                </a:lnTo>
                <a:lnTo>
                  <a:pt x="36042" y="51667"/>
                </a:lnTo>
                <a:lnTo>
                  <a:pt x="36250" y="51875"/>
                </a:lnTo>
                <a:lnTo>
                  <a:pt x="37917" y="51875"/>
                </a:lnTo>
                <a:lnTo>
                  <a:pt x="38125" y="52083"/>
                </a:lnTo>
                <a:lnTo>
                  <a:pt x="38333" y="52292"/>
                </a:lnTo>
                <a:lnTo>
                  <a:pt x="40417" y="52292"/>
                </a:lnTo>
                <a:lnTo>
                  <a:pt x="40625" y="52500"/>
                </a:lnTo>
                <a:lnTo>
                  <a:pt x="40833" y="52708"/>
                </a:lnTo>
                <a:lnTo>
                  <a:pt x="45000" y="52708"/>
                </a:lnTo>
                <a:lnTo>
                  <a:pt x="45208" y="52917"/>
                </a:lnTo>
                <a:lnTo>
                  <a:pt x="45417" y="53125"/>
                </a:lnTo>
                <a:lnTo>
                  <a:pt x="53750" y="53125"/>
                </a:lnTo>
                <a:lnTo>
                  <a:pt x="53958" y="52917"/>
                </a:lnTo>
                <a:lnTo>
                  <a:pt x="54167" y="52708"/>
                </a:lnTo>
                <a:lnTo>
                  <a:pt x="59167" y="52708"/>
                </a:lnTo>
                <a:lnTo>
                  <a:pt x="59375" y="52500"/>
                </a:lnTo>
                <a:lnTo>
                  <a:pt x="59583" y="52292"/>
                </a:lnTo>
                <a:lnTo>
                  <a:pt x="62083" y="52292"/>
                </a:lnTo>
                <a:lnTo>
                  <a:pt x="62292" y="52083"/>
                </a:lnTo>
                <a:lnTo>
                  <a:pt x="62500" y="51875"/>
                </a:lnTo>
                <a:lnTo>
                  <a:pt x="63750" y="51875"/>
                </a:lnTo>
                <a:lnTo>
                  <a:pt x="63958" y="51667"/>
                </a:lnTo>
                <a:lnTo>
                  <a:pt x="64167" y="51458"/>
                </a:lnTo>
                <a:lnTo>
                  <a:pt x="65833" y="51458"/>
                </a:lnTo>
                <a:lnTo>
                  <a:pt x="66042" y="51250"/>
                </a:lnTo>
                <a:lnTo>
                  <a:pt x="66250" y="51042"/>
                </a:lnTo>
                <a:lnTo>
                  <a:pt x="67500" y="51042"/>
                </a:lnTo>
                <a:lnTo>
                  <a:pt x="67708" y="50833"/>
                </a:lnTo>
                <a:lnTo>
                  <a:pt x="67917" y="50625"/>
                </a:lnTo>
                <a:lnTo>
                  <a:pt x="69167" y="50625"/>
                </a:lnTo>
                <a:lnTo>
                  <a:pt x="69375" y="50417"/>
                </a:lnTo>
                <a:lnTo>
                  <a:pt x="69583" y="50208"/>
                </a:lnTo>
                <a:lnTo>
                  <a:pt x="71667" y="49792"/>
                </a:lnTo>
                <a:lnTo>
                  <a:pt x="75833" y="47708"/>
                </a:lnTo>
                <a:lnTo>
                  <a:pt x="76667" y="46875"/>
                </a:lnTo>
                <a:lnTo>
                  <a:pt x="77083" y="46875"/>
                </a:lnTo>
                <a:lnTo>
                  <a:pt x="80208" y="43750"/>
                </a:lnTo>
                <a:lnTo>
                  <a:pt x="80208" y="43333"/>
                </a:lnTo>
                <a:lnTo>
                  <a:pt x="81042" y="42083"/>
                </a:lnTo>
                <a:lnTo>
                  <a:pt x="81042" y="26667"/>
                </a:lnTo>
                <a:lnTo>
                  <a:pt x="80833" y="26458"/>
                </a:lnTo>
                <a:lnTo>
                  <a:pt x="78333" y="28958"/>
                </a:lnTo>
                <a:lnTo>
                  <a:pt x="77917" y="28958"/>
                </a:lnTo>
                <a:lnTo>
                  <a:pt x="77083" y="29792"/>
                </a:lnTo>
                <a:lnTo>
                  <a:pt x="72083" y="32292"/>
                </a:lnTo>
                <a:lnTo>
                  <a:pt x="71667" y="32292"/>
                </a:lnTo>
                <a:lnTo>
                  <a:pt x="71250" y="32292"/>
                </a:lnTo>
                <a:lnTo>
                  <a:pt x="69583" y="33125"/>
                </a:lnTo>
                <a:lnTo>
                  <a:pt x="68333" y="33125"/>
                </a:lnTo>
                <a:lnTo>
                  <a:pt x="66667" y="33958"/>
                </a:lnTo>
                <a:lnTo>
                  <a:pt x="65417" y="33958"/>
                </a:lnTo>
                <a:lnTo>
                  <a:pt x="65208" y="34167"/>
                </a:lnTo>
                <a:lnTo>
                  <a:pt x="65000" y="34375"/>
                </a:lnTo>
                <a:lnTo>
                  <a:pt x="62917" y="34375"/>
                </a:lnTo>
                <a:lnTo>
                  <a:pt x="62708" y="34583"/>
                </a:lnTo>
                <a:lnTo>
                  <a:pt x="62500" y="34792"/>
                </a:lnTo>
                <a:lnTo>
                  <a:pt x="60417" y="34792"/>
                </a:lnTo>
                <a:lnTo>
                  <a:pt x="60208" y="35000"/>
                </a:lnTo>
                <a:lnTo>
                  <a:pt x="60000" y="35208"/>
                </a:lnTo>
                <a:lnTo>
                  <a:pt x="57500" y="35208"/>
                </a:lnTo>
                <a:lnTo>
                  <a:pt x="57292" y="35417"/>
                </a:lnTo>
                <a:lnTo>
                  <a:pt x="57083" y="35625"/>
                </a:lnTo>
                <a:lnTo>
                  <a:pt x="42917" y="35625"/>
                </a:lnTo>
                <a:lnTo>
                  <a:pt x="42708" y="35417"/>
                </a:lnTo>
                <a:lnTo>
                  <a:pt x="42500" y="35208"/>
                </a:lnTo>
                <a:lnTo>
                  <a:pt x="39583" y="35208"/>
                </a:lnTo>
                <a:lnTo>
                  <a:pt x="39375" y="35000"/>
                </a:lnTo>
                <a:lnTo>
                  <a:pt x="39167" y="34792"/>
                </a:lnTo>
                <a:lnTo>
                  <a:pt x="37083" y="34792"/>
                </a:lnTo>
                <a:lnTo>
                  <a:pt x="36875" y="34583"/>
                </a:lnTo>
                <a:lnTo>
                  <a:pt x="36667" y="34375"/>
                </a:lnTo>
                <a:lnTo>
                  <a:pt x="35000" y="34375"/>
                </a:lnTo>
                <a:lnTo>
                  <a:pt x="34792" y="34167"/>
                </a:lnTo>
                <a:lnTo>
                  <a:pt x="34583" y="33958"/>
                </a:lnTo>
                <a:lnTo>
                  <a:pt x="33333" y="33958"/>
                </a:lnTo>
                <a:lnTo>
                  <a:pt x="33125" y="33750"/>
                </a:lnTo>
                <a:lnTo>
                  <a:pt x="32917" y="33542"/>
                </a:lnTo>
                <a:lnTo>
                  <a:pt x="31667" y="33542"/>
                </a:lnTo>
                <a:lnTo>
                  <a:pt x="31458" y="33333"/>
                </a:lnTo>
                <a:lnTo>
                  <a:pt x="31250" y="33125"/>
                </a:lnTo>
                <a:lnTo>
                  <a:pt x="30833" y="33125"/>
                </a:lnTo>
                <a:lnTo>
                  <a:pt x="30417" y="33125"/>
                </a:lnTo>
                <a:lnTo>
                  <a:pt x="30208" y="32917"/>
                </a:lnTo>
                <a:lnTo>
                  <a:pt x="30000" y="32708"/>
                </a:lnTo>
                <a:lnTo>
                  <a:pt x="27917" y="32292"/>
                </a:lnTo>
                <a:lnTo>
                  <a:pt x="22917" y="29792"/>
                </a:lnTo>
                <a:lnTo>
                  <a:pt x="22083" y="28958"/>
                </a:lnTo>
                <a:lnTo>
                  <a:pt x="21667" y="28958"/>
                </a:lnTo>
                <a:lnTo>
                  <a:pt x="19167" y="26458"/>
                </a:lnTo>
                <a:close/>
                <a:moveTo>
                  <a:pt x="71042" y="39167"/>
                </a:moveTo>
                <a:lnTo>
                  <a:pt x="71250" y="38958"/>
                </a:lnTo>
                <a:lnTo>
                  <a:pt x="73333" y="38958"/>
                </a:lnTo>
                <a:lnTo>
                  <a:pt x="74375" y="40000"/>
                </a:lnTo>
                <a:lnTo>
                  <a:pt x="74375" y="40417"/>
                </a:lnTo>
                <a:lnTo>
                  <a:pt x="74375" y="40833"/>
                </a:lnTo>
                <a:lnTo>
                  <a:pt x="74583" y="41042"/>
                </a:lnTo>
                <a:lnTo>
                  <a:pt x="74792" y="41250"/>
                </a:lnTo>
                <a:lnTo>
                  <a:pt x="74583" y="41458"/>
                </a:lnTo>
                <a:lnTo>
                  <a:pt x="74375" y="41667"/>
                </a:lnTo>
                <a:lnTo>
                  <a:pt x="74375" y="42083"/>
                </a:lnTo>
                <a:lnTo>
                  <a:pt x="74375" y="42500"/>
                </a:lnTo>
                <a:lnTo>
                  <a:pt x="73333" y="43542"/>
                </a:lnTo>
                <a:lnTo>
                  <a:pt x="72500" y="43958"/>
                </a:lnTo>
                <a:lnTo>
                  <a:pt x="72083" y="43958"/>
                </a:lnTo>
                <a:lnTo>
                  <a:pt x="71667" y="43958"/>
                </a:lnTo>
                <a:lnTo>
                  <a:pt x="69792" y="42500"/>
                </a:lnTo>
                <a:lnTo>
                  <a:pt x="69792" y="40417"/>
                </a:lnTo>
                <a:lnTo>
                  <a:pt x="70208" y="39583"/>
                </a:lnTo>
                <a:lnTo>
                  <a:pt x="71042" y="39167"/>
                </a:lnTo>
                <a:close/>
                <a:moveTo>
                  <a:pt x="80833" y="45625"/>
                </a:moveTo>
                <a:lnTo>
                  <a:pt x="78333" y="48125"/>
                </a:lnTo>
                <a:lnTo>
                  <a:pt x="77917" y="48125"/>
                </a:lnTo>
                <a:lnTo>
                  <a:pt x="75833" y="49792"/>
                </a:lnTo>
                <a:lnTo>
                  <a:pt x="75000" y="50208"/>
                </a:lnTo>
                <a:lnTo>
                  <a:pt x="74583" y="50208"/>
                </a:lnTo>
                <a:lnTo>
                  <a:pt x="74167" y="50208"/>
                </a:lnTo>
                <a:lnTo>
                  <a:pt x="72083" y="51458"/>
                </a:lnTo>
                <a:lnTo>
                  <a:pt x="71667" y="51458"/>
                </a:lnTo>
                <a:lnTo>
                  <a:pt x="71250" y="51458"/>
                </a:lnTo>
                <a:lnTo>
                  <a:pt x="69583" y="52292"/>
                </a:lnTo>
                <a:lnTo>
                  <a:pt x="68333" y="52292"/>
                </a:lnTo>
                <a:lnTo>
                  <a:pt x="66667" y="53125"/>
                </a:lnTo>
                <a:lnTo>
                  <a:pt x="65417" y="53125"/>
                </a:lnTo>
                <a:lnTo>
                  <a:pt x="65208" y="53333"/>
                </a:lnTo>
                <a:lnTo>
                  <a:pt x="65000" y="53542"/>
                </a:lnTo>
                <a:lnTo>
                  <a:pt x="62917" y="53542"/>
                </a:lnTo>
                <a:lnTo>
                  <a:pt x="62708" y="53750"/>
                </a:lnTo>
                <a:lnTo>
                  <a:pt x="62500" y="53958"/>
                </a:lnTo>
                <a:lnTo>
                  <a:pt x="60000" y="53958"/>
                </a:lnTo>
                <a:lnTo>
                  <a:pt x="59792" y="54167"/>
                </a:lnTo>
                <a:lnTo>
                  <a:pt x="59583" y="54375"/>
                </a:lnTo>
                <a:lnTo>
                  <a:pt x="56250" y="54375"/>
                </a:lnTo>
                <a:lnTo>
                  <a:pt x="56042" y="54583"/>
                </a:lnTo>
                <a:lnTo>
                  <a:pt x="55833" y="54792"/>
                </a:lnTo>
                <a:lnTo>
                  <a:pt x="43750" y="54792"/>
                </a:lnTo>
                <a:lnTo>
                  <a:pt x="43542" y="54583"/>
                </a:lnTo>
                <a:lnTo>
                  <a:pt x="43333" y="54375"/>
                </a:lnTo>
                <a:lnTo>
                  <a:pt x="40000" y="54375"/>
                </a:lnTo>
                <a:lnTo>
                  <a:pt x="39792" y="54167"/>
                </a:lnTo>
                <a:lnTo>
                  <a:pt x="39583" y="53958"/>
                </a:lnTo>
                <a:lnTo>
                  <a:pt x="37083" y="53958"/>
                </a:lnTo>
                <a:lnTo>
                  <a:pt x="36875" y="53750"/>
                </a:lnTo>
                <a:lnTo>
                  <a:pt x="36667" y="53542"/>
                </a:lnTo>
                <a:lnTo>
                  <a:pt x="34583" y="53542"/>
                </a:lnTo>
                <a:lnTo>
                  <a:pt x="34375" y="53333"/>
                </a:lnTo>
                <a:lnTo>
                  <a:pt x="34167" y="53125"/>
                </a:lnTo>
                <a:lnTo>
                  <a:pt x="31250" y="52708"/>
                </a:lnTo>
                <a:lnTo>
                  <a:pt x="28750" y="51458"/>
                </a:lnTo>
                <a:lnTo>
                  <a:pt x="28333" y="51458"/>
                </a:lnTo>
                <a:lnTo>
                  <a:pt x="27917" y="51458"/>
                </a:lnTo>
                <a:lnTo>
                  <a:pt x="26667" y="50625"/>
                </a:lnTo>
                <a:lnTo>
                  <a:pt x="26250" y="50625"/>
                </a:lnTo>
                <a:lnTo>
                  <a:pt x="25833" y="50625"/>
                </a:lnTo>
                <a:lnTo>
                  <a:pt x="23333" y="49375"/>
                </a:lnTo>
                <a:lnTo>
                  <a:pt x="22500" y="48542"/>
                </a:lnTo>
                <a:lnTo>
                  <a:pt x="22083" y="48542"/>
                </a:lnTo>
                <a:lnTo>
                  <a:pt x="20833" y="47292"/>
                </a:lnTo>
                <a:lnTo>
                  <a:pt x="20417" y="47292"/>
                </a:lnTo>
                <a:lnTo>
                  <a:pt x="19583" y="46042"/>
                </a:lnTo>
                <a:lnTo>
                  <a:pt x="19167" y="46042"/>
                </a:lnTo>
                <a:lnTo>
                  <a:pt x="18958" y="46250"/>
                </a:lnTo>
                <a:lnTo>
                  <a:pt x="18958" y="61667"/>
                </a:lnTo>
                <a:lnTo>
                  <a:pt x="19792" y="62917"/>
                </a:lnTo>
                <a:lnTo>
                  <a:pt x="20208" y="63750"/>
                </a:lnTo>
                <a:lnTo>
                  <a:pt x="22917" y="66042"/>
                </a:lnTo>
                <a:lnTo>
                  <a:pt x="23333" y="66042"/>
                </a:lnTo>
                <a:lnTo>
                  <a:pt x="24167" y="66875"/>
                </a:lnTo>
                <a:lnTo>
                  <a:pt x="27500" y="68542"/>
                </a:lnTo>
                <a:lnTo>
                  <a:pt x="27917" y="68542"/>
                </a:lnTo>
                <a:lnTo>
                  <a:pt x="28333" y="68542"/>
                </a:lnTo>
                <a:lnTo>
                  <a:pt x="30833" y="69792"/>
                </a:lnTo>
                <a:lnTo>
                  <a:pt x="32083" y="69792"/>
                </a:lnTo>
                <a:lnTo>
                  <a:pt x="32292" y="70000"/>
                </a:lnTo>
                <a:lnTo>
                  <a:pt x="32500" y="70208"/>
                </a:lnTo>
                <a:lnTo>
                  <a:pt x="33750" y="70208"/>
                </a:lnTo>
                <a:lnTo>
                  <a:pt x="33958" y="70417"/>
                </a:lnTo>
                <a:lnTo>
                  <a:pt x="34167" y="70625"/>
                </a:lnTo>
                <a:lnTo>
                  <a:pt x="35417" y="70625"/>
                </a:lnTo>
                <a:lnTo>
                  <a:pt x="35625" y="70833"/>
                </a:lnTo>
                <a:lnTo>
                  <a:pt x="35833" y="71042"/>
                </a:lnTo>
                <a:lnTo>
                  <a:pt x="37917" y="71042"/>
                </a:lnTo>
                <a:lnTo>
                  <a:pt x="38125" y="71250"/>
                </a:lnTo>
                <a:lnTo>
                  <a:pt x="38333" y="71458"/>
                </a:lnTo>
                <a:lnTo>
                  <a:pt x="40417" y="71458"/>
                </a:lnTo>
                <a:lnTo>
                  <a:pt x="40625" y="71667"/>
                </a:lnTo>
                <a:lnTo>
                  <a:pt x="40833" y="71875"/>
                </a:lnTo>
                <a:lnTo>
                  <a:pt x="46667" y="71875"/>
                </a:lnTo>
                <a:lnTo>
                  <a:pt x="46875" y="72083"/>
                </a:lnTo>
                <a:lnTo>
                  <a:pt x="47083" y="72292"/>
                </a:lnTo>
                <a:lnTo>
                  <a:pt x="53750" y="72292"/>
                </a:lnTo>
                <a:lnTo>
                  <a:pt x="53958" y="72083"/>
                </a:lnTo>
                <a:lnTo>
                  <a:pt x="54167" y="71875"/>
                </a:lnTo>
                <a:lnTo>
                  <a:pt x="58750" y="71875"/>
                </a:lnTo>
                <a:lnTo>
                  <a:pt x="58958" y="71667"/>
                </a:lnTo>
                <a:lnTo>
                  <a:pt x="59167" y="71458"/>
                </a:lnTo>
                <a:lnTo>
                  <a:pt x="62083" y="71458"/>
                </a:lnTo>
                <a:lnTo>
                  <a:pt x="62292" y="71250"/>
                </a:lnTo>
                <a:lnTo>
                  <a:pt x="62500" y="71042"/>
                </a:lnTo>
                <a:lnTo>
                  <a:pt x="64167" y="71042"/>
                </a:lnTo>
                <a:lnTo>
                  <a:pt x="64375" y="70833"/>
                </a:lnTo>
                <a:lnTo>
                  <a:pt x="64583" y="70625"/>
                </a:lnTo>
                <a:lnTo>
                  <a:pt x="65833" y="70625"/>
                </a:lnTo>
                <a:lnTo>
                  <a:pt x="66042" y="70417"/>
                </a:lnTo>
                <a:lnTo>
                  <a:pt x="66250" y="70208"/>
                </a:lnTo>
                <a:lnTo>
                  <a:pt x="69167" y="69792"/>
                </a:lnTo>
                <a:lnTo>
                  <a:pt x="69375" y="69583"/>
                </a:lnTo>
                <a:lnTo>
                  <a:pt x="69583" y="69375"/>
                </a:lnTo>
                <a:lnTo>
                  <a:pt x="71667" y="68958"/>
                </a:lnTo>
                <a:lnTo>
                  <a:pt x="75833" y="66875"/>
                </a:lnTo>
                <a:lnTo>
                  <a:pt x="76667" y="66042"/>
                </a:lnTo>
                <a:lnTo>
                  <a:pt x="77083" y="66042"/>
                </a:lnTo>
                <a:lnTo>
                  <a:pt x="80208" y="62917"/>
                </a:lnTo>
                <a:lnTo>
                  <a:pt x="81042" y="61250"/>
                </a:lnTo>
                <a:lnTo>
                  <a:pt x="81042" y="45833"/>
                </a:lnTo>
                <a:lnTo>
                  <a:pt x="80833" y="45625"/>
                </a:lnTo>
                <a:close/>
                <a:moveTo>
                  <a:pt x="71042" y="58333"/>
                </a:moveTo>
                <a:lnTo>
                  <a:pt x="71250" y="58125"/>
                </a:lnTo>
                <a:lnTo>
                  <a:pt x="73333" y="58125"/>
                </a:lnTo>
                <a:lnTo>
                  <a:pt x="74375" y="59167"/>
                </a:lnTo>
                <a:lnTo>
                  <a:pt x="74375" y="61667"/>
                </a:lnTo>
                <a:lnTo>
                  <a:pt x="73333" y="62708"/>
                </a:lnTo>
                <a:lnTo>
                  <a:pt x="72917" y="62708"/>
                </a:lnTo>
                <a:lnTo>
                  <a:pt x="72708" y="62917"/>
                </a:lnTo>
                <a:lnTo>
                  <a:pt x="72500" y="63125"/>
                </a:lnTo>
                <a:lnTo>
                  <a:pt x="72083" y="63125"/>
                </a:lnTo>
                <a:lnTo>
                  <a:pt x="71667" y="63125"/>
                </a:lnTo>
                <a:lnTo>
                  <a:pt x="69792" y="61667"/>
                </a:lnTo>
                <a:lnTo>
                  <a:pt x="69792" y="59583"/>
                </a:lnTo>
                <a:lnTo>
                  <a:pt x="70208" y="58750"/>
                </a:lnTo>
                <a:lnTo>
                  <a:pt x="71042" y="58333"/>
                </a:lnTo>
                <a:close/>
                <a:moveTo>
                  <a:pt x="19167" y="65208"/>
                </a:moveTo>
                <a:lnTo>
                  <a:pt x="18958" y="65417"/>
                </a:lnTo>
                <a:lnTo>
                  <a:pt x="18958" y="80833"/>
                </a:lnTo>
                <a:lnTo>
                  <a:pt x="19792" y="82500"/>
                </a:lnTo>
                <a:lnTo>
                  <a:pt x="22917" y="85625"/>
                </a:lnTo>
                <a:lnTo>
                  <a:pt x="24167" y="86042"/>
                </a:lnTo>
                <a:lnTo>
                  <a:pt x="25000" y="86875"/>
                </a:lnTo>
                <a:lnTo>
                  <a:pt x="26667" y="87708"/>
                </a:lnTo>
                <a:lnTo>
                  <a:pt x="27083" y="87708"/>
                </a:lnTo>
                <a:lnTo>
                  <a:pt x="27500" y="87708"/>
                </a:lnTo>
                <a:lnTo>
                  <a:pt x="28750" y="88542"/>
                </a:lnTo>
                <a:lnTo>
                  <a:pt x="29167" y="88542"/>
                </a:lnTo>
                <a:lnTo>
                  <a:pt x="29583" y="88542"/>
                </a:lnTo>
                <a:lnTo>
                  <a:pt x="29792" y="88750"/>
                </a:lnTo>
                <a:lnTo>
                  <a:pt x="30000" y="88958"/>
                </a:lnTo>
                <a:lnTo>
                  <a:pt x="32083" y="89375"/>
                </a:lnTo>
                <a:lnTo>
                  <a:pt x="32292" y="89583"/>
                </a:lnTo>
                <a:lnTo>
                  <a:pt x="32500" y="89792"/>
                </a:lnTo>
                <a:lnTo>
                  <a:pt x="33750" y="89792"/>
                </a:lnTo>
                <a:lnTo>
                  <a:pt x="33958" y="90000"/>
                </a:lnTo>
                <a:lnTo>
                  <a:pt x="34167" y="90208"/>
                </a:lnTo>
                <a:lnTo>
                  <a:pt x="35417" y="90208"/>
                </a:lnTo>
                <a:lnTo>
                  <a:pt x="35625" y="90417"/>
                </a:lnTo>
                <a:lnTo>
                  <a:pt x="35833" y="90625"/>
                </a:lnTo>
                <a:lnTo>
                  <a:pt x="38333" y="90625"/>
                </a:lnTo>
                <a:lnTo>
                  <a:pt x="38542" y="90833"/>
                </a:lnTo>
                <a:lnTo>
                  <a:pt x="38750" y="91042"/>
                </a:lnTo>
                <a:lnTo>
                  <a:pt x="41667" y="91042"/>
                </a:lnTo>
                <a:lnTo>
                  <a:pt x="41875" y="91250"/>
                </a:lnTo>
                <a:lnTo>
                  <a:pt x="42083" y="91458"/>
                </a:lnTo>
                <a:lnTo>
                  <a:pt x="48333" y="91458"/>
                </a:lnTo>
                <a:lnTo>
                  <a:pt x="48542" y="91667"/>
                </a:lnTo>
                <a:lnTo>
                  <a:pt x="48750" y="91875"/>
                </a:lnTo>
                <a:lnTo>
                  <a:pt x="51250" y="91875"/>
                </a:lnTo>
                <a:lnTo>
                  <a:pt x="51458" y="91667"/>
                </a:lnTo>
                <a:lnTo>
                  <a:pt x="51667" y="91458"/>
                </a:lnTo>
                <a:lnTo>
                  <a:pt x="57917" y="91458"/>
                </a:lnTo>
                <a:lnTo>
                  <a:pt x="58125" y="91250"/>
                </a:lnTo>
                <a:lnTo>
                  <a:pt x="58333" y="91042"/>
                </a:lnTo>
                <a:lnTo>
                  <a:pt x="61250" y="91042"/>
                </a:lnTo>
                <a:lnTo>
                  <a:pt x="61458" y="90833"/>
                </a:lnTo>
                <a:lnTo>
                  <a:pt x="61667" y="90625"/>
                </a:lnTo>
                <a:lnTo>
                  <a:pt x="63750" y="90625"/>
                </a:lnTo>
                <a:lnTo>
                  <a:pt x="63958" y="90417"/>
                </a:lnTo>
                <a:lnTo>
                  <a:pt x="64167" y="90208"/>
                </a:lnTo>
                <a:lnTo>
                  <a:pt x="65417" y="90208"/>
                </a:lnTo>
                <a:lnTo>
                  <a:pt x="65625" y="90000"/>
                </a:lnTo>
                <a:lnTo>
                  <a:pt x="65833" y="89792"/>
                </a:lnTo>
                <a:lnTo>
                  <a:pt x="68750" y="89375"/>
                </a:lnTo>
                <a:lnTo>
                  <a:pt x="71250" y="88125"/>
                </a:lnTo>
                <a:lnTo>
                  <a:pt x="73333" y="87708"/>
                </a:lnTo>
                <a:lnTo>
                  <a:pt x="75833" y="86458"/>
                </a:lnTo>
                <a:lnTo>
                  <a:pt x="77083" y="85208"/>
                </a:lnTo>
                <a:lnTo>
                  <a:pt x="77500" y="85208"/>
                </a:lnTo>
                <a:lnTo>
                  <a:pt x="80208" y="82500"/>
                </a:lnTo>
                <a:lnTo>
                  <a:pt x="81042" y="80833"/>
                </a:lnTo>
                <a:lnTo>
                  <a:pt x="81042" y="65417"/>
                </a:lnTo>
                <a:lnTo>
                  <a:pt x="80833" y="65208"/>
                </a:lnTo>
                <a:lnTo>
                  <a:pt x="80417" y="65208"/>
                </a:lnTo>
                <a:lnTo>
                  <a:pt x="79583" y="66458"/>
                </a:lnTo>
                <a:lnTo>
                  <a:pt x="79167" y="66458"/>
                </a:lnTo>
                <a:lnTo>
                  <a:pt x="76667" y="68542"/>
                </a:lnTo>
                <a:lnTo>
                  <a:pt x="74167" y="69792"/>
                </a:lnTo>
                <a:lnTo>
                  <a:pt x="73750" y="69792"/>
                </a:lnTo>
                <a:lnTo>
                  <a:pt x="73333" y="69792"/>
                </a:lnTo>
                <a:lnTo>
                  <a:pt x="72083" y="70625"/>
                </a:lnTo>
                <a:lnTo>
                  <a:pt x="71667" y="70625"/>
                </a:lnTo>
                <a:lnTo>
                  <a:pt x="71250" y="70625"/>
                </a:lnTo>
                <a:lnTo>
                  <a:pt x="71042" y="70833"/>
                </a:lnTo>
                <a:lnTo>
                  <a:pt x="70833" y="71042"/>
                </a:lnTo>
                <a:lnTo>
                  <a:pt x="70417" y="71042"/>
                </a:lnTo>
                <a:lnTo>
                  <a:pt x="70000" y="71042"/>
                </a:lnTo>
                <a:lnTo>
                  <a:pt x="68333" y="71875"/>
                </a:lnTo>
                <a:lnTo>
                  <a:pt x="66667" y="71875"/>
                </a:lnTo>
                <a:lnTo>
                  <a:pt x="66458" y="72083"/>
                </a:lnTo>
                <a:lnTo>
                  <a:pt x="66250" y="72292"/>
                </a:lnTo>
                <a:lnTo>
                  <a:pt x="65000" y="72292"/>
                </a:lnTo>
                <a:lnTo>
                  <a:pt x="64792" y="72500"/>
                </a:lnTo>
                <a:lnTo>
                  <a:pt x="64583" y="72708"/>
                </a:lnTo>
                <a:lnTo>
                  <a:pt x="62917" y="72708"/>
                </a:lnTo>
                <a:lnTo>
                  <a:pt x="62708" y="72917"/>
                </a:lnTo>
                <a:lnTo>
                  <a:pt x="62500" y="73125"/>
                </a:lnTo>
                <a:lnTo>
                  <a:pt x="60000" y="73125"/>
                </a:lnTo>
                <a:lnTo>
                  <a:pt x="59792" y="73333"/>
                </a:lnTo>
                <a:lnTo>
                  <a:pt x="59583" y="73542"/>
                </a:lnTo>
                <a:lnTo>
                  <a:pt x="55417" y="73542"/>
                </a:lnTo>
                <a:lnTo>
                  <a:pt x="55208" y="73750"/>
                </a:lnTo>
                <a:lnTo>
                  <a:pt x="55000" y="73958"/>
                </a:lnTo>
                <a:lnTo>
                  <a:pt x="44167" y="73958"/>
                </a:lnTo>
                <a:lnTo>
                  <a:pt x="43958" y="73750"/>
                </a:lnTo>
                <a:lnTo>
                  <a:pt x="43750" y="73542"/>
                </a:lnTo>
                <a:lnTo>
                  <a:pt x="40000" y="73542"/>
                </a:lnTo>
                <a:lnTo>
                  <a:pt x="39792" y="73333"/>
                </a:lnTo>
                <a:lnTo>
                  <a:pt x="39583" y="73125"/>
                </a:lnTo>
                <a:lnTo>
                  <a:pt x="37083" y="73125"/>
                </a:lnTo>
                <a:lnTo>
                  <a:pt x="36875" y="72917"/>
                </a:lnTo>
                <a:lnTo>
                  <a:pt x="36667" y="72708"/>
                </a:lnTo>
                <a:lnTo>
                  <a:pt x="35000" y="72708"/>
                </a:lnTo>
                <a:lnTo>
                  <a:pt x="34792" y="72500"/>
                </a:lnTo>
                <a:lnTo>
                  <a:pt x="34583" y="72292"/>
                </a:lnTo>
                <a:lnTo>
                  <a:pt x="31667" y="71875"/>
                </a:lnTo>
                <a:lnTo>
                  <a:pt x="31458" y="71667"/>
                </a:lnTo>
                <a:lnTo>
                  <a:pt x="31250" y="71458"/>
                </a:lnTo>
                <a:lnTo>
                  <a:pt x="30833" y="71458"/>
                </a:lnTo>
                <a:lnTo>
                  <a:pt x="30417" y="71458"/>
                </a:lnTo>
                <a:lnTo>
                  <a:pt x="30208" y="71250"/>
                </a:lnTo>
                <a:lnTo>
                  <a:pt x="30000" y="71042"/>
                </a:lnTo>
                <a:lnTo>
                  <a:pt x="27917" y="70625"/>
                </a:lnTo>
                <a:lnTo>
                  <a:pt x="26667" y="69792"/>
                </a:lnTo>
                <a:lnTo>
                  <a:pt x="26250" y="69792"/>
                </a:lnTo>
                <a:lnTo>
                  <a:pt x="25833" y="69792"/>
                </a:lnTo>
                <a:lnTo>
                  <a:pt x="23333" y="68542"/>
                </a:lnTo>
                <a:lnTo>
                  <a:pt x="22500" y="67708"/>
                </a:lnTo>
                <a:lnTo>
                  <a:pt x="22083" y="67708"/>
                </a:lnTo>
                <a:lnTo>
                  <a:pt x="19167" y="65208"/>
                </a:lnTo>
                <a:close/>
                <a:moveTo>
                  <a:pt x="70625" y="77500"/>
                </a:moveTo>
                <a:lnTo>
                  <a:pt x="70833" y="77292"/>
                </a:lnTo>
                <a:lnTo>
                  <a:pt x="73333" y="77292"/>
                </a:lnTo>
                <a:lnTo>
                  <a:pt x="74375" y="78333"/>
                </a:lnTo>
                <a:lnTo>
                  <a:pt x="74375" y="80833"/>
                </a:lnTo>
                <a:lnTo>
                  <a:pt x="73333" y="81875"/>
                </a:lnTo>
                <a:lnTo>
                  <a:pt x="72500" y="82292"/>
                </a:lnTo>
                <a:lnTo>
                  <a:pt x="72083" y="82292"/>
                </a:lnTo>
                <a:lnTo>
                  <a:pt x="71667" y="82292"/>
                </a:lnTo>
                <a:lnTo>
                  <a:pt x="69792" y="80833"/>
                </a:lnTo>
                <a:lnTo>
                  <a:pt x="69792" y="78750"/>
                </a:lnTo>
                <a:lnTo>
                  <a:pt x="70625" y="77500"/>
                </a:lnTo>
                <a:close/>
              </a:path>
            </a:pathLst>
          </a:custGeom>
          <a:solidFill>
            <a:srgbClr val="17324D"/>
          </a:solidFill>
          <a:ln>
            <a:noFill/>
          </a:ln>
        </p:spPr>
        <p:txBody>
          <a:bodyPr/>
          <a:p/>
        </p:txBody>
      </p:sp>
      <p:sp>
        <p:nvSpPr>
          <p:cNvPr id="8" name="Shape 5"/>
          <p:cNvSpPr/>
          <p:nvPr/>
        </p:nvSpPr>
        <p:spPr>
          <a:xfrm>
            <a:off x="1883664" y="1792224"/>
            <a:ext cx="0" cy="2148840"/>
          </a:xfrm>
          <a:prstGeom prst="line">
            <a:avLst/>
          </a:prstGeom>
          <a:noFill/>
          <a:ln w="10160">
            <a:solidFill>
              <a:srgbClr val="D1D5DB"/>
            </a:solidFill>
            <a:prstDash val="solid"/>
          </a:ln>
        </p:spPr>
        <p:txBody>
          <a:bodyPr/>
          <a:p/>
        </p:txBody>
      </p:sp>
      <p:sp>
        <p:nvSpPr>
          <p:cNvPr id="9" name="Text 6"/>
          <p:cNvSpPr/>
          <p:nvPr/>
        </p:nvSpPr>
        <p:spPr>
          <a:xfrm>
            <a:off x="2084832" y="1746504"/>
            <a:ext cx="2487168" cy="777240"/>
          </a:xfrm>
          <a:prstGeom prst="rect">
            <a:avLst/>
          </a:prstGeom>
          <a:noFill/>
          <a:ln/>
        </p:spPr>
        <p:txBody>
          <a:bodyPr wrap="square" lIns="0" tIns="0" rIns="0" bIns="0" rtlCol="0" anchor="ctr"/>
          <a:lstStyle/>
          <a:p>
            <a:pPr indent="0" marL="0">
              <a:buNone/>
            </a:pPr>
            <a:r>
              <a:rPr lang="en-US" sz="6200" b="1" dirty="0">
                <a:solidFill>
                  <a:srgbClr val="17324D"/>
                </a:solidFill>
                <a:latin typeface="Aptos" pitchFamily="34" charset="0"/>
                <a:ea typeface="Segoe UI" pitchFamily="34" charset="-122"/>
                <a:cs typeface="Segoe UI" pitchFamily="34" charset="-120"/>
              </a:rPr>
              <a:t>2 240</a:t>
            </a:r>
            <a:endParaRPr lang="en-US" sz="6200" dirty="0"/>
          </a:p>
        </p:txBody>
      </p:sp>
      <p:sp>
        <p:nvSpPr>
          <p:cNvPr id="10" name="Text 7"/>
          <p:cNvSpPr/>
          <p:nvPr/>
        </p:nvSpPr>
        <p:spPr>
          <a:xfrm>
            <a:off x="2103120" y="2523744"/>
            <a:ext cx="2651760" cy="521208"/>
          </a:xfrm>
          <a:prstGeom prst="rect">
            <a:avLst/>
          </a:prstGeom>
          <a:noFill/>
          <a:ln/>
        </p:spPr>
        <p:txBody>
          <a:bodyPr wrap="square" lIns="0" tIns="0" rIns="0" bIns="0" rtlCol="0" anchor="ctr"/>
          <a:lstStyle/>
          <a:p>
            <a:pPr indent="0" marL="0">
              <a:buNone/>
            </a:pPr>
            <a:r>
              <a:rPr lang="en-US" sz="1600" dirty="0">
                <a:solidFill>
                  <a:srgbClr val="17324D"/>
                </a:solidFill>
                <a:latin typeface="Aptos" pitchFamily="34" charset="0"/>
                <a:ea typeface="Segoe UI" pitchFamily="34" charset="-122"/>
                <a:cs typeface="Segoe UI" pitchFamily="34" charset="-120"/>
              </a:rPr>
              <a:t>clients d’une enseigne</a:t>
            </a:r>
            <a:endParaRPr lang="en-US" sz="1600" dirty="0"/>
          </a:p>
          <a:p>
            <a:pPr indent="0" marL="0">
              <a:buNone/>
            </a:pPr>
            <a:r>
              <a:rPr lang="en-US" sz="1600" dirty="0">
                <a:solidFill>
                  <a:srgbClr val="17324D"/>
                </a:solidFill>
                <a:latin typeface="Aptos" pitchFamily="34" charset="0"/>
                <a:ea typeface="Segoe UI" pitchFamily="34" charset="-122"/>
                <a:cs typeface="Segoe UI" pitchFamily="34" charset="-120"/>
              </a:rPr>
              <a:t>de grande distribution</a:t>
            </a:r>
            <a:endParaRPr lang="en-US" sz="1600" dirty="0"/>
          </a:p>
        </p:txBody>
      </p:sp>
      <p:sp>
        <p:nvSpPr>
          <p:cNvPr id="11" name="Text 8"/>
          <p:cNvSpPr/>
          <p:nvPr/>
        </p:nvSpPr>
        <p:spPr>
          <a:xfrm>
            <a:off x="2103120" y="3017520"/>
            <a:ext cx="1645920" cy="722376"/>
          </a:xfrm>
          <a:prstGeom prst="rect">
            <a:avLst/>
          </a:prstGeom>
          <a:noFill/>
          <a:ln/>
        </p:spPr>
        <p:txBody>
          <a:bodyPr wrap="square" lIns="0" tIns="0" rIns="0" bIns="0" rtlCol="0" anchor="ctr"/>
          <a:lstStyle/>
          <a:p>
            <a:pPr indent="0" marL="0">
              <a:buNone/>
            </a:pPr>
            <a:r>
              <a:rPr lang="en-US" sz="6200" b="1" dirty="0">
                <a:solidFill>
                  <a:srgbClr val="1D4ED8"/>
                </a:solidFill>
                <a:latin typeface="Aptos" pitchFamily="34" charset="0"/>
                <a:ea typeface="Segoe UI" pitchFamily="34" charset="-122"/>
                <a:cs typeface="Segoe UI" pitchFamily="34" charset="-120"/>
              </a:rPr>
              <a:t>29</a:t>
            </a:r>
            <a:endParaRPr lang="en-US" sz="6200" dirty="0"/>
          </a:p>
        </p:txBody>
      </p:sp>
      <p:sp>
        <p:nvSpPr>
          <p:cNvPr id="12" name="Text 9"/>
          <p:cNvSpPr/>
          <p:nvPr/>
        </p:nvSpPr>
        <p:spPr>
          <a:xfrm>
            <a:off x="2112264" y="3794760"/>
            <a:ext cx="2377440" cy="274320"/>
          </a:xfrm>
          <a:prstGeom prst="rect">
            <a:avLst/>
          </a:prstGeom>
          <a:noFill/>
          <a:ln/>
        </p:spPr>
        <p:txBody>
          <a:bodyPr wrap="square" lIns="0" tIns="0" rIns="0" bIns="0" rtlCol="0" anchor="ctr"/>
          <a:lstStyle/>
          <a:p>
            <a:pPr indent="0" marL="0">
              <a:buNone/>
            </a:pPr>
            <a:r>
              <a:rPr lang="en-US" sz="1600" dirty="0">
                <a:solidFill>
                  <a:srgbClr val="17324D"/>
                </a:solidFill>
                <a:latin typeface="Aptos" pitchFamily="34" charset="0"/>
                <a:ea typeface="Segoe UI" pitchFamily="34" charset="-122"/>
                <a:cs typeface="Segoe UI" pitchFamily="34" charset="-120"/>
              </a:rPr>
              <a:t>variables</a:t>
            </a:r>
            <a:endParaRPr lang="en-US" sz="1600" dirty="0"/>
          </a:p>
        </p:txBody>
      </p:sp>
      <p:sp>
        <p:nvSpPr>
          <p:cNvPr id="13" name="Text 10"/>
          <p:cNvSpPr/>
          <p:nvPr/>
        </p:nvSpPr>
        <p:spPr>
          <a:xfrm>
            <a:off x="475488" y="4206240"/>
            <a:ext cx="4297680" cy="310896"/>
          </a:xfrm>
          <a:prstGeom prst="rect">
            <a:avLst/>
          </a:prstGeom>
          <a:noFill/>
          <a:ln/>
        </p:spPr>
        <p:txBody>
          <a:bodyPr wrap="square" lIns="0" tIns="0" rIns="0" bIns="0" rtlCol="0" anchor="ctr"/>
          <a:lstStyle/>
          <a:p>
            <a:pPr indent="0" marL="0">
              <a:buNone/>
            </a:pPr>
            <a:r>
              <a:rPr lang="en-US" sz="1800" b="1" dirty="0">
                <a:solidFill>
                  <a:srgbClr val="17324D"/>
                </a:solidFill>
                <a:latin typeface="Aptos" pitchFamily="34" charset="0"/>
                <a:ea typeface="Segoe UI" pitchFamily="34" charset="-122"/>
                <a:cs typeface="Segoe UI" pitchFamily="34" charset="-120"/>
              </a:rPr>
              <a:t>Customer Personality Analysis</a:t>
            </a:r>
            <a:endParaRPr lang="en-US" sz="1800" dirty="0"/>
          </a:p>
        </p:txBody>
      </p:sp>
      <p:sp>
        <p:nvSpPr>
          <p:cNvPr id="14" name="Text 11"/>
          <p:cNvSpPr/>
          <p:nvPr/>
        </p:nvSpPr>
        <p:spPr>
          <a:xfrm>
            <a:off x="475488" y="4553712"/>
            <a:ext cx="4233672" cy="283464"/>
          </a:xfrm>
          <a:prstGeom prst="rect">
            <a:avLst/>
          </a:prstGeom>
          <a:noFill/>
          <a:ln/>
        </p:spPr>
        <p:txBody>
          <a:bodyPr wrap="square" lIns="0" tIns="0" rIns="0" bIns="0" rtlCol="0" anchor="ctr"/>
          <a:lstStyle/>
          <a:p>
            <a:pPr indent="0" marL="0">
              <a:buNone/>
            </a:pPr>
            <a:r>
              <a:rPr lang="en-US" sz="1600" dirty="0">
                <a:solidFill>
                  <a:srgbClr val="334155"/>
                </a:solidFill>
                <a:latin typeface="Aptos" pitchFamily="34" charset="0"/>
                <a:ea typeface="Segoe UI" pitchFamily="34" charset="-122"/>
                <a:cs typeface="Segoe UI" pitchFamily="34" charset="-120"/>
              </a:rPr>
              <a:t>Dataset public Kaggle</a:t>
            </a:r>
            <a:endParaRPr lang="en-US" sz="1600" dirty="0"/>
          </a:p>
        </p:txBody>
      </p:sp>
      <p:sp>
        <p:nvSpPr>
          <p:cNvPr id="15" name="Text 12"/>
          <p:cNvSpPr/>
          <p:nvPr/>
        </p:nvSpPr>
        <p:spPr>
          <a:xfrm>
            <a:off x="475488" y="4992624"/>
            <a:ext cx="4297680" cy="338328"/>
          </a:xfrm>
          <a:prstGeom prst="rect">
            <a:avLst/>
          </a:prstGeom>
          <a:noFill/>
          <a:ln/>
        </p:spPr>
        <p:txBody>
          <a:bodyPr wrap="square" lIns="0" tIns="0" rIns="0" bIns="0" rtlCol="0" anchor="ctr"/>
          <a:lstStyle/>
          <a:p>
            <a:pPr indent="0" marL="0">
              <a:buNone/>
            </a:pPr>
            <a:r>
              <a:rPr lang="en-US" sz="2000" b="1" dirty="0">
                <a:solidFill>
                  <a:srgbClr val="17324D"/>
                </a:solidFill>
                <a:latin typeface="Aptos" pitchFamily="34" charset="0"/>
                <a:ea typeface="Segoe UI" pitchFamily="34" charset="-122"/>
                <a:cs typeface="Segoe UI" pitchFamily="34" charset="-120"/>
              </a:rPr>
              <a:t>Dimensions analysées</a:t>
            </a:r>
            <a:endParaRPr lang="en-US" sz="2000" dirty="0"/>
          </a:p>
        </p:txBody>
      </p:sp>
      <p:sp>
        <p:nvSpPr>
          <p:cNvPr id="16" name="Shape 13"/>
          <p:cNvSpPr/>
          <p:nvPr/>
        </p:nvSpPr>
        <p:spPr>
          <a:xfrm>
            <a:off x="493776" y="5394960"/>
            <a:ext cx="173736" cy="173736"/>
          </a:xfrm>
          <a:prstGeom prst="ellipse">
            <a:avLst/>
          </a:prstGeom>
          <a:solidFill>
            <a:srgbClr val="1D4ED8"/>
          </a:solidFill>
          <a:ln w="12700">
            <a:solidFill>
              <a:srgbClr val="1D4ED8">
                <a:alpha val="0"/>
              </a:srgbClr>
            </a:solidFill>
            <a:prstDash val="solid"/>
          </a:ln>
        </p:spPr>
        <p:txBody>
          <a:bodyPr/>
          <a:p/>
        </p:txBody>
      </p:sp>
      <p:sp>
        <p:nvSpPr>
          <p:cNvPr id="17" name="Text 14"/>
          <p:cNvSpPr/>
          <p:nvPr/>
        </p:nvSpPr>
        <p:spPr>
          <a:xfrm>
            <a:off x="859536" y="5367528"/>
            <a:ext cx="3657600" cy="246888"/>
          </a:xfrm>
          <a:prstGeom prst="rect">
            <a:avLst/>
          </a:prstGeom>
          <a:noFill/>
          <a:ln/>
        </p:spPr>
        <p:txBody>
          <a:bodyPr wrap="square" lIns="0" tIns="0" rIns="0" bIns="0" rtlCol="0" anchor="ctr"/>
          <a:lstStyle/>
          <a:p>
            <a:pPr indent="0" marL="0">
              <a:buNone/>
            </a:pPr>
            <a:r>
              <a:rPr lang="en-US" sz="1400" dirty="0">
                <a:solidFill>
                  <a:srgbClr val="17324D"/>
                </a:solidFill>
                <a:latin typeface="Aptos" pitchFamily="34" charset="0"/>
                <a:ea typeface="Segoe UI" pitchFamily="34" charset="-122"/>
                <a:cs typeface="Segoe UI" pitchFamily="34" charset="-120"/>
              </a:rPr>
              <a:t>Démographie</a:t>
            </a:r>
            <a:endParaRPr lang="en-US" sz="1400" dirty="0"/>
          </a:p>
        </p:txBody>
      </p:sp>
      <p:sp>
        <p:nvSpPr>
          <p:cNvPr id="18" name="Shape 15"/>
          <p:cNvSpPr/>
          <p:nvPr/>
        </p:nvSpPr>
        <p:spPr>
          <a:xfrm>
            <a:off x="493776" y="5678424"/>
            <a:ext cx="173736" cy="173736"/>
          </a:xfrm>
          <a:prstGeom prst="ellipse">
            <a:avLst/>
          </a:prstGeom>
          <a:solidFill>
            <a:srgbClr val="0F766E"/>
          </a:solidFill>
          <a:ln w="12700">
            <a:solidFill>
              <a:srgbClr val="0F766E">
                <a:alpha val="0"/>
              </a:srgbClr>
            </a:solidFill>
            <a:prstDash val="solid"/>
          </a:ln>
        </p:spPr>
        <p:txBody>
          <a:bodyPr/>
          <a:p/>
        </p:txBody>
      </p:sp>
      <p:sp>
        <p:nvSpPr>
          <p:cNvPr id="19" name="Text 16"/>
          <p:cNvSpPr/>
          <p:nvPr/>
        </p:nvSpPr>
        <p:spPr>
          <a:xfrm>
            <a:off x="859536" y="5650992"/>
            <a:ext cx="3657600" cy="246888"/>
          </a:xfrm>
          <a:prstGeom prst="rect">
            <a:avLst/>
          </a:prstGeom>
          <a:noFill/>
          <a:ln/>
        </p:spPr>
        <p:txBody>
          <a:bodyPr wrap="square" lIns="0" tIns="0" rIns="0" bIns="0" rtlCol="0" anchor="ctr"/>
          <a:lstStyle/>
          <a:p>
            <a:pPr indent="0" marL="0">
              <a:buNone/>
            </a:pPr>
            <a:r>
              <a:rPr lang="en-US" sz="1400" dirty="0">
                <a:solidFill>
                  <a:srgbClr val="17324D"/>
                </a:solidFill>
                <a:latin typeface="Aptos" pitchFamily="34" charset="0"/>
                <a:ea typeface="Segoe UI" pitchFamily="34" charset="-122"/>
                <a:cs typeface="Segoe UI" pitchFamily="34" charset="-120"/>
              </a:rPr>
              <a:t>Dépenses par catégorie</a:t>
            </a:r>
            <a:endParaRPr lang="en-US" sz="1400" dirty="0"/>
          </a:p>
        </p:txBody>
      </p:sp>
      <p:sp>
        <p:nvSpPr>
          <p:cNvPr id="20" name="Shape 17"/>
          <p:cNvSpPr/>
          <p:nvPr/>
        </p:nvSpPr>
        <p:spPr>
          <a:xfrm>
            <a:off x="493776" y="5961888"/>
            <a:ext cx="173736" cy="173736"/>
          </a:xfrm>
          <a:prstGeom prst="ellipse">
            <a:avLst/>
          </a:prstGeom>
          <a:solidFill>
            <a:srgbClr val="6D28D9"/>
          </a:solidFill>
          <a:ln w="12700">
            <a:solidFill>
              <a:srgbClr val="6D28D9">
                <a:alpha val="0"/>
              </a:srgbClr>
            </a:solidFill>
            <a:prstDash val="solid"/>
          </a:ln>
        </p:spPr>
        <p:txBody>
          <a:bodyPr/>
          <a:p/>
        </p:txBody>
      </p:sp>
      <p:sp>
        <p:nvSpPr>
          <p:cNvPr id="21" name="Text 18"/>
          <p:cNvSpPr/>
          <p:nvPr/>
        </p:nvSpPr>
        <p:spPr>
          <a:xfrm>
            <a:off x="859536" y="5934456"/>
            <a:ext cx="3657600" cy="246888"/>
          </a:xfrm>
          <a:prstGeom prst="rect">
            <a:avLst/>
          </a:prstGeom>
          <a:noFill/>
          <a:ln/>
        </p:spPr>
        <p:txBody>
          <a:bodyPr wrap="square" lIns="0" tIns="0" rIns="0" bIns="0" rtlCol="0" anchor="ctr"/>
          <a:lstStyle/>
          <a:p>
            <a:pPr indent="0" marL="0">
              <a:buNone/>
            </a:pPr>
            <a:r>
              <a:rPr lang="en-US" sz="1400" dirty="0">
                <a:solidFill>
                  <a:srgbClr val="17324D"/>
                </a:solidFill>
                <a:latin typeface="Aptos" pitchFamily="34" charset="0"/>
                <a:ea typeface="Segoe UI" pitchFamily="34" charset="-122"/>
                <a:cs typeface="Segoe UI" pitchFamily="34" charset="-120"/>
              </a:rPr>
              <a:t>Canaux d’achat</a:t>
            </a:r>
            <a:endParaRPr lang="en-US" sz="1400" dirty="0"/>
          </a:p>
        </p:txBody>
      </p:sp>
      <p:sp>
        <p:nvSpPr>
          <p:cNvPr id="22" name="Shape 19"/>
          <p:cNvSpPr/>
          <p:nvPr/>
        </p:nvSpPr>
        <p:spPr>
          <a:xfrm>
            <a:off x="493776" y="6245352"/>
            <a:ext cx="173736" cy="173736"/>
          </a:xfrm>
          <a:prstGeom prst="ellipse">
            <a:avLst/>
          </a:prstGeom>
          <a:solidFill>
            <a:srgbClr val="17324D"/>
          </a:solidFill>
          <a:ln w="12700">
            <a:solidFill>
              <a:srgbClr val="17324D">
                <a:alpha val="0"/>
              </a:srgbClr>
            </a:solidFill>
            <a:prstDash val="solid"/>
          </a:ln>
        </p:spPr>
        <p:txBody>
          <a:bodyPr/>
          <a:p/>
        </p:txBody>
      </p:sp>
      <p:sp>
        <p:nvSpPr>
          <p:cNvPr id="23" name="Text 20"/>
          <p:cNvSpPr/>
          <p:nvPr/>
        </p:nvSpPr>
        <p:spPr>
          <a:xfrm>
            <a:off x="859536" y="6217920"/>
            <a:ext cx="3657600" cy="246888"/>
          </a:xfrm>
          <a:prstGeom prst="rect">
            <a:avLst/>
          </a:prstGeom>
          <a:noFill/>
          <a:ln/>
        </p:spPr>
        <p:txBody>
          <a:bodyPr wrap="square" lIns="0" tIns="0" rIns="0" bIns="0" rtlCol="0" anchor="ctr"/>
          <a:lstStyle/>
          <a:p>
            <a:pPr indent="0" marL="0">
              <a:buNone/>
            </a:pPr>
            <a:r>
              <a:rPr lang="en-US" sz="1400" dirty="0">
                <a:solidFill>
                  <a:srgbClr val="17324D"/>
                </a:solidFill>
                <a:latin typeface="Aptos" pitchFamily="34" charset="0"/>
                <a:ea typeface="Segoe UI" pitchFamily="34" charset="-122"/>
                <a:cs typeface="Segoe UI" pitchFamily="34" charset="-120"/>
              </a:rPr>
              <a:t>Réponses aux campagnes</a:t>
            </a:r>
            <a:endParaRPr lang="en-US" sz="1400" dirty="0"/>
          </a:p>
        </p:txBody>
      </p:sp>
      <p:sp>
        <p:nvSpPr>
          <p:cNvPr id="24" name="Shape 21"/>
          <p:cNvSpPr/>
          <p:nvPr/>
        </p:nvSpPr>
        <p:spPr>
          <a:xfrm>
            <a:off x="4910328" y="1737360"/>
            <a:ext cx="0" cy="4681728"/>
          </a:xfrm>
          <a:prstGeom prst="line">
            <a:avLst/>
          </a:prstGeom>
          <a:noFill/>
          <a:ln w="10160">
            <a:solidFill>
              <a:srgbClr val="D1D5DB"/>
            </a:solidFill>
            <a:prstDash val="solid"/>
          </a:ln>
        </p:spPr>
        <p:txBody>
          <a:bodyPr/>
          <a:p/>
        </p:txBody>
      </p:sp>
      <p:sp>
        <p:nvSpPr>
          <p:cNvPr id="25" name="Shape 22"/>
          <p:cNvSpPr/>
          <p:nvPr/>
        </p:nvSpPr>
        <p:spPr>
          <a:xfrm>
            <a:off x="5175504" y="1728216"/>
            <a:ext cx="6693408" cy="1472184"/>
          </a:xfrm>
          <a:prstGeom prst="roundRect">
            <a:avLst>
              <a:gd name="adj" fmla="val 8696"/>
            </a:avLst>
          </a:prstGeom>
          <a:solidFill>
            <a:srgbClr val="F0FDFA"/>
          </a:solidFill>
          <a:ln w="12700">
            <a:solidFill>
              <a:srgbClr val="F0FDFA">
                <a:alpha val="0"/>
              </a:srgbClr>
            </a:solidFill>
            <a:prstDash val="solid"/>
          </a:ln>
        </p:spPr>
        <p:txBody>
          <a:bodyPr/>
          <a:p/>
        </p:txBody>
      </p:sp>
      <p:sp>
        <p:nvSpPr>
          <p:cNvPr id="26" name="Shape 23"/>
          <p:cNvSpPr/>
          <p:nvPr/>
        </p:nvSpPr>
        <p:spPr>
          <a:xfrm>
            <a:off x="5431536" y="2048256"/>
            <a:ext cx="1115568" cy="1115568"/>
          </a:xfrm>
          <a:prstGeom prst="ellipse">
            <a:avLst/>
          </a:prstGeom>
          <a:solidFill>
            <a:srgbClr val="0F766E"/>
          </a:solidFill>
          <a:ln w="12700">
            <a:solidFill>
              <a:srgbClr val="0F766E">
                <a:alpha val="0"/>
              </a:srgbClr>
            </a:solidFill>
            <a:prstDash val="solid"/>
          </a:ln>
        </p:spPr>
        <p:txBody>
          <a:bodyPr/>
          <a:p/>
        </p:txBody>
      </p:sp>
      <p:sp>
        <p:nvSpPr>
          <p:cNvPr id="27" name="VECTOR_people2_16"/>
          <p:cNvSpPr/>
          <p:nvPr/>
        </p:nvSpPr>
        <p:spPr>
          <a:xfrm>
            <a:off x="5431536" y="2048256"/>
            <a:ext cx="1115568" cy="1115568"/>
          </a:xfrm>
          <a:custGeom>
            <a:avLst/>
            <a:gdLst/>
            <a:ahLst/>
            <a:cxnLst/>
            <a:rect l="0" t="0" r="r" b="b"/>
            <a:pathLst>
              <a:path w="100000" h="100000" fill="norm" stroke="false" extrusionOk="false">
                <a:moveTo>
                  <a:pt x="47768" y="28571"/>
                </a:moveTo>
                <a:lnTo>
                  <a:pt x="48214" y="28125"/>
                </a:lnTo>
                <a:lnTo>
                  <a:pt x="52679" y="28125"/>
                </a:lnTo>
                <a:lnTo>
                  <a:pt x="56250" y="29911"/>
                </a:lnTo>
                <a:lnTo>
                  <a:pt x="56696" y="30357"/>
                </a:lnTo>
                <a:lnTo>
                  <a:pt x="56696" y="31250"/>
                </a:lnTo>
                <a:lnTo>
                  <a:pt x="58482" y="33036"/>
                </a:lnTo>
                <a:lnTo>
                  <a:pt x="58482" y="33929"/>
                </a:lnTo>
                <a:lnTo>
                  <a:pt x="58482" y="34821"/>
                </a:lnTo>
                <a:lnTo>
                  <a:pt x="58929" y="35268"/>
                </a:lnTo>
                <a:lnTo>
                  <a:pt x="59375" y="35714"/>
                </a:lnTo>
                <a:lnTo>
                  <a:pt x="58482" y="40179"/>
                </a:lnTo>
                <a:lnTo>
                  <a:pt x="57589" y="41964"/>
                </a:lnTo>
                <a:lnTo>
                  <a:pt x="54018" y="44643"/>
                </a:lnTo>
                <a:lnTo>
                  <a:pt x="53571" y="45089"/>
                </a:lnTo>
                <a:lnTo>
                  <a:pt x="48214" y="45089"/>
                </a:lnTo>
                <a:lnTo>
                  <a:pt x="46429" y="44196"/>
                </a:lnTo>
                <a:lnTo>
                  <a:pt x="43304" y="41071"/>
                </a:lnTo>
                <a:lnTo>
                  <a:pt x="43304" y="40179"/>
                </a:lnTo>
                <a:lnTo>
                  <a:pt x="43304" y="39286"/>
                </a:lnTo>
                <a:lnTo>
                  <a:pt x="42857" y="38839"/>
                </a:lnTo>
                <a:lnTo>
                  <a:pt x="42411" y="38393"/>
                </a:lnTo>
                <a:lnTo>
                  <a:pt x="42411" y="34821"/>
                </a:lnTo>
                <a:lnTo>
                  <a:pt x="42857" y="34375"/>
                </a:lnTo>
                <a:lnTo>
                  <a:pt x="43304" y="33929"/>
                </a:lnTo>
                <a:lnTo>
                  <a:pt x="43304" y="33036"/>
                </a:lnTo>
                <a:lnTo>
                  <a:pt x="43304" y="32143"/>
                </a:lnTo>
                <a:lnTo>
                  <a:pt x="46429" y="29018"/>
                </a:lnTo>
                <a:lnTo>
                  <a:pt x="47321" y="29018"/>
                </a:lnTo>
                <a:lnTo>
                  <a:pt x="47768" y="28571"/>
                </a:lnTo>
                <a:close/>
                <a:moveTo>
                  <a:pt x="48214" y="30804"/>
                </a:moveTo>
                <a:lnTo>
                  <a:pt x="45982" y="32143"/>
                </a:lnTo>
                <a:lnTo>
                  <a:pt x="44196" y="35714"/>
                </a:lnTo>
                <a:lnTo>
                  <a:pt x="44196" y="36607"/>
                </a:lnTo>
                <a:lnTo>
                  <a:pt x="44196" y="37500"/>
                </a:lnTo>
                <a:lnTo>
                  <a:pt x="45982" y="41071"/>
                </a:lnTo>
                <a:lnTo>
                  <a:pt x="48214" y="43304"/>
                </a:lnTo>
                <a:lnTo>
                  <a:pt x="52679" y="43304"/>
                </a:lnTo>
                <a:lnTo>
                  <a:pt x="54464" y="42411"/>
                </a:lnTo>
                <a:lnTo>
                  <a:pt x="56696" y="39286"/>
                </a:lnTo>
                <a:lnTo>
                  <a:pt x="56696" y="33929"/>
                </a:lnTo>
                <a:lnTo>
                  <a:pt x="53571" y="30804"/>
                </a:lnTo>
                <a:lnTo>
                  <a:pt x="48214" y="30804"/>
                </a:lnTo>
                <a:close/>
                <a:moveTo>
                  <a:pt x="28125" y="37500"/>
                </a:moveTo>
                <a:lnTo>
                  <a:pt x="28571" y="37054"/>
                </a:lnTo>
                <a:lnTo>
                  <a:pt x="33036" y="37054"/>
                </a:lnTo>
                <a:lnTo>
                  <a:pt x="36161" y="39286"/>
                </a:lnTo>
                <a:lnTo>
                  <a:pt x="37054" y="41071"/>
                </a:lnTo>
                <a:lnTo>
                  <a:pt x="37054" y="41964"/>
                </a:lnTo>
                <a:lnTo>
                  <a:pt x="37054" y="42857"/>
                </a:lnTo>
                <a:lnTo>
                  <a:pt x="37500" y="43304"/>
                </a:lnTo>
                <a:lnTo>
                  <a:pt x="37946" y="43750"/>
                </a:lnTo>
                <a:lnTo>
                  <a:pt x="37500" y="44196"/>
                </a:lnTo>
                <a:lnTo>
                  <a:pt x="37054" y="44643"/>
                </a:lnTo>
                <a:lnTo>
                  <a:pt x="37054" y="45536"/>
                </a:lnTo>
                <a:lnTo>
                  <a:pt x="37054" y="46429"/>
                </a:lnTo>
                <a:lnTo>
                  <a:pt x="34821" y="48661"/>
                </a:lnTo>
                <a:lnTo>
                  <a:pt x="33929" y="48661"/>
                </a:lnTo>
                <a:lnTo>
                  <a:pt x="33482" y="49107"/>
                </a:lnTo>
                <a:lnTo>
                  <a:pt x="33036" y="49554"/>
                </a:lnTo>
                <a:lnTo>
                  <a:pt x="28571" y="49554"/>
                </a:lnTo>
                <a:lnTo>
                  <a:pt x="25446" y="47321"/>
                </a:lnTo>
                <a:lnTo>
                  <a:pt x="24554" y="45536"/>
                </a:lnTo>
                <a:lnTo>
                  <a:pt x="24554" y="41071"/>
                </a:lnTo>
                <a:lnTo>
                  <a:pt x="25446" y="39286"/>
                </a:lnTo>
                <a:lnTo>
                  <a:pt x="28125" y="37500"/>
                </a:lnTo>
                <a:close/>
                <a:moveTo>
                  <a:pt x="68304" y="37500"/>
                </a:moveTo>
                <a:lnTo>
                  <a:pt x="68750" y="37054"/>
                </a:lnTo>
                <a:lnTo>
                  <a:pt x="73214" y="37054"/>
                </a:lnTo>
                <a:lnTo>
                  <a:pt x="75000" y="37946"/>
                </a:lnTo>
                <a:lnTo>
                  <a:pt x="77232" y="41071"/>
                </a:lnTo>
                <a:lnTo>
                  <a:pt x="77232" y="45536"/>
                </a:lnTo>
                <a:lnTo>
                  <a:pt x="76339" y="47321"/>
                </a:lnTo>
                <a:lnTo>
                  <a:pt x="73214" y="49554"/>
                </a:lnTo>
                <a:lnTo>
                  <a:pt x="67857" y="49554"/>
                </a:lnTo>
                <a:lnTo>
                  <a:pt x="64732" y="46429"/>
                </a:lnTo>
                <a:lnTo>
                  <a:pt x="63839" y="44643"/>
                </a:lnTo>
                <a:lnTo>
                  <a:pt x="64732" y="40179"/>
                </a:lnTo>
                <a:lnTo>
                  <a:pt x="66964" y="37946"/>
                </a:lnTo>
                <a:lnTo>
                  <a:pt x="67857" y="37946"/>
                </a:lnTo>
                <a:lnTo>
                  <a:pt x="68304" y="37500"/>
                </a:lnTo>
                <a:close/>
                <a:moveTo>
                  <a:pt x="30357" y="38839"/>
                </a:moveTo>
                <a:lnTo>
                  <a:pt x="27232" y="41071"/>
                </a:lnTo>
                <a:lnTo>
                  <a:pt x="26339" y="43750"/>
                </a:lnTo>
                <a:lnTo>
                  <a:pt x="28571" y="47768"/>
                </a:lnTo>
                <a:lnTo>
                  <a:pt x="31250" y="47768"/>
                </a:lnTo>
                <a:lnTo>
                  <a:pt x="32143" y="47768"/>
                </a:lnTo>
                <a:lnTo>
                  <a:pt x="33036" y="47768"/>
                </a:lnTo>
                <a:lnTo>
                  <a:pt x="35268" y="45536"/>
                </a:lnTo>
                <a:lnTo>
                  <a:pt x="35268" y="41964"/>
                </a:lnTo>
                <a:lnTo>
                  <a:pt x="33036" y="39732"/>
                </a:lnTo>
                <a:lnTo>
                  <a:pt x="30357" y="38839"/>
                </a:lnTo>
                <a:close/>
                <a:moveTo>
                  <a:pt x="70536" y="38839"/>
                </a:moveTo>
                <a:lnTo>
                  <a:pt x="66518" y="41964"/>
                </a:lnTo>
                <a:lnTo>
                  <a:pt x="66518" y="45536"/>
                </a:lnTo>
                <a:lnTo>
                  <a:pt x="68750" y="47768"/>
                </a:lnTo>
                <a:lnTo>
                  <a:pt x="71429" y="47768"/>
                </a:lnTo>
                <a:lnTo>
                  <a:pt x="72321" y="47768"/>
                </a:lnTo>
                <a:lnTo>
                  <a:pt x="75446" y="44643"/>
                </a:lnTo>
                <a:lnTo>
                  <a:pt x="75446" y="43750"/>
                </a:lnTo>
                <a:lnTo>
                  <a:pt x="75446" y="42857"/>
                </a:lnTo>
                <a:lnTo>
                  <a:pt x="73214" y="39732"/>
                </a:lnTo>
                <a:lnTo>
                  <a:pt x="70536" y="38839"/>
                </a:lnTo>
                <a:close/>
                <a:moveTo>
                  <a:pt x="46875" y="48214"/>
                </a:moveTo>
                <a:lnTo>
                  <a:pt x="47321" y="47768"/>
                </a:lnTo>
                <a:lnTo>
                  <a:pt x="54464" y="47768"/>
                </a:lnTo>
                <a:lnTo>
                  <a:pt x="58036" y="49554"/>
                </a:lnTo>
                <a:lnTo>
                  <a:pt x="62054" y="53571"/>
                </a:lnTo>
                <a:lnTo>
                  <a:pt x="62946" y="55357"/>
                </a:lnTo>
                <a:lnTo>
                  <a:pt x="62946" y="56250"/>
                </a:lnTo>
                <a:lnTo>
                  <a:pt x="62946" y="57143"/>
                </a:lnTo>
                <a:lnTo>
                  <a:pt x="63393" y="57589"/>
                </a:lnTo>
                <a:lnTo>
                  <a:pt x="63839" y="58036"/>
                </a:lnTo>
                <a:lnTo>
                  <a:pt x="63839" y="66964"/>
                </a:lnTo>
                <a:lnTo>
                  <a:pt x="63393" y="67411"/>
                </a:lnTo>
                <a:lnTo>
                  <a:pt x="54464" y="67411"/>
                </a:lnTo>
                <a:lnTo>
                  <a:pt x="37500" y="67411"/>
                </a:lnTo>
                <a:lnTo>
                  <a:pt x="37054" y="66964"/>
                </a:lnTo>
                <a:lnTo>
                  <a:pt x="37054" y="58036"/>
                </a:lnTo>
                <a:lnTo>
                  <a:pt x="38839" y="54464"/>
                </a:lnTo>
                <a:lnTo>
                  <a:pt x="40625" y="52679"/>
                </a:lnTo>
                <a:lnTo>
                  <a:pt x="40625" y="51786"/>
                </a:lnTo>
                <a:lnTo>
                  <a:pt x="41071" y="51339"/>
                </a:lnTo>
                <a:lnTo>
                  <a:pt x="41964" y="51339"/>
                </a:lnTo>
                <a:lnTo>
                  <a:pt x="43750" y="49554"/>
                </a:lnTo>
                <a:lnTo>
                  <a:pt x="46875" y="48214"/>
                </a:lnTo>
                <a:close/>
                <a:moveTo>
                  <a:pt x="49107" y="49554"/>
                </a:moveTo>
                <a:lnTo>
                  <a:pt x="48661" y="50000"/>
                </a:lnTo>
                <a:lnTo>
                  <a:pt x="48214" y="50446"/>
                </a:lnTo>
                <a:lnTo>
                  <a:pt x="47321" y="50446"/>
                </a:lnTo>
                <a:lnTo>
                  <a:pt x="46429" y="50446"/>
                </a:lnTo>
                <a:lnTo>
                  <a:pt x="44643" y="51339"/>
                </a:lnTo>
                <a:lnTo>
                  <a:pt x="41518" y="54464"/>
                </a:lnTo>
                <a:lnTo>
                  <a:pt x="39732" y="58036"/>
                </a:lnTo>
                <a:lnTo>
                  <a:pt x="39732" y="65179"/>
                </a:lnTo>
                <a:lnTo>
                  <a:pt x="40179" y="65625"/>
                </a:lnTo>
                <a:lnTo>
                  <a:pt x="52679" y="65625"/>
                </a:lnTo>
                <a:lnTo>
                  <a:pt x="61607" y="65625"/>
                </a:lnTo>
                <a:lnTo>
                  <a:pt x="62054" y="65179"/>
                </a:lnTo>
                <a:lnTo>
                  <a:pt x="62054" y="58036"/>
                </a:lnTo>
                <a:lnTo>
                  <a:pt x="59375" y="54464"/>
                </a:lnTo>
                <a:lnTo>
                  <a:pt x="59375" y="53571"/>
                </a:lnTo>
                <a:lnTo>
                  <a:pt x="55357" y="50446"/>
                </a:lnTo>
                <a:lnTo>
                  <a:pt x="54464" y="50446"/>
                </a:lnTo>
                <a:lnTo>
                  <a:pt x="53571" y="50446"/>
                </a:lnTo>
                <a:lnTo>
                  <a:pt x="53125" y="50000"/>
                </a:lnTo>
                <a:lnTo>
                  <a:pt x="52679" y="49554"/>
                </a:lnTo>
                <a:lnTo>
                  <a:pt x="49107" y="49554"/>
                </a:lnTo>
                <a:close/>
                <a:moveTo>
                  <a:pt x="28125" y="52679"/>
                </a:moveTo>
                <a:lnTo>
                  <a:pt x="28571" y="52232"/>
                </a:lnTo>
                <a:lnTo>
                  <a:pt x="33036" y="52232"/>
                </a:lnTo>
                <a:lnTo>
                  <a:pt x="35268" y="53571"/>
                </a:lnTo>
                <a:lnTo>
                  <a:pt x="35268" y="54464"/>
                </a:lnTo>
                <a:lnTo>
                  <a:pt x="34821" y="54911"/>
                </a:lnTo>
                <a:lnTo>
                  <a:pt x="34375" y="54464"/>
                </a:lnTo>
                <a:lnTo>
                  <a:pt x="33929" y="54018"/>
                </a:lnTo>
                <a:lnTo>
                  <a:pt x="28571" y="54018"/>
                </a:lnTo>
                <a:lnTo>
                  <a:pt x="26786" y="54911"/>
                </a:lnTo>
                <a:lnTo>
                  <a:pt x="23661" y="58036"/>
                </a:lnTo>
                <a:lnTo>
                  <a:pt x="23661" y="58929"/>
                </a:lnTo>
                <a:lnTo>
                  <a:pt x="23661" y="59821"/>
                </a:lnTo>
                <a:lnTo>
                  <a:pt x="23214" y="60268"/>
                </a:lnTo>
                <a:lnTo>
                  <a:pt x="22768" y="60714"/>
                </a:lnTo>
                <a:lnTo>
                  <a:pt x="22768" y="65179"/>
                </a:lnTo>
                <a:lnTo>
                  <a:pt x="23214" y="65625"/>
                </a:lnTo>
                <a:lnTo>
                  <a:pt x="28571" y="65625"/>
                </a:lnTo>
                <a:lnTo>
                  <a:pt x="33036" y="65625"/>
                </a:lnTo>
                <a:lnTo>
                  <a:pt x="33482" y="66071"/>
                </a:lnTo>
                <a:lnTo>
                  <a:pt x="33482" y="66964"/>
                </a:lnTo>
                <a:lnTo>
                  <a:pt x="33036" y="67411"/>
                </a:lnTo>
                <a:lnTo>
                  <a:pt x="21429" y="67411"/>
                </a:lnTo>
                <a:lnTo>
                  <a:pt x="20982" y="66964"/>
                </a:lnTo>
                <a:lnTo>
                  <a:pt x="20982" y="58929"/>
                </a:lnTo>
                <a:lnTo>
                  <a:pt x="21875" y="57143"/>
                </a:lnTo>
                <a:lnTo>
                  <a:pt x="25000" y="54018"/>
                </a:lnTo>
                <a:lnTo>
                  <a:pt x="28125" y="52679"/>
                </a:lnTo>
                <a:close/>
                <a:moveTo>
                  <a:pt x="67411" y="52679"/>
                </a:moveTo>
                <a:lnTo>
                  <a:pt x="67857" y="52232"/>
                </a:lnTo>
                <a:lnTo>
                  <a:pt x="72321" y="52232"/>
                </a:lnTo>
                <a:lnTo>
                  <a:pt x="72768" y="52679"/>
                </a:lnTo>
                <a:lnTo>
                  <a:pt x="73214" y="53125"/>
                </a:lnTo>
                <a:lnTo>
                  <a:pt x="74107" y="53125"/>
                </a:lnTo>
                <a:lnTo>
                  <a:pt x="75000" y="53125"/>
                </a:lnTo>
                <a:lnTo>
                  <a:pt x="76786" y="54018"/>
                </a:lnTo>
                <a:lnTo>
                  <a:pt x="79911" y="57143"/>
                </a:lnTo>
                <a:lnTo>
                  <a:pt x="79911" y="58036"/>
                </a:lnTo>
                <a:lnTo>
                  <a:pt x="79911" y="58929"/>
                </a:lnTo>
                <a:lnTo>
                  <a:pt x="80357" y="59375"/>
                </a:lnTo>
                <a:lnTo>
                  <a:pt x="80804" y="59821"/>
                </a:lnTo>
                <a:lnTo>
                  <a:pt x="80804" y="66964"/>
                </a:lnTo>
                <a:lnTo>
                  <a:pt x="80357" y="67411"/>
                </a:lnTo>
                <a:lnTo>
                  <a:pt x="67857" y="67411"/>
                </a:lnTo>
                <a:lnTo>
                  <a:pt x="67411" y="66964"/>
                </a:lnTo>
                <a:lnTo>
                  <a:pt x="67411" y="66071"/>
                </a:lnTo>
                <a:lnTo>
                  <a:pt x="67857" y="65625"/>
                </a:lnTo>
                <a:lnTo>
                  <a:pt x="77679" y="65625"/>
                </a:lnTo>
                <a:lnTo>
                  <a:pt x="79018" y="64286"/>
                </a:lnTo>
                <a:lnTo>
                  <a:pt x="79018" y="60714"/>
                </a:lnTo>
                <a:lnTo>
                  <a:pt x="77232" y="57143"/>
                </a:lnTo>
                <a:lnTo>
                  <a:pt x="75000" y="54911"/>
                </a:lnTo>
                <a:lnTo>
                  <a:pt x="73214" y="54018"/>
                </a:lnTo>
                <a:lnTo>
                  <a:pt x="67857" y="54018"/>
                </a:lnTo>
                <a:lnTo>
                  <a:pt x="67411" y="54464"/>
                </a:lnTo>
                <a:lnTo>
                  <a:pt x="66964" y="54911"/>
                </a:lnTo>
                <a:lnTo>
                  <a:pt x="66518" y="54464"/>
                </a:lnTo>
                <a:lnTo>
                  <a:pt x="66518" y="53571"/>
                </a:lnTo>
                <a:lnTo>
                  <a:pt x="66964" y="53125"/>
                </a:lnTo>
                <a:lnTo>
                  <a:pt x="67411" y="52679"/>
                </a:lnTo>
                <a:close/>
              </a:path>
            </a:pathLst>
          </a:custGeom>
          <a:solidFill>
            <a:srgbClr val="FFFFFF"/>
          </a:solidFill>
          <a:ln>
            <a:noFill/>
          </a:ln>
        </p:spPr>
        <p:txBody>
          <a:bodyPr/>
          <a:p/>
        </p:txBody>
      </p:sp>
      <p:sp>
        <p:nvSpPr>
          <p:cNvPr id="28" name="Shape 25"/>
          <p:cNvSpPr/>
          <p:nvPr/>
        </p:nvSpPr>
        <p:spPr>
          <a:xfrm>
            <a:off x="5385816" y="1874520"/>
            <a:ext cx="502920" cy="502920"/>
          </a:xfrm>
          <a:prstGeom prst="ellipse">
            <a:avLst/>
          </a:prstGeom>
          <a:solidFill>
            <a:srgbClr val="FFFFFF"/>
          </a:solidFill>
          <a:ln w="12700">
            <a:solidFill>
              <a:srgbClr val="FFFFFF">
                <a:alpha val="0"/>
              </a:srgbClr>
            </a:solidFill>
            <a:prstDash val="solid"/>
          </a:ln>
        </p:spPr>
        <p:txBody>
          <a:bodyPr/>
          <a:p/>
        </p:txBody>
      </p:sp>
      <p:sp>
        <p:nvSpPr>
          <p:cNvPr id="29" name="Text 26"/>
          <p:cNvSpPr/>
          <p:nvPr/>
        </p:nvSpPr>
        <p:spPr>
          <a:xfrm>
            <a:off x="5413248" y="1911096"/>
            <a:ext cx="448056" cy="320040"/>
          </a:xfrm>
          <a:prstGeom prst="rect">
            <a:avLst/>
          </a:prstGeom>
          <a:noFill/>
          <a:ln/>
        </p:spPr>
        <p:txBody>
          <a:bodyPr wrap="square" lIns="0" tIns="0" rIns="0" bIns="0" rtlCol="0" anchor="ctr"/>
          <a:lstStyle/>
          <a:p>
            <a:pPr algn="ctr" indent="0" marL="0">
              <a:buNone/>
            </a:pPr>
            <a:r>
              <a:rPr lang="en-US" sz="2500" b="1" dirty="0">
                <a:solidFill>
                  <a:srgbClr val="0F766E"/>
                </a:solidFill>
                <a:latin typeface="Aptos" pitchFamily="34" charset="0"/>
                <a:ea typeface="Segoe UI" pitchFamily="34" charset="-122"/>
                <a:cs typeface="Segoe UI" pitchFamily="34" charset="-120"/>
              </a:rPr>
              <a:t>1</a:t>
            </a:r>
            <a:endParaRPr lang="en-US" sz="2500" dirty="0"/>
          </a:p>
        </p:txBody>
      </p:sp>
      <p:sp>
        <p:nvSpPr>
          <p:cNvPr id="30" name="Text 27"/>
          <p:cNvSpPr/>
          <p:nvPr/>
        </p:nvSpPr>
        <p:spPr>
          <a:xfrm>
            <a:off x="7050024" y="2139696"/>
            <a:ext cx="4608576" cy="393192"/>
          </a:xfrm>
          <a:prstGeom prst="rect">
            <a:avLst/>
          </a:prstGeom>
          <a:noFill/>
          <a:ln/>
        </p:spPr>
        <p:txBody>
          <a:bodyPr wrap="square" lIns="0" tIns="0" rIns="0" bIns="0" rtlCol="0" anchor="ctr"/>
          <a:lstStyle/>
          <a:p>
            <a:pPr indent="0" marL="0">
              <a:buNone/>
            </a:pPr>
            <a:r>
              <a:rPr lang="en-US" sz="2200" b="1" dirty="0">
                <a:solidFill>
                  <a:srgbClr val="17324D"/>
                </a:solidFill>
                <a:latin typeface="Aptos" pitchFamily="34" charset="0"/>
                <a:ea typeface="Segoe UI" pitchFamily="34" charset="-122"/>
                <a:cs typeface="Segoe UI" pitchFamily="34" charset="-120"/>
              </a:rPr>
              <a:t>Identifier des segments distincts</a:t>
            </a:r>
            <a:endParaRPr lang="en-US" sz="2200" dirty="0"/>
          </a:p>
        </p:txBody>
      </p:sp>
      <p:sp>
        <p:nvSpPr>
          <p:cNvPr id="31" name="Text 28"/>
          <p:cNvSpPr/>
          <p:nvPr/>
        </p:nvSpPr>
        <p:spPr>
          <a:xfrm>
            <a:off x="7050024" y="2633472"/>
            <a:ext cx="4617720" cy="320040"/>
          </a:xfrm>
          <a:prstGeom prst="rect">
            <a:avLst/>
          </a:prstGeom>
          <a:noFill/>
          <a:ln/>
        </p:spPr>
        <p:txBody>
          <a:bodyPr wrap="square" lIns="0" tIns="0" rIns="0" bIns="0" rtlCol="0" anchor="ctr"/>
          <a:lstStyle/>
          <a:p>
            <a:pPr indent="0" marL="0">
              <a:buNone/>
            </a:pPr>
            <a:r>
              <a:rPr lang="en-US" sz="1600" dirty="0">
                <a:solidFill>
                  <a:srgbClr val="334155"/>
                </a:solidFill>
                <a:latin typeface="Aptos" pitchFamily="34" charset="0"/>
                <a:ea typeface="Segoe UI" pitchFamily="34" charset="-122"/>
                <a:cs typeface="Segoe UI" pitchFamily="34" charset="-120"/>
              </a:rPr>
              <a:t>Regrouper les clients aux profils comparables.</a:t>
            </a:r>
            <a:endParaRPr lang="en-US" sz="1600" dirty="0"/>
          </a:p>
        </p:txBody>
      </p:sp>
      <p:sp>
        <p:nvSpPr>
          <p:cNvPr id="32" name="Shape 29"/>
          <p:cNvSpPr/>
          <p:nvPr/>
        </p:nvSpPr>
        <p:spPr>
          <a:xfrm>
            <a:off x="5175504" y="3300984"/>
            <a:ext cx="6693408" cy="1472184"/>
          </a:xfrm>
          <a:prstGeom prst="roundRect">
            <a:avLst>
              <a:gd name="adj" fmla="val 8696"/>
            </a:avLst>
          </a:prstGeom>
          <a:solidFill>
            <a:srgbClr val="EFF6FF"/>
          </a:solidFill>
          <a:ln w="12700">
            <a:solidFill>
              <a:srgbClr val="EFF6FF">
                <a:alpha val="0"/>
              </a:srgbClr>
            </a:solidFill>
            <a:prstDash val="solid"/>
          </a:ln>
        </p:spPr>
        <p:txBody>
          <a:bodyPr/>
          <a:p/>
        </p:txBody>
      </p:sp>
      <p:sp>
        <p:nvSpPr>
          <p:cNvPr id="33" name="Shape 30"/>
          <p:cNvSpPr/>
          <p:nvPr/>
        </p:nvSpPr>
        <p:spPr>
          <a:xfrm>
            <a:off x="5431536" y="3621024"/>
            <a:ext cx="1115568" cy="1115568"/>
          </a:xfrm>
          <a:prstGeom prst="ellipse">
            <a:avLst/>
          </a:prstGeom>
          <a:solidFill>
            <a:srgbClr val="1D4ED8"/>
          </a:solidFill>
          <a:ln w="12700">
            <a:solidFill>
              <a:srgbClr val="1D4ED8">
                <a:alpha val="0"/>
              </a:srgbClr>
            </a:solidFill>
            <a:prstDash val="solid"/>
          </a:ln>
        </p:spPr>
        <p:txBody>
          <a:bodyPr/>
          <a:p/>
        </p:txBody>
      </p:sp>
      <p:sp>
        <p:nvSpPr>
          <p:cNvPr id="34" name="VECTOR_bag_17"/>
          <p:cNvSpPr/>
          <p:nvPr/>
        </p:nvSpPr>
        <p:spPr>
          <a:xfrm>
            <a:off x="5431536" y="3621024"/>
            <a:ext cx="1115568" cy="1115568"/>
          </a:xfrm>
          <a:custGeom>
            <a:avLst/>
            <a:gdLst/>
            <a:ahLst/>
            <a:cxnLst/>
            <a:rect l="0" t="0" r="r" b="b"/>
            <a:pathLst>
              <a:path w="100000" h="100000" fill="norm" stroke="false" extrusionOk="false">
                <a:moveTo>
                  <a:pt x="45000" y="24615"/>
                </a:moveTo>
                <a:lnTo>
                  <a:pt x="45385" y="24231"/>
                </a:lnTo>
                <a:lnTo>
                  <a:pt x="51538" y="24231"/>
                </a:lnTo>
                <a:lnTo>
                  <a:pt x="54615" y="25769"/>
                </a:lnTo>
                <a:lnTo>
                  <a:pt x="57308" y="28462"/>
                </a:lnTo>
                <a:lnTo>
                  <a:pt x="58846" y="31538"/>
                </a:lnTo>
                <a:lnTo>
                  <a:pt x="58846" y="37692"/>
                </a:lnTo>
                <a:lnTo>
                  <a:pt x="59231" y="38077"/>
                </a:lnTo>
                <a:lnTo>
                  <a:pt x="66154" y="38077"/>
                </a:lnTo>
                <a:lnTo>
                  <a:pt x="68077" y="40000"/>
                </a:lnTo>
                <a:lnTo>
                  <a:pt x="68077" y="44615"/>
                </a:lnTo>
                <a:lnTo>
                  <a:pt x="68462" y="45000"/>
                </a:lnTo>
                <a:lnTo>
                  <a:pt x="68846" y="45385"/>
                </a:lnTo>
                <a:lnTo>
                  <a:pt x="68846" y="51538"/>
                </a:lnTo>
                <a:lnTo>
                  <a:pt x="69231" y="51923"/>
                </a:lnTo>
                <a:lnTo>
                  <a:pt x="69615" y="52308"/>
                </a:lnTo>
                <a:lnTo>
                  <a:pt x="69615" y="57692"/>
                </a:lnTo>
                <a:lnTo>
                  <a:pt x="70000" y="58077"/>
                </a:lnTo>
                <a:lnTo>
                  <a:pt x="70385" y="58462"/>
                </a:lnTo>
                <a:lnTo>
                  <a:pt x="70385" y="63846"/>
                </a:lnTo>
                <a:lnTo>
                  <a:pt x="70769" y="64231"/>
                </a:lnTo>
                <a:lnTo>
                  <a:pt x="71154" y="64615"/>
                </a:lnTo>
                <a:lnTo>
                  <a:pt x="71154" y="70769"/>
                </a:lnTo>
                <a:lnTo>
                  <a:pt x="71538" y="71154"/>
                </a:lnTo>
                <a:lnTo>
                  <a:pt x="71923" y="71538"/>
                </a:lnTo>
                <a:lnTo>
                  <a:pt x="71923" y="76923"/>
                </a:lnTo>
                <a:lnTo>
                  <a:pt x="70000" y="78077"/>
                </a:lnTo>
                <a:lnTo>
                  <a:pt x="52308" y="78077"/>
                </a:lnTo>
                <a:lnTo>
                  <a:pt x="26923" y="78077"/>
                </a:lnTo>
                <a:lnTo>
                  <a:pt x="25000" y="76154"/>
                </a:lnTo>
                <a:lnTo>
                  <a:pt x="25000" y="73846"/>
                </a:lnTo>
                <a:lnTo>
                  <a:pt x="25385" y="73462"/>
                </a:lnTo>
                <a:lnTo>
                  <a:pt x="25769" y="73077"/>
                </a:lnTo>
                <a:lnTo>
                  <a:pt x="25769" y="67692"/>
                </a:lnTo>
                <a:lnTo>
                  <a:pt x="26154" y="67308"/>
                </a:lnTo>
                <a:lnTo>
                  <a:pt x="26538" y="66923"/>
                </a:lnTo>
                <a:lnTo>
                  <a:pt x="26538" y="62308"/>
                </a:lnTo>
                <a:lnTo>
                  <a:pt x="26923" y="61923"/>
                </a:lnTo>
                <a:lnTo>
                  <a:pt x="27308" y="61538"/>
                </a:lnTo>
                <a:lnTo>
                  <a:pt x="27308" y="56154"/>
                </a:lnTo>
                <a:lnTo>
                  <a:pt x="27692" y="55769"/>
                </a:lnTo>
                <a:lnTo>
                  <a:pt x="28077" y="55385"/>
                </a:lnTo>
                <a:lnTo>
                  <a:pt x="28077" y="49231"/>
                </a:lnTo>
                <a:lnTo>
                  <a:pt x="28462" y="48846"/>
                </a:lnTo>
                <a:lnTo>
                  <a:pt x="28846" y="48462"/>
                </a:lnTo>
                <a:lnTo>
                  <a:pt x="28846" y="43846"/>
                </a:lnTo>
                <a:lnTo>
                  <a:pt x="29231" y="43462"/>
                </a:lnTo>
                <a:lnTo>
                  <a:pt x="29615" y="43077"/>
                </a:lnTo>
                <a:lnTo>
                  <a:pt x="29615" y="39231"/>
                </a:lnTo>
                <a:lnTo>
                  <a:pt x="30769" y="38077"/>
                </a:lnTo>
                <a:lnTo>
                  <a:pt x="37692" y="38077"/>
                </a:lnTo>
                <a:lnTo>
                  <a:pt x="38077" y="37692"/>
                </a:lnTo>
                <a:lnTo>
                  <a:pt x="38077" y="32308"/>
                </a:lnTo>
                <a:lnTo>
                  <a:pt x="38462" y="31923"/>
                </a:lnTo>
                <a:lnTo>
                  <a:pt x="38846" y="31538"/>
                </a:lnTo>
                <a:lnTo>
                  <a:pt x="38846" y="30769"/>
                </a:lnTo>
                <a:lnTo>
                  <a:pt x="38846" y="30000"/>
                </a:lnTo>
                <a:lnTo>
                  <a:pt x="39615" y="28462"/>
                </a:lnTo>
                <a:lnTo>
                  <a:pt x="42308" y="25769"/>
                </a:lnTo>
                <a:lnTo>
                  <a:pt x="45000" y="24615"/>
                </a:lnTo>
                <a:close/>
                <a:moveTo>
                  <a:pt x="46154" y="26538"/>
                </a:moveTo>
                <a:lnTo>
                  <a:pt x="44615" y="27308"/>
                </a:lnTo>
                <a:lnTo>
                  <a:pt x="41923" y="30000"/>
                </a:lnTo>
                <a:lnTo>
                  <a:pt x="41154" y="31538"/>
                </a:lnTo>
                <a:lnTo>
                  <a:pt x="41154" y="37692"/>
                </a:lnTo>
                <a:lnTo>
                  <a:pt x="41538" y="38077"/>
                </a:lnTo>
                <a:lnTo>
                  <a:pt x="51538" y="38077"/>
                </a:lnTo>
                <a:lnTo>
                  <a:pt x="56154" y="38077"/>
                </a:lnTo>
                <a:lnTo>
                  <a:pt x="56538" y="37692"/>
                </a:lnTo>
                <a:lnTo>
                  <a:pt x="56538" y="33077"/>
                </a:lnTo>
                <a:lnTo>
                  <a:pt x="56154" y="32692"/>
                </a:lnTo>
                <a:lnTo>
                  <a:pt x="55769" y="32308"/>
                </a:lnTo>
                <a:lnTo>
                  <a:pt x="55769" y="31538"/>
                </a:lnTo>
                <a:lnTo>
                  <a:pt x="55769" y="30769"/>
                </a:lnTo>
                <a:lnTo>
                  <a:pt x="52308" y="27308"/>
                </a:lnTo>
                <a:lnTo>
                  <a:pt x="51538" y="27308"/>
                </a:lnTo>
                <a:lnTo>
                  <a:pt x="50769" y="27308"/>
                </a:lnTo>
                <a:lnTo>
                  <a:pt x="50385" y="26923"/>
                </a:lnTo>
                <a:lnTo>
                  <a:pt x="50000" y="26538"/>
                </a:lnTo>
                <a:lnTo>
                  <a:pt x="46154" y="26538"/>
                </a:lnTo>
                <a:close/>
                <a:moveTo>
                  <a:pt x="33077" y="41154"/>
                </a:moveTo>
                <a:lnTo>
                  <a:pt x="31923" y="42308"/>
                </a:lnTo>
                <a:lnTo>
                  <a:pt x="31923" y="45385"/>
                </a:lnTo>
                <a:lnTo>
                  <a:pt x="31538" y="45769"/>
                </a:lnTo>
                <a:lnTo>
                  <a:pt x="31154" y="46154"/>
                </a:lnTo>
                <a:lnTo>
                  <a:pt x="31154" y="51538"/>
                </a:lnTo>
                <a:lnTo>
                  <a:pt x="30769" y="51923"/>
                </a:lnTo>
                <a:lnTo>
                  <a:pt x="30385" y="52308"/>
                </a:lnTo>
                <a:lnTo>
                  <a:pt x="30385" y="56923"/>
                </a:lnTo>
                <a:lnTo>
                  <a:pt x="30000" y="57308"/>
                </a:lnTo>
                <a:lnTo>
                  <a:pt x="29615" y="57692"/>
                </a:lnTo>
                <a:lnTo>
                  <a:pt x="29615" y="63077"/>
                </a:lnTo>
                <a:lnTo>
                  <a:pt x="29231" y="63462"/>
                </a:lnTo>
                <a:lnTo>
                  <a:pt x="28846" y="63846"/>
                </a:lnTo>
                <a:lnTo>
                  <a:pt x="28846" y="69231"/>
                </a:lnTo>
                <a:lnTo>
                  <a:pt x="28462" y="69615"/>
                </a:lnTo>
                <a:lnTo>
                  <a:pt x="28077" y="70000"/>
                </a:lnTo>
                <a:lnTo>
                  <a:pt x="28077" y="74615"/>
                </a:lnTo>
                <a:lnTo>
                  <a:pt x="29231" y="75769"/>
                </a:lnTo>
                <a:lnTo>
                  <a:pt x="63077" y="75769"/>
                </a:lnTo>
                <a:lnTo>
                  <a:pt x="63462" y="75385"/>
                </a:lnTo>
                <a:lnTo>
                  <a:pt x="63846" y="75000"/>
                </a:lnTo>
                <a:lnTo>
                  <a:pt x="66923" y="75000"/>
                </a:lnTo>
                <a:lnTo>
                  <a:pt x="67308" y="75385"/>
                </a:lnTo>
                <a:lnTo>
                  <a:pt x="67692" y="75769"/>
                </a:lnTo>
                <a:lnTo>
                  <a:pt x="68846" y="74615"/>
                </a:lnTo>
                <a:lnTo>
                  <a:pt x="68846" y="73846"/>
                </a:lnTo>
                <a:lnTo>
                  <a:pt x="68846" y="68462"/>
                </a:lnTo>
                <a:lnTo>
                  <a:pt x="68462" y="68077"/>
                </a:lnTo>
                <a:lnTo>
                  <a:pt x="68077" y="67692"/>
                </a:lnTo>
                <a:lnTo>
                  <a:pt x="68077" y="61538"/>
                </a:lnTo>
                <a:lnTo>
                  <a:pt x="67692" y="61154"/>
                </a:lnTo>
                <a:lnTo>
                  <a:pt x="67308" y="60769"/>
                </a:lnTo>
                <a:lnTo>
                  <a:pt x="67308" y="55385"/>
                </a:lnTo>
                <a:lnTo>
                  <a:pt x="66923" y="55000"/>
                </a:lnTo>
                <a:lnTo>
                  <a:pt x="66538" y="54615"/>
                </a:lnTo>
                <a:lnTo>
                  <a:pt x="66538" y="49231"/>
                </a:lnTo>
                <a:lnTo>
                  <a:pt x="66154" y="48846"/>
                </a:lnTo>
                <a:lnTo>
                  <a:pt x="65769" y="48462"/>
                </a:lnTo>
                <a:lnTo>
                  <a:pt x="65769" y="43077"/>
                </a:lnTo>
                <a:lnTo>
                  <a:pt x="64615" y="41154"/>
                </a:lnTo>
                <a:lnTo>
                  <a:pt x="59231" y="41154"/>
                </a:lnTo>
                <a:lnTo>
                  <a:pt x="58846" y="43846"/>
                </a:lnTo>
                <a:lnTo>
                  <a:pt x="57692" y="45000"/>
                </a:lnTo>
                <a:lnTo>
                  <a:pt x="56538" y="43846"/>
                </a:lnTo>
                <a:lnTo>
                  <a:pt x="56154" y="41154"/>
                </a:lnTo>
                <a:lnTo>
                  <a:pt x="41538" y="41154"/>
                </a:lnTo>
                <a:lnTo>
                  <a:pt x="41154" y="43846"/>
                </a:lnTo>
                <a:lnTo>
                  <a:pt x="40000" y="45000"/>
                </a:lnTo>
                <a:lnTo>
                  <a:pt x="39231" y="45000"/>
                </a:lnTo>
                <a:lnTo>
                  <a:pt x="38077" y="43846"/>
                </a:lnTo>
                <a:lnTo>
                  <a:pt x="37692" y="41154"/>
                </a:lnTo>
                <a:lnTo>
                  <a:pt x="33077" y="41154"/>
                </a:lnTo>
                <a:close/>
              </a:path>
            </a:pathLst>
          </a:custGeom>
          <a:solidFill>
            <a:srgbClr val="FFFFFF"/>
          </a:solidFill>
          <a:ln>
            <a:noFill/>
          </a:ln>
        </p:spPr>
        <p:txBody>
          <a:bodyPr/>
          <a:p/>
        </p:txBody>
      </p:sp>
      <p:sp>
        <p:nvSpPr>
          <p:cNvPr id="35" name="Shape 32"/>
          <p:cNvSpPr/>
          <p:nvPr/>
        </p:nvSpPr>
        <p:spPr>
          <a:xfrm>
            <a:off x="5385816" y="3447288"/>
            <a:ext cx="502920" cy="502920"/>
          </a:xfrm>
          <a:prstGeom prst="ellipse">
            <a:avLst/>
          </a:prstGeom>
          <a:solidFill>
            <a:srgbClr val="FFFFFF"/>
          </a:solidFill>
          <a:ln w="12700">
            <a:solidFill>
              <a:srgbClr val="FFFFFF">
                <a:alpha val="0"/>
              </a:srgbClr>
            </a:solidFill>
            <a:prstDash val="solid"/>
          </a:ln>
        </p:spPr>
        <p:txBody>
          <a:bodyPr/>
          <a:p/>
        </p:txBody>
      </p:sp>
      <p:sp>
        <p:nvSpPr>
          <p:cNvPr id="36" name="Text 33"/>
          <p:cNvSpPr/>
          <p:nvPr/>
        </p:nvSpPr>
        <p:spPr>
          <a:xfrm>
            <a:off x="5413248" y="3483864"/>
            <a:ext cx="448056" cy="320040"/>
          </a:xfrm>
          <a:prstGeom prst="rect">
            <a:avLst/>
          </a:prstGeom>
          <a:noFill/>
          <a:ln/>
        </p:spPr>
        <p:txBody>
          <a:bodyPr wrap="square" lIns="0" tIns="0" rIns="0" bIns="0" rtlCol="0" anchor="ctr"/>
          <a:lstStyle/>
          <a:p>
            <a:pPr algn="ctr" indent="0" marL="0">
              <a:buNone/>
            </a:pPr>
            <a:r>
              <a:rPr lang="en-US" sz="2500" b="1" dirty="0">
                <a:solidFill>
                  <a:srgbClr val="1D4ED8"/>
                </a:solidFill>
                <a:latin typeface="Aptos" pitchFamily="34" charset="0"/>
                <a:ea typeface="Segoe UI" pitchFamily="34" charset="-122"/>
                <a:cs typeface="Segoe UI" pitchFamily="34" charset="-120"/>
              </a:rPr>
              <a:t>2</a:t>
            </a:r>
            <a:endParaRPr lang="en-US" sz="2500" dirty="0"/>
          </a:p>
        </p:txBody>
      </p:sp>
      <p:sp>
        <p:nvSpPr>
          <p:cNvPr id="37" name="Text 34"/>
          <p:cNvSpPr/>
          <p:nvPr/>
        </p:nvSpPr>
        <p:spPr>
          <a:xfrm>
            <a:off x="7050024" y="3712464"/>
            <a:ext cx="4608576" cy="393192"/>
          </a:xfrm>
          <a:prstGeom prst="rect">
            <a:avLst/>
          </a:prstGeom>
          <a:noFill/>
          <a:ln/>
        </p:spPr>
        <p:txBody>
          <a:bodyPr wrap="square" lIns="0" tIns="0" rIns="0" bIns="0" rtlCol="0" anchor="ctr"/>
          <a:lstStyle/>
          <a:p>
            <a:pPr indent="0" marL="0">
              <a:buNone/>
            </a:pPr>
            <a:r>
              <a:rPr lang="en-US" sz="2200" b="1" dirty="0">
                <a:solidFill>
                  <a:srgbClr val="17324D"/>
                </a:solidFill>
                <a:latin typeface="Aptos" pitchFamily="34" charset="0"/>
                <a:ea typeface="Segoe UI" pitchFamily="34" charset="-122"/>
                <a:cs typeface="Segoe UI" pitchFamily="34" charset="-120"/>
              </a:rPr>
              <a:t>Adapter les produits et services</a:t>
            </a:r>
            <a:endParaRPr lang="en-US" sz="2200" dirty="0"/>
          </a:p>
        </p:txBody>
      </p:sp>
      <p:sp>
        <p:nvSpPr>
          <p:cNvPr id="38" name="Text 35"/>
          <p:cNvSpPr/>
          <p:nvPr/>
        </p:nvSpPr>
        <p:spPr>
          <a:xfrm>
            <a:off x="7050024" y="4206240"/>
            <a:ext cx="4617720" cy="320040"/>
          </a:xfrm>
          <a:prstGeom prst="rect">
            <a:avLst/>
          </a:prstGeom>
          <a:noFill/>
          <a:ln/>
        </p:spPr>
        <p:txBody>
          <a:bodyPr wrap="square" lIns="0" tIns="0" rIns="0" bIns="0" rtlCol="0" anchor="ctr"/>
          <a:lstStyle/>
          <a:p>
            <a:pPr indent="0" marL="0">
              <a:buNone/>
            </a:pPr>
            <a:r>
              <a:rPr lang="en-US" sz="1600" dirty="0">
                <a:solidFill>
                  <a:srgbClr val="334155"/>
                </a:solidFill>
                <a:latin typeface="Aptos" pitchFamily="34" charset="0"/>
                <a:ea typeface="Segoe UI" pitchFamily="34" charset="-122"/>
                <a:cs typeface="Segoe UI" pitchFamily="34" charset="-120"/>
              </a:rPr>
              <a:t>Différencier l’offre selon les besoins.</a:t>
            </a:r>
            <a:endParaRPr lang="en-US" sz="1600" dirty="0"/>
          </a:p>
        </p:txBody>
      </p:sp>
      <p:sp>
        <p:nvSpPr>
          <p:cNvPr id="39" name="Shape 36"/>
          <p:cNvSpPr/>
          <p:nvPr/>
        </p:nvSpPr>
        <p:spPr>
          <a:xfrm>
            <a:off x="5175504" y="4873752"/>
            <a:ext cx="6693408" cy="1472184"/>
          </a:xfrm>
          <a:prstGeom prst="roundRect">
            <a:avLst>
              <a:gd name="adj" fmla="val 8696"/>
            </a:avLst>
          </a:prstGeom>
          <a:solidFill>
            <a:srgbClr val="F3F4F6"/>
          </a:solidFill>
          <a:ln w="12700">
            <a:solidFill>
              <a:srgbClr val="F3F4F6">
                <a:alpha val="0"/>
              </a:srgbClr>
            </a:solidFill>
            <a:prstDash val="solid"/>
          </a:ln>
        </p:spPr>
        <p:txBody>
          <a:bodyPr/>
          <a:p/>
        </p:txBody>
      </p:sp>
      <p:sp>
        <p:nvSpPr>
          <p:cNvPr id="40" name="Shape 37"/>
          <p:cNvSpPr/>
          <p:nvPr/>
        </p:nvSpPr>
        <p:spPr>
          <a:xfrm>
            <a:off x="5431536" y="5193792"/>
            <a:ext cx="1115568" cy="1115568"/>
          </a:xfrm>
          <a:prstGeom prst="ellipse">
            <a:avLst/>
          </a:prstGeom>
          <a:solidFill>
            <a:srgbClr val="6D28D9"/>
          </a:solidFill>
          <a:ln w="12700">
            <a:solidFill>
              <a:srgbClr val="6D28D9">
                <a:alpha val="0"/>
              </a:srgbClr>
            </a:solidFill>
            <a:prstDash val="solid"/>
          </a:ln>
        </p:spPr>
        <p:txBody>
          <a:bodyPr/>
          <a:p/>
        </p:txBody>
      </p:sp>
      <p:sp>
        <p:nvSpPr>
          <p:cNvPr id="41" name="VECTOR_target2_18"/>
          <p:cNvSpPr/>
          <p:nvPr/>
        </p:nvSpPr>
        <p:spPr>
          <a:xfrm>
            <a:off x="5431536" y="5193792"/>
            <a:ext cx="1115568" cy="1115568"/>
          </a:xfrm>
          <a:custGeom>
            <a:avLst/>
            <a:gdLst/>
            <a:ahLst/>
            <a:cxnLst/>
            <a:rect l="0" t="0" r="r" b="b"/>
            <a:pathLst>
              <a:path w="100000" h="100000" fill="norm" stroke="false" extrusionOk="false">
                <a:moveTo>
                  <a:pt x="71875" y="19643"/>
                </a:moveTo>
                <a:lnTo>
                  <a:pt x="72321" y="19196"/>
                </a:lnTo>
                <a:lnTo>
                  <a:pt x="72768" y="19643"/>
                </a:lnTo>
                <a:lnTo>
                  <a:pt x="72768" y="24107"/>
                </a:lnTo>
                <a:lnTo>
                  <a:pt x="73214" y="24554"/>
                </a:lnTo>
                <a:lnTo>
                  <a:pt x="73661" y="25000"/>
                </a:lnTo>
                <a:lnTo>
                  <a:pt x="73661" y="25893"/>
                </a:lnTo>
                <a:lnTo>
                  <a:pt x="73661" y="26786"/>
                </a:lnTo>
                <a:lnTo>
                  <a:pt x="75000" y="28125"/>
                </a:lnTo>
                <a:lnTo>
                  <a:pt x="80357" y="28125"/>
                </a:lnTo>
                <a:lnTo>
                  <a:pt x="80804" y="28571"/>
                </a:lnTo>
                <a:lnTo>
                  <a:pt x="72321" y="37054"/>
                </a:lnTo>
                <a:lnTo>
                  <a:pt x="71875" y="36607"/>
                </a:lnTo>
                <a:lnTo>
                  <a:pt x="71429" y="36161"/>
                </a:lnTo>
                <a:lnTo>
                  <a:pt x="68750" y="36161"/>
                </a:lnTo>
                <a:lnTo>
                  <a:pt x="66964" y="35268"/>
                </a:lnTo>
                <a:lnTo>
                  <a:pt x="57589" y="44643"/>
                </a:lnTo>
                <a:lnTo>
                  <a:pt x="54464" y="48661"/>
                </a:lnTo>
                <a:lnTo>
                  <a:pt x="52679" y="49554"/>
                </a:lnTo>
                <a:lnTo>
                  <a:pt x="51339" y="48214"/>
                </a:lnTo>
                <a:lnTo>
                  <a:pt x="64732" y="34821"/>
                </a:lnTo>
                <a:lnTo>
                  <a:pt x="64732" y="26786"/>
                </a:lnTo>
                <a:lnTo>
                  <a:pt x="71875" y="19643"/>
                </a:lnTo>
                <a:close/>
                <a:moveTo>
                  <a:pt x="70536" y="23661"/>
                </a:moveTo>
                <a:lnTo>
                  <a:pt x="66518" y="27679"/>
                </a:lnTo>
                <a:lnTo>
                  <a:pt x="66518" y="33036"/>
                </a:lnTo>
                <a:lnTo>
                  <a:pt x="67857" y="34375"/>
                </a:lnTo>
                <a:lnTo>
                  <a:pt x="72321" y="34375"/>
                </a:lnTo>
                <a:lnTo>
                  <a:pt x="75000" y="31696"/>
                </a:lnTo>
                <a:lnTo>
                  <a:pt x="75893" y="31696"/>
                </a:lnTo>
                <a:lnTo>
                  <a:pt x="76339" y="31250"/>
                </a:lnTo>
                <a:lnTo>
                  <a:pt x="76339" y="30357"/>
                </a:lnTo>
                <a:lnTo>
                  <a:pt x="76339" y="29464"/>
                </a:lnTo>
                <a:lnTo>
                  <a:pt x="72321" y="29018"/>
                </a:lnTo>
                <a:lnTo>
                  <a:pt x="71875" y="28571"/>
                </a:lnTo>
                <a:lnTo>
                  <a:pt x="71875" y="24107"/>
                </a:lnTo>
                <a:lnTo>
                  <a:pt x="71429" y="23661"/>
                </a:lnTo>
                <a:lnTo>
                  <a:pt x="70536" y="23661"/>
                </a:lnTo>
                <a:close/>
                <a:moveTo>
                  <a:pt x="45982" y="27679"/>
                </a:moveTo>
                <a:lnTo>
                  <a:pt x="46429" y="27232"/>
                </a:lnTo>
                <a:lnTo>
                  <a:pt x="51786" y="27232"/>
                </a:lnTo>
                <a:lnTo>
                  <a:pt x="52232" y="27679"/>
                </a:lnTo>
                <a:lnTo>
                  <a:pt x="52679" y="28125"/>
                </a:lnTo>
                <a:lnTo>
                  <a:pt x="55357" y="28125"/>
                </a:lnTo>
                <a:lnTo>
                  <a:pt x="55804" y="28571"/>
                </a:lnTo>
                <a:lnTo>
                  <a:pt x="56250" y="29018"/>
                </a:lnTo>
                <a:lnTo>
                  <a:pt x="57143" y="29018"/>
                </a:lnTo>
                <a:lnTo>
                  <a:pt x="58036" y="29018"/>
                </a:lnTo>
                <a:lnTo>
                  <a:pt x="59821" y="29911"/>
                </a:lnTo>
                <a:lnTo>
                  <a:pt x="60268" y="30357"/>
                </a:lnTo>
                <a:lnTo>
                  <a:pt x="60268" y="31250"/>
                </a:lnTo>
                <a:lnTo>
                  <a:pt x="59821" y="31696"/>
                </a:lnTo>
                <a:lnTo>
                  <a:pt x="58929" y="31696"/>
                </a:lnTo>
                <a:lnTo>
                  <a:pt x="56250" y="29911"/>
                </a:lnTo>
                <a:lnTo>
                  <a:pt x="52679" y="29911"/>
                </a:lnTo>
                <a:lnTo>
                  <a:pt x="52232" y="29464"/>
                </a:lnTo>
                <a:lnTo>
                  <a:pt x="51786" y="29018"/>
                </a:lnTo>
                <a:lnTo>
                  <a:pt x="47321" y="29018"/>
                </a:lnTo>
                <a:lnTo>
                  <a:pt x="46875" y="29464"/>
                </a:lnTo>
                <a:lnTo>
                  <a:pt x="46429" y="29911"/>
                </a:lnTo>
                <a:lnTo>
                  <a:pt x="43750" y="29911"/>
                </a:lnTo>
                <a:lnTo>
                  <a:pt x="43304" y="30357"/>
                </a:lnTo>
                <a:lnTo>
                  <a:pt x="42857" y="30804"/>
                </a:lnTo>
                <a:lnTo>
                  <a:pt x="41964" y="30804"/>
                </a:lnTo>
                <a:lnTo>
                  <a:pt x="41071" y="30804"/>
                </a:lnTo>
                <a:lnTo>
                  <a:pt x="37500" y="32589"/>
                </a:lnTo>
                <a:lnTo>
                  <a:pt x="30804" y="39286"/>
                </a:lnTo>
                <a:lnTo>
                  <a:pt x="29018" y="42857"/>
                </a:lnTo>
                <a:lnTo>
                  <a:pt x="29018" y="43750"/>
                </a:lnTo>
                <a:lnTo>
                  <a:pt x="29018" y="44643"/>
                </a:lnTo>
                <a:lnTo>
                  <a:pt x="28571" y="45089"/>
                </a:lnTo>
                <a:lnTo>
                  <a:pt x="28125" y="45536"/>
                </a:lnTo>
                <a:lnTo>
                  <a:pt x="28125" y="54464"/>
                </a:lnTo>
                <a:lnTo>
                  <a:pt x="28571" y="54911"/>
                </a:lnTo>
                <a:lnTo>
                  <a:pt x="29018" y="55357"/>
                </a:lnTo>
                <a:lnTo>
                  <a:pt x="29018" y="58036"/>
                </a:lnTo>
                <a:lnTo>
                  <a:pt x="31696" y="63393"/>
                </a:lnTo>
                <a:lnTo>
                  <a:pt x="37500" y="69196"/>
                </a:lnTo>
                <a:lnTo>
                  <a:pt x="44643" y="72768"/>
                </a:lnTo>
                <a:lnTo>
                  <a:pt x="53571" y="72768"/>
                </a:lnTo>
                <a:lnTo>
                  <a:pt x="54018" y="72321"/>
                </a:lnTo>
                <a:lnTo>
                  <a:pt x="54464" y="71875"/>
                </a:lnTo>
                <a:lnTo>
                  <a:pt x="57143" y="71875"/>
                </a:lnTo>
                <a:lnTo>
                  <a:pt x="62500" y="69196"/>
                </a:lnTo>
                <a:lnTo>
                  <a:pt x="67411" y="64286"/>
                </a:lnTo>
                <a:lnTo>
                  <a:pt x="67411" y="63393"/>
                </a:lnTo>
                <a:lnTo>
                  <a:pt x="70089" y="59821"/>
                </a:lnTo>
                <a:lnTo>
                  <a:pt x="70089" y="58929"/>
                </a:lnTo>
                <a:lnTo>
                  <a:pt x="70089" y="58036"/>
                </a:lnTo>
                <a:lnTo>
                  <a:pt x="71875" y="54464"/>
                </a:lnTo>
                <a:lnTo>
                  <a:pt x="71875" y="50000"/>
                </a:lnTo>
                <a:lnTo>
                  <a:pt x="71429" y="49554"/>
                </a:lnTo>
                <a:lnTo>
                  <a:pt x="70982" y="49107"/>
                </a:lnTo>
                <a:lnTo>
                  <a:pt x="70982" y="45536"/>
                </a:lnTo>
                <a:lnTo>
                  <a:pt x="68304" y="41071"/>
                </a:lnTo>
                <a:lnTo>
                  <a:pt x="69643" y="39732"/>
                </a:lnTo>
                <a:lnTo>
                  <a:pt x="71875" y="41964"/>
                </a:lnTo>
                <a:lnTo>
                  <a:pt x="71875" y="42857"/>
                </a:lnTo>
                <a:lnTo>
                  <a:pt x="71875" y="43750"/>
                </a:lnTo>
                <a:lnTo>
                  <a:pt x="72321" y="44196"/>
                </a:lnTo>
                <a:lnTo>
                  <a:pt x="72768" y="44643"/>
                </a:lnTo>
                <a:lnTo>
                  <a:pt x="72768" y="47321"/>
                </a:lnTo>
                <a:lnTo>
                  <a:pt x="73214" y="47768"/>
                </a:lnTo>
                <a:lnTo>
                  <a:pt x="73661" y="48214"/>
                </a:lnTo>
                <a:lnTo>
                  <a:pt x="73661" y="54464"/>
                </a:lnTo>
                <a:lnTo>
                  <a:pt x="73214" y="54911"/>
                </a:lnTo>
                <a:lnTo>
                  <a:pt x="72768" y="55357"/>
                </a:lnTo>
                <a:lnTo>
                  <a:pt x="72768" y="58036"/>
                </a:lnTo>
                <a:lnTo>
                  <a:pt x="72321" y="58482"/>
                </a:lnTo>
                <a:lnTo>
                  <a:pt x="71875" y="58929"/>
                </a:lnTo>
                <a:lnTo>
                  <a:pt x="71875" y="59821"/>
                </a:lnTo>
                <a:lnTo>
                  <a:pt x="71875" y="60714"/>
                </a:lnTo>
                <a:lnTo>
                  <a:pt x="69196" y="64286"/>
                </a:lnTo>
                <a:lnTo>
                  <a:pt x="69196" y="65179"/>
                </a:lnTo>
                <a:lnTo>
                  <a:pt x="64286" y="70089"/>
                </a:lnTo>
                <a:lnTo>
                  <a:pt x="63393" y="70089"/>
                </a:lnTo>
                <a:lnTo>
                  <a:pt x="61607" y="71875"/>
                </a:lnTo>
                <a:lnTo>
                  <a:pt x="58036" y="73661"/>
                </a:lnTo>
                <a:lnTo>
                  <a:pt x="57143" y="73661"/>
                </a:lnTo>
                <a:lnTo>
                  <a:pt x="56250" y="73661"/>
                </a:lnTo>
                <a:lnTo>
                  <a:pt x="55804" y="74107"/>
                </a:lnTo>
                <a:lnTo>
                  <a:pt x="55357" y="74554"/>
                </a:lnTo>
                <a:lnTo>
                  <a:pt x="44643" y="74554"/>
                </a:lnTo>
                <a:lnTo>
                  <a:pt x="44196" y="74107"/>
                </a:lnTo>
                <a:lnTo>
                  <a:pt x="43750" y="73661"/>
                </a:lnTo>
                <a:lnTo>
                  <a:pt x="39286" y="72768"/>
                </a:lnTo>
                <a:lnTo>
                  <a:pt x="37500" y="70982"/>
                </a:lnTo>
                <a:lnTo>
                  <a:pt x="33929" y="69196"/>
                </a:lnTo>
                <a:lnTo>
                  <a:pt x="29018" y="63393"/>
                </a:lnTo>
                <a:lnTo>
                  <a:pt x="27232" y="59821"/>
                </a:lnTo>
                <a:lnTo>
                  <a:pt x="27232" y="57143"/>
                </a:lnTo>
                <a:lnTo>
                  <a:pt x="26786" y="56696"/>
                </a:lnTo>
                <a:lnTo>
                  <a:pt x="26339" y="56250"/>
                </a:lnTo>
                <a:lnTo>
                  <a:pt x="26339" y="44643"/>
                </a:lnTo>
                <a:lnTo>
                  <a:pt x="26786" y="44196"/>
                </a:lnTo>
                <a:lnTo>
                  <a:pt x="27232" y="43750"/>
                </a:lnTo>
                <a:lnTo>
                  <a:pt x="27232" y="42857"/>
                </a:lnTo>
                <a:lnTo>
                  <a:pt x="27232" y="41964"/>
                </a:lnTo>
                <a:lnTo>
                  <a:pt x="29018" y="38393"/>
                </a:lnTo>
                <a:lnTo>
                  <a:pt x="30804" y="36607"/>
                </a:lnTo>
                <a:lnTo>
                  <a:pt x="30804" y="35714"/>
                </a:lnTo>
                <a:lnTo>
                  <a:pt x="34821" y="31696"/>
                </a:lnTo>
                <a:lnTo>
                  <a:pt x="41964" y="28125"/>
                </a:lnTo>
                <a:lnTo>
                  <a:pt x="45982" y="27679"/>
                </a:lnTo>
                <a:close/>
                <a:moveTo>
                  <a:pt x="45089" y="37500"/>
                </a:moveTo>
                <a:lnTo>
                  <a:pt x="45536" y="37054"/>
                </a:lnTo>
                <a:lnTo>
                  <a:pt x="52679" y="37054"/>
                </a:lnTo>
                <a:lnTo>
                  <a:pt x="54464" y="37946"/>
                </a:lnTo>
                <a:lnTo>
                  <a:pt x="54911" y="38393"/>
                </a:lnTo>
                <a:lnTo>
                  <a:pt x="54911" y="39286"/>
                </a:lnTo>
                <a:lnTo>
                  <a:pt x="51786" y="39732"/>
                </a:lnTo>
                <a:lnTo>
                  <a:pt x="51339" y="39286"/>
                </a:lnTo>
                <a:lnTo>
                  <a:pt x="50893" y="38839"/>
                </a:lnTo>
                <a:lnTo>
                  <a:pt x="45536" y="38839"/>
                </a:lnTo>
                <a:lnTo>
                  <a:pt x="43750" y="39732"/>
                </a:lnTo>
                <a:lnTo>
                  <a:pt x="38839" y="44643"/>
                </a:lnTo>
                <a:lnTo>
                  <a:pt x="37946" y="46429"/>
                </a:lnTo>
                <a:lnTo>
                  <a:pt x="37946" y="49107"/>
                </a:lnTo>
                <a:lnTo>
                  <a:pt x="37054" y="50893"/>
                </a:lnTo>
                <a:lnTo>
                  <a:pt x="37500" y="51339"/>
                </a:lnTo>
                <a:lnTo>
                  <a:pt x="37946" y="51786"/>
                </a:lnTo>
                <a:lnTo>
                  <a:pt x="37946" y="54464"/>
                </a:lnTo>
                <a:lnTo>
                  <a:pt x="38393" y="54911"/>
                </a:lnTo>
                <a:lnTo>
                  <a:pt x="38839" y="55357"/>
                </a:lnTo>
                <a:lnTo>
                  <a:pt x="38839" y="56250"/>
                </a:lnTo>
                <a:lnTo>
                  <a:pt x="38839" y="57143"/>
                </a:lnTo>
                <a:lnTo>
                  <a:pt x="44643" y="62946"/>
                </a:lnTo>
                <a:lnTo>
                  <a:pt x="45536" y="62946"/>
                </a:lnTo>
                <a:lnTo>
                  <a:pt x="46429" y="62946"/>
                </a:lnTo>
                <a:lnTo>
                  <a:pt x="46875" y="63393"/>
                </a:lnTo>
                <a:lnTo>
                  <a:pt x="47321" y="63839"/>
                </a:lnTo>
                <a:lnTo>
                  <a:pt x="51786" y="63839"/>
                </a:lnTo>
                <a:lnTo>
                  <a:pt x="52232" y="63393"/>
                </a:lnTo>
                <a:lnTo>
                  <a:pt x="52679" y="62946"/>
                </a:lnTo>
                <a:lnTo>
                  <a:pt x="53571" y="62946"/>
                </a:lnTo>
                <a:lnTo>
                  <a:pt x="54464" y="62946"/>
                </a:lnTo>
                <a:lnTo>
                  <a:pt x="56250" y="62054"/>
                </a:lnTo>
                <a:lnTo>
                  <a:pt x="60268" y="58036"/>
                </a:lnTo>
                <a:lnTo>
                  <a:pt x="62054" y="54464"/>
                </a:lnTo>
                <a:lnTo>
                  <a:pt x="62054" y="50000"/>
                </a:lnTo>
                <a:lnTo>
                  <a:pt x="61161" y="48214"/>
                </a:lnTo>
                <a:lnTo>
                  <a:pt x="61161" y="47321"/>
                </a:lnTo>
                <a:lnTo>
                  <a:pt x="61161" y="46429"/>
                </a:lnTo>
                <a:lnTo>
                  <a:pt x="62500" y="45089"/>
                </a:lnTo>
                <a:lnTo>
                  <a:pt x="63839" y="47321"/>
                </a:lnTo>
                <a:lnTo>
                  <a:pt x="63839" y="55357"/>
                </a:lnTo>
                <a:lnTo>
                  <a:pt x="62054" y="58929"/>
                </a:lnTo>
                <a:lnTo>
                  <a:pt x="58036" y="62946"/>
                </a:lnTo>
                <a:lnTo>
                  <a:pt x="54464" y="64732"/>
                </a:lnTo>
                <a:lnTo>
                  <a:pt x="48214" y="65625"/>
                </a:lnTo>
                <a:lnTo>
                  <a:pt x="47768" y="65179"/>
                </a:lnTo>
                <a:lnTo>
                  <a:pt x="47321" y="64732"/>
                </a:lnTo>
                <a:lnTo>
                  <a:pt x="42857" y="63839"/>
                </a:lnTo>
                <a:lnTo>
                  <a:pt x="41071" y="62054"/>
                </a:lnTo>
                <a:lnTo>
                  <a:pt x="40179" y="62054"/>
                </a:lnTo>
                <a:lnTo>
                  <a:pt x="37946" y="59821"/>
                </a:lnTo>
                <a:lnTo>
                  <a:pt x="35268" y="54464"/>
                </a:lnTo>
                <a:lnTo>
                  <a:pt x="35268" y="48214"/>
                </a:lnTo>
                <a:lnTo>
                  <a:pt x="35714" y="47768"/>
                </a:lnTo>
                <a:lnTo>
                  <a:pt x="36161" y="47321"/>
                </a:lnTo>
                <a:lnTo>
                  <a:pt x="36161" y="46429"/>
                </a:lnTo>
                <a:lnTo>
                  <a:pt x="36161" y="45536"/>
                </a:lnTo>
                <a:lnTo>
                  <a:pt x="37946" y="41964"/>
                </a:lnTo>
                <a:lnTo>
                  <a:pt x="40179" y="39732"/>
                </a:lnTo>
                <a:lnTo>
                  <a:pt x="45089" y="37500"/>
                </a:lnTo>
                <a:close/>
                <a:moveTo>
                  <a:pt x="47768" y="45536"/>
                </a:moveTo>
                <a:lnTo>
                  <a:pt x="48214" y="45089"/>
                </a:lnTo>
                <a:lnTo>
                  <a:pt x="50446" y="45536"/>
                </a:lnTo>
                <a:lnTo>
                  <a:pt x="45982" y="50000"/>
                </a:lnTo>
                <a:lnTo>
                  <a:pt x="45982" y="50893"/>
                </a:lnTo>
                <a:lnTo>
                  <a:pt x="49107" y="54018"/>
                </a:lnTo>
                <a:lnTo>
                  <a:pt x="50000" y="54018"/>
                </a:lnTo>
                <a:lnTo>
                  <a:pt x="50893" y="54018"/>
                </a:lnTo>
                <a:lnTo>
                  <a:pt x="54464" y="50446"/>
                </a:lnTo>
                <a:lnTo>
                  <a:pt x="54911" y="50893"/>
                </a:lnTo>
                <a:lnTo>
                  <a:pt x="54911" y="51786"/>
                </a:lnTo>
                <a:lnTo>
                  <a:pt x="54911" y="52679"/>
                </a:lnTo>
                <a:lnTo>
                  <a:pt x="54911" y="53571"/>
                </a:lnTo>
                <a:lnTo>
                  <a:pt x="52679" y="55804"/>
                </a:lnTo>
                <a:lnTo>
                  <a:pt x="51786" y="55804"/>
                </a:lnTo>
                <a:lnTo>
                  <a:pt x="50893" y="55804"/>
                </a:lnTo>
                <a:lnTo>
                  <a:pt x="50446" y="56250"/>
                </a:lnTo>
                <a:lnTo>
                  <a:pt x="50000" y="56696"/>
                </a:lnTo>
                <a:lnTo>
                  <a:pt x="49554" y="56250"/>
                </a:lnTo>
                <a:lnTo>
                  <a:pt x="49107" y="55804"/>
                </a:lnTo>
                <a:lnTo>
                  <a:pt x="48214" y="55804"/>
                </a:lnTo>
                <a:lnTo>
                  <a:pt x="47321" y="55804"/>
                </a:lnTo>
                <a:lnTo>
                  <a:pt x="44196" y="52679"/>
                </a:lnTo>
                <a:lnTo>
                  <a:pt x="44196" y="49107"/>
                </a:lnTo>
                <a:lnTo>
                  <a:pt x="45089" y="47321"/>
                </a:lnTo>
                <a:lnTo>
                  <a:pt x="47768" y="45536"/>
                </a:lnTo>
                <a:close/>
              </a:path>
            </a:pathLst>
          </a:custGeom>
          <a:solidFill>
            <a:srgbClr val="FFFFFF"/>
          </a:solidFill>
          <a:ln>
            <a:noFill/>
          </a:ln>
        </p:spPr>
        <p:txBody>
          <a:bodyPr/>
          <a:p/>
        </p:txBody>
      </p:sp>
      <p:sp>
        <p:nvSpPr>
          <p:cNvPr id="42" name="Shape 39"/>
          <p:cNvSpPr/>
          <p:nvPr/>
        </p:nvSpPr>
        <p:spPr>
          <a:xfrm>
            <a:off x="5385816" y="5020056"/>
            <a:ext cx="502920" cy="502920"/>
          </a:xfrm>
          <a:prstGeom prst="ellipse">
            <a:avLst/>
          </a:prstGeom>
          <a:solidFill>
            <a:srgbClr val="FFFFFF"/>
          </a:solidFill>
          <a:ln w="12700">
            <a:solidFill>
              <a:srgbClr val="FFFFFF">
                <a:alpha val="0"/>
              </a:srgbClr>
            </a:solidFill>
            <a:prstDash val="solid"/>
          </a:ln>
        </p:spPr>
        <p:txBody>
          <a:bodyPr/>
          <a:p/>
        </p:txBody>
      </p:sp>
      <p:sp>
        <p:nvSpPr>
          <p:cNvPr id="43" name="Text 40"/>
          <p:cNvSpPr/>
          <p:nvPr/>
        </p:nvSpPr>
        <p:spPr>
          <a:xfrm>
            <a:off x="5413248" y="5056632"/>
            <a:ext cx="448056" cy="320040"/>
          </a:xfrm>
          <a:prstGeom prst="rect">
            <a:avLst/>
          </a:prstGeom>
          <a:noFill/>
          <a:ln/>
        </p:spPr>
        <p:txBody>
          <a:bodyPr wrap="square" lIns="0" tIns="0" rIns="0" bIns="0" rtlCol="0" anchor="ctr"/>
          <a:lstStyle/>
          <a:p>
            <a:pPr algn="ctr" indent="0" marL="0">
              <a:buNone/>
            </a:pPr>
            <a:r>
              <a:rPr lang="en-US" sz="2500" b="1" dirty="0">
                <a:solidFill>
                  <a:srgbClr val="6D28D9"/>
                </a:solidFill>
                <a:latin typeface="Aptos" pitchFamily="34" charset="0"/>
                <a:ea typeface="Segoe UI" pitchFamily="34" charset="-122"/>
                <a:cs typeface="Segoe UI" pitchFamily="34" charset="-120"/>
              </a:rPr>
              <a:t>3</a:t>
            </a:r>
            <a:endParaRPr lang="en-US" sz="2500" dirty="0"/>
          </a:p>
        </p:txBody>
      </p:sp>
      <p:sp>
        <p:nvSpPr>
          <p:cNvPr id="44" name="Text 41"/>
          <p:cNvSpPr/>
          <p:nvPr/>
        </p:nvSpPr>
        <p:spPr>
          <a:xfrm>
            <a:off x="7050024" y="5285232"/>
            <a:ext cx="4608576" cy="393192"/>
          </a:xfrm>
          <a:prstGeom prst="rect">
            <a:avLst/>
          </a:prstGeom>
          <a:noFill/>
          <a:ln/>
        </p:spPr>
        <p:txBody>
          <a:bodyPr wrap="square" lIns="0" tIns="0" rIns="0" bIns="0" rtlCol="0" anchor="ctr"/>
          <a:lstStyle/>
          <a:p>
            <a:pPr indent="0" marL="0">
              <a:buNone/>
            </a:pPr>
            <a:r>
              <a:rPr lang="en-US" sz="2200" b="1" dirty="0">
                <a:solidFill>
                  <a:srgbClr val="17324D"/>
                </a:solidFill>
                <a:latin typeface="Aptos" pitchFamily="34" charset="0"/>
                <a:ea typeface="Segoe UI" pitchFamily="34" charset="-122"/>
                <a:cs typeface="Segoe UI" pitchFamily="34" charset="-120"/>
              </a:rPr>
              <a:t>Tester des pistes de ciblage</a:t>
            </a:r>
            <a:endParaRPr lang="en-US" sz="2200" dirty="0"/>
          </a:p>
        </p:txBody>
      </p:sp>
      <p:sp>
        <p:nvSpPr>
          <p:cNvPr id="45" name="Text 42"/>
          <p:cNvSpPr/>
          <p:nvPr/>
        </p:nvSpPr>
        <p:spPr>
          <a:xfrm>
            <a:off x="7050024" y="5779008"/>
            <a:ext cx="4617720" cy="320040"/>
          </a:xfrm>
          <a:prstGeom prst="rect">
            <a:avLst/>
          </a:prstGeom>
          <a:noFill/>
          <a:ln/>
        </p:spPr>
        <p:txBody>
          <a:bodyPr wrap="square" lIns="0" tIns="0" rIns="0" bIns="0" rtlCol="0" anchor="ctr"/>
          <a:lstStyle/>
          <a:p>
            <a:pPr indent="0" marL="0">
              <a:buNone/>
            </a:pPr>
            <a:r>
              <a:rPr lang="en-US" sz="1600" dirty="0">
                <a:solidFill>
                  <a:srgbClr val="334155"/>
                </a:solidFill>
                <a:latin typeface="Aptos" pitchFamily="34" charset="0"/>
                <a:ea typeface="Segoe UI" pitchFamily="34" charset="-122"/>
                <a:cs typeface="Segoe UI" pitchFamily="34" charset="-120"/>
              </a:rPr>
              <a:t>Construire des hypothèses à partir des profils observés.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4200" b="1" dirty="0">
                <a:solidFill>
                  <a:srgbClr val="2563EB"/>
                </a:solidFill>
                <a:latin typeface="Aptos" pitchFamily="34" charset="0"/>
                <a:ea typeface="Segoe UI" pitchFamily="34" charset="-122"/>
                <a:cs typeface="Segoe UI" pitchFamily="34" charset="-120"/>
              </a:rPr>
              <a:t>04. Démarche méthodologique</a:t>
            </a:r>
            <a:endParaRPr lang="en-US" sz="42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650" dirty="0">
                <a:solidFill>
                  <a:srgbClr val="17324D"/>
                </a:solidFill>
                <a:latin typeface="Aptos" pitchFamily="34" charset="0"/>
                <a:ea typeface="Segoe UI" pitchFamily="34" charset="-122"/>
                <a:cs typeface="Segoe UI" pitchFamily="34" charset="-120"/>
              </a:rPr>
              <a:t>Cinq étapes permettent de préparer les données, construire les clusters et profiler les clients.</a:t>
            </a:r>
            <a:endParaRPr lang="en-US" sz="165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Customer Personality Analysis · Projet collectif ENSEA · Abdoulaye KONE</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04</a:t>
            </a:r>
            <a:endParaRPr lang="en-US" sz="1000" dirty="0"/>
          </a:p>
        </p:txBody>
      </p:sp>
      <p:sp>
        <p:nvSpPr>
          <p:cNvPr id="7" name="Shape 4"/>
          <p:cNvSpPr/>
          <p:nvPr/>
        </p:nvSpPr>
        <p:spPr>
          <a:xfrm>
            <a:off x="347472" y="2057400"/>
            <a:ext cx="3977640" cy="4114800"/>
          </a:xfrm>
          <a:prstGeom prst="roundRect">
            <a:avLst>
              <a:gd name="adj" fmla="val 3218"/>
            </a:avLst>
          </a:prstGeom>
          <a:solidFill>
            <a:srgbClr val="F0FDFA"/>
          </a:solidFill>
          <a:ln w="12700">
            <a:solidFill>
              <a:srgbClr val="F0FDFA">
                <a:alpha val="0"/>
              </a:srgbClr>
            </a:solidFill>
            <a:prstDash val="solid"/>
          </a:ln>
        </p:spPr>
        <p:txBody>
          <a:bodyPr/>
          <a:p/>
        </p:txBody>
      </p:sp>
      <p:sp>
        <p:nvSpPr>
          <p:cNvPr id="8" name="Shape 5"/>
          <p:cNvSpPr/>
          <p:nvPr/>
        </p:nvSpPr>
        <p:spPr>
          <a:xfrm>
            <a:off x="4791456" y="2057400"/>
            <a:ext cx="3639312" cy="4114800"/>
          </a:xfrm>
          <a:prstGeom prst="roundRect">
            <a:avLst>
              <a:gd name="adj" fmla="val 3518"/>
            </a:avLst>
          </a:prstGeom>
          <a:solidFill>
            <a:srgbClr val="F3F4F6"/>
          </a:solidFill>
          <a:ln w="12700">
            <a:solidFill>
              <a:srgbClr val="F3F4F6">
                <a:alpha val="0"/>
              </a:srgbClr>
            </a:solidFill>
            <a:prstDash val="solid"/>
          </a:ln>
        </p:spPr>
        <p:txBody>
          <a:bodyPr/>
          <a:p/>
        </p:txBody>
      </p:sp>
      <p:sp>
        <p:nvSpPr>
          <p:cNvPr id="9" name="Shape 6"/>
          <p:cNvSpPr/>
          <p:nvPr/>
        </p:nvSpPr>
        <p:spPr>
          <a:xfrm>
            <a:off x="8887968" y="2057400"/>
            <a:ext cx="2971800" cy="4114800"/>
          </a:xfrm>
          <a:prstGeom prst="roundRect">
            <a:avLst>
              <a:gd name="adj" fmla="val 4308"/>
            </a:avLst>
          </a:prstGeom>
          <a:solidFill>
            <a:srgbClr val="F3F4F6"/>
          </a:solidFill>
          <a:ln w="12700">
            <a:solidFill>
              <a:srgbClr val="F3F4F6">
                <a:alpha val="0"/>
              </a:srgbClr>
            </a:solidFill>
            <a:prstDash val="solid"/>
          </a:ln>
        </p:spPr>
        <p:txBody>
          <a:bodyPr/>
          <a:p/>
        </p:txBody>
      </p:sp>
      <p:sp>
        <p:nvSpPr>
          <p:cNvPr id="10" name="Text 7"/>
          <p:cNvSpPr/>
          <p:nvPr/>
        </p:nvSpPr>
        <p:spPr>
          <a:xfrm>
            <a:off x="630936" y="2359152"/>
            <a:ext cx="3419856" cy="393192"/>
          </a:xfrm>
          <a:prstGeom prst="rect">
            <a:avLst/>
          </a:prstGeom>
          <a:noFill/>
          <a:ln/>
        </p:spPr>
        <p:txBody>
          <a:bodyPr wrap="square" lIns="0" tIns="0" rIns="0" bIns="0" rtlCol="0" anchor="ctr"/>
          <a:lstStyle/>
          <a:p>
            <a:pPr indent="0" marL="0">
              <a:buNone/>
            </a:pPr>
            <a:r>
              <a:rPr lang="en-US" sz="2500" b="1" dirty="0">
                <a:solidFill>
                  <a:srgbClr val="17324D"/>
                </a:solidFill>
                <a:latin typeface="Aptos" pitchFamily="34" charset="0"/>
                <a:ea typeface="Segoe UI" pitchFamily="34" charset="-122"/>
                <a:cs typeface="Segoe UI" pitchFamily="34" charset="-120"/>
              </a:rPr>
              <a:t>Préparer les données</a:t>
            </a:r>
            <a:endParaRPr lang="en-US" sz="2500" dirty="0"/>
          </a:p>
        </p:txBody>
      </p:sp>
      <p:sp>
        <p:nvSpPr>
          <p:cNvPr id="11" name="Text 8"/>
          <p:cNvSpPr/>
          <p:nvPr/>
        </p:nvSpPr>
        <p:spPr>
          <a:xfrm>
            <a:off x="5166360" y="2221992"/>
            <a:ext cx="2898648" cy="722376"/>
          </a:xfrm>
          <a:prstGeom prst="rect">
            <a:avLst/>
          </a:prstGeom>
          <a:noFill/>
          <a:ln/>
        </p:spPr>
        <p:txBody>
          <a:bodyPr wrap="square" lIns="0" tIns="0" rIns="0" bIns="0" rtlCol="0" anchor="ctr"/>
          <a:lstStyle/>
          <a:p>
            <a:pPr indent="0" marL="0">
              <a:buNone/>
            </a:pPr>
            <a:r>
              <a:rPr lang="en-US" sz="2500" b="1" dirty="0">
                <a:solidFill>
                  <a:srgbClr val="17324D"/>
                </a:solidFill>
                <a:latin typeface="Aptos" pitchFamily="34" charset="0"/>
                <a:ea typeface="Segoe UI" pitchFamily="34" charset="-122"/>
                <a:cs typeface="Segoe UI" pitchFamily="34" charset="-120"/>
              </a:rPr>
              <a:t>Construire</a:t>
            </a:r>
            <a:endParaRPr lang="en-US" sz="2500" dirty="0"/>
          </a:p>
          <a:p>
            <a:pPr indent="0" marL="0">
              <a:buNone/>
            </a:pPr>
            <a:r>
              <a:rPr lang="en-US" sz="2500" b="1" dirty="0">
                <a:solidFill>
                  <a:srgbClr val="17324D"/>
                </a:solidFill>
                <a:latin typeface="Aptos" pitchFamily="34" charset="0"/>
                <a:ea typeface="Segoe UI" pitchFamily="34" charset="-122"/>
                <a:cs typeface="Segoe UI" pitchFamily="34" charset="-120"/>
              </a:rPr>
              <a:t>la segmentation</a:t>
            </a:r>
            <a:endParaRPr lang="en-US" sz="2500" dirty="0"/>
          </a:p>
        </p:txBody>
      </p:sp>
      <p:sp>
        <p:nvSpPr>
          <p:cNvPr id="12" name="Text 9"/>
          <p:cNvSpPr/>
          <p:nvPr/>
        </p:nvSpPr>
        <p:spPr>
          <a:xfrm>
            <a:off x="9235440" y="2221992"/>
            <a:ext cx="2322576" cy="722376"/>
          </a:xfrm>
          <a:prstGeom prst="rect">
            <a:avLst/>
          </a:prstGeom>
          <a:noFill/>
          <a:ln/>
        </p:spPr>
        <p:txBody>
          <a:bodyPr wrap="square" lIns="0" tIns="0" rIns="0" bIns="0" rtlCol="0" anchor="ctr"/>
          <a:lstStyle/>
          <a:p>
            <a:pPr indent="0" marL="0">
              <a:buNone/>
            </a:pPr>
            <a:r>
              <a:rPr lang="en-US" sz="2500" b="1" dirty="0">
                <a:solidFill>
                  <a:srgbClr val="17324D"/>
                </a:solidFill>
                <a:latin typeface="Aptos" pitchFamily="34" charset="0"/>
                <a:ea typeface="Segoe UI" pitchFamily="34" charset="-122"/>
                <a:cs typeface="Segoe UI" pitchFamily="34" charset="-120"/>
              </a:rPr>
              <a:t>Interpréter</a:t>
            </a:r>
            <a:endParaRPr lang="en-US" sz="2500" dirty="0"/>
          </a:p>
          <a:p>
            <a:pPr indent="0" marL="0">
              <a:buNone/>
            </a:pPr>
            <a:r>
              <a:rPr lang="en-US" sz="2500" b="1" dirty="0">
                <a:solidFill>
                  <a:srgbClr val="17324D"/>
                </a:solidFill>
                <a:latin typeface="Aptos" pitchFamily="34" charset="0"/>
                <a:ea typeface="Segoe UI" pitchFamily="34" charset="-122"/>
                <a:cs typeface="Segoe UI" pitchFamily="34" charset="-120"/>
              </a:rPr>
              <a:t>les résultats</a:t>
            </a:r>
            <a:endParaRPr lang="en-US" sz="2500" dirty="0"/>
          </a:p>
        </p:txBody>
      </p:sp>
      <p:sp>
        <p:nvSpPr>
          <p:cNvPr id="13" name="Shape 10"/>
          <p:cNvSpPr/>
          <p:nvPr/>
        </p:nvSpPr>
        <p:spPr>
          <a:xfrm>
            <a:off x="484632" y="2990088"/>
            <a:ext cx="3657600" cy="1408176"/>
          </a:xfrm>
          <a:prstGeom prst="roundRect">
            <a:avLst>
              <a:gd name="adj" fmla="val 9091"/>
            </a:avLst>
          </a:prstGeom>
          <a:solidFill>
            <a:srgbClr val="FFFFFF"/>
          </a:solidFill>
          <a:ln w="12700">
            <a:solidFill>
              <a:srgbClr val="FFFFFF">
                <a:alpha val="0"/>
              </a:srgbClr>
            </a:solidFill>
            <a:prstDash val="solid"/>
          </a:ln>
        </p:spPr>
        <p:txBody>
          <a:bodyPr/>
          <a:p/>
        </p:txBody>
      </p:sp>
      <p:sp>
        <p:nvSpPr>
          <p:cNvPr id="14" name="Shape 11"/>
          <p:cNvSpPr/>
          <p:nvPr/>
        </p:nvSpPr>
        <p:spPr>
          <a:xfrm>
            <a:off x="694944" y="3200400"/>
            <a:ext cx="1024128" cy="1024128"/>
          </a:xfrm>
          <a:prstGeom prst="ellipse">
            <a:avLst/>
          </a:prstGeom>
          <a:solidFill>
            <a:srgbClr val="17324D"/>
          </a:solidFill>
          <a:ln w="12700">
            <a:solidFill>
              <a:srgbClr val="17324D">
                <a:alpha val="0"/>
              </a:srgbClr>
            </a:solidFill>
            <a:prstDash val="solid"/>
          </a:ln>
        </p:spPr>
        <p:txBody>
          <a:bodyPr/>
          <a:p/>
        </p:txBody>
      </p:sp>
      <p:sp>
        <p:nvSpPr>
          <p:cNvPr id="15" name="VECTOR_filter_19"/>
          <p:cNvSpPr/>
          <p:nvPr/>
        </p:nvSpPr>
        <p:spPr>
          <a:xfrm>
            <a:off x="694944" y="3200400"/>
            <a:ext cx="1024128" cy="1024128"/>
          </a:xfrm>
          <a:custGeom>
            <a:avLst/>
            <a:gdLst/>
            <a:ahLst/>
            <a:cxnLst/>
            <a:rect l="0" t="0" r="r" b="b"/>
            <a:pathLst>
              <a:path w="100000" h="100000" fill="norm" stroke="false" extrusionOk="false">
                <a:moveTo>
                  <a:pt x="35069" y="24306"/>
                </a:moveTo>
                <a:lnTo>
                  <a:pt x="35417" y="23958"/>
                </a:lnTo>
                <a:lnTo>
                  <a:pt x="48611" y="23958"/>
                </a:lnTo>
                <a:lnTo>
                  <a:pt x="48958" y="24306"/>
                </a:lnTo>
                <a:lnTo>
                  <a:pt x="49306" y="24653"/>
                </a:lnTo>
                <a:lnTo>
                  <a:pt x="52083" y="24653"/>
                </a:lnTo>
                <a:lnTo>
                  <a:pt x="52431" y="25000"/>
                </a:lnTo>
                <a:lnTo>
                  <a:pt x="52778" y="25347"/>
                </a:lnTo>
                <a:lnTo>
                  <a:pt x="54861" y="25347"/>
                </a:lnTo>
                <a:lnTo>
                  <a:pt x="59028" y="27431"/>
                </a:lnTo>
                <a:lnTo>
                  <a:pt x="61458" y="29861"/>
                </a:lnTo>
                <a:lnTo>
                  <a:pt x="62153" y="31250"/>
                </a:lnTo>
                <a:lnTo>
                  <a:pt x="62153" y="37500"/>
                </a:lnTo>
                <a:lnTo>
                  <a:pt x="61806" y="37847"/>
                </a:lnTo>
                <a:lnTo>
                  <a:pt x="61458" y="38194"/>
                </a:lnTo>
                <a:lnTo>
                  <a:pt x="61458" y="41667"/>
                </a:lnTo>
                <a:lnTo>
                  <a:pt x="61806" y="42014"/>
                </a:lnTo>
                <a:lnTo>
                  <a:pt x="62153" y="42361"/>
                </a:lnTo>
                <a:lnTo>
                  <a:pt x="60417" y="44097"/>
                </a:lnTo>
                <a:lnTo>
                  <a:pt x="59375" y="43056"/>
                </a:lnTo>
                <a:lnTo>
                  <a:pt x="59375" y="36806"/>
                </a:lnTo>
                <a:lnTo>
                  <a:pt x="59028" y="36458"/>
                </a:lnTo>
                <a:lnTo>
                  <a:pt x="56250" y="37847"/>
                </a:lnTo>
                <a:lnTo>
                  <a:pt x="55556" y="37847"/>
                </a:lnTo>
                <a:lnTo>
                  <a:pt x="54861" y="37847"/>
                </a:lnTo>
                <a:lnTo>
                  <a:pt x="52083" y="39236"/>
                </a:lnTo>
                <a:lnTo>
                  <a:pt x="49306" y="39236"/>
                </a:lnTo>
                <a:lnTo>
                  <a:pt x="48958" y="39583"/>
                </a:lnTo>
                <a:lnTo>
                  <a:pt x="48611" y="39931"/>
                </a:lnTo>
                <a:lnTo>
                  <a:pt x="36111" y="39931"/>
                </a:lnTo>
                <a:lnTo>
                  <a:pt x="35764" y="39583"/>
                </a:lnTo>
                <a:lnTo>
                  <a:pt x="35417" y="39236"/>
                </a:lnTo>
                <a:lnTo>
                  <a:pt x="32639" y="39236"/>
                </a:lnTo>
                <a:lnTo>
                  <a:pt x="32292" y="38889"/>
                </a:lnTo>
                <a:lnTo>
                  <a:pt x="31944" y="38542"/>
                </a:lnTo>
                <a:lnTo>
                  <a:pt x="29861" y="38542"/>
                </a:lnTo>
                <a:lnTo>
                  <a:pt x="25694" y="36458"/>
                </a:lnTo>
                <a:lnTo>
                  <a:pt x="23958" y="36806"/>
                </a:lnTo>
                <a:lnTo>
                  <a:pt x="23958" y="43750"/>
                </a:lnTo>
                <a:lnTo>
                  <a:pt x="26389" y="46181"/>
                </a:lnTo>
                <a:lnTo>
                  <a:pt x="30556" y="48264"/>
                </a:lnTo>
                <a:lnTo>
                  <a:pt x="32639" y="48264"/>
                </a:lnTo>
                <a:lnTo>
                  <a:pt x="32986" y="48611"/>
                </a:lnTo>
                <a:lnTo>
                  <a:pt x="33333" y="48958"/>
                </a:lnTo>
                <a:lnTo>
                  <a:pt x="36111" y="48958"/>
                </a:lnTo>
                <a:lnTo>
                  <a:pt x="36458" y="49306"/>
                </a:lnTo>
                <a:lnTo>
                  <a:pt x="36806" y="49653"/>
                </a:lnTo>
                <a:lnTo>
                  <a:pt x="40972" y="49653"/>
                </a:lnTo>
                <a:lnTo>
                  <a:pt x="41319" y="50000"/>
                </a:lnTo>
                <a:lnTo>
                  <a:pt x="40972" y="51736"/>
                </a:lnTo>
                <a:lnTo>
                  <a:pt x="36111" y="51736"/>
                </a:lnTo>
                <a:lnTo>
                  <a:pt x="35764" y="51389"/>
                </a:lnTo>
                <a:lnTo>
                  <a:pt x="35417" y="51042"/>
                </a:lnTo>
                <a:lnTo>
                  <a:pt x="31944" y="51042"/>
                </a:lnTo>
                <a:lnTo>
                  <a:pt x="31597" y="50694"/>
                </a:lnTo>
                <a:lnTo>
                  <a:pt x="31250" y="50347"/>
                </a:lnTo>
                <a:lnTo>
                  <a:pt x="27778" y="49653"/>
                </a:lnTo>
                <a:lnTo>
                  <a:pt x="25000" y="47569"/>
                </a:lnTo>
                <a:lnTo>
                  <a:pt x="23958" y="48611"/>
                </a:lnTo>
                <a:lnTo>
                  <a:pt x="23958" y="56250"/>
                </a:lnTo>
                <a:lnTo>
                  <a:pt x="25694" y="57986"/>
                </a:lnTo>
                <a:lnTo>
                  <a:pt x="29861" y="60069"/>
                </a:lnTo>
                <a:lnTo>
                  <a:pt x="31944" y="60069"/>
                </a:lnTo>
                <a:lnTo>
                  <a:pt x="32292" y="60417"/>
                </a:lnTo>
                <a:lnTo>
                  <a:pt x="32639" y="60764"/>
                </a:lnTo>
                <a:lnTo>
                  <a:pt x="34722" y="60764"/>
                </a:lnTo>
                <a:lnTo>
                  <a:pt x="35069" y="61111"/>
                </a:lnTo>
                <a:lnTo>
                  <a:pt x="35417" y="61458"/>
                </a:lnTo>
                <a:lnTo>
                  <a:pt x="36111" y="61458"/>
                </a:lnTo>
                <a:lnTo>
                  <a:pt x="36806" y="61458"/>
                </a:lnTo>
                <a:lnTo>
                  <a:pt x="47917" y="61458"/>
                </a:lnTo>
                <a:lnTo>
                  <a:pt x="48264" y="63194"/>
                </a:lnTo>
                <a:lnTo>
                  <a:pt x="47917" y="63542"/>
                </a:lnTo>
                <a:lnTo>
                  <a:pt x="34722" y="63542"/>
                </a:lnTo>
                <a:lnTo>
                  <a:pt x="34375" y="63194"/>
                </a:lnTo>
                <a:lnTo>
                  <a:pt x="34028" y="62847"/>
                </a:lnTo>
                <a:lnTo>
                  <a:pt x="31250" y="62847"/>
                </a:lnTo>
                <a:lnTo>
                  <a:pt x="25694" y="60069"/>
                </a:lnTo>
                <a:lnTo>
                  <a:pt x="25000" y="60069"/>
                </a:lnTo>
                <a:lnTo>
                  <a:pt x="24306" y="60069"/>
                </a:lnTo>
                <a:lnTo>
                  <a:pt x="23958" y="60417"/>
                </a:lnTo>
                <a:lnTo>
                  <a:pt x="23958" y="67361"/>
                </a:lnTo>
                <a:lnTo>
                  <a:pt x="27083" y="70486"/>
                </a:lnTo>
                <a:lnTo>
                  <a:pt x="29861" y="71875"/>
                </a:lnTo>
                <a:lnTo>
                  <a:pt x="30556" y="71875"/>
                </a:lnTo>
                <a:lnTo>
                  <a:pt x="31250" y="71875"/>
                </a:lnTo>
                <a:lnTo>
                  <a:pt x="31597" y="72222"/>
                </a:lnTo>
                <a:lnTo>
                  <a:pt x="31944" y="72569"/>
                </a:lnTo>
                <a:lnTo>
                  <a:pt x="34722" y="72569"/>
                </a:lnTo>
                <a:lnTo>
                  <a:pt x="35069" y="72917"/>
                </a:lnTo>
                <a:lnTo>
                  <a:pt x="35417" y="73264"/>
                </a:lnTo>
                <a:lnTo>
                  <a:pt x="47222" y="73264"/>
                </a:lnTo>
                <a:lnTo>
                  <a:pt x="47569" y="72917"/>
                </a:lnTo>
                <a:lnTo>
                  <a:pt x="47917" y="72569"/>
                </a:lnTo>
                <a:lnTo>
                  <a:pt x="50694" y="72569"/>
                </a:lnTo>
                <a:lnTo>
                  <a:pt x="52083" y="71875"/>
                </a:lnTo>
                <a:lnTo>
                  <a:pt x="52431" y="73611"/>
                </a:lnTo>
                <a:lnTo>
                  <a:pt x="51389" y="74653"/>
                </a:lnTo>
                <a:lnTo>
                  <a:pt x="47917" y="74653"/>
                </a:lnTo>
                <a:lnTo>
                  <a:pt x="47569" y="75000"/>
                </a:lnTo>
                <a:lnTo>
                  <a:pt x="47222" y="75347"/>
                </a:lnTo>
                <a:lnTo>
                  <a:pt x="36111" y="75347"/>
                </a:lnTo>
                <a:lnTo>
                  <a:pt x="35764" y="75000"/>
                </a:lnTo>
                <a:lnTo>
                  <a:pt x="35417" y="74653"/>
                </a:lnTo>
                <a:lnTo>
                  <a:pt x="31944" y="74653"/>
                </a:lnTo>
                <a:lnTo>
                  <a:pt x="31597" y="74306"/>
                </a:lnTo>
                <a:lnTo>
                  <a:pt x="31250" y="73958"/>
                </a:lnTo>
                <a:lnTo>
                  <a:pt x="30556" y="73958"/>
                </a:lnTo>
                <a:lnTo>
                  <a:pt x="29861" y="73958"/>
                </a:lnTo>
                <a:lnTo>
                  <a:pt x="29514" y="73611"/>
                </a:lnTo>
                <a:lnTo>
                  <a:pt x="29167" y="73264"/>
                </a:lnTo>
                <a:lnTo>
                  <a:pt x="28472" y="73264"/>
                </a:lnTo>
                <a:lnTo>
                  <a:pt x="27778" y="73264"/>
                </a:lnTo>
                <a:lnTo>
                  <a:pt x="25000" y="71875"/>
                </a:lnTo>
                <a:lnTo>
                  <a:pt x="22569" y="69444"/>
                </a:lnTo>
                <a:lnTo>
                  <a:pt x="22569" y="68750"/>
                </a:lnTo>
                <a:lnTo>
                  <a:pt x="22569" y="68056"/>
                </a:lnTo>
                <a:lnTo>
                  <a:pt x="22222" y="67708"/>
                </a:lnTo>
                <a:lnTo>
                  <a:pt x="21875" y="67361"/>
                </a:lnTo>
                <a:lnTo>
                  <a:pt x="21875" y="31250"/>
                </a:lnTo>
                <a:lnTo>
                  <a:pt x="22569" y="29861"/>
                </a:lnTo>
                <a:lnTo>
                  <a:pt x="25000" y="27431"/>
                </a:lnTo>
                <a:lnTo>
                  <a:pt x="27778" y="26042"/>
                </a:lnTo>
                <a:lnTo>
                  <a:pt x="31250" y="25347"/>
                </a:lnTo>
                <a:lnTo>
                  <a:pt x="31597" y="25000"/>
                </a:lnTo>
                <a:lnTo>
                  <a:pt x="31944" y="24653"/>
                </a:lnTo>
                <a:lnTo>
                  <a:pt x="35069" y="24306"/>
                </a:lnTo>
                <a:close/>
                <a:moveTo>
                  <a:pt x="34722" y="26042"/>
                </a:moveTo>
                <a:lnTo>
                  <a:pt x="34375" y="26389"/>
                </a:lnTo>
                <a:lnTo>
                  <a:pt x="34028" y="26736"/>
                </a:lnTo>
                <a:lnTo>
                  <a:pt x="31250" y="26736"/>
                </a:lnTo>
                <a:lnTo>
                  <a:pt x="29167" y="28125"/>
                </a:lnTo>
                <a:lnTo>
                  <a:pt x="28472" y="28125"/>
                </a:lnTo>
                <a:lnTo>
                  <a:pt x="27778" y="28125"/>
                </a:lnTo>
                <a:lnTo>
                  <a:pt x="26389" y="28819"/>
                </a:lnTo>
                <a:lnTo>
                  <a:pt x="23958" y="31944"/>
                </a:lnTo>
                <a:lnTo>
                  <a:pt x="25694" y="34375"/>
                </a:lnTo>
                <a:lnTo>
                  <a:pt x="29861" y="36458"/>
                </a:lnTo>
                <a:lnTo>
                  <a:pt x="30556" y="36458"/>
                </a:lnTo>
                <a:lnTo>
                  <a:pt x="31250" y="36458"/>
                </a:lnTo>
                <a:lnTo>
                  <a:pt x="31597" y="36806"/>
                </a:lnTo>
                <a:lnTo>
                  <a:pt x="31944" y="37153"/>
                </a:lnTo>
                <a:lnTo>
                  <a:pt x="34722" y="37153"/>
                </a:lnTo>
                <a:lnTo>
                  <a:pt x="35069" y="37500"/>
                </a:lnTo>
                <a:lnTo>
                  <a:pt x="35417" y="37847"/>
                </a:lnTo>
                <a:lnTo>
                  <a:pt x="48611" y="37847"/>
                </a:lnTo>
                <a:lnTo>
                  <a:pt x="48958" y="37500"/>
                </a:lnTo>
                <a:lnTo>
                  <a:pt x="49306" y="37153"/>
                </a:lnTo>
                <a:lnTo>
                  <a:pt x="52083" y="37153"/>
                </a:lnTo>
                <a:lnTo>
                  <a:pt x="52431" y="36806"/>
                </a:lnTo>
                <a:lnTo>
                  <a:pt x="52778" y="36458"/>
                </a:lnTo>
                <a:lnTo>
                  <a:pt x="53472" y="36458"/>
                </a:lnTo>
                <a:lnTo>
                  <a:pt x="54167" y="36458"/>
                </a:lnTo>
                <a:lnTo>
                  <a:pt x="56944" y="35069"/>
                </a:lnTo>
                <a:lnTo>
                  <a:pt x="59375" y="32639"/>
                </a:lnTo>
                <a:lnTo>
                  <a:pt x="59375" y="30556"/>
                </a:lnTo>
                <a:lnTo>
                  <a:pt x="57639" y="28819"/>
                </a:lnTo>
                <a:lnTo>
                  <a:pt x="54861" y="27431"/>
                </a:lnTo>
                <a:lnTo>
                  <a:pt x="52778" y="27431"/>
                </a:lnTo>
                <a:lnTo>
                  <a:pt x="52431" y="27083"/>
                </a:lnTo>
                <a:lnTo>
                  <a:pt x="52083" y="26736"/>
                </a:lnTo>
                <a:lnTo>
                  <a:pt x="49306" y="26736"/>
                </a:lnTo>
                <a:lnTo>
                  <a:pt x="48958" y="26389"/>
                </a:lnTo>
                <a:lnTo>
                  <a:pt x="48611" y="26042"/>
                </a:lnTo>
                <a:lnTo>
                  <a:pt x="34722" y="26042"/>
                </a:lnTo>
                <a:close/>
                <a:moveTo>
                  <a:pt x="47569" y="47917"/>
                </a:moveTo>
                <a:lnTo>
                  <a:pt x="47917" y="47569"/>
                </a:lnTo>
                <a:lnTo>
                  <a:pt x="78472" y="47569"/>
                </a:lnTo>
                <a:lnTo>
                  <a:pt x="79514" y="48611"/>
                </a:lnTo>
                <a:lnTo>
                  <a:pt x="79514" y="49306"/>
                </a:lnTo>
                <a:lnTo>
                  <a:pt x="79514" y="50000"/>
                </a:lnTo>
                <a:lnTo>
                  <a:pt x="78819" y="51389"/>
                </a:lnTo>
                <a:lnTo>
                  <a:pt x="76042" y="54167"/>
                </a:lnTo>
                <a:lnTo>
                  <a:pt x="76042" y="54861"/>
                </a:lnTo>
                <a:lnTo>
                  <a:pt x="73958" y="56944"/>
                </a:lnTo>
                <a:lnTo>
                  <a:pt x="73958" y="57639"/>
                </a:lnTo>
                <a:lnTo>
                  <a:pt x="67708" y="65278"/>
                </a:lnTo>
                <a:lnTo>
                  <a:pt x="67708" y="68750"/>
                </a:lnTo>
                <a:lnTo>
                  <a:pt x="67708" y="77778"/>
                </a:lnTo>
                <a:lnTo>
                  <a:pt x="65972" y="79514"/>
                </a:lnTo>
                <a:lnTo>
                  <a:pt x="62500" y="79514"/>
                </a:lnTo>
                <a:lnTo>
                  <a:pt x="59722" y="78125"/>
                </a:lnTo>
                <a:lnTo>
                  <a:pt x="57986" y="76389"/>
                </a:lnTo>
                <a:lnTo>
                  <a:pt x="57986" y="65972"/>
                </a:lnTo>
                <a:lnTo>
                  <a:pt x="54514" y="61806"/>
                </a:lnTo>
                <a:lnTo>
                  <a:pt x="53125" y="59028"/>
                </a:lnTo>
                <a:lnTo>
                  <a:pt x="50347" y="56250"/>
                </a:lnTo>
                <a:lnTo>
                  <a:pt x="50347" y="55556"/>
                </a:lnTo>
                <a:lnTo>
                  <a:pt x="46181" y="50694"/>
                </a:lnTo>
                <a:lnTo>
                  <a:pt x="46181" y="50000"/>
                </a:lnTo>
                <a:lnTo>
                  <a:pt x="46181" y="49306"/>
                </a:lnTo>
                <a:lnTo>
                  <a:pt x="47569" y="47917"/>
                </a:lnTo>
                <a:close/>
                <a:moveTo>
                  <a:pt x="50000" y="49653"/>
                </a:moveTo>
                <a:lnTo>
                  <a:pt x="49653" y="51389"/>
                </a:lnTo>
                <a:lnTo>
                  <a:pt x="51736" y="53472"/>
                </a:lnTo>
                <a:lnTo>
                  <a:pt x="51736" y="54167"/>
                </a:lnTo>
                <a:lnTo>
                  <a:pt x="53819" y="56250"/>
                </a:lnTo>
                <a:lnTo>
                  <a:pt x="53819" y="56944"/>
                </a:lnTo>
                <a:lnTo>
                  <a:pt x="60069" y="64583"/>
                </a:lnTo>
                <a:lnTo>
                  <a:pt x="60069" y="75694"/>
                </a:lnTo>
                <a:lnTo>
                  <a:pt x="62500" y="77431"/>
                </a:lnTo>
                <a:lnTo>
                  <a:pt x="64583" y="77431"/>
                </a:lnTo>
                <a:lnTo>
                  <a:pt x="65625" y="76389"/>
                </a:lnTo>
                <a:lnTo>
                  <a:pt x="65625" y="67361"/>
                </a:lnTo>
                <a:lnTo>
                  <a:pt x="65625" y="64583"/>
                </a:lnTo>
                <a:lnTo>
                  <a:pt x="66319" y="63194"/>
                </a:lnTo>
                <a:lnTo>
                  <a:pt x="68403" y="61111"/>
                </a:lnTo>
                <a:lnTo>
                  <a:pt x="68403" y="60417"/>
                </a:lnTo>
                <a:lnTo>
                  <a:pt x="70486" y="58333"/>
                </a:lnTo>
                <a:lnTo>
                  <a:pt x="70486" y="57639"/>
                </a:lnTo>
                <a:lnTo>
                  <a:pt x="73264" y="54861"/>
                </a:lnTo>
                <a:lnTo>
                  <a:pt x="73264" y="54167"/>
                </a:lnTo>
                <a:lnTo>
                  <a:pt x="76042" y="51389"/>
                </a:lnTo>
                <a:lnTo>
                  <a:pt x="76042" y="50694"/>
                </a:lnTo>
                <a:lnTo>
                  <a:pt x="76042" y="50000"/>
                </a:lnTo>
                <a:lnTo>
                  <a:pt x="75694" y="49653"/>
                </a:lnTo>
                <a:lnTo>
                  <a:pt x="50000" y="49653"/>
                </a:lnTo>
                <a:close/>
              </a:path>
            </a:pathLst>
          </a:custGeom>
          <a:solidFill>
            <a:srgbClr val="FFFFFF"/>
          </a:solidFill>
          <a:ln>
            <a:noFill/>
          </a:ln>
        </p:spPr>
        <p:txBody>
          <a:bodyPr/>
          <a:p/>
        </p:txBody>
      </p:sp>
      <p:sp>
        <p:nvSpPr>
          <p:cNvPr id="16" name="Shape 13"/>
          <p:cNvSpPr/>
          <p:nvPr/>
        </p:nvSpPr>
        <p:spPr>
          <a:xfrm>
            <a:off x="1929384" y="3145536"/>
            <a:ext cx="448056" cy="448056"/>
          </a:xfrm>
          <a:prstGeom prst="ellipse">
            <a:avLst/>
          </a:prstGeom>
          <a:solidFill>
            <a:srgbClr val="1D4ED8"/>
          </a:solidFill>
          <a:ln w="12700">
            <a:solidFill>
              <a:srgbClr val="1D4ED8">
                <a:alpha val="0"/>
              </a:srgbClr>
            </a:solidFill>
            <a:prstDash val="solid"/>
          </a:ln>
        </p:spPr>
        <p:txBody>
          <a:bodyPr/>
          <a:p/>
        </p:txBody>
      </p:sp>
      <p:sp>
        <p:nvSpPr>
          <p:cNvPr id="17" name="Text 14"/>
          <p:cNvSpPr/>
          <p:nvPr/>
        </p:nvSpPr>
        <p:spPr>
          <a:xfrm>
            <a:off x="1938528" y="3255264"/>
            <a:ext cx="411480" cy="164592"/>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Segoe UI" pitchFamily="34" charset="-122"/>
                <a:cs typeface="Segoe UI" pitchFamily="34" charset="-120"/>
              </a:rPr>
              <a:t>01</a:t>
            </a:r>
            <a:endParaRPr lang="en-US" sz="1400" dirty="0"/>
          </a:p>
        </p:txBody>
      </p:sp>
      <p:sp>
        <p:nvSpPr>
          <p:cNvPr id="18" name="Text 15"/>
          <p:cNvSpPr/>
          <p:nvPr/>
        </p:nvSpPr>
        <p:spPr>
          <a:xfrm>
            <a:off x="1920240" y="3575304"/>
            <a:ext cx="2304288" cy="557784"/>
          </a:xfrm>
          <a:prstGeom prst="rect">
            <a:avLst/>
          </a:prstGeom>
          <a:noFill/>
          <a:ln/>
        </p:spPr>
        <p:txBody>
          <a:bodyPr wrap="square" lIns="0" tIns="0" rIns="0" bIns="0" rtlCol="0" anchor="ctr"/>
          <a:lstStyle/>
          <a:p>
            <a:pPr indent="0" marL="0">
              <a:buNone/>
            </a:pPr>
            <a:r>
              <a:rPr lang="en-US" sz="1800" b="1" dirty="0">
                <a:solidFill>
                  <a:srgbClr val="17324D"/>
                </a:solidFill>
                <a:latin typeface="Aptos" pitchFamily="34" charset="0"/>
                <a:ea typeface="Segoe UI" pitchFamily="34" charset="-122"/>
                <a:cs typeface="Segoe UI" pitchFamily="34" charset="-120"/>
              </a:rPr>
              <a:t>Nettoyage &amp;</a:t>
            </a:r>
            <a:endParaRPr lang="en-US" sz="1800" dirty="0"/>
          </a:p>
          <a:p>
            <a:pPr indent="0" marL="0">
              <a:buNone/>
            </a:pPr>
            <a:r>
              <a:rPr lang="en-US" sz="1800" b="1" dirty="0">
                <a:solidFill>
                  <a:srgbClr val="17324D"/>
                </a:solidFill>
                <a:latin typeface="Aptos" pitchFamily="34" charset="0"/>
                <a:ea typeface="Segoe UI" pitchFamily="34" charset="-122"/>
                <a:cs typeface="Segoe UI" pitchFamily="34" charset="-120"/>
              </a:rPr>
              <a:t>feature engineering</a:t>
            </a:r>
            <a:endParaRPr lang="en-US" sz="1800" dirty="0"/>
          </a:p>
        </p:txBody>
      </p:sp>
      <p:sp>
        <p:nvSpPr>
          <p:cNvPr id="19" name="Shape 16"/>
          <p:cNvSpPr/>
          <p:nvPr/>
        </p:nvSpPr>
        <p:spPr>
          <a:xfrm>
            <a:off x="484632" y="4553712"/>
            <a:ext cx="3657600" cy="1408176"/>
          </a:xfrm>
          <a:prstGeom prst="roundRect">
            <a:avLst>
              <a:gd name="adj" fmla="val 9091"/>
            </a:avLst>
          </a:prstGeom>
          <a:solidFill>
            <a:srgbClr val="FFFFFF"/>
          </a:solidFill>
          <a:ln w="12700">
            <a:solidFill>
              <a:srgbClr val="FFFFFF">
                <a:alpha val="0"/>
              </a:srgbClr>
            </a:solidFill>
            <a:prstDash val="solid"/>
          </a:ln>
        </p:spPr>
        <p:txBody>
          <a:bodyPr/>
          <a:p/>
        </p:txBody>
      </p:sp>
      <p:sp>
        <p:nvSpPr>
          <p:cNvPr id="20" name="Shape 17"/>
          <p:cNvSpPr/>
          <p:nvPr/>
        </p:nvSpPr>
        <p:spPr>
          <a:xfrm>
            <a:off x="694944" y="4764024"/>
            <a:ext cx="1024128" cy="1024128"/>
          </a:xfrm>
          <a:prstGeom prst="ellipse">
            <a:avLst/>
          </a:prstGeom>
          <a:solidFill>
            <a:srgbClr val="0F766E"/>
          </a:solidFill>
          <a:ln w="12700">
            <a:solidFill>
              <a:srgbClr val="0F766E">
                <a:alpha val="0"/>
              </a:srgbClr>
            </a:solidFill>
            <a:prstDash val="solid"/>
          </a:ln>
        </p:spPr>
        <p:txBody>
          <a:bodyPr/>
          <a:p/>
        </p:txBody>
      </p:sp>
      <p:sp>
        <p:nvSpPr>
          <p:cNvPr id="21" name="VECTOR_sliders_20"/>
          <p:cNvSpPr/>
          <p:nvPr/>
        </p:nvSpPr>
        <p:spPr>
          <a:xfrm>
            <a:off x="694944" y="4764024"/>
            <a:ext cx="1024128" cy="1024128"/>
          </a:xfrm>
          <a:custGeom>
            <a:avLst/>
            <a:gdLst/>
            <a:ahLst/>
            <a:cxnLst/>
            <a:rect l="0" t="0" r="r" b="b"/>
            <a:pathLst>
              <a:path w="100000" h="100000" fill="norm" stroke="false" extrusionOk="false">
                <a:moveTo>
                  <a:pt x="46875" y="27778"/>
                </a:moveTo>
                <a:lnTo>
                  <a:pt x="47222" y="27431"/>
                </a:lnTo>
                <a:lnTo>
                  <a:pt x="52083" y="27431"/>
                </a:lnTo>
                <a:lnTo>
                  <a:pt x="53472" y="28125"/>
                </a:lnTo>
                <a:lnTo>
                  <a:pt x="55903" y="30556"/>
                </a:lnTo>
                <a:lnTo>
                  <a:pt x="55903" y="31250"/>
                </a:lnTo>
                <a:lnTo>
                  <a:pt x="55903" y="31944"/>
                </a:lnTo>
                <a:lnTo>
                  <a:pt x="56944" y="32986"/>
                </a:lnTo>
                <a:lnTo>
                  <a:pt x="74306" y="32986"/>
                </a:lnTo>
                <a:lnTo>
                  <a:pt x="75347" y="34028"/>
                </a:lnTo>
                <a:lnTo>
                  <a:pt x="75347" y="34722"/>
                </a:lnTo>
                <a:lnTo>
                  <a:pt x="74306" y="35764"/>
                </a:lnTo>
                <a:lnTo>
                  <a:pt x="68750" y="35764"/>
                </a:lnTo>
                <a:lnTo>
                  <a:pt x="68403" y="35417"/>
                </a:lnTo>
                <a:lnTo>
                  <a:pt x="68056" y="35069"/>
                </a:lnTo>
                <a:lnTo>
                  <a:pt x="57639" y="35069"/>
                </a:lnTo>
                <a:lnTo>
                  <a:pt x="55903" y="36806"/>
                </a:lnTo>
                <a:lnTo>
                  <a:pt x="55208" y="38889"/>
                </a:lnTo>
                <a:lnTo>
                  <a:pt x="54167" y="39931"/>
                </a:lnTo>
                <a:lnTo>
                  <a:pt x="51389" y="41319"/>
                </a:lnTo>
                <a:lnTo>
                  <a:pt x="47917" y="41319"/>
                </a:lnTo>
                <a:lnTo>
                  <a:pt x="47569" y="40972"/>
                </a:lnTo>
                <a:lnTo>
                  <a:pt x="47222" y="40625"/>
                </a:lnTo>
                <a:lnTo>
                  <a:pt x="46528" y="40625"/>
                </a:lnTo>
                <a:lnTo>
                  <a:pt x="45833" y="40625"/>
                </a:lnTo>
                <a:lnTo>
                  <a:pt x="43403" y="38194"/>
                </a:lnTo>
                <a:lnTo>
                  <a:pt x="42361" y="35764"/>
                </a:lnTo>
                <a:lnTo>
                  <a:pt x="39583" y="35764"/>
                </a:lnTo>
                <a:lnTo>
                  <a:pt x="39236" y="35417"/>
                </a:lnTo>
                <a:lnTo>
                  <a:pt x="38889" y="35069"/>
                </a:lnTo>
                <a:lnTo>
                  <a:pt x="30556" y="35069"/>
                </a:lnTo>
                <a:lnTo>
                  <a:pt x="30208" y="35417"/>
                </a:lnTo>
                <a:lnTo>
                  <a:pt x="29861" y="35764"/>
                </a:lnTo>
                <a:lnTo>
                  <a:pt x="23611" y="35764"/>
                </a:lnTo>
                <a:lnTo>
                  <a:pt x="22569" y="34722"/>
                </a:lnTo>
                <a:lnTo>
                  <a:pt x="22569" y="34028"/>
                </a:lnTo>
                <a:lnTo>
                  <a:pt x="23611" y="32986"/>
                </a:lnTo>
                <a:lnTo>
                  <a:pt x="42361" y="32986"/>
                </a:lnTo>
                <a:lnTo>
                  <a:pt x="43403" y="30556"/>
                </a:lnTo>
                <a:lnTo>
                  <a:pt x="45833" y="28125"/>
                </a:lnTo>
                <a:lnTo>
                  <a:pt x="46528" y="28125"/>
                </a:lnTo>
                <a:lnTo>
                  <a:pt x="46875" y="27778"/>
                </a:lnTo>
                <a:close/>
                <a:moveTo>
                  <a:pt x="47917" y="29514"/>
                </a:moveTo>
                <a:lnTo>
                  <a:pt x="45486" y="31944"/>
                </a:lnTo>
                <a:lnTo>
                  <a:pt x="44792" y="33333"/>
                </a:lnTo>
                <a:lnTo>
                  <a:pt x="44792" y="35417"/>
                </a:lnTo>
                <a:lnTo>
                  <a:pt x="45486" y="36806"/>
                </a:lnTo>
                <a:lnTo>
                  <a:pt x="47917" y="39236"/>
                </a:lnTo>
                <a:lnTo>
                  <a:pt x="50694" y="39236"/>
                </a:lnTo>
                <a:lnTo>
                  <a:pt x="52083" y="38542"/>
                </a:lnTo>
                <a:lnTo>
                  <a:pt x="53819" y="36111"/>
                </a:lnTo>
                <a:lnTo>
                  <a:pt x="53819" y="32639"/>
                </a:lnTo>
                <a:lnTo>
                  <a:pt x="52083" y="30208"/>
                </a:lnTo>
                <a:lnTo>
                  <a:pt x="50694" y="29514"/>
                </a:lnTo>
                <a:lnTo>
                  <a:pt x="47917" y="29514"/>
                </a:lnTo>
                <a:close/>
                <a:moveTo>
                  <a:pt x="63542" y="44444"/>
                </a:moveTo>
                <a:lnTo>
                  <a:pt x="63889" y="44097"/>
                </a:lnTo>
                <a:lnTo>
                  <a:pt x="64236" y="44444"/>
                </a:lnTo>
                <a:lnTo>
                  <a:pt x="64583" y="44792"/>
                </a:lnTo>
                <a:lnTo>
                  <a:pt x="65278" y="44792"/>
                </a:lnTo>
                <a:lnTo>
                  <a:pt x="65972" y="44792"/>
                </a:lnTo>
                <a:lnTo>
                  <a:pt x="67361" y="45486"/>
                </a:lnTo>
                <a:lnTo>
                  <a:pt x="69792" y="47917"/>
                </a:lnTo>
                <a:lnTo>
                  <a:pt x="69792" y="48611"/>
                </a:lnTo>
                <a:lnTo>
                  <a:pt x="69792" y="49306"/>
                </a:lnTo>
                <a:lnTo>
                  <a:pt x="70833" y="50347"/>
                </a:lnTo>
                <a:lnTo>
                  <a:pt x="74306" y="50347"/>
                </a:lnTo>
                <a:lnTo>
                  <a:pt x="75347" y="51389"/>
                </a:lnTo>
                <a:lnTo>
                  <a:pt x="75347" y="52083"/>
                </a:lnTo>
                <a:lnTo>
                  <a:pt x="75000" y="52431"/>
                </a:lnTo>
                <a:lnTo>
                  <a:pt x="71528" y="52431"/>
                </a:lnTo>
                <a:lnTo>
                  <a:pt x="66667" y="57986"/>
                </a:lnTo>
                <a:lnTo>
                  <a:pt x="65972" y="57986"/>
                </a:lnTo>
                <a:lnTo>
                  <a:pt x="65278" y="57986"/>
                </a:lnTo>
                <a:lnTo>
                  <a:pt x="64931" y="58333"/>
                </a:lnTo>
                <a:lnTo>
                  <a:pt x="64583" y="58681"/>
                </a:lnTo>
                <a:lnTo>
                  <a:pt x="62500" y="58681"/>
                </a:lnTo>
                <a:lnTo>
                  <a:pt x="59722" y="57292"/>
                </a:lnTo>
                <a:lnTo>
                  <a:pt x="56250" y="52431"/>
                </a:lnTo>
                <a:lnTo>
                  <a:pt x="40972" y="52431"/>
                </a:lnTo>
                <a:lnTo>
                  <a:pt x="23611" y="52431"/>
                </a:lnTo>
                <a:lnTo>
                  <a:pt x="22569" y="51389"/>
                </a:lnTo>
                <a:lnTo>
                  <a:pt x="23611" y="50347"/>
                </a:lnTo>
                <a:lnTo>
                  <a:pt x="56944" y="50347"/>
                </a:lnTo>
                <a:lnTo>
                  <a:pt x="57986" y="47917"/>
                </a:lnTo>
                <a:lnTo>
                  <a:pt x="61111" y="44792"/>
                </a:lnTo>
                <a:lnTo>
                  <a:pt x="63542" y="44444"/>
                </a:lnTo>
                <a:close/>
                <a:moveTo>
                  <a:pt x="63194" y="46875"/>
                </a:moveTo>
                <a:lnTo>
                  <a:pt x="60069" y="49306"/>
                </a:lnTo>
                <a:lnTo>
                  <a:pt x="59375" y="50694"/>
                </a:lnTo>
                <a:lnTo>
                  <a:pt x="59375" y="52778"/>
                </a:lnTo>
                <a:lnTo>
                  <a:pt x="61806" y="55903"/>
                </a:lnTo>
                <a:lnTo>
                  <a:pt x="64583" y="55903"/>
                </a:lnTo>
                <a:lnTo>
                  <a:pt x="67014" y="54861"/>
                </a:lnTo>
                <a:lnTo>
                  <a:pt x="68403" y="52083"/>
                </a:lnTo>
                <a:lnTo>
                  <a:pt x="68403" y="51389"/>
                </a:lnTo>
                <a:lnTo>
                  <a:pt x="68403" y="50694"/>
                </a:lnTo>
                <a:lnTo>
                  <a:pt x="65972" y="47569"/>
                </a:lnTo>
                <a:lnTo>
                  <a:pt x="64583" y="46875"/>
                </a:lnTo>
                <a:lnTo>
                  <a:pt x="63889" y="46875"/>
                </a:lnTo>
                <a:lnTo>
                  <a:pt x="63194" y="46875"/>
                </a:lnTo>
                <a:close/>
                <a:moveTo>
                  <a:pt x="47569" y="61806"/>
                </a:moveTo>
                <a:lnTo>
                  <a:pt x="50694" y="61458"/>
                </a:lnTo>
                <a:lnTo>
                  <a:pt x="51042" y="61806"/>
                </a:lnTo>
                <a:lnTo>
                  <a:pt x="51389" y="62153"/>
                </a:lnTo>
                <a:lnTo>
                  <a:pt x="52083" y="62153"/>
                </a:lnTo>
                <a:lnTo>
                  <a:pt x="52778" y="62153"/>
                </a:lnTo>
                <a:lnTo>
                  <a:pt x="55903" y="65278"/>
                </a:lnTo>
                <a:lnTo>
                  <a:pt x="55903" y="65972"/>
                </a:lnTo>
                <a:lnTo>
                  <a:pt x="55903" y="66667"/>
                </a:lnTo>
                <a:lnTo>
                  <a:pt x="56944" y="67708"/>
                </a:lnTo>
                <a:lnTo>
                  <a:pt x="58333" y="67014"/>
                </a:lnTo>
                <a:lnTo>
                  <a:pt x="61111" y="67014"/>
                </a:lnTo>
                <a:lnTo>
                  <a:pt x="61458" y="67361"/>
                </a:lnTo>
                <a:lnTo>
                  <a:pt x="61806" y="67708"/>
                </a:lnTo>
                <a:lnTo>
                  <a:pt x="65972" y="67708"/>
                </a:lnTo>
                <a:lnTo>
                  <a:pt x="66319" y="67361"/>
                </a:lnTo>
                <a:lnTo>
                  <a:pt x="66667" y="67014"/>
                </a:lnTo>
                <a:lnTo>
                  <a:pt x="74306" y="67014"/>
                </a:lnTo>
                <a:lnTo>
                  <a:pt x="75347" y="68056"/>
                </a:lnTo>
                <a:lnTo>
                  <a:pt x="75347" y="68750"/>
                </a:lnTo>
                <a:lnTo>
                  <a:pt x="74306" y="69792"/>
                </a:lnTo>
                <a:lnTo>
                  <a:pt x="56944" y="69792"/>
                </a:lnTo>
                <a:lnTo>
                  <a:pt x="55903" y="70833"/>
                </a:lnTo>
                <a:lnTo>
                  <a:pt x="55208" y="72917"/>
                </a:lnTo>
                <a:lnTo>
                  <a:pt x="53472" y="74653"/>
                </a:lnTo>
                <a:lnTo>
                  <a:pt x="51389" y="75347"/>
                </a:lnTo>
                <a:lnTo>
                  <a:pt x="47222" y="75347"/>
                </a:lnTo>
                <a:lnTo>
                  <a:pt x="45833" y="74653"/>
                </a:lnTo>
                <a:lnTo>
                  <a:pt x="43403" y="72222"/>
                </a:lnTo>
                <a:lnTo>
                  <a:pt x="42361" y="69792"/>
                </a:lnTo>
                <a:lnTo>
                  <a:pt x="23611" y="69792"/>
                </a:lnTo>
                <a:lnTo>
                  <a:pt x="22569" y="68750"/>
                </a:lnTo>
                <a:lnTo>
                  <a:pt x="22569" y="68056"/>
                </a:lnTo>
                <a:lnTo>
                  <a:pt x="23611" y="67014"/>
                </a:lnTo>
                <a:lnTo>
                  <a:pt x="29861" y="67014"/>
                </a:lnTo>
                <a:lnTo>
                  <a:pt x="30208" y="67361"/>
                </a:lnTo>
                <a:lnTo>
                  <a:pt x="30556" y="67708"/>
                </a:lnTo>
                <a:lnTo>
                  <a:pt x="36806" y="67708"/>
                </a:lnTo>
                <a:lnTo>
                  <a:pt x="37153" y="67361"/>
                </a:lnTo>
                <a:lnTo>
                  <a:pt x="37500" y="67014"/>
                </a:lnTo>
                <a:lnTo>
                  <a:pt x="42361" y="67014"/>
                </a:lnTo>
                <a:lnTo>
                  <a:pt x="43403" y="64583"/>
                </a:lnTo>
                <a:lnTo>
                  <a:pt x="45833" y="62153"/>
                </a:lnTo>
                <a:lnTo>
                  <a:pt x="47569" y="61806"/>
                </a:lnTo>
                <a:close/>
                <a:moveTo>
                  <a:pt x="47917" y="64236"/>
                </a:moveTo>
                <a:lnTo>
                  <a:pt x="45486" y="65972"/>
                </a:lnTo>
                <a:lnTo>
                  <a:pt x="44792" y="69444"/>
                </a:lnTo>
                <a:lnTo>
                  <a:pt x="46528" y="72569"/>
                </a:lnTo>
                <a:lnTo>
                  <a:pt x="47917" y="73264"/>
                </a:lnTo>
                <a:lnTo>
                  <a:pt x="50694" y="73264"/>
                </a:lnTo>
                <a:lnTo>
                  <a:pt x="51389" y="73264"/>
                </a:lnTo>
                <a:lnTo>
                  <a:pt x="53819" y="70139"/>
                </a:lnTo>
                <a:lnTo>
                  <a:pt x="53819" y="66667"/>
                </a:lnTo>
                <a:lnTo>
                  <a:pt x="51389" y="64236"/>
                </a:lnTo>
                <a:lnTo>
                  <a:pt x="47917" y="64236"/>
                </a:lnTo>
                <a:close/>
              </a:path>
            </a:pathLst>
          </a:custGeom>
          <a:solidFill>
            <a:srgbClr val="FFFFFF"/>
          </a:solidFill>
          <a:ln>
            <a:noFill/>
          </a:ln>
        </p:spPr>
        <p:txBody>
          <a:bodyPr/>
          <a:p/>
        </p:txBody>
      </p:sp>
      <p:sp>
        <p:nvSpPr>
          <p:cNvPr id="22" name="Shape 19"/>
          <p:cNvSpPr/>
          <p:nvPr/>
        </p:nvSpPr>
        <p:spPr>
          <a:xfrm>
            <a:off x="1929384" y="4709160"/>
            <a:ext cx="448056" cy="448056"/>
          </a:xfrm>
          <a:prstGeom prst="ellipse">
            <a:avLst/>
          </a:prstGeom>
          <a:solidFill>
            <a:srgbClr val="1D4ED8"/>
          </a:solidFill>
          <a:ln w="12700">
            <a:solidFill>
              <a:srgbClr val="1D4ED8">
                <a:alpha val="0"/>
              </a:srgbClr>
            </a:solidFill>
            <a:prstDash val="solid"/>
          </a:ln>
        </p:spPr>
        <p:txBody>
          <a:bodyPr/>
          <a:p/>
        </p:txBody>
      </p:sp>
      <p:sp>
        <p:nvSpPr>
          <p:cNvPr id="23" name="Text 20"/>
          <p:cNvSpPr/>
          <p:nvPr/>
        </p:nvSpPr>
        <p:spPr>
          <a:xfrm>
            <a:off x="1938528" y="4818888"/>
            <a:ext cx="411480" cy="164592"/>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Segoe UI" pitchFamily="34" charset="-122"/>
                <a:cs typeface="Segoe UI" pitchFamily="34" charset="-120"/>
              </a:rPr>
              <a:t>02</a:t>
            </a:r>
            <a:endParaRPr lang="en-US" sz="1400" dirty="0"/>
          </a:p>
        </p:txBody>
      </p:sp>
      <p:sp>
        <p:nvSpPr>
          <p:cNvPr id="24" name="Text 21"/>
          <p:cNvSpPr/>
          <p:nvPr/>
        </p:nvSpPr>
        <p:spPr>
          <a:xfrm>
            <a:off x="1920240" y="5138928"/>
            <a:ext cx="2304288" cy="557784"/>
          </a:xfrm>
          <a:prstGeom prst="rect">
            <a:avLst/>
          </a:prstGeom>
          <a:noFill/>
          <a:ln/>
        </p:spPr>
        <p:txBody>
          <a:bodyPr wrap="square" lIns="0" tIns="0" rIns="0" bIns="0" rtlCol="0" anchor="ctr"/>
          <a:lstStyle/>
          <a:p>
            <a:pPr indent="0" marL="0">
              <a:buNone/>
            </a:pPr>
            <a:r>
              <a:rPr lang="en-US" sz="1800" b="1" dirty="0">
                <a:solidFill>
                  <a:srgbClr val="17324D"/>
                </a:solidFill>
                <a:latin typeface="Aptos" pitchFamily="34" charset="0"/>
                <a:ea typeface="Segoe UI" pitchFamily="34" charset="-122"/>
                <a:cs typeface="Segoe UI" pitchFamily="34" charset="-120"/>
              </a:rPr>
              <a:t>Standardisation</a:t>
            </a:r>
            <a:endParaRPr lang="en-US" sz="1800" dirty="0"/>
          </a:p>
          <a:p>
            <a:pPr indent="0" marL="0">
              <a:buNone/>
            </a:pPr>
            <a:r>
              <a:rPr lang="en-US" sz="1800" b="1" dirty="0">
                <a:solidFill>
                  <a:srgbClr val="17324D"/>
                </a:solidFill>
                <a:latin typeface="Aptos" pitchFamily="34" charset="0"/>
                <a:ea typeface="Segoe UI" pitchFamily="34" charset="-122"/>
                <a:cs typeface="Segoe UI" pitchFamily="34" charset="-120"/>
              </a:rPr>
              <a:t>des variables</a:t>
            </a:r>
            <a:endParaRPr lang="en-US" sz="1800" dirty="0"/>
          </a:p>
        </p:txBody>
      </p:sp>
      <p:sp>
        <p:nvSpPr>
          <p:cNvPr id="25" name="Shape 22"/>
          <p:cNvSpPr/>
          <p:nvPr/>
        </p:nvSpPr>
        <p:spPr>
          <a:xfrm>
            <a:off x="5001768" y="2999232"/>
            <a:ext cx="3255264" cy="1408176"/>
          </a:xfrm>
          <a:prstGeom prst="roundRect">
            <a:avLst>
              <a:gd name="adj" fmla="val 9091"/>
            </a:avLst>
          </a:prstGeom>
          <a:solidFill>
            <a:srgbClr val="FFFFFF"/>
          </a:solidFill>
          <a:ln w="12700">
            <a:solidFill>
              <a:srgbClr val="FFFFFF">
                <a:alpha val="0"/>
              </a:srgbClr>
            </a:solidFill>
            <a:prstDash val="solid"/>
          </a:ln>
        </p:spPr>
        <p:txBody>
          <a:bodyPr/>
          <a:p/>
        </p:txBody>
      </p:sp>
      <p:sp>
        <p:nvSpPr>
          <p:cNvPr id="26" name="Shape 23"/>
          <p:cNvSpPr/>
          <p:nvPr/>
        </p:nvSpPr>
        <p:spPr>
          <a:xfrm>
            <a:off x="5202936" y="3209544"/>
            <a:ext cx="1024128" cy="1024128"/>
          </a:xfrm>
          <a:prstGeom prst="ellipse">
            <a:avLst/>
          </a:prstGeom>
          <a:solidFill>
            <a:srgbClr val="6D28D9"/>
          </a:solidFill>
          <a:ln w="12700">
            <a:solidFill>
              <a:srgbClr val="6D28D9">
                <a:alpha val="0"/>
              </a:srgbClr>
            </a:solidFill>
            <a:prstDash val="solid"/>
          </a:ln>
        </p:spPr>
        <p:txBody>
          <a:bodyPr/>
          <a:p/>
        </p:txBody>
      </p:sp>
      <p:sp>
        <p:nvSpPr>
          <p:cNvPr id="27" name="VECTOR_pca_21"/>
          <p:cNvSpPr/>
          <p:nvPr/>
        </p:nvSpPr>
        <p:spPr>
          <a:xfrm>
            <a:off x="5202936" y="3209544"/>
            <a:ext cx="1024128" cy="1024128"/>
          </a:xfrm>
          <a:custGeom>
            <a:avLst/>
            <a:gdLst/>
            <a:ahLst/>
            <a:cxnLst/>
            <a:rect l="0" t="0" r="r" b="b"/>
            <a:pathLst>
              <a:path w="100000" h="100000" fill="norm" stroke="false" extrusionOk="false">
                <a:moveTo>
                  <a:pt x="23264" y="24306"/>
                </a:moveTo>
                <a:lnTo>
                  <a:pt x="23611" y="23958"/>
                </a:lnTo>
                <a:lnTo>
                  <a:pt x="25000" y="24653"/>
                </a:lnTo>
                <a:lnTo>
                  <a:pt x="30208" y="30556"/>
                </a:lnTo>
                <a:lnTo>
                  <a:pt x="30208" y="31250"/>
                </a:lnTo>
                <a:lnTo>
                  <a:pt x="29167" y="32292"/>
                </a:lnTo>
                <a:lnTo>
                  <a:pt x="28472" y="32292"/>
                </a:lnTo>
                <a:lnTo>
                  <a:pt x="26042" y="29861"/>
                </a:lnTo>
                <a:lnTo>
                  <a:pt x="26042" y="29167"/>
                </a:lnTo>
                <a:lnTo>
                  <a:pt x="25694" y="28819"/>
                </a:lnTo>
                <a:lnTo>
                  <a:pt x="24653" y="29861"/>
                </a:lnTo>
                <a:lnTo>
                  <a:pt x="24653" y="72917"/>
                </a:lnTo>
                <a:lnTo>
                  <a:pt x="25000" y="73264"/>
                </a:lnTo>
                <a:lnTo>
                  <a:pt x="70139" y="73264"/>
                </a:lnTo>
                <a:lnTo>
                  <a:pt x="70486" y="72917"/>
                </a:lnTo>
                <a:lnTo>
                  <a:pt x="67708" y="70139"/>
                </a:lnTo>
                <a:lnTo>
                  <a:pt x="67014" y="68750"/>
                </a:lnTo>
                <a:lnTo>
                  <a:pt x="68056" y="67708"/>
                </a:lnTo>
                <a:lnTo>
                  <a:pt x="68750" y="67708"/>
                </a:lnTo>
                <a:lnTo>
                  <a:pt x="69444" y="67708"/>
                </a:lnTo>
                <a:lnTo>
                  <a:pt x="76042" y="74306"/>
                </a:lnTo>
                <a:lnTo>
                  <a:pt x="74306" y="76042"/>
                </a:lnTo>
                <a:lnTo>
                  <a:pt x="71181" y="79167"/>
                </a:lnTo>
                <a:lnTo>
                  <a:pt x="71181" y="79861"/>
                </a:lnTo>
                <a:lnTo>
                  <a:pt x="69444" y="81597"/>
                </a:lnTo>
                <a:lnTo>
                  <a:pt x="68750" y="81597"/>
                </a:lnTo>
                <a:lnTo>
                  <a:pt x="67708" y="80556"/>
                </a:lnTo>
                <a:lnTo>
                  <a:pt x="67708" y="79861"/>
                </a:lnTo>
                <a:lnTo>
                  <a:pt x="67708" y="79167"/>
                </a:lnTo>
                <a:lnTo>
                  <a:pt x="68056" y="78819"/>
                </a:lnTo>
                <a:lnTo>
                  <a:pt x="68750" y="78819"/>
                </a:lnTo>
                <a:lnTo>
                  <a:pt x="69097" y="78472"/>
                </a:lnTo>
                <a:lnTo>
                  <a:pt x="69097" y="77778"/>
                </a:lnTo>
                <a:lnTo>
                  <a:pt x="70486" y="77083"/>
                </a:lnTo>
                <a:lnTo>
                  <a:pt x="70486" y="76389"/>
                </a:lnTo>
                <a:lnTo>
                  <a:pt x="70139" y="76042"/>
                </a:lnTo>
                <a:lnTo>
                  <a:pt x="59028" y="76042"/>
                </a:lnTo>
                <a:lnTo>
                  <a:pt x="58681" y="75694"/>
                </a:lnTo>
                <a:lnTo>
                  <a:pt x="58333" y="75347"/>
                </a:lnTo>
                <a:lnTo>
                  <a:pt x="57639" y="75347"/>
                </a:lnTo>
                <a:lnTo>
                  <a:pt x="56944" y="75347"/>
                </a:lnTo>
                <a:lnTo>
                  <a:pt x="56597" y="75694"/>
                </a:lnTo>
                <a:lnTo>
                  <a:pt x="56250" y="76042"/>
                </a:lnTo>
                <a:lnTo>
                  <a:pt x="23611" y="76042"/>
                </a:lnTo>
                <a:lnTo>
                  <a:pt x="22569" y="75000"/>
                </a:lnTo>
                <a:lnTo>
                  <a:pt x="22569" y="67361"/>
                </a:lnTo>
                <a:lnTo>
                  <a:pt x="22222" y="67014"/>
                </a:lnTo>
                <a:lnTo>
                  <a:pt x="21875" y="66667"/>
                </a:lnTo>
                <a:lnTo>
                  <a:pt x="21875" y="59028"/>
                </a:lnTo>
                <a:lnTo>
                  <a:pt x="22222" y="58681"/>
                </a:lnTo>
                <a:lnTo>
                  <a:pt x="22569" y="58333"/>
                </a:lnTo>
                <a:lnTo>
                  <a:pt x="22569" y="29861"/>
                </a:lnTo>
                <a:lnTo>
                  <a:pt x="22222" y="29514"/>
                </a:lnTo>
                <a:lnTo>
                  <a:pt x="21528" y="29514"/>
                </a:lnTo>
                <a:lnTo>
                  <a:pt x="18056" y="32986"/>
                </a:lnTo>
                <a:lnTo>
                  <a:pt x="16319" y="31250"/>
                </a:lnTo>
                <a:lnTo>
                  <a:pt x="16319" y="30556"/>
                </a:lnTo>
                <a:lnTo>
                  <a:pt x="17361" y="29514"/>
                </a:lnTo>
                <a:lnTo>
                  <a:pt x="18056" y="29514"/>
                </a:lnTo>
                <a:lnTo>
                  <a:pt x="22222" y="24653"/>
                </a:lnTo>
                <a:lnTo>
                  <a:pt x="22917" y="24653"/>
                </a:lnTo>
                <a:lnTo>
                  <a:pt x="23264" y="24306"/>
                </a:lnTo>
                <a:close/>
                <a:moveTo>
                  <a:pt x="63542" y="30556"/>
                </a:moveTo>
                <a:lnTo>
                  <a:pt x="63889" y="30208"/>
                </a:lnTo>
                <a:lnTo>
                  <a:pt x="64583" y="30208"/>
                </a:lnTo>
                <a:lnTo>
                  <a:pt x="64931" y="30556"/>
                </a:lnTo>
                <a:lnTo>
                  <a:pt x="65278" y="30903"/>
                </a:lnTo>
                <a:lnTo>
                  <a:pt x="65972" y="30903"/>
                </a:lnTo>
                <a:lnTo>
                  <a:pt x="66667" y="30903"/>
                </a:lnTo>
                <a:lnTo>
                  <a:pt x="68403" y="33333"/>
                </a:lnTo>
                <a:lnTo>
                  <a:pt x="68403" y="35417"/>
                </a:lnTo>
                <a:lnTo>
                  <a:pt x="67708" y="36806"/>
                </a:lnTo>
                <a:lnTo>
                  <a:pt x="65625" y="38194"/>
                </a:lnTo>
                <a:lnTo>
                  <a:pt x="63194" y="38542"/>
                </a:lnTo>
                <a:lnTo>
                  <a:pt x="60764" y="36111"/>
                </a:lnTo>
                <a:lnTo>
                  <a:pt x="60764" y="32639"/>
                </a:lnTo>
                <a:lnTo>
                  <a:pt x="62500" y="30903"/>
                </a:lnTo>
                <a:lnTo>
                  <a:pt x="63194" y="30903"/>
                </a:lnTo>
                <a:lnTo>
                  <a:pt x="63542" y="30556"/>
                </a:lnTo>
                <a:close/>
                <a:moveTo>
                  <a:pt x="51042" y="44444"/>
                </a:moveTo>
                <a:lnTo>
                  <a:pt x="53472" y="44097"/>
                </a:lnTo>
                <a:lnTo>
                  <a:pt x="54861" y="44792"/>
                </a:lnTo>
                <a:lnTo>
                  <a:pt x="56597" y="47222"/>
                </a:lnTo>
                <a:lnTo>
                  <a:pt x="56597" y="49306"/>
                </a:lnTo>
                <a:lnTo>
                  <a:pt x="55903" y="50694"/>
                </a:lnTo>
                <a:lnTo>
                  <a:pt x="53819" y="52083"/>
                </a:lnTo>
                <a:lnTo>
                  <a:pt x="51389" y="52431"/>
                </a:lnTo>
                <a:lnTo>
                  <a:pt x="50000" y="51736"/>
                </a:lnTo>
                <a:lnTo>
                  <a:pt x="48264" y="49306"/>
                </a:lnTo>
                <a:lnTo>
                  <a:pt x="48264" y="47222"/>
                </a:lnTo>
                <a:lnTo>
                  <a:pt x="48958" y="45833"/>
                </a:lnTo>
                <a:lnTo>
                  <a:pt x="51042" y="44444"/>
                </a:lnTo>
                <a:close/>
                <a:moveTo>
                  <a:pt x="37847" y="49306"/>
                </a:moveTo>
                <a:lnTo>
                  <a:pt x="38194" y="48958"/>
                </a:lnTo>
                <a:lnTo>
                  <a:pt x="38889" y="48958"/>
                </a:lnTo>
                <a:lnTo>
                  <a:pt x="40625" y="50694"/>
                </a:lnTo>
                <a:lnTo>
                  <a:pt x="40625" y="51389"/>
                </a:lnTo>
                <a:lnTo>
                  <a:pt x="40625" y="52083"/>
                </a:lnTo>
                <a:lnTo>
                  <a:pt x="39583" y="53125"/>
                </a:lnTo>
                <a:lnTo>
                  <a:pt x="37500" y="53125"/>
                </a:lnTo>
                <a:lnTo>
                  <a:pt x="36458" y="51389"/>
                </a:lnTo>
                <a:lnTo>
                  <a:pt x="36458" y="50694"/>
                </a:lnTo>
                <a:lnTo>
                  <a:pt x="37847" y="49306"/>
                </a:lnTo>
                <a:close/>
                <a:moveTo>
                  <a:pt x="34375" y="59722"/>
                </a:moveTo>
                <a:lnTo>
                  <a:pt x="34722" y="59375"/>
                </a:lnTo>
                <a:lnTo>
                  <a:pt x="36111" y="60069"/>
                </a:lnTo>
                <a:lnTo>
                  <a:pt x="37847" y="61806"/>
                </a:lnTo>
                <a:lnTo>
                  <a:pt x="37847" y="64583"/>
                </a:lnTo>
                <a:lnTo>
                  <a:pt x="36111" y="66319"/>
                </a:lnTo>
                <a:lnTo>
                  <a:pt x="35417" y="66319"/>
                </a:lnTo>
                <a:lnTo>
                  <a:pt x="34722" y="66319"/>
                </a:lnTo>
                <a:lnTo>
                  <a:pt x="32639" y="66319"/>
                </a:lnTo>
                <a:lnTo>
                  <a:pt x="30903" y="63889"/>
                </a:lnTo>
                <a:lnTo>
                  <a:pt x="30903" y="63194"/>
                </a:lnTo>
                <a:lnTo>
                  <a:pt x="30903" y="62500"/>
                </a:lnTo>
                <a:lnTo>
                  <a:pt x="31597" y="61111"/>
                </a:lnTo>
                <a:lnTo>
                  <a:pt x="32639" y="60069"/>
                </a:lnTo>
                <a:lnTo>
                  <a:pt x="34375" y="59722"/>
                </a:lnTo>
                <a:close/>
                <a:moveTo>
                  <a:pt x="50347" y="60417"/>
                </a:moveTo>
                <a:lnTo>
                  <a:pt x="52083" y="60069"/>
                </a:lnTo>
                <a:lnTo>
                  <a:pt x="53819" y="61806"/>
                </a:lnTo>
                <a:lnTo>
                  <a:pt x="53819" y="62500"/>
                </a:lnTo>
                <a:lnTo>
                  <a:pt x="53819" y="63194"/>
                </a:lnTo>
                <a:lnTo>
                  <a:pt x="52778" y="64236"/>
                </a:lnTo>
                <a:lnTo>
                  <a:pt x="52431" y="64583"/>
                </a:lnTo>
                <a:lnTo>
                  <a:pt x="52083" y="64931"/>
                </a:lnTo>
                <a:lnTo>
                  <a:pt x="51389" y="64931"/>
                </a:lnTo>
                <a:lnTo>
                  <a:pt x="50694" y="64931"/>
                </a:lnTo>
                <a:lnTo>
                  <a:pt x="49653" y="63889"/>
                </a:lnTo>
                <a:lnTo>
                  <a:pt x="49653" y="61111"/>
                </a:lnTo>
                <a:lnTo>
                  <a:pt x="50000" y="60764"/>
                </a:lnTo>
                <a:lnTo>
                  <a:pt x="50347" y="60417"/>
                </a:lnTo>
                <a:close/>
              </a:path>
            </a:pathLst>
          </a:custGeom>
          <a:solidFill>
            <a:srgbClr val="FFFFFF"/>
          </a:solidFill>
          <a:ln>
            <a:noFill/>
          </a:ln>
        </p:spPr>
        <p:txBody>
          <a:bodyPr/>
          <a:p/>
        </p:txBody>
      </p:sp>
      <p:sp>
        <p:nvSpPr>
          <p:cNvPr id="28" name="Shape 25"/>
          <p:cNvSpPr/>
          <p:nvPr/>
        </p:nvSpPr>
        <p:spPr>
          <a:xfrm>
            <a:off x="6409944" y="3163824"/>
            <a:ext cx="448056" cy="448056"/>
          </a:xfrm>
          <a:prstGeom prst="ellipse">
            <a:avLst/>
          </a:prstGeom>
          <a:solidFill>
            <a:srgbClr val="1D4ED8"/>
          </a:solidFill>
          <a:ln w="12700">
            <a:solidFill>
              <a:srgbClr val="1D4ED8">
                <a:alpha val="0"/>
              </a:srgbClr>
            </a:solidFill>
            <a:prstDash val="solid"/>
          </a:ln>
        </p:spPr>
        <p:txBody>
          <a:bodyPr/>
          <a:p/>
        </p:txBody>
      </p:sp>
      <p:sp>
        <p:nvSpPr>
          <p:cNvPr id="29" name="Text 26"/>
          <p:cNvSpPr/>
          <p:nvPr/>
        </p:nvSpPr>
        <p:spPr>
          <a:xfrm>
            <a:off x="6419088" y="3273552"/>
            <a:ext cx="411480" cy="164592"/>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Segoe UI" pitchFamily="34" charset="-122"/>
                <a:cs typeface="Segoe UI" pitchFamily="34" charset="-120"/>
              </a:rPr>
              <a:t>03</a:t>
            </a:r>
            <a:endParaRPr lang="en-US" sz="1400" dirty="0"/>
          </a:p>
        </p:txBody>
      </p:sp>
      <p:sp>
        <p:nvSpPr>
          <p:cNvPr id="30" name="Text 27"/>
          <p:cNvSpPr/>
          <p:nvPr/>
        </p:nvSpPr>
        <p:spPr>
          <a:xfrm>
            <a:off x="6400800" y="3685032"/>
            <a:ext cx="1828800" cy="484632"/>
          </a:xfrm>
          <a:prstGeom prst="rect">
            <a:avLst/>
          </a:prstGeom>
          <a:noFill/>
          <a:ln/>
        </p:spPr>
        <p:txBody>
          <a:bodyPr wrap="square" lIns="0" tIns="0" rIns="0" bIns="0" rtlCol="0" anchor="ctr"/>
          <a:lstStyle/>
          <a:p>
            <a:pPr indent="0" marL="0">
              <a:buNone/>
            </a:pPr>
            <a:r>
              <a:rPr lang="en-US" sz="1550" b="1" dirty="0">
                <a:solidFill>
                  <a:srgbClr val="17324D"/>
                </a:solidFill>
                <a:latin typeface="Aptos" pitchFamily="34" charset="0"/>
                <a:ea typeface="Segoe UI" pitchFamily="34" charset="-122"/>
                <a:cs typeface="Segoe UI" pitchFamily="34" charset="-120"/>
              </a:rPr>
              <a:t>Réduction de</a:t>
            </a:r>
            <a:endParaRPr lang="en-US" sz="1550" dirty="0"/>
          </a:p>
          <a:p>
            <a:pPr indent="0" marL="0">
              <a:buNone/>
            </a:pPr>
            <a:r>
              <a:rPr lang="en-US" sz="1550" b="1" dirty="0">
                <a:solidFill>
                  <a:srgbClr val="17324D"/>
                </a:solidFill>
                <a:latin typeface="Aptos" pitchFamily="34" charset="0"/>
                <a:ea typeface="Segoe UI" pitchFamily="34" charset="-122"/>
                <a:cs typeface="Segoe UI" pitchFamily="34" charset="-120"/>
              </a:rPr>
              <a:t>dimension (ACP)</a:t>
            </a:r>
            <a:endParaRPr lang="en-US" sz="1550" dirty="0"/>
          </a:p>
        </p:txBody>
      </p:sp>
      <p:sp>
        <p:nvSpPr>
          <p:cNvPr id="31" name="Shape 28"/>
          <p:cNvSpPr/>
          <p:nvPr/>
        </p:nvSpPr>
        <p:spPr>
          <a:xfrm>
            <a:off x="5001768" y="4553712"/>
            <a:ext cx="3255264" cy="1408176"/>
          </a:xfrm>
          <a:prstGeom prst="roundRect">
            <a:avLst>
              <a:gd name="adj" fmla="val 9091"/>
            </a:avLst>
          </a:prstGeom>
          <a:solidFill>
            <a:srgbClr val="FFFFFF"/>
          </a:solidFill>
          <a:ln w="12700">
            <a:solidFill>
              <a:srgbClr val="FFFFFF">
                <a:alpha val="0"/>
              </a:srgbClr>
            </a:solidFill>
            <a:prstDash val="solid"/>
          </a:ln>
        </p:spPr>
        <p:txBody>
          <a:bodyPr/>
          <a:p/>
        </p:txBody>
      </p:sp>
      <p:sp>
        <p:nvSpPr>
          <p:cNvPr id="32" name="Shape 29"/>
          <p:cNvSpPr/>
          <p:nvPr/>
        </p:nvSpPr>
        <p:spPr>
          <a:xfrm>
            <a:off x="5202936" y="4764024"/>
            <a:ext cx="1024128" cy="1024128"/>
          </a:xfrm>
          <a:prstGeom prst="ellipse">
            <a:avLst/>
          </a:prstGeom>
          <a:solidFill>
            <a:srgbClr val="1D4ED8"/>
          </a:solidFill>
          <a:ln w="12700">
            <a:solidFill>
              <a:srgbClr val="1D4ED8">
                <a:alpha val="0"/>
              </a:srgbClr>
            </a:solidFill>
            <a:prstDash val="solid"/>
          </a:ln>
        </p:spPr>
        <p:txBody>
          <a:bodyPr/>
          <a:p/>
        </p:txBody>
      </p:sp>
      <p:sp>
        <p:nvSpPr>
          <p:cNvPr id="33" name="VECTOR_hierarchy_22"/>
          <p:cNvSpPr/>
          <p:nvPr/>
        </p:nvSpPr>
        <p:spPr>
          <a:xfrm>
            <a:off x="5202936" y="4764024"/>
            <a:ext cx="1024128" cy="1024128"/>
          </a:xfrm>
          <a:custGeom>
            <a:avLst/>
            <a:gdLst/>
            <a:ahLst/>
            <a:cxnLst/>
            <a:rect l="0" t="0" r="r" b="b"/>
            <a:pathLst>
              <a:path w="100000" h="100000" fill="norm" stroke="false" extrusionOk="false">
                <a:moveTo>
                  <a:pt x="43403" y="25000"/>
                </a:moveTo>
                <a:lnTo>
                  <a:pt x="43750" y="24653"/>
                </a:lnTo>
                <a:lnTo>
                  <a:pt x="49306" y="24653"/>
                </a:lnTo>
                <a:lnTo>
                  <a:pt x="50694" y="25347"/>
                </a:lnTo>
                <a:lnTo>
                  <a:pt x="53125" y="27778"/>
                </a:lnTo>
                <a:lnTo>
                  <a:pt x="53819" y="29167"/>
                </a:lnTo>
                <a:lnTo>
                  <a:pt x="53819" y="34028"/>
                </a:lnTo>
                <a:lnTo>
                  <a:pt x="53125" y="35417"/>
                </a:lnTo>
                <a:lnTo>
                  <a:pt x="50000" y="38542"/>
                </a:lnTo>
                <a:lnTo>
                  <a:pt x="47569" y="39583"/>
                </a:lnTo>
                <a:lnTo>
                  <a:pt x="47569" y="46528"/>
                </a:lnTo>
                <a:lnTo>
                  <a:pt x="47917" y="46875"/>
                </a:lnTo>
                <a:lnTo>
                  <a:pt x="68750" y="46875"/>
                </a:lnTo>
                <a:lnTo>
                  <a:pt x="69097" y="47222"/>
                </a:lnTo>
                <a:lnTo>
                  <a:pt x="69097" y="58333"/>
                </a:lnTo>
                <a:lnTo>
                  <a:pt x="72917" y="60069"/>
                </a:lnTo>
                <a:lnTo>
                  <a:pt x="74653" y="61806"/>
                </a:lnTo>
                <a:lnTo>
                  <a:pt x="74653" y="62500"/>
                </a:lnTo>
                <a:lnTo>
                  <a:pt x="74653" y="63194"/>
                </a:lnTo>
                <a:lnTo>
                  <a:pt x="75000" y="63542"/>
                </a:lnTo>
                <a:lnTo>
                  <a:pt x="75347" y="63889"/>
                </a:lnTo>
                <a:lnTo>
                  <a:pt x="75347" y="67361"/>
                </a:lnTo>
                <a:lnTo>
                  <a:pt x="73958" y="70139"/>
                </a:lnTo>
                <a:lnTo>
                  <a:pt x="72917" y="71181"/>
                </a:lnTo>
                <a:lnTo>
                  <a:pt x="70139" y="72569"/>
                </a:lnTo>
                <a:lnTo>
                  <a:pt x="65972" y="72569"/>
                </a:lnTo>
                <a:lnTo>
                  <a:pt x="64583" y="71875"/>
                </a:lnTo>
                <a:lnTo>
                  <a:pt x="61458" y="68750"/>
                </a:lnTo>
                <a:lnTo>
                  <a:pt x="61458" y="66667"/>
                </a:lnTo>
                <a:lnTo>
                  <a:pt x="60764" y="65278"/>
                </a:lnTo>
                <a:lnTo>
                  <a:pt x="61111" y="64931"/>
                </a:lnTo>
                <a:lnTo>
                  <a:pt x="61458" y="64583"/>
                </a:lnTo>
                <a:lnTo>
                  <a:pt x="61458" y="63889"/>
                </a:lnTo>
                <a:lnTo>
                  <a:pt x="61458" y="63194"/>
                </a:lnTo>
                <a:lnTo>
                  <a:pt x="62153" y="61806"/>
                </a:lnTo>
                <a:lnTo>
                  <a:pt x="64583" y="59375"/>
                </a:lnTo>
                <a:lnTo>
                  <a:pt x="65278" y="59375"/>
                </a:lnTo>
                <a:lnTo>
                  <a:pt x="65972" y="59375"/>
                </a:lnTo>
                <a:lnTo>
                  <a:pt x="67014" y="58333"/>
                </a:lnTo>
                <a:lnTo>
                  <a:pt x="67014" y="49306"/>
                </a:lnTo>
                <a:lnTo>
                  <a:pt x="66667" y="48958"/>
                </a:lnTo>
                <a:lnTo>
                  <a:pt x="47917" y="48958"/>
                </a:lnTo>
                <a:lnTo>
                  <a:pt x="47569" y="49306"/>
                </a:lnTo>
                <a:lnTo>
                  <a:pt x="47569" y="58333"/>
                </a:lnTo>
                <a:lnTo>
                  <a:pt x="50000" y="59375"/>
                </a:lnTo>
                <a:lnTo>
                  <a:pt x="53125" y="62500"/>
                </a:lnTo>
                <a:lnTo>
                  <a:pt x="53125" y="63194"/>
                </a:lnTo>
                <a:lnTo>
                  <a:pt x="53125" y="63889"/>
                </a:lnTo>
                <a:lnTo>
                  <a:pt x="53472" y="64236"/>
                </a:lnTo>
                <a:lnTo>
                  <a:pt x="53819" y="64583"/>
                </a:lnTo>
                <a:lnTo>
                  <a:pt x="53819" y="66667"/>
                </a:lnTo>
                <a:lnTo>
                  <a:pt x="53472" y="67014"/>
                </a:lnTo>
                <a:lnTo>
                  <a:pt x="53125" y="67361"/>
                </a:lnTo>
                <a:lnTo>
                  <a:pt x="53125" y="68056"/>
                </a:lnTo>
                <a:lnTo>
                  <a:pt x="53125" y="68750"/>
                </a:lnTo>
                <a:lnTo>
                  <a:pt x="50000" y="71875"/>
                </a:lnTo>
                <a:lnTo>
                  <a:pt x="49306" y="71875"/>
                </a:lnTo>
                <a:lnTo>
                  <a:pt x="48958" y="72222"/>
                </a:lnTo>
                <a:lnTo>
                  <a:pt x="48611" y="72569"/>
                </a:lnTo>
                <a:lnTo>
                  <a:pt x="44444" y="72569"/>
                </a:lnTo>
                <a:lnTo>
                  <a:pt x="41667" y="71181"/>
                </a:lnTo>
                <a:lnTo>
                  <a:pt x="39236" y="68056"/>
                </a:lnTo>
                <a:lnTo>
                  <a:pt x="39236" y="63194"/>
                </a:lnTo>
                <a:lnTo>
                  <a:pt x="39931" y="61806"/>
                </a:lnTo>
                <a:lnTo>
                  <a:pt x="42361" y="59375"/>
                </a:lnTo>
                <a:lnTo>
                  <a:pt x="45486" y="58333"/>
                </a:lnTo>
                <a:lnTo>
                  <a:pt x="45486" y="49306"/>
                </a:lnTo>
                <a:lnTo>
                  <a:pt x="45139" y="48958"/>
                </a:lnTo>
                <a:lnTo>
                  <a:pt x="27083" y="48958"/>
                </a:lnTo>
                <a:lnTo>
                  <a:pt x="26042" y="50000"/>
                </a:lnTo>
                <a:lnTo>
                  <a:pt x="26042" y="58333"/>
                </a:lnTo>
                <a:lnTo>
                  <a:pt x="28472" y="59375"/>
                </a:lnTo>
                <a:lnTo>
                  <a:pt x="30903" y="61806"/>
                </a:lnTo>
                <a:lnTo>
                  <a:pt x="32292" y="64583"/>
                </a:lnTo>
                <a:lnTo>
                  <a:pt x="32292" y="67361"/>
                </a:lnTo>
                <a:lnTo>
                  <a:pt x="30903" y="70139"/>
                </a:lnTo>
                <a:lnTo>
                  <a:pt x="29861" y="71181"/>
                </a:lnTo>
                <a:lnTo>
                  <a:pt x="27083" y="72569"/>
                </a:lnTo>
                <a:lnTo>
                  <a:pt x="22222" y="72569"/>
                </a:lnTo>
                <a:lnTo>
                  <a:pt x="19097" y="70139"/>
                </a:lnTo>
                <a:lnTo>
                  <a:pt x="18403" y="68750"/>
                </a:lnTo>
                <a:lnTo>
                  <a:pt x="18403" y="68056"/>
                </a:lnTo>
                <a:lnTo>
                  <a:pt x="18403" y="67361"/>
                </a:lnTo>
                <a:lnTo>
                  <a:pt x="18056" y="67014"/>
                </a:lnTo>
                <a:lnTo>
                  <a:pt x="17708" y="66667"/>
                </a:lnTo>
                <a:lnTo>
                  <a:pt x="17708" y="63889"/>
                </a:lnTo>
                <a:lnTo>
                  <a:pt x="19097" y="61111"/>
                </a:lnTo>
                <a:lnTo>
                  <a:pt x="20139" y="60069"/>
                </a:lnTo>
                <a:lnTo>
                  <a:pt x="23958" y="58333"/>
                </a:lnTo>
                <a:lnTo>
                  <a:pt x="23958" y="47222"/>
                </a:lnTo>
                <a:lnTo>
                  <a:pt x="24306" y="46875"/>
                </a:lnTo>
                <a:lnTo>
                  <a:pt x="45139" y="46875"/>
                </a:lnTo>
                <a:lnTo>
                  <a:pt x="45486" y="46528"/>
                </a:lnTo>
                <a:lnTo>
                  <a:pt x="45486" y="39583"/>
                </a:lnTo>
                <a:lnTo>
                  <a:pt x="41667" y="37847"/>
                </a:lnTo>
                <a:lnTo>
                  <a:pt x="39236" y="34722"/>
                </a:lnTo>
                <a:lnTo>
                  <a:pt x="39236" y="29167"/>
                </a:lnTo>
                <a:lnTo>
                  <a:pt x="39931" y="27778"/>
                </a:lnTo>
                <a:lnTo>
                  <a:pt x="42361" y="25347"/>
                </a:lnTo>
                <a:lnTo>
                  <a:pt x="43056" y="25347"/>
                </a:lnTo>
                <a:lnTo>
                  <a:pt x="43403" y="25000"/>
                </a:lnTo>
                <a:close/>
                <a:moveTo>
                  <a:pt x="46528" y="26042"/>
                </a:moveTo>
                <a:lnTo>
                  <a:pt x="46181" y="26389"/>
                </a:lnTo>
                <a:lnTo>
                  <a:pt x="45833" y="26736"/>
                </a:lnTo>
                <a:lnTo>
                  <a:pt x="45139" y="26736"/>
                </a:lnTo>
                <a:lnTo>
                  <a:pt x="44444" y="26736"/>
                </a:lnTo>
                <a:lnTo>
                  <a:pt x="43056" y="27431"/>
                </a:lnTo>
                <a:lnTo>
                  <a:pt x="41319" y="29861"/>
                </a:lnTo>
                <a:lnTo>
                  <a:pt x="41319" y="33333"/>
                </a:lnTo>
                <a:lnTo>
                  <a:pt x="42014" y="34722"/>
                </a:lnTo>
                <a:lnTo>
                  <a:pt x="43750" y="36458"/>
                </a:lnTo>
                <a:lnTo>
                  <a:pt x="45139" y="37153"/>
                </a:lnTo>
                <a:lnTo>
                  <a:pt x="45833" y="37153"/>
                </a:lnTo>
                <a:lnTo>
                  <a:pt x="46528" y="37153"/>
                </a:lnTo>
                <a:lnTo>
                  <a:pt x="47222" y="37153"/>
                </a:lnTo>
                <a:lnTo>
                  <a:pt x="47917" y="37153"/>
                </a:lnTo>
                <a:lnTo>
                  <a:pt x="49306" y="36458"/>
                </a:lnTo>
                <a:lnTo>
                  <a:pt x="51736" y="33333"/>
                </a:lnTo>
                <a:lnTo>
                  <a:pt x="51736" y="30556"/>
                </a:lnTo>
                <a:lnTo>
                  <a:pt x="50347" y="27778"/>
                </a:lnTo>
                <a:lnTo>
                  <a:pt x="48611" y="26736"/>
                </a:lnTo>
                <a:lnTo>
                  <a:pt x="47917" y="26736"/>
                </a:lnTo>
                <a:lnTo>
                  <a:pt x="47222" y="26736"/>
                </a:lnTo>
                <a:lnTo>
                  <a:pt x="46875" y="26389"/>
                </a:lnTo>
                <a:lnTo>
                  <a:pt x="46528" y="26042"/>
                </a:lnTo>
                <a:close/>
                <a:moveTo>
                  <a:pt x="23611" y="60764"/>
                </a:moveTo>
                <a:lnTo>
                  <a:pt x="20486" y="63194"/>
                </a:lnTo>
                <a:lnTo>
                  <a:pt x="19792" y="66667"/>
                </a:lnTo>
                <a:lnTo>
                  <a:pt x="22222" y="69792"/>
                </a:lnTo>
                <a:lnTo>
                  <a:pt x="23611" y="70486"/>
                </a:lnTo>
                <a:lnTo>
                  <a:pt x="26389" y="70486"/>
                </a:lnTo>
                <a:lnTo>
                  <a:pt x="28819" y="68750"/>
                </a:lnTo>
                <a:lnTo>
                  <a:pt x="30208" y="65278"/>
                </a:lnTo>
                <a:lnTo>
                  <a:pt x="29861" y="64931"/>
                </a:lnTo>
                <a:lnTo>
                  <a:pt x="29514" y="64583"/>
                </a:lnTo>
                <a:lnTo>
                  <a:pt x="29514" y="63889"/>
                </a:lnTo>
                <a:lnTo>
                  <a:pt x="29514" y="63194"/>
                </a:lnTo>
                <a:lnTo>
                  <a:pt x="27778" y="61458"/>
                </a:lnTo>
                <a:lnTo>
                  <a:pt x="26389" y="60764"/>
                </a:lnTo>
                <a:lnTo>
                  <a:pt x="23611" y="60764"/>
                </a:lnTo>
                <a:close/>
                <a:moveTo>
                  <a:pt x="45139" y="60764"/>
                </a:moveTo>
                <a:lnTo>
                  <a:pt x="42014" y="63194"/>
                </a:lnTo>
                <a:lnTo>
                  <a:pt x="41319" y="64583"/>
                </a:lnTo>
                <a:lnTo>
                  <a:pt x="41319" y="66667"/>
                </a:lnTo>
                <a:lnTo>
                  <a:pt x="42014" y="68056"/>
                </a:lnTo>
                <a:lnTo>
                  <a:pt x="44444" y="70486"/>
                </a:lnTo>
                <a:lnTo>
                  <a:pt x="47222" y="70486"/>
                </a:lnTo>
                <a:lnTo>
                  <a:pt x="49306" y="69792"/>
                </a:lnTo>
                <a:lnTo>
                  <a:pt x="50347" y="68750"/>
                </a:lnTo>
                <a:lnTo>
                  <a:pt x="51042" y="67361"/>
                </a:lnTo>
                <a:lnTo>
                  <a:pt x="51042" y="63194"/>
                </a:lnTo>
                <a:lnTo>
                  <a:pt x="47917" y="60764"/>
                </a:lnTo>
                <a:lnTo>
                  <a:pt x="45139" y="60764"/>
                </a:lnTo>
                <a:close/>
                <a:moveTo>
                  <a:pt x="66667" y="60764"/>
                </a:moveTo>
                <a:lnTo>
                  <a:pt x="63542" y="63194"/>
                </a:lnTo>
                <a:lnTo>
                  <a:pt x="63542" y="63889"/>
                </a:lnTo>
                <a:lnTo>
                  <a:pt x="63542" y="64583"/>
                </a:lnTo>
                <a:lnTo>
                  <a:pt x="62847" y="65972"/>
                </a:lnTo>
                <a:lnTo>
                  <a:pt x="64236" y="68750"/>
                </a:lnTo>
                <a:lnTo>
                  <a:pt x="65278" y="69792"/>
                </a:lnTo>
                <a:lnTo>
                  <a:pt x="66667" y="70486"/>
                </a:lnTo>
                <a:lnTo>
                  <a:pt x="69444" y="70486"/>
                </a:lnTo>
                <a:lnTo>
                  <a:pt x="72569" y="68056"/>
                </a:lnTo>
                <a:lnTo>
                  <a:pt x="73264" y="66667"/>
                </a:lnTo>
                <a:lnTo>
                  <a:pt x="73264" y="64583"/>
                </a:lnTo>
                <a:lnTo>
                  <a:pt x="72569" y="63194"/>
                </a:lnTo>
                <a:lnTo>
                  <a:pt x="70139" y="60764"/>
                </a:lnTo>
                <a:lnTo>
                  <a:pt x="66667" y="60764"/>
                </a:lnTo>
                <a:close/>
              </a:path>
            </a:pathLst>
          </a:custGeom>
          <a:solidFill>
            <a:srgbClr val="FFFFFF"/>
          </a:solidFill>
          <a:ln>
            <a:noFill/>
          </a:ln>
        </p:spPr>
        <p:txBody>
          <a:bodyPr/>
          <a:p/>
        </p:txBody>
      </p:sp>
      <p:sp>
        <p:nvSpPr>
          <p:cNvPr id="34" name="Shape 31"/>
          <p:cNvSpPr/>
          <p:nvPr/>
        </p:nvSpPr>
        <p:spPr>
          <a:xfrm>
            <a:off x="6409944" y="4718304"/>
            <a:ext cx="448056" cy="448056"/>
          </a:xfrm>
          <a:prstGeom prst="ellipse">
            <a:avLst/>
          </a:prstGeom>
          <a:solidFill>
            <a:srgbClr val="1D4ED8"/>
          </a:solidFill>
          <a:ln w="12700">
            <a:solidFill>
              <a:srgbClr val="1D4ED8">
                <a:alpha val="0"/>
              </a:srgbClr>
            </a:solidFill>
            <a:prstDash val="solid"/>
          </a:ln>
        </p:spPr>
        <p:txBody>
          <a:bodyPr/>
          <a:p/>
        </p:txBody>
      </p:sp>
      <p:sp>
        <p:nvSpPr>
          <p:cNvPr id="35" name="Text 32"/>
          <p:cNvSpPr/>
          <p:nvPr/>
        </p:nvSpPr>
        <p:spPr>
          <a:xfrm>
            <a:off x="6419088" y="4828032"/>
            <a:ext cx="411480" cy="164592"/>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Segoe UI" pitchFamily="34" charset="-122"/>
                <a:cs typeface="Segoe UI" pitchFamily="34" charset="-120"/>
              </a:rPr>
              <a:t>04</a:t>
            </a:r>
            <a:endParaRPr lang="en-US" sz="1400" dirty="0"/>
          </a:p>
        </p:txBody>
      </p:sp>
      <p:sp>
        <p:nvSpPr>
          <p:cNvPr id="36" name="Text 33"/>
          <p:cNvSpPr/>
          <p:nvPr/>
        </p:nvSpPr>
        <p:spPr>
          <a:xfrm>
            <a:off x="6400800" y="5239512"/>
            <a:ext cx="1828800" cy="484632"/>
          </a:xfrm>
          <a:prstGeom prst="rect">
            <a:avLst/>
          </a:prstGeom>
          <a:noFill/>
          <a:ln/>
        </p:spPr>
        <p:txBody>
          <a:bodyPr wrap="square" lIns="0" tIns="0" rIns="0" bIns="0" rtlCol="0" anchor="ctr"/>
          <a:lstStyle/>
          <a:p>
            <a:pPr indent="0" marL="0">
              <a:buNone/>
            </a:pPr>
            <a:r>
              <a:rPr lang="en-US" sz="1550" b="1" dirty="0">
                <a:solidFill>
                  <a:srgbClr val="17324D"/>
                </a:solidFill>
                <a:latin typeface="Aptos" pitchFamily="34" charset="0"/>
                <a:ea typeface="Segoe UI" pitchFamily="34" charset="-122"/>
                <a:cs typeface="Segoe UI" pitchFamily="34" charset="-120"/>
              </a:rPr>
              <a:t>Clustering</a:t>
            </a:r>
            <a:endParaRPr lang="en-US" sz="1550" dirty="0"/>
          </a:p>
          <a:p>
            <a:pPr indent="0" marL="0">
              <a:buNone/>
            </a:pPr>
            <a:r>
              <a:rPr lang="en-US" sz="1550" b="1" dirty="0">
                <a:solidFill>
                  <a:srgbClr val="17324D"/>
                </a:solidFill>
                <a:latin typeface="Aptos" pitchFamily="34" charset="0"/>
                <a:ea typeface="Segoe UI" pitchFamily="34" charset="-122"/>
                <a:cs typeface="Segoe UI" pitchFamily="34" charset="-120"/>
              </a:rPr>
              <a:t>agglomératif</a:t>
            </a:r>
            <a:endParaRPr lang="en-US" sz="1550" dirty="0"/>
          </a:p>
        </p:txBody>
      </p:sp>
      <p:sp>
        <p:nvSpPr>
          <p:cNvPr id="37" name="Text 34"/>
          <p:cNvSpPr/>
          <p:nvPr/>
        </p:nvSpPr>
        <p:spPr>
          <a:xfrm>
            <a:off x="6409944" y="5742432"/>
            <a:ext cx="1746504" cy="182880"/>
          </a:xfrm>
          <a:prstGeom prst="rect">
            <a:avLst/>
          </a:prstGeom>
          <a:noFill/>
          <a:ln/>
        </p:spPr>
        <p:txBody>
          <a:bodyPr wrap="square" lIns="0" tIns="0" rIns="0" bIns="0" rtlCol="0" anchor="ctr"/>
          <a:lstStyle/>
          <a:p>
            <a:pPr indent="0" marL="0">
              <a:buNone/>
            </a:pPr>
            <a:r>
              <a:rPr lang="en-US" sz="1200" dirty="0">
                <a:solidFill>
                  <a:srgbClr val="17324D"/>
                </a:solidFill>
                <a:latin typeface="Aptos" pitchFamily="34" charset="0"/>
                <a:ea typeface="Segoe UI" pitchFamily="34" charset="-122"/>
                <a:cs typeface="Segoe UI" pitchFamily="34" charset="-120"/>
              </a:rPr>
              <a:t>Critère de Ward</a:t>
            </a:r>
            <a:endParaRPr lang="en-US" sz="1200" dirty="0"/>
          </a:p>
        </p:txBody>
      </p:sp>
      <p:sp>
        <p:nvSpPr>
          <p:cNvPr id="38" name="Shape 35"/>
          <p:cNvSpPr/>
          <p:nvPr/>
        </p:nvSpPr>
        <p:spPr>
          <a:xfrm>
            <a:off x="4370832" y="3721608"/>
            <a:ext cx="374904" cy="283464"/>
          </a:xfrm>
          <a:prstGeom prst="rightArrow">
            <a:avLst/>
          </a:prstGeom>
          <a:solidFill>
            <a:srgbClr val="1D4ED8"/>
          </a:solidFill>
          <a:ln w="12700">
            <a:solidFill>
              <a:srgbClr val="1D4ED8">
                <a:alpha val="0"/>
              </a:srgbClr>
            </a:solidFill>
            <a:prstDash val="solid"/>
          </a:ln>
        </p:spPr>
        <p:txBody>
          <a:bodyPr/>
          <a:p/>
        </p:txBody>
      </p:sp>
      <p:sp>
        <p:nvSpPr>
          <p:cNvPr id="39" name="Shape 36"/>
          <p:cNvSpPr/>
          <p:nvPr/>
        </p:nvSpPr>
        <p:spPr>
          <a:xfrm>
            <a:off x="8485632" y="3721608"/>
            <a:ext cx="356616" cy="283464"/>
          </a:xfrm>
          <a:prstGeom prst="rightArrow">
            <a:avLst/>
          </a:prstGeom>
          <a:solidFill>
            <a:srgbClr val="1D4ED8"/>
          </a:solidFill>
          <a:ln w="12700">
            <a:solidFill>
              <a:srgbClr val="1D4ED8">
                <a:alpha val="0"/>
              </a:srgbClr>
            </a:solidFill>
            <a:prstDash val="solid"/>
          </a:ln>
        </p:spPr>
        <p:txBody>
          <a:bodyPr/>
          <a:p/>
        </p:txBody>
      </p:sp>
      <p:sp>
        <p:nvSpPr>
          <p:cNvPr id="40" name="Shape 37"/>
          <p:cNvSpPr/>
          <p:nvPr/>
        </p:nvSpPr>
        <p:spPr>
          <a:xfrm>
            <a:off x="9079992" y="3136392"/>
            <a:ext cx="2587752" cy="2834640"/>
          </a:xfrm>
          <a:prstGeom prst="roundRect">
            <a:avLst>
              <a:gd name="adj" fmla="val 4947"/>
            </a:avLst>
          </a:prstGeom>
          <a:solidFill>
            <a:srgbClr val="FFFFFF"/>
          </a:solidFill>
          <a:ln w="12700">
            <a:solidFill>
              <a:srgbClr val="FFFFFF">
                <a:alpha val="0"/>
              </a:srgbClr>
            </a:solidFill>
            <a:prstDash val="solid"/>
          </a:ln>
        </p:spPr>
        <p:txBody>
          <a:bodyPr/>
          <a:p/>
        </p:txBody>
      </p:sp>
      <p:sp>
        <p:nvSpPr>
          <p:cNvPr id="41" name="Shape 38"/>
          <p:cNvSpPr/>
          <p:nvPr/>
        </p:nvSpPr>
        <p:spPr>
          <a:xfrm>
            <a:off x="9802368" y="3374136"/>
            <a:ext cx="1234440" cy="1234440"/>
          </a:xfrm>
          <a:prstGeom prst="ellipse">
            <a:avLst/>
          </a:prstGeom>
          <a:solidFill>
            <a:srgbClr val="17324D"/>
          </a:solidFill>
          <a:ln w="12700">
            <a:solidFill>
              <a:srgbClr val="17324D">
                <a:alpha val="0"/>
              </a:srgbClr>
            </a:solidFill>
            <a:prstDash val="solid"/>
          </a:ln>
        </p:spPr>
        <p:txBody>
          <a:bodyPr/>
          <a:p/>
        </p:txBody>
      </p:sp>
      <p:sp>
        <p:nvSpPr>
          <p:cNvPr id="42" name="VECTOR_people3_23"/>
          <p:cNvSpPr/>
          <p:nvPr/>
        </p:nvSpPr>
        <p:spPr>
          <a:xfrm>
            <a:off x="9802368" y="3374136"/>
            <a:ext cx="1234440" cy="1234440"/>
          </a:xfrm>
          <a:custGeom>
            <a:avLst/>
            <a:gdLst/>
            <a:ahLst/>
            <a:cxnLst/>
            <a:rect l="0" t="0" r="r" b="b"/>
            <a:pathLst>
              <a:path w="100000" h="100000" fill="norm" stroke="false" extrusionOk="false">
                <a:moveTo>
                  <a:pt x="47768" y="28571"/>
                </a:moveTo>
                <a:lnTo>
                  <a:pt x="48214" y="28125"/>
                </a:lnTo>
                <a:lnTo>
                  <a:pt x="52679" y="28125"/>
                </a:lnTo>
                <a:lnTo>
                  <a:pt x="56250" y="29911"/>
                </a:lnTo>
                <a:lnTo>
                  <a:pt x="56696" y="30357"/>
                </a:lnTo>
                <a:lnTo>
                  <a:pt x="56696" y="31250"/>
                </a:lnTo>
                <a:lnTo>
                  <a:pt x="58482" y="33036"/>
                </a:lnTo>
                <a:lnTo>
                  <a:pt x="58482" y="33929"/>
                </a:lnTo>
                <a:lnTo>
                  <a:pt x="58482" y="34821"/>
                </a:lnTo>
                <a:lnTo>
                  <a:pt x="58929" y="35268"/>
                </a:lnTo>
                <a:lnTo>
                  <a:pt x="59375" y="35714"/>
                </a:lnTo>
                <a:lnTo>
                  <a:pt x="58482" y="40179"/>
                </a:lnTo>
                <a:lnTo>
                  <a:pt x="57589" y="41964"/>
                </a:lnTo>
                <a:lnTo>
                  <a:pt x="54018" y="44643"/>
                </a:lnTo>
                <a:lnTo>
                  <a:pt x="53571" y="45089"/>
                </a:lnTo>
                <a:lnTo>
                  <a:pt x="48214" y="45089"/>
                </a:lnTo>
                <a:lnTo>
                  <a:pt x="46429" y="44196"/>
                </a:lnTo>
                <a:lnTo>
                  <a:pt x="43304" y="41071"/>
                </a:lnTo>
                <a:lnTo>
                  <a:pt x="43304" y="40179"/>
                </a:lnTo>
                <a:lnTo>
                  <a:pt x="43304" y="39286"/>
                </a:lnTo>
                <a:lnTo>
                  <a:pt x="42857" y="38839"/>
                </a:lnTo>
                <a:lnTo>
                  <a:pt x="42411" y="38393"/>
                </a:lnTo>
                <a:lnTo>
                  <a:pt x="42411" y="34821"/>
                </a:lnTo>
                <a:lnTo>
                  <a:pt x="42857" y="34375"/>
                </a:lnTo>
                <a:lnTo>
                  <a:pt x="43304" y="33929"/>
                </a:lnTo>
                <a:lnTo>
                  <a:pt x="43304" y="33036"/>
                </a:lnTo>
                <a:lnTo>
                  <a:pt x="43304" y="32143"/>
                </a:lnTo>
                <a:lnTo>
                  <a:pt x="46429" y="29018"/>
                </a:lnTo>
                <a:lnTo>
                  <a:pt x="47321" y="29018"/>
                </a:lnTo>
                <a:lnTo>
                  <a:pt x="47768" y="28571"/>
                </a:lnTo>
                <a:close/>
                <a:moveTo>
                  <a:pt x="48214" y="30804"/>
                </a:moveTo>
                <a:lnTo>
                  <a:pt x="45982" y="32143"/>
                </a:lnTo>
                <a:lnTo>
                  <a:pt x="44196" y="35714"/>
                </a:lnTo>
                <a:lnTo>
                  <a:pt x="44196" y="36607"/>
                </a:lnTo>
                <a:lnTo>
                  <a:pt x="44196" y="37500"/>
                </a:lnTo>
                <a:lnTo>
                  <a:pt x="45982" y="41071"/>
                </a:lnTo>
                <a:lnTo>
                  <a:pt x="48214" y="43304"/>
                </a:lnTo>
                <a:lnTo>
                  <a:pt x="52679" y="43304"/>
                </a:lnTo>
                <a:lnTo>
                  <a:pt x="54464" y="42411"/>
                </a:lnTo>
                <a:lnTo>
                  <a:pt x="56696" y="39286"/>
                </a:lnTo>
                <a:lnTo>
                  <a:pt x="56696" y="33929"/>
                </a:lnTo>
                <a:lnTo>
                  <a:pt x="53571" y="30804"/>
                </a:lnTo>
                <a:lnTo>
                  <a:pt x="48214" y="30804"/>
                </a:lnTo>
                <a:close/>
                <a:moveTo>
                  <a:pt x="28125" y="37500"/>
                </a:moveTo>
                <a:lnTo>
                  <a:pt x="28571" y="37054"/>
                </a:lnTo>
                <a:lnTo>
                  <a:pt x="33036" y="37054"/>
                </a:lnTo>
                <a:lnTo>
                  <a:pt x="36161" y="39286"/>
                </a:lnTo>
                <a:lnTo>
                  <a:pt x="37054" y="41071"/>
                </a:lnTo>
                <a:lnTo>
                  <a:pt x="37054" y="41964"/>
                </a:lnTo>
                <a:lnTo>
                  <a:pt x="37054" y="42857"/>
                </a:lnTo>
                <a:lnTo>
                  <a:pt x="37500" y="43304"/>
                </a:lnTo>
                <a:lnTo>
                  <a:pt x="37946" y="43750"/>
                </a:lnTo>
                <a:lnTo>
                  <a:pt x="37500" y="44196"/>
                </a:lnTo>
                <a:lnTo>
                  <a:pt x="37054" y="44643"/>
                </a:lnTo>
                <a:lnTo>
                  <a:pt x="37054" y="45536"/>
                </a:lnTo>
                <a:lnTo>
                  <a:pt x="37054" y="46429"/>
                </a:lnTo>
                <a:lnTo>
                  <a:pt x="34821" y="48661"/>
                </a:lnTo>
                <a:lnTo>
                  <a:pt x="33929" y="48661"/>
                </a:lnTo>
                <a:lnTo>
                  <a:pt x="33482" y="49107"/>
                </a:lnTo>
                <a:lnTo>
                  <a:pt x="33036" y="49554"/>
                </a:lnTo>
                <a:lnTo>
                  <a:pt x="28571" y="49554"/>
                </a:lnTo>
                <a:lnTo>
                  <a:pt x="25446" y="47321"/>
                </a:lnTo>
                <a:lnTo>
                  <a:pt x="24554" y="45536"/>
                </a:lnTo>
                <a:lnTo>
                  <a:pt x="24554" y="41071"/>
                </a:lnTo>
                <a:lnTo>
                  <a:pt x="25446" y="39286"/>
                </a:lnTo>
                <a:lnTo>
                  <a:pt x="28125" y="37500"/>
                </a:lnTo>
                <a:close/>
                <a:moveTo>
                  <a:pt x="68304" y="37500"/>
                </a:moveTo>
                <a:lnTo>
                  <a:pt x="68750" y="37054"/>
                </a:lnTo>
                <a:lnTo>
                  <a:pt x="73214" y="37054"/>
                </a:lnTo>
                <a:lnTo>
                  <a:pt x="75000" y="37946"/>
                </a:lnTo>
                <a:lnTo>
                  <a:pt x="77232" y="41071"/>
                </a:lnTo>
                <a:lnTo>
                  <a:pt x="77232" y="45536"/>
                </a:lnTo>
                <a:lnTo>
                  <a:pt x="76339" y="47321"/>
                </a:lnTo>
                <a:lnTo>
                  <a:pt x="73214" y="49554"/>
                </a:lnTo>
                <a:lnTo>
                  <a:pt x="67857" y="49554"/>
                </a:lnTo>
                <a:lnTo>
                  <a:pt x="64732" y="46429"/>
                </a:lnTo>
                <a:lnTo>
                  <a:pt x="63839" y="44643"/>
                </a:lnTo>
                <a:lnTo>
                  <a:pt x="64732" y="40179"/>
                </a:lnTo>
                <a:lnTo>
                  <a:pt x="66964" y="37946"/>
                </a:lnTo>
                <a:lnTo>
                  <a:pt x="67857" y="37946"/>
                </a:lnTo>
                <a:lnTo>
                  <a:pt x="68304" y="37500"/>
                </a:lnTo>
                <a:close/>
                <a:moveTo>
                  <a:pt x="30357" y="38839"/>
                </a:moveTo>
                <a:lnTo>
                  <a:pt x="27232" y="41071"/>
                </a:lnTo>
                <a:lnTo>
                  <a:pt x="26339" y="43750"/>
                </a:lnTo>
                <a:lnTo>
                  <a:pt x="28571" y="47768"/>
                </a:lnTo>
                <a:lnTo>
                  <a:pt x="31250" y="47768"/>
                </a:lnTo>
                <a:lnTo>
                  <a:pt x="32143" y="47768"/>
                </a:lnTo>
                <a:lnTo>
                  <a:pt x="33036" y="47768"/>
                </a:lnTo>
                <a:lnTo>
                  <a:pt x="35268" y="45536"/>
                </a:lnTo>
                <a:lnTo>
                  <a:pt x="35268" y="41964"/>
                </a:lnTo>
                <a:lnTo>
                  <a:pt x="33036" y="39732"/>
                </a:lnTo>
                <a:lnTo>
                  <a:pt x="30357" y="38839"/>
                </a:lnTo>
                <a:close/>
                <a:moveTo>
                  <a:pt x="70536" y="38839"/>
                </a:moveTo>
                <a:lnTo>
                  <a:pt x="66518" y="41964"/>
                </a:lnTo>
                <a:lnTo>
                  <a:pt x="66518" y="45536"/>
                </a:lnTo>
                <a:lnTo>
                  <a:pt x="68750" y="47768"/>
                </a:lnTo>
                <a:lnTo>
                  <a:pt x="71429" y="47768"/>
                </a:lnTo>
                <a:lnTo>
                  <a:pt x="72321" y="47768"/>
                </a:lnTo>
                <a:lnTo>
                  <a:pt x="75446" y="44643"/>
                </a:lnTo>
                <a:lnTo>
                  <a:pt x="75446" y="43750"/>
                </a:lnTo>
                <a:lnTo>
                  <a:pt x="75446" y="42857"/>
                </a:lnTo>
                <a:lnTo>
                  <a:pt x="73214" y="39732"/>
                </a:lnTo>
                <a:lnTo>
                  <a:pt x="70536" y="38839"/>
                </a:lnTo>
                <a:close/>
                <a:moveTo>
                  <a:pt x="46875" y="48214"/>
                </a:moveTo>
                <a:lnTo>
                  <a:pt x="47321" y="47768"/>
                </a:lnTo>
                <a:lnTo>
                  <a:pt x="54464" y="47768"/>
                </a:lnTo>
                <a:lnTo>
                  <a:pt x="58036" y="49554"/>
                </a:lnTo>
                <a:lnTo>
                  <a:pt x="62054" y="53571"/>
                </a:lnTo>
                <a:lnTo>
                  <a:pt x="62946" y="55357"/>
                </a:lnTo>
                <a:lnTo>
                  <a:pt x="62946" y="56250"/>
                </a:lnTo>
                <a:lnTo>
                  <a:pt x="62946" y="57143"/>
                </a:lnTo>
                <a:lnTo>
                  <a:pt x="63393" y="57589"/>
                </a:lnTo>
                <a:lnTo>
                  <a:pt x="63839" y="58036"/>
                </a:lnTo>
                <a:lnTo>
                  <a:pt x="63839" y="66964"/>
                </a:lnTo>
                <a:lnTo>
                  <a:pt x="63393" y="67411"/>
                </a:lnTo>
                <a:lnTo>
                  <a:pt x="54464" y="67411"/>
                </a:lnTo>
                <a:lnTo>
                  <a:pt x="37500" y="67411"/>
                </a:lnTo>
                <a:lnTo>
                  <a:pt x="37054" y="66964"/>
                </a:lnTo>
                <a:lnTo>
                  <a:pt x="37054" y="58036"/>
                </a:lnTo>
                <a:lnTo>
                  <a:pt x="38839" y="54464"/>
                </a:lnTo>
                <a:lnTo>
                  <a:pt x="40625" y="52679"/>
                </a:lnTo>
                <a:lnTo>
                  <a:pt x="40625" y="51786"/>
                </a:lnTo>
                <a:lnTo>
                  <a:pt x="41071" y="51339"/>
                </a:lnTo>
                <a:lnTo>
                  <a:pt x="41964" y="51339"/>
                </a:lnTo>
                <a:lnTo>
                  <a:pt x="43750" y="49554"/>
                </a:lnTo>
                <a:lnTo>
                  <a:pt x="46875" y="48214"/>
                </a:lnTo>
                <a:close/>
                <a:moveTo>
                  <a:pt x="49107" y="49554"/>
                </a:moveTo>
                <a:lnTo>
                  <a:pt x="48661" y="50000"/>
                </a:lnTo>
                <a:lnTo>
                  <a:pt x="48214" y="50446"/>
                </a:lnTo>
                <a:lnTo>
                  <a:pt x="47321" y="50446"/>
                </a:lnTo>
                <a:lnTo>
                  <a:pt x="46429" y="50446"/>
                </a:lnTo>
                <a:lnTo>
                  <a:pt x="44643" y="51339"/>
                </a:lnTo>
                <a:lnTo>
                  <a:pt x="41518" y="54464"/>
                </a:lnTo>
                <a:lnTo>
                  <a:pt x="39732" y="58036"/>
                </a:lnTo>
                <a:lnTo>
                  <a:pt x="39732" y="65179"/>
                </a:lnTo>
                <a:lnTo>
                  <a:pt x="40179" y="65625"/>
                </a:lnTo>
                <a:lnTo>
                  <a:pt x="52679" y="65625"/>
                </a:lnTo>
                <a:lnTo>
                  <a:pt x="61607" y="65625"/>
                </a:lnTo>
                <a:lnTo>
                  <a:pt x="62054" y="65179"/>
                </a:lnTo>
                <a:lnTo>
                  <a:pt x="62054" y="58036"/>
                </a:lnTo>
                <a:lnTo>
                  <a:pt x="59375" y="54464"/>
                </a:lnTo>
                <a:lnTo>
                  <a:pt x="59375" y="53571"/>
                </a:lnTo>
                <a:lnTo>
                  <a:pt x="55357" y="50446"/>
                </a:lnTo>
                <a:lnTo>
                  <a:pt x="54464" y="50446"/>
                </a:lnTo>
                <a:lnTo>
                  <a:pt x="53571" y="50446"/>
                </a:lnTo>
                <a:lnTo>
                  <a:pt x="53125" y="50000"/>
                </a:lnTo>
                <a:lnTo>
                  <a:pt x="52679" y="49554"/>
                </a:lnTo>
                <a:lnTo>
                  <a:pt x="49107" y="49554"/>
                </a:lnTo>
                <a:close/>
                <a:moveTo>
                  <a:pt x="28125" y="52679"/>
                </a:moveTo>
                <a:lnTo>
                  <a:pt x="28571" y="52232"/>
                </a:lnTo>
                <a:lnTo>
                  <a:pt x="33036" y="52232"/>
                </a:lnTo>
                <a:lnTo>
                  <a:pt x="35268" y="53571"/>
                </a:lnTo>
                <a:lnTo>
                  <a:pt x="35268" y="54464"/>
                </a:lnTo>
                <a:lnTo>
                  <a:pt x="34821" y="54911"/>
                </a:lnTo>
                <a:lnTo>
                  <a:pt x="34375" y="54464"/>
                </a:lnTo>
                <a:lnTo>
                  <a:pt x="33929" y="54018"/>
                </a:lnTo>
                <a:lnTo>
                  <a:pt x="28571" y="54018"/>
                </a:lnTo>
                <a:lnTo>
                  <a:pt x="26786" y="54911"/>
                </a:lnTo>
                <a:lnTo>
                  <a:pt x="23661" y="58036"/>
                </a:lnTo>
                <a:lnTo>
                  <a:pt x="23661" y="58929"/>
                </a:lnTo>
                <a:lnTo>
                  <a:pt x="23661" y="59821"/>
                </a:lnTo>
                <a:lnTo>
                  <a:pt x="23214" y="60268"/>
                </a:lnTo>
                <a:lnTo>
                  <a:pt x="22768" y="60714"/>
                </a:lnTo>
                <a:lnTo>
                  <a:pt x="22768" y="65179"/>
                </a:lnTo>
                <a:lnTo>
                  <a:pt x="23214" y="65625"/>
                </a:lnTo>
                <a:lnTo>
                  <a:pt x="28571" y="65625"/>
                </a:lnTo>
                <a:lnTo>
                  <a:pt x="33036" y="65625"/>
                </a:lnTo>
                <a:lnTo>
                  <a:pt x="33482" y="66071"/>
                </a:lnTo>
                <a:lnTo>
                  <a:pt x="33482" y="66964"/>
                </a:lnTo>
                <a:lnTo>
                  <a:pt x="33036" y="67411"/>
                </a:lnTo>
                <a:lnTo>
                  <a:pt x="21429" y="67411"/>
                </a:lnTo>
                <a:lnTo>
                  <a:pt x="20982" y="66964"/>
                </a:lnTo>
                <a:lnTo>
                  <a:pt x="20982" y="58929"/>
                </a:lnTo>
                <a:lnTo>
                  <a:pt x="21875" y="57143"/>
                </a:lnTo>
                <a:lnTo>
                  <a:pt x="25000" y="54018"/>
                </a:lnTo>
                <a:lnTo>
                  <a:pt x="28125" y="52679"/>
                </a:lnTo>
                <a:close/>
                <a:moveTo>
                  <a:pt x="67411" y="52679"/>
                </a:moveTo>
                <a:lnTo>
                  <a:pt x="67857" y="52232"/>
                </a:lnTo>
                <a:lnTo>
                  <a:pt x="72321" y="52232"/>
                </a:lnTo>
                <a:lnTo>
                  <a:pt x="72768" y="52679"/>
                </a:lnTo>
                <a:lnTo>
                  <a:pt x="73214" y="53125"/>
                </a:lnTo>
                <a:lnTo>
                  <a:pt x="74107" y="53125"/>
                </a:lnTo>
                <a:lnTo>
                  <a:pt x="75000" y="53125"/>
                </a:lnTo>
                <a:lnTo>
                  <a:pt x="76786" y="54018"/>
                </a:lnTo>
                <a:lnTo>
                  <a:pt x="79911" y="57143"/>
                </a:lnTo>
                <a:lnTo>
                  <a:pt x="79911" y="58036"/>
                </a:lnTo>
                <a:lnTo>
                  <a:pt x="79911" y="58929"/>
                </a:lnTo>
                <a:lnTo>
                  <a:pt x="80357" y="59375"/>
                </a:lnTo>
                <a:lnTo>
                  <a:pt x="80804" y="59821"/>
                </a:lnTo>
                <a:lnTo>
                  <a:pt x="80804" y="66964"/>
                </a:lnTo>
                <a:lnTo>
                  <a:pt x="80357" y="67411"/>
                </a:lnTo>
                <a:lnTo>
                  <a:pt x="67857" y="67411"/>
                </a:lnTo>
                <a:lnTo>
                  <a:pt x="67411" y="66964"/>
                </a:lnTo>
                <a:lnTo>
                  <a:pt x="67411" y="66071"/>
                </a:lnTo>
                <a:lnTo>
                  <a:pt x="67857" y="65625"/>
                </a:lnTo>
                <a:lnTo>
                  <a:pt x="77679" y="65625"/>
                </a:lnTo>
                <a:lnTo>
                  <a:pt x="79018" y="64286"/>
                </a:lnTo>
                <a:lnTo>
                  <a:pt x="79018" y="60714"/>
                </a:lnTo>
                <a:lnTo>
                  <a:pt x="77232" y="57143"/>
                </a:lnTo>
                <a:lnTo>
                  <a:pt x="75000" y="54911"/>
                </a:lnTo>
                <a:lnTo>
                  <a:pt x="73214" y="54018"/>
                </a:lnTo>
                <a:lnTo>
                  <a:pt x="67857" y="54018"/>
                </a:lnTo>
                <a:lnTo>
                  <a:pt x="67411" y="54464"/>
                </a:lnTo>
                <a:lnTo>
                  <a:pt x="66964" y="54911"/>
                </a:lnTo>
                <a:lnTo>
                  <a:pt x="66518" y="54464"/>
                </a:lnTo>
                <a:lnTo>
                  <a:pt x="66518" y="53571"/>
                </a:lnTo>
                <a:lnTo>
                  <a:pt x="66964" y="53125"/>
                </a:lnTo>
                <a:lnTo>
                  <a:pt x="67411" y="52679"/>
                </a:lnTo>
                <a:close/>
              </a:path>
            </a:pathLst>
          </a:custGeom>
          <a:solidFill>
            <a:srgbClr val="FFFFFF"/>
          </a:solidFill>
          <a:ln>
            <a:noFill/>
          </a:ln>
        </p:spPr>
        <p:txBody>
          <a:bodyPr/>
          <a:p/>
        </p:txBody>
      </p:sp>
      <p:sp>
        <p:nvSpPr>
          <p:cNvPr id="43" name="Shape 40"/>
          <p:cNvSpPr/>
          <p:nvPr/>
        </p:nvSpPr>
        <p:spPr>
          <a:xfrm>
            <a:off x="10195560" y="4645152"/>
            <a:ext cx="457200" cy="457200"/>
          </a:xfrm>
          <a:prstGeom prst="ellipse">
            <a:avLst/>
          </a:prstGeom>
          <a:solidFill>
            <a:srgbClr val="1D4ED8"/>
          </a:solidFill>
          <a:ln w="12700">
            <a:solidFill>
              <a:srgbClr val="1D4ED8">
                <a:alpha val="0"/>
              </a:srgbClr>
            </a:solidFill>
            <a:prstDash val="solid"/>
          </a:ln>
        </p:spPr>
        <p:txBody>
          <a:bodyPr/>
          <a:p/>
        </p:txBody>
      </p:sp>
      <p:sp>
        <p:nvSpPr>
          <p:cNvPr id="44" name="Text 41"/>
          <p:cNvSpPr/>
          <p:nvPr/>
        </p:nvSpPr>
        <p:spPr>
          <a:xfrm>
            <a:off x="10213848" y="4782312"/>
            <a:ext cx="411480" cy="137160"/>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Segoe UI" pitchFamily="34" charset="-122"/>
                <a:cs typeface="Segoe UI" pitchFamily="34" charset="-120"/>
              </a:rPr>
              <a:t>05</a:t>
            </a:r>
            <a:endParaRPr lang="en-US" sz="1400" dirty="0"/>
          </a:p>
        </p:txBody>
      </p:sp>
      <p:sp>
        <p:nvSpPr>
          <p:cNvPr id="45" name="Text 42"/>
          <p:cNvSpPr/>
          <p:nvPr/>
        </p:nvSpPr>
        <p:spPr>
          <a:xfrm>
            <a:off x="9208008" y="5230368"/>
            <a:ext cx="2368296" cy="576072"/>
          </a:xfrm>
          <a:prstGeom prst="rect">
            <a:avLst/>
          </a:prstGeom>
          <a:noFill/>
          <a:ln/>
        </p:spPr>
        <p:txBody>
          <a:bodyPr wrap="square" lIns="0" tIns="0" rIns="0" bIns="0" rtlCol="0" anchor="ctr"/>
          <a:lstStyle/>
          <a:p>
            <a:pPr algn="ctr" indent="0" marL="0">
              <a:buNone/>
            </a:pPr>
            <a:r>
              <a:rPr lang="en-US" sz="1800" b="1" dirty="0">
                <a:solidFill>
                  <a:srgbClr val="17324D"/>
                </a:solidFill>
                <a:latin typeface="Aptos" pitchFamily="34" charset="0"/>
                <a:ea typeface="Segoe UI" pitchFamily="34" charset="-122"/>
                <a:cs typeface="Segoe UI" pitchFamily="34" charset="-120"/>
              </a:rPr>
              <a:t>Évaluation puis</a:t>
            </a:r>
            <a:endParaRPr lang="en-US" sz="1800" dirty="0"/>
          </a:p>
          <a:p>
            <a:pPr algn="ctr" indent="0" marL="0">
              <a:buNone/>
            </a:pPr>
            <a:r>
              <a:rPr lang="en-US" sz="1800" b="1" dirty="0">
                <a:solidFill>
                  <a:srgbClr val="17324D"/>
                </a:solidFill>
                <a:latin typeface="Aptos" pitchFamily="34" charset="0"/>
                <a:ea typeface="Segoe UI" pitchFamily="34" charset="-122"/>
                <a:cs typeface="Segoe UI" pitchFamily="34" charset="-120"/>
              </a:rPr>
              <a:t>profilage des segments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4200" b="1" dirty="0">
                <a:solidFill>
                  <a:srgbClr val="2563EB"/>
                </a:solidFill>
                <a:latin typeface="Aptos" pitchFamily="34" charset="0"/>
                <a:ea typeface="Segoe UI" pitchFamily="34" charset="-122"/>
                <a:cs typeface="Segoe UI" pitchFamily="34" charset="-120"/>
              </a:rPr>
              <a:t>05. Préparation des données</a:t>
            </a:r>
            <a:endParaRPr lang="en-US" sz="42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700" dirty="0">
                <a:solidFill>
                  <a:srgbClr val="17324D"/>
                </a:solidFill>
                <a:latin typeface="Aptos" pitchFamily="34" charset="0"/>
                <a:ea typeface="Segoe UI" pitchFamily="34" charset="-122"/>
                <a:cs typeface="Segoe UI" pitchFamily="34" charset="-120"/>
              </a:rPr>
              <a:t>Après nettoyage, 2 212 clients et 23 variables numériques alimentent la segmentation.</a:t>
            </a:r>
            <a:endParaRPr lang="en-US" sz="170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Customer Personality Analysis · Projet collectif ENSEA · Abdoulaye KONE</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05</a:t>
            </a:r>
            <a:endParaRPr lang="en-US" sz="1000" dirty="0"/>
          </a:p>
        </p:txBody>
      </p:sp>
      <p:sp>
        <p:nvSpPr>
          <p:cNvPr id="7" name="Shape 4"/>
          <p:cNvSpPr/>
          <p:nvPr/>
        </p:nvSpPr>
        <p:spPr>
          <a:xfrm>
            <a:off x="384048" y="1819656"/>
            <a:ext cx="3154680" cy="1362456"/>
          </a:xfrm>
          <a:prstGeom prst="roundRect">
            <a:avLst>
              <a:gd name="adj" fmla="val 9396"/>
            </a:avLst>
          </a:prstGeom>
          <a:solidFill>
            <a:srgbClr val="F3F4F6"/>
          </a:solidFill>
          <a:ln w="12700">
            <a:solidFill>
              <a:srgbClr val="F3F4F6">
                <a:alpha val="0"/>
              </a:srgbClr>
            </a:solidFill>
            <a:prstDash val="solid"/>
          </a:ln>
        </p:spPr>
        <p:txBody>
          <a:bodyPr/>
          <a:p/>
        </p:txBody>
      </p:sp>
      <p:sp>
        <p:nvSpPr>
          <p:cNvPr id="8" name="Shape 5"/>
          <p:cNvSpPr/>
          <p:nvPr/>
        </p:nvSpPr>
        <p:spPr>
          <a:xfrm>
            <a:off x="502920" y="1947672"/>
            <a:ext cx="1097280" cy="1097280"/>
          </a:xfrm>
          <a:prstGeom prst="ellipse">
            <a:avLst/>
          </a:prstGeom>
          <a:solidFill>
            <a:srgbClr val="6D28D9"/>
          </a:solidFill>
          <a:ln w="12700">
            <a:solidFill>
              <a:srgbClr val="6D28D9">
                <a:alpha val="0"/>
              </a:srgbClr>
            </a:solidFill>
            <a:prstDash val="solid"/>
          </a:ln>
        </p:spPr>
        <p:txBody>
          <a:bodyPr/>
          <a:p/>
        </p:txBody>
      </p:sp>
      <p:sp>
        <p:nvSpPr>
          <p:cNvPr id="9" name="VECTOR_data_family_24"/>
          <p:cNvSpPr/>
          <p:nvPr/>
        </p:nvSpPr>
        <p:spPr>
          <a:xfrm>
            <a:off x="502920" y="1947672"/>
            <a:ext cx="1097280" cy="1097280"/>
          </a:xfrm>
          <a:custGeom>
            <a:avLst/>
            <a:gdLst/>
            <a:ahLst/>
            <a:cxnLst/>
            <a:rect l="0" t="0" r="r" b="b"/>
            <a:pathLst>
              <a:path w="100000" h="100000" fill="norm" stroke="false" extrusionOk="false">
                <a:moveTo>
                  <a:pt x="50974" y="27922"/>
                </a:moveTo>
                <a:lnTo>
                  <a:pt x="51299" y="27597"/>
                </a:lnTo>
                <a:lnTo>
                  <a:pt x="55844" y="27597"/>
                </a:lnTo>
                <a:lnTo>
                  <a:pt x="56169" y="27922"/>
                </a:lnTo>
                <a:lnTo>
                  <a:pt x="56494" y="28247"/>
                </a:lnTo>
                <a:lnTo>
                  <a:pt x="57143" y="28247"/>
                </a:lnTo>
                <a:lnTo>
                  <a:pt x="57792" y="28247"/>
                </a:lnTo>
                <a:lnTo>
                  <a:pt x="62013" y="31818"/>
                </a:lnTo>
                <a:lnTo>
                  <a:pt x="62662" y="33117"/>
                </a:lnTo>
                <a:lnTo>
                  <a:pt x="62662" y="33766"/>
                </a:lnTo>
                <a:lnTo>
                  <a:pt x="62662" y="34416"/>
                </a:lnTo>
                <a:lnTo>
                  <a:pt x="62987" y="34740"/>
                </a:lnTo>
                <a:lnTo>
                  <a:pt x="63312" y="35065"/>
                </a:lnTo>
                <a:lnTo>
                  <a:pt x="63312" y="38961"/>
                </a:lnTo>
                <a:lnTo>
                  <a:pt x="62987" y="39286"/>
                </a:lnTo>
                <a:lnTo>
                  <a:pt x="62662" y="39610"/>
                </a:lnTo>
                <a:lnTo>
                  <a:pt x="62662" y="40260"/>
                </a:lnTo>
                <a:lnTo>
                  <a:pt x="62662" y="40909"/>
                </a:lnTo>
                <a:lnTo>
                  <a:pt x="62013" y="42208"/>
                </a:lnTo>
                <a:lnTo>
                  <a:pt x="58442" y="45779"/>
                </a:lnTo>
                <a:lnTo>
                  <a:pt x="56494" y="46429"/>
                </a:lnTo>
                <a:lnTo>
                  <a:pt x="54545" y="46429"/>
                </a:lnTo>
                <a:lnTo>
                  <a:pt x="54221" y="46753"/>
                </a:lnTo>
                <a:lnTo>
                  <a:pt x="53896" y="47078"/>
                </a:lnTo>
                <a:lnTo>
                  <a:pt x="53571" y="46753"/>
                </a:lnTo>
                <a:lnTo>
                  <a:pt x="53247" y="46429"/>
                </a:lnTo>
                <a:lnTo>
                  <a:pt x="50649" y="46429"/>
                </a:lnTo>
                <a:lnTo>
                  <a:pt x="48052" y="45130"/>
                </a:lnTo>
                <a:lnTo>
                  <a:pt x="45130" y="41558"/>
                </a:lnTo>
                <a:lnTo>
                  <a:pt x="45130" y="40909"/>
                </a:lnTo>
                <a:lnTo>
                  <a:pt x="45130" y="40260"/>
                </a:lnTo>
                <a:lnTo>
                  <a:pt x="44805" y="39935"/>
                </a:lnTo>
                <a:lnTo>
                  <a:pt x="44481" y="39610"/>
                </a:lnTo>
                <a:lnTo>
                  <a:pt x="44481" y="34416"/>
                </a:lnTo>
                <a:lnTo>
                  <a:pt x="45779" y="31818"/>
                </a:lnTo>
                <a:lnTo>
                  <a:pt x="49351" y="28247"/>
                </a:lnTo>
                <a:lnTo>
                  <a:pt x="50974" y="27922"/>
                </a:lnTo>
                <a:close/>
                <a:moveTo>
                  <a:pt x="51299" y="30844"/>
                </a:moveTo>
                <a:lnTo>
                  <a:pt x="50000" y="32143"/>
                </a:lnTo>
                <a:lnTo>
                  <a:pt x="49351" y="32143"/>
                </a:lnTo>
                <a:lnTo>
                  <a:pt x="49026" y="32468"/>
                </a:lnTo>
                <a:lnTo>
                  <a:pt x="49026" y="33117"/>
                </a:lnTo>
                <a:lnTo>
                  <a:pt x="47727" y="34416"/>
                </a:lnTo>
                <a:lnTo>
                  <a:pt x="47727" y="39610"/>
                </a:lnTo>
                <a:lnTo>
                  <a:pt x="48377" y="40909"/>
                </a:lnTo>
                <a:lnTo>
                  <a:pt x="51299" y="43182"/>
                </a:lnTo>
                <a:lnTo>
                  <a:pt x="51948" y="43182"/>
                </a:lnTo>
                <a:lnTo>
                  <a:pt x="52597" y="43182"/>
                </a:lnTo>
                <a:lnTo>
                  <a:pt x="52922" y="43506"/>
                </a:lnTo>
                <a:lnTo>
                  <a:pt x="53247" y="43831"/>
                </a:lnTo>
                <a:lnTo>
                  <a:pt x="53896" y="43831"/>
                </a:lnTo>
                <a:lnTo>
                  <a:pt x="54545" y="43831"/>
                </a:lnTo>
                <a:lnTo>
                  <a:pt x="55844" y="43182"/>
                </a:lnTo>
                <a:lnTo>
                  <a:pt x="56494" y="43182"/>
                </a:lnTo>
                <a:lnTo>
                  <a:pt x="59416" y="40260"/>
                </a:lnTo>
                <a:lnTo>
                  <a:pt x="60065" y="38961"/>
                </a:lnTo>
                <a:lnTo>
                  <a:pt x="60065" y="35065"/>
                </a:lnTo>
                <a:lnTo>
                  <a:pt x="59416" y="33766"/>
                </a:lnTo>
                <a:lnTo>
                  <a:pt x="57143" y="31494"/>
                </a:lnTo>
                <a:lnTo>
                  <a:pt x="55844" y="30844"/>
                </a:lnTo>
                <a:lnTo>
                  <a:pt x="51299" y="30844"/>
                </a:lnTo>
                <a:close/>
                <a:moveTo>
                  <a:pt x="32792" y="37013"/>
                </a:moveTo>
                <a:lnTo>
                  <a:pt x="34416" y="36688"/>
                </a:lnTo>
                <a:lnTo>
                  <a:pt x="34740" y="37013"/>
                </a:lnTo>
                <a:lnTo>
                  <a:pt x="35065" y="37338"/>
                </a:lnTo>
                <a:lnTo>
                  <a:pt x="37013" y="37338"/>
                </a:lnTo>
                <a:lnTo>
                  <a:pt x="39935" y="40260"/>
                </a:lnTo>
                <a:lnTo>
                  <a:pt x="41234" y="42857"/>
                </a:lnTo>
                <a:lnTo>
                  <a:pt x="41234" y="45455"/>
                </a:lnTo>
                <a:lnTo>
                  <a:pt x="39935" y="48052"/>
                </a:lnTo>
                <a:lnTo>
                  <a:pt x="37662" y="50325"/>
                </a:lnTo>
                <a:lnTo>
                  <a:pt x="35714" y="50974"/>
                </a:lnTo>
                <a:lnTo>
                  <a:pt x="31818" y="50974"/>
                </a:lnTo>
                <a:lnTo>
                  <a:pt x="30519" y="50325"/>
                </a:lnTo>
                <a:lnTo>
                  <a:pt x="27597" y="47403"/>
                </a:lnTo>
                <a:lnTo>
                  <a:pt x="26948" y="46104"/>
                </a:lnTo>
                <a:lnTo>
                  <a:pt x="26948" y="42208"/>
                </a:lnTo>
                <a:lnTo>
                  <a:pt x="28247" y="39610"/>
                </a:lnTo>
                <a:lnTo>
                  <a:pt x="29870" y="37987"/>
                </a:lnTo>
                <a:lnTo>
                  <a:pt x="32792" y="37013"/>
                </a:lnTo>
                <a:close/>
                <a:moveTo>
                  <a:pt x="72403" y="37013"/>
                </a:moveTo>
                <a:lnTo>
                  <a:pt x="75325" y="36688"/>
                </a:lnTo>
                <a:lnTo>
                  <a:pt x="77922" y="37987"/>
                </a:lnTo>
                <a:lnTo>
                  <a:pt x="80195" y="40260"/>
                </a:lnTo>
                <a:lnTo>
                  <a:pt x="80844" y="41558"/>
                </a:lnTo>
                <a:lnTo>
                  <a:pt x="80844" y="46104"/>
                </a:lnTo>
                <a:lnTo>
                  <a:pt x="79545" y="48701"/>
                </a:lnTo>
                <a:lnTo>
                  <a:pt x="76623" y="50974"/>
                </a:lnTo>
                <a:lnTo>
                  <a:pt x="74675" y="50974"/>
                </a:lnTo>
                <a:lnTo>
                  <a:pt x="74351" y="51299"/>
                </a:lnTo>
                <a:lnTo>
                  <a:pt x="74026" y="51623"/>
                </a:lnTo>
                <a:lnTo>
                  <a:pt x="72727" y="50974"/>
                </a:lnTo>
                <a:lnTo>
                  <a:pt x="70779" y="50974"/>
                </a:lnTo>
                <a:lnTo>
                  <a:pt x="67857" y="48052"/>
                </a:lnTo>
                <a:lnTo>
                  <a:pt x="66558" y="45455"/>
                </a:lnTo>
                <a:lnTo>
                  <a:pt x="66558" y="42857"/>
                </a:lnTo>
                <a:lnTo>
                  <a:pt x="68506" y="38961"/>
                </a:lnTo>
                <a:lnTo>
                  <a:pt x="69481" y="37987"/>
                </a:lnTo>
                <a:lnTo>
                  <a:pt x="72403" y="37013"/>
                </a:lnTo>
                <a:close/>
                <a:moveTo>
                  <a:pt x="33117" y="39935"/>
                </a:moveTo>
                <a:lnTo>
                  <a:pt x="30195" y="42208"/>
                </a:lnTo>
                <a:lnTo>
                  <a:pt x="30195" y="45455"/>
                </a:lnTo>
                <a:lnTo>
                  <a:pt x="31818" y="47727"/>
                </a:lnTo>
                <a:lnTo>
                  <a:pt x="32468" y="47727"/>
                </a:lnTo>
                <a:lnTo>
                  <a:pt x="33117" y="47727"/>
                </a:lnTo>
                <a:lnTo>
                  <a:pt x="33442" y="48052"/>
                </a:lnTo>
                <a:lnTo>
                  <a:pt x="33766" y="48377"/>
                </a:lnTo>
                <a:lnTo>
                  <a:pt x="34416" y="48377"/>
                </a:lnTo>
                <a:lnTo>
                  <a:pt x="34740" y="48052"/>
                </a:lnTo>
                <a:lnTo>
                  <a:pt x="35065" y="47727"/>
                </a:lnTo>
                <a:lnTo>
                  <a:pt x="35714" y="47727"/>
                </a:lnTo>
                <a:lnTo>
                  <a:pt x="37987" y="45455"/>
                </a:lnTo>
                <a:lnTo>
                  <a:pt x="37987" y="42857"/>
                </a:lnTo>
                <a:lnTo>
                  <a:pt x="35065" y="39935"/>
                </a:lnTo>
                <a:lnTo>
                  <a:pt x="33117" y="39935"/>
                </a:lnTo>
                <a:close/>
                <a:moveTo>
                  <a:pt x="72727" y="39935"/>
                </a:moveTo>
                <a:lnTo>
                  <a:pt x="70455" y="41558"/>
                </a:lnTo>
                <a:lnTo>
                  <a:pt x="69805" y="42857"/>
                </a:lnTo>
                <a:lnTo>
                  <a:pt x="69805" y="45455"/>
                </a:lnTo>
                <a:lnTo>
                  <a:pt x="70779" y="47078"/>
                </a:lnTo>
                <a:lnTo>
                  <a:pt x="73377" y="48377"/>
                </a:lnTo>
                <a:lnTo>
                  <a:pt x="74026" y="48377"/>
                </a:lnTo>
                <a:lnTo>
                  <a:pt x="74351" y="48052"/>
                </a:lnTo>
                <a:lnTo>
                  <a:pt x="75974" y="47727"/>
                </a:lnTo>
                <a:lnTo>
                  <a:pt x="76948" y="46753"/>
                </a:lnTo>
                <a:lnTo>
                  <a:pt x="77597" y="45455"/>
                </a:lnTo>
                <a:lnTo>
                  <a:pt x="77597" y="42208"/>
                </a:lnTo>
                <a:lnTo>
                  <a:pt x="74675" y="39935"/>
                </a:lnTo>
                <a:lnTo>
                  <a:pt x="72727" y="39935"/>
                </a:lnTo>
                <a:close/>
                <a:moveTo>
                  <a:pt x="50974" y="50000"/>
                </a:moveTo>
                <a:lnTo>
                  <a:pt x="51299" y="49675"/>
                </a:lnTo>
                <a:lnTo>
                  <a:pt x="56494" y="49675"/>
                </a:lnTo>
                <a:lnTo>
                  <a:pt x="56818" y="50000"/>
                </a:lnTo>
                <a:lnTo>
                  <a:pt x="57143" y="50325"/>
                </a:lnTo>
                <a:lnTo>
                  <a:pt x="60390" y="50974"/>
                </a:lnTo>
                <a:lnTo>
                  <a:pt x="61688" y="52273"/>
                </a:lnTo>
                <a:lnTo>
                  <a:pt x="62338" y="52273"/>
                </a:lnTo>
                <a:lnTo>
                  <a:pt x="65909" y="55844"/>
                </a:lnTo>
                <a:lnTo>
                  <a:pt x="67857" y="59740"/>
                </a:lnTo>
                <a:lnTo>
                  <a:pt x="67857" y="71429"/>
                </a:lnTo>
                <a:lnTo>
                  <a:pt x="66234" y="73052"/>
                </a:lnTo>
                <a:lnTo>
                  <a:pt x="57143" y="73052"/>
                </a:lnTo>
                <a:lnTo>
                  <a:pt x="40909" y="73052"/>
                </a:lnTo>
                <a:lnTo>
                  <a:pt x="39935" y="72078"/>
                </a:lnTo>
                <a:lnTo>
                  <a:pt x="39935" y="60390"/>
                </a:lnTo>
                <a:lnTo>
                  <a:pt x="40260" y="60065"/>
                </a:lnTo>
                <a:lnTo>
                  <a:pt x="40584" y="59740"/>
                </a:lnTo>
                <a:lnTo>
                  <a:pt x="40584" y="59091"/>
                </a:lnTo>
                <a:lnTo>
                  <a:pt x="40584" y="58442"/>
                </a:lnTo>
                <a:lnTo>
                  <a:pt x="41883" y="55844"/>
                </a:lnTo>
                <a:lnTo>
                  <a:pt x="46104" y="51623"/>
                </a:lnTo>
                <a:lnTo>
                  <a:pt x="48701" y="50325"/>
                </a:lnTo>
                <a:lnTo>
                  <a:pt x="50974" y="50000"/>
                </a:lnTo>
                <a:close/>
                <a:moveTo>
                  <a:pt x="50649" y="52922"/>
                </a:moveTo>
                <a:lnTo>
                  <a:pt x="48052" y="54221"/>
                </a:lnTo>
                <a:lnTo>
                  <a:pt x="46753" y="55519"/>
                </a:lnTo>
                <a:lnTo>
                  <a:pt x="46104" y="55519"/>
                </a:lnTo>
                <a:lnTo>
                  <a:pt x="45779" y="55844"/>
                </a:lnTo>
                <a:lnTo>
                  <a:pt x="45779" y="56494"/>
                </a:lnTo>
                <a:lnTo>
                  <a:pt x="43831" y="58442"/>
                </a:lnTo>
                <a:lnTo>
                  <a:pt x="43831" y="59091"/>
                </a:lnTo>
                <a:lnTo>
                  <a:pt x="43831" y="59740"/>
                </a:lnTo>
                <a:lnTo>
                  <a:pt x="42532" y="62338"/>
                </a:lnTo>
                <a:lnTo>
                  <a:pt x="42532" y="69481"/>
                </a:lnTo>
                <a:lnTo>
                  <a:pt x="42857" y="69805"/>
                </a:lnTo>
                <a:lnTo>
                  <a:pt x="56494" y="69805"/>
                </a:lnTo>
                <a:lnTo>
                  <a:pt x="64286" y="69805"/>
                </a:lnTo>
                <a:lnTo>
                  <a:pt x="64610" y="69481"/>
                </a:lnTo>
                <a:lnTo>
                  <a:pt x="64610" y="60390"/>
                </a:lnTo>
                <a:lnTo>
                  <a:pt x="63312" y="57792"/>
                </a:lnTo>
                <a:lnTo>
                  <a:pt x="59740" y="54221"/>
                </a:lnTo>
                <a:lnTo>
                  <a:pt x="57143" y="52922"/>
                </a:lnTo>
                <a:lnTo>
                  <a:pt x="50649" y="52922"/>
                </a:lnTo>
                <a:close/>
                <a:moveTo>
                  <a:pt x="29545" y="53896"/>
                </a:moveTo>
                <a:lnTo>
                  <a:pt x="29870" y="53571"/>
                </a:lnTo>
                <a:lnTo>
                  <a:pt x="37662" y="53571"/>
                </a:lnTo>
                <a:lnTo>
                  <a:pt x="39286" y="55195"/>
                </a:lnTo>
                <a:lnTo>
                  <a:pt x="37662" y="56818"/>
                </a:lnTo>
                <a:lnTo>
                  <a:pt x="35714" y="56818"/>
                </a:lnTo>
                <a:lnTo>
                  <a:pt x="35390" y="56494"/>
                </a:lnTo>
                <a:lnTo>
                  <a:pt x="35065" y="56169"/>
                </a:lnTo>
                <a:lnTo>
                  <a:pt x="32468" y="56169"/>
                </a:lnTo>
                <a:lnTo>
                  <a:pt x="32143" y="56494"/>
                </a:lnTo>
                <a:lnTo>
                  <a:pt x="31818" y="56818"/>
                </a:lnTo>
                <a:lnTo>
                  <a:pt x="31169" y="56818"/>
                </a:lnTo>
                <a:lnTo>
                  <a:pt x="30519" y="56818"/>
                </a:lnTo>
                <a:lnTo>
                  <a:pt x="29221" y="57468"/>
                </a:lnTo>
                <a:lnTo>
                  <a:pt x="27597" y="59091"/>
                </a:lnTo>
                <a:lnTo>
                  <a:pt x="26948" y="60390"/>
                </a:lnTo>
                <a:lnTo>
                  <a:pt x="26948" y="61039"/>
                </a:lnTo>
                <a:lnTo>
                  <a:pt x="26948" y="61688"/>
                </a:lnTo>
                <a:lnTo>
                  <a:pt x="26948" y="67532"/>
                </a:lnTo>
                <a:lnTo>
                  <a:pt x="25325" y="69156"/>
                </a:lnTo>
                <a:lnTo>
                  <a:pt x="23701" y="68182"/>
                </a:lnTo>
                <a:lnTo>
                  <a:pt x="23701" y="60390"/>
                </a:lnTo>
                <a:lnTo>
                  <a:pt x="25649" y="56494"/>
                </a:lnTo>
                <a:lnTo>
                  <a:pt x="29545" y="53896"/>
                </a:lnTo>
                <a:close/>
                <a:moveTo>
                  <a:pt x="69156" y="53896"/>
                </a:moveTo>
                <a:lnTo>
                  <a:pt x="69481" y="53571"/>
                </a:lnTo>
                <a:lnTo>
                  <a:pt x="77273" y="53571"/>
                </a:lnTo>
                <a:lnTo>
                  <a:pt x="79870" y="54870"/>
                </a:lnTo>
                <a:lnTo>
                  <a:pt x="82792" y="57792"/>
                </a:lnTo>
                <a:lnTo>
                  <a:pt x="82792" y="58442"/>
                </a:lnTo>
                <a:lnTo>
                  <a:pt x="82792" y="59091"/>
                </a:lnTo>
                <a:lnTo>
                  <a:pt x="83117" y="59416"/>
                </a:lnTo>
                <a:lnTo>
                  <a:pt x="83442" y="59740"/>
                </a:lnTo>
                <a:lnTo>
                  <a:pt x="83442" y="61688"/>
                </a:lnTo>
                <a:lnTo>
                  <a:pt x="83766" y="62013"/>
                </a:lnTo>
                <a:lnTo>
                  <a:pt x="84091" y="62338"/>
                </a:lnTo>
                <a:lnTo>
                  <a:pt x="84091" y="67532"/>
                </a:lnTo>
                <a:lnTo>
                  <a:pt x="83766" y="67857"/>
                </a:lnTo>
                <a:lnTo>
                  <a:pt x="83442" y="68182"/>
                </a:lnTo>
                <a:lnTo>
                  <a:pt x="83117" y="68506"/>
                </a:lnTo>
                <a:lnTo>
                  <a:pt x="80844" y="68182"/>
                </a:lnTo>
                <a:lnTo>
                  <a:pt x="80844" y="61688"/>
                </a:lnTo>
                <a:lnTo>
                  <a:pt x="80519" y="61364"/>
                </a:lnTo>
                <a:lnTo>
                  <a:pt x="80195" y="61039"/>
                </a:lnTo>
                <a:lnTo>
                  <a:pt x="80195" y="60390"/>
                </a:lnTo>
                <a:lnTo>
                  <a:pt x="80195" y="59740"/>
                </a:lnTo>
                <a:lnTo>
                  <a:pt x="77273" y="56818"/>
                </a:lnTo>
                <a:lnTo>
                  <a:pt x="70130" y="56818"/>
                </a:lnTo>
                <a:lnTo>
                  <a:pt x="68506" y="55195"/>
                </a:lnTo>
                <a:lnTo>
                  <a:pt x="69156" y="53896"/>
                </a:lnTo>
                <a:close/>
              </a:path>
            </a:pathLst>
          </a:custGeom>
          <a:solidFill>
            <a:srgbClr val="FFFFFF"/>
          </a:solidFill>
          <a:ln>
            <a:noFill/>
          </a:ln>
        </p:spPr>
        <p:txBody>
          <a:bodyPr/>
          <a:p/>
        </p:txBody>
      </p:sp>
      <p:sp>
        <p:nvSpPr>
          <p:cNvPr id="10" name="Text 7"/>
          <p:cNvSpPr/>
          <p:nvPr/>
        </p:nvSpPr>
        <p:spPr>
          <a:xfrm>
            <a:off x="1792224" y="2020824"/>
            <a:ext cx="1700784" cy="576072"/>
          </a:xfrm>
          <a:prstGeom prst="rect">
            <a:avLst/>
          </a:prstGeom>
          <a:noFill/>
          <a:ln/>
        </p:spPr>
        <p:txBody>
          <a:bodyPr wrap="square" lIns="0" tIns="0" rIns="0" bIns="0" rtlCol="0" anchor="ctr"/>
          <a:lstStyle/>
          <a:p>
            <a:pPr indent="0" marL="0">
              <a:buNone/>
            </a:pPr>
            <a:r>
              <a:rPr lang="en-US" sz="4500" b="1" dirty="0">
                <a:solidFill>
                  <a:srgbClr val="17324D"/>
                </a:solidFill>
                <a:latin typeface="Aptos" pitchFamily="34" charset="0"/>
                <a:ea typeface="Segoe UI" pitchFamily="34" charset="-122"/>
                <a:cs typeface="Segoe UI" pitchFamily="34" charset="-120"/>
              </a:rPr>
              <a:t>2 240</a:t>
            </a:r>
            <a:endParaRPr lang="en-US" sz="4500" dirty="0"/>
          </a:p>
        </p:txBody>
      </p:sp>
      <p:sp>
        <p:nvSpPr>
          <p:cNvPr id="11" name="Text 8"/>
          <p:cNvSpPr/>
          <p:nvPr/>
        </p:nvSpPr>
        <p:spPr>
          <a:xfrm>
            <a:off x="1819656" y="2651760"/>
            <a:ext cx="1627632" cy="384048"/>
          </a:xfrm>
          <a:prstGeom prst="rect">
            <a:avLst/>
          </a:prstGeom>
          <a:noFill/>
          <a:ln/>
        </p:spPr>
        <p:txBody>
          <a:bodyPr wrap="square" lIns="0" tIns="0" rIns="0" bIns="0" rtlCol="0" anchor="ctr"/>
          <a:lstStyle/>
          <a:p>
            <a:pPr indent="0" marL="0">
              <a:buNone/>
            </a:pPr>
            <a:r>
              <a:rPr lang="en-US" sz="1400" b="1" dirty="0">
                <a:solidFill>
                  <a:srgbClr val="17324D"/>
                </a:solidFill>
                <a:latin typeface="Aptos" pitchFamily="34" charset="0"/>
                <a:ea typeface="Segoe UI" pitchFamily="34" charset="-122"/>
                <a:cs typeface="Segoe UI" pitchFamily="34" charset="-120"/>
              </a:rPr>
              <a:t>Clients initiaux</a:t>
            </a:r>
            <a:endParaRPr lang="en-US" sz="1400" dirty="0"/>
          </a:p>
        </p:txBody>
      </p:sp>
      <p:sp>
        <p:nvSpPr>
          <p:cNvPr id="12" name="Shape 9"/>
          <p:cNvSpPr/>
          <p:nvPr/>
        </p:nvSpPr>
        <p:spPr>
          <a:xfrm>
            <a:off x="4700016" y="1819656"/>
            <a:ext cx="3154680" cy="1362456"/>
          </a:xfrm>
          <a:prstGeom prst="roundRect">
            <a:avLst>
              <a:gd name="adj" fmla="val 9396"/>
            </a:avLst>
          </a:prstGeom>
          <a:solidFill>
            <a:srgbClr val="F0FDFA"/>
          </a:solidFill>
          <a:ln w="12700">
            <a:solidFill>
              <a:srgbClr val="F0FDFA">
                <a:alpha val="0"/>
              </a:srgbClr>
            </a:solidFill>
            <a:prstDash val="solid"/>
          </a:ln>
        </p:spPr>
        <p:txBody>
          <a:bodyPr/>
          <a:p/>
        </p:txBody>
      </p:sp>
      <p:sp>
        <p:nvSpPr>
          <p:cNvPr id="13" name="Shape 10"/>
          <p:cNvSpPr/>
          <p:nvPr/>
        </p:nvSpPr>
        <p:spPr>
          <a:xfrm>
            <a:off x="4818888" y="1947672"/>
            <a:ext cx="1097280" cy="1097280"/>
          </a:xfrm>
          <a:prstGeom prst="ellipse">
            <a:avLst/>
          </a:prstGeom>
          <a:solidFill>
            <a:srgbClr val="0F766E"/>
          </a:solidFill>
          <a:ln w="12700">
            <a:solidFill>
              <a:srgbClr val="0F766E">
                <a:alpha val="0"/>
              </a:srgbClr>
            </a:solidFill>
            <a:prstDash val="solid"/>
          </a:ln>
        </p:spPr>
        <p:txBody>
          <a:bodyPr/>
          <a:p/>
        </p:txBody>
      </p:sp>
      <p:sp>
        <p:nvSpPr>
          <p:cNvPr id="14" name="VECTOR_document_25"/>
          <p:cNvSpPr/>
          <p:nvPr/>
        </p:nvSpPr>
        <p:spPr>
          <a:xfrm>
            <a:off x="4818888" y="1947672"/>
            <a:ext cx="1097280" cy="1097280"/>
          </a:xfrm>
          <a:custGeom>
            <a:avLst/>
            <a:gdLst/>
            <a:ahLst/>
            <a:cxnLst/>
            <a:rect l="0" t="0" r="r" b="b"/>
            <a:pathLst>
              <a:path w="100000" h="100000" fill="norm" stroke="false" extrusionOk="false">
                <a:moveTo>
                  <a:pt x="39286" y="25325"/>
                </a:moveTo>
                <a:lnTo>
                  <a:pt x="39610" y="25000"/>
                </a:lnTo>
                <a:lnTo>
                  <a:pt x="49351" y="25000"/>
                </a:lnTo>
                <a:lnTo>
                  <a:pt x="49675" y="25325"/>
                </a:lnTo>
                <a:lnTo>
                  <a:pt x="50000" y="25649"/>
                </a:lnTo>
                <a:lnTo>
                  <a:pt x="60390" y="25649"/>
                </a:lnTo>
                <a:lnTo>
                  <a:pt x="73052" y="38312"/>
                </a:lnTo>
                <a:lnTo>
                  <a:pt x="73701" y="39610"/>
                </a:lnTo>
                <a:lnTo>
                  <a:pt x="73701" y="72727"/>
                </a:lnTo>
                <a:lnTo>
                  <a:pt x="73052" y="74026"/>
                </a:lnTo>
                <a:lnTo>
                  <a:pt x="70779" y="76299"/>
                </a:lnTo>
                <a:lnTo>
                  <a:pt x="69156" y="76623"/>
                </a:lnTo>
                <a:lnTo>
                  <a:pt x="68831" y="76948"/>
                </a:lnTo>
                <a:lnTo>
                  <a:pt x="39610" y="76948"/>
                </a:lnTo>
                <a:lnTo>
                  <a:pt x="39286" y="76623"/>
                </a:lnTo>
                <a:lnTo>
                  <a:pt x="38961" y="76299"/>
                </a:lnTo>
                <a:lnTo>
                  <a:pt x="38312" y="76299"/>
                </a:lnTo>
                <a:lnTo>
                  <a:pt x="37662" y="76299"/>
                </a:lnTo>
                <a:lnTo>
                  <a:pt x="35390" y="74026"/>
                </a:lnTo>
                <a:lnTo>
                  <a:pt x="34740" y="72727"/>
                </a:lnTo>
                <a:lnTo>
                  <a:pt x="34740" y="29221"/>
                </a:lnTo>
                <a:lnTo>
                  <a:pt x="35390" y="27922"/>
                </a:lnTo>
                <a:lnTo>
                  <a:pt x="37662" y="25649"/>
                </a:lnTo>
                <a:lnTo>
                  <a:pt x="39286" y="25325"/>
                </a:lnTo>
                <a:close/>
                <a:moveTo>
                  <a:pt x="39610" y="28247"/>
                </a:moveTo>
                <a:lnTo>
                  <a:pt x="37987" y="29870"/>
                </a:lnTo>
                <a:lnTo>
                  <a:pt x="37987" y="72078"/>
                </a:lnTo>
                <a:lnTo>
                  <a:pt x="39610" y="73701"/>
                </a:lnTo>
                <a:lnTo>
                  <a:pt x="68831" y="73701"/>
                </a:lnTo>
                <a:lnTo>
                  <a:pt x="70455" y="72078"/>
                </a:lnTo>
                <a:lnTo>
                  <a:pt x="70455" y="41558"/>
                </a:lnTo>
                <a:lnTo>
                  <a:pt x="70130" y="41234"/>
                </a:lnTo>
                <a:lnTo>
                  <a:pt x="60390" y="41234"/>
                </a:lnTo>
                <a:lnTo>
                  <a:pt x="58117" y="38961"/>
                </a:lnTo>
                <a:lnTo>
                  <a:pt x="58117" y="29221"/>
                </a:lnTo>
                <a:lnTo>
                  <a:pt x="57143" y="28247"/>
                </a:lnTo>
                <a:lnTo>
                  <a:pt x="39610" y="28247"/>
                </a:lnTo>
                <a:close/>
                <a:moveTo>
                  <a:pt x="61039" y="30844"/>
                </a:moveTo>
                <a:lnTo>
                  <a:pt x="60714" y="31169"/>
                </a:lnTo>
                <a:lnTo>
                  <a:pt x="60714" y="37013"/>
                </a:lnTo>
                <a:lnTo>
                  <a:pt x="61688" y="37987"/>
                </a:lnTo>
                <a:lnTo>
                  <a:pt x="67532" y="37987"/>
                </a:lnTo>
                <a:lnTo>
                  <a:pt x="67857" y="37662"/>
                </a:lnTo>
                <a:lnTo>
                  <a:pt x="67857" y="37013"/>
                </a:lnTo>
                <a:lnTo>
                  <a:pt x="67532" y="36688"/>
                </a:lnTo>
                <a:lnTo>
                  <a:pt x="66883" y="36688"/>
                </a:lnTo>
                <a:lnTo>
                  <a:pt x="66558" y="36364"/>
                </a:lnTo>
                <a:lnTo>
                  <a:pt x="66558" y="35714"/>
                </a:lnTo>
                <a:lnTo>
                  <a:pt x="61688" y="30844"/>
                </a:lnTo>
                <a:lnTo>
                  <a:pt x="61039" y="30844"/>
                </a:lnTo>
                <a:close/>
                <a:moveTo>
                  <a:pt x="45130" y="47403"/>
                </a:moveTo>
                <a:lnTo>
                  <a:pt x="45455" y="47078"/>
                </a:lnTo>
                <a:lnTo>
                  <a:pt x="62338" y="47078"/>
                </a:lnTo>
                <a:lnTo>
                  <a:pt x="63961" y="48701"/>
                </a:lnTo>
                <a:lnTo>
                  <a:pt x="63961" y="49351"/>
                </a:lnTo>
                <a:lnTo>
                  <a:pt x="62987" y="50325"/>
                </a:lnTo>
                <a:lnTo>
                  <a:pt x="46753" y="50325"/>
                </a:lnTo>
                <a:lnTo>
                  <a:pt x="46429" y="50649"/>
                </a:lnTo>
                <a:lnTo>
                  <a:pt x="46104" y="50974"/>
                </a:lnTo>
                <a:lnTo>
                  <a:pt x="44481" y="50000"/>
                </a:lnTo>
                <a:lnTo>
                  <a:pt x="44481" y="48052"/>
                </a:lnTo>
                <a:lnTo>
                  <a:pt x="44805" y="47727"/>
                </a:lnTo>
                <a:lnTo>
                  <a:pt x="45130" y="47403"/>
                </a:lnTo>
                <a:close/>
                <a:moveTo>
                  <a:pt x="44481" y="55844"/>
                </a:moveTo>
                <a:lnTo>
                  <a:pt x="44805" y="55519"/>
                </a:lnTo>
                <a:lnTo>
                  <a:pt x="62987" y="55519"/>
                </a:lnTo>
                <a:lnTo>
                  <a:pt x="63961" y="56494"/>
                </a:lnTo>
                <a:lnTo>
                  <a:pt x="63961" y="57143"/>
                </a:lnTo>
                <a:lnTo>
                  <a:pt x="62987" y="58117"/>
                </a:lnTo>
                <a:lnTo>
                  <a:pt x="62662" y="58442"/>
                </a:lnTo>
                <a:lnTo>
                  <a:pt x="62338" y="58766"/>
                </a:lnTo>
                <a:lnTo>
                  <a:pt x="45455" y="58766"/>
                </a:lnTo>
                <a:lnTo>
                  <a:pt x="43831" y="57143"/>
                </a:lnTo>
                <a:lnTo>
                  <a:pt x="44481" y="55844"/>
                </a:lnTo>
                <a:close/>
                <a:moveTo>
                  <a:pt x="45130" y="63636"/>
                </a:moveTo>
                <a:lnTo>
                  <a:pt x="45455" y="63312"/>
                </a:lnTo>
                <a:lnTo>
                  <a:pt x="55195" y="63312"/>
                </a:lnTo>
                <a:lnTo>
                  <a:pt x="56169" y="64286"/>
                </a:lnTo>
                <a:lnTo>
                  <a:pt x="56169" y="64935"/>
                </a:lnTo>
                <a:lnTo>
                  <a:pt x="56169" y="65584"/>
                </a:lnTo>
                <a:lnTo>
                  <a:pt x="55195" y="66558"/>
                </a:lnTo>
                <a:lnTo>
                  <a:pt x="45455" y="66558"/>
                </a:lnTo>
                <a:lnTo>
                  <a:pt x="43831" y="64935"/>
                </a:lnTo>
                <a:lnTo>
                  <a:pt x="45130" y="63636"/>
                </a:lnTo>
                <a:close/>
              </a:path>
            </a:pathLst>
          </a:custGeom>
          <a:solidFill>
            <a:srgbClr val="FFFFFF"/>
          </a:solidFill>
          <a:ln>
            <a:noFill/>
          </a:ln>
        </p:spPr>
        <p:txBody>
          <a:bodyPr/>
          <a:p/>
        </p:txBody>
      </p:sp>
      <p:sp>
        <p:nvSpPr>
          <p:cNvPr id="15" name="Text 12"/>
          <p:cNvSpPr/>
          <p:nvPr/>
        </p:nvSpPr>
        <p:spPr>
          <a:xfrm>
            <a:off x="6108192" y="2020824"/>
            <a:ext cx="1700784" cy="576072"/>
          </a:xfrm>
          <a:prstGeom prst="rect">
            <a:avLst/>
          </a:prstGeom>
          <a:noFill/>
          <a:ln/>
        </p:spPr>
        <p:txBody>
          <a:bodyPr wrap="square" lIns="0" tIns="0" rIns="0" bIns="0" rtlCol="0" anchor="ctr"/>
          <a:lstStyle/>
          <a:p>
            <a:pPr indent="0" marL="0">
              <a:buNone/>
            </a:pPr>
            <a:r>
              <a:rPr lang="en-US" sz="4500" b="1" dirty="0">
                <a:solidFill>
                  <a:srgbClr val="17324D"/>
                </a:solidFill>
                <a:latin typeface="Aptos" pitchFamily="34" charset="0"/>
                <a:ea typeface="Segoe UI" pitchFamily="34" charset="-122"/>
                <a:cs typeface="Segoe UI" pitchFamily="34" charset="-120"/>
              </a:rPr>
              <a:t>2 216</a:t>
            </a:r>
            <a:endParaRPr lang="en-US" sz="4500" dirty="0"/>
          </a:p>
        </p:txBody>
      </p:sp>
      <p:sp>
        <p:nvSpPr>
          <p:cNvPr id="16" name="Text 13"/>
          <p:cNvSpPr/>
          <p:nvPr/>
        </p:nvSpPr>
        <p:spPr>
          <a:xfrm>
            <a:off x="6135624" y="2651760"/>
            <a:ext cx="1627632" cy="384048"/>
          </a:xfrm>
          <a:prstGeom prst="rect">
            <a:avLst/>
          </a:prstGeom>
          <a:noFill/>
          <a:ln/>
        </p:spPr>
        <p:txBody>
          <a:bodyPr wrap="square" lIns="0" tIns="0" rIns="0" bIns="0" rtlCol="0" anchor="ctr"/>
          <a:lstStyle/>
          <a:p>
            <a:pPr indent="0" marL="0">
              <a:buNone/>
            </a:pPr>
            <a:r>
              <a:rPr lang="en-US" sz="1150" dirty="0">
                <a:solidFill>
                  <a:srgbClr val="17324D"/>
                </a:solidFill>
                <a:latin typeface="Aptos" pitchFamily="34" charset="0"/>
                <a:ea typeface="Segoe UI" pitchFamily="34" charset="-122"/>
                <a:cs typeface="Segoe UI" pitchFamily="34" charset="-120"/>
              </a:rPr>
              <a:t>Après retrait des</a:t>
            </a:r>
            <a:endParaRPr lang="en-US" sz="1150" dirty="0"/>
          </a:p>
          <a:p>
            <a:pPr indent="0" marL="0">
              <a:buNone/>
            </a:pPr>
            <a:r>
              <a:rPr lang="en-US" sz="1150" dirty="0">
                <a:solidFill>
                  <a:srgbClr val="17324D"/>
                </a:solidFill>
                <a:latin typeface="Aptos" pitchFamily="34" charset="0"/>
                <a:ea typeface="Segoe UI" pitchFamily="34" charset="-122"/>
                <a:cs typeface="Segoe UI" pitchFamily="34" charset="-120"/>
              </a:rPr>
              <a:t>revenus manquants</a:t>
            </a:r>
            <a:endParaRPr lang="en-US" sz="1150" dirty="0"/>
          </a:p>
        </p:txBody>
      </p:sp>
      <p:sp>
        <p:nvSpPr>
          <p:cNvPr id="17" name="Shape 14"/>
          <p:cNvSpPr/>
          <p:nvPr/>
        </p:nvSpPr>
        <p:spPr>
          <a:xfrm>
            <a:off x="8741664" y="1819656"/>
            <a:ext cx="3154680" cy="1362456"/>
          </a:xfrm>
          <a:prstGeom prst="roundRect">
            <a:avLst>
              <a:gd name="adj" fmla="val 9396"/>
            </a:avLst>
          </a:prstGeom>
          <a:solidFill>
            <a:srgbClr val="17324D"/>
          </a:solidFill>
          <a:ln w="12700">
            <a:solidFill>
              <a:srgbClr val="17324D">
                <a:alpha val="0"/>
              </a:srgbClr>
            </a:solidFill>
            <a:prstDash val="solid"/>
          </a:ln>
        </p:spPr>
        <p:txBody>
          <a:bodyPr/>
          <a:p/>
        </p:txBody>
      </p:sp>
      <p:sp>
        <p:nvSpPr>
          <p:cNvPr id="18" name="Shape 15"/>
          <p:cNvSpPr/>
          <p:nvPr/>
        </p:nvSpPr>
        <p:spPr>
          <a:xfrm>
            <a:off x="8860536" y="1947672"/>
            <a:ext cx="1097280" cy="1097280"/>
          </a:xfrm>
          <a:prstGeom prst="ellipse">
            <a:avLst/>
          </a:prstGeom>
          <a:solidFill>
            <a:srgbClr val="6D28D9"/>
          </a:solidFill>
          <a:ln w="12700">
            <a:solidFill>
              <a:srgbClr val="6D28D9">
                <a:alpha val="0"/>
              </a:srgbClr>
            </a:solidFill>
            <a:prstDash val="solid"/>
          </a:ln>
        </p:spPr>
        <p:txBody>
          <a:bodyPr/>
          <a:p/>
        </p:txBody>
      </p:sp>
      <p:sp>
        <p:nvSpPr>
          <p:cNvPr id="19" name="Shape 16"/>
          <p:cNvSpPr/>
          <p:nvPr/>
        </p:nvSpPr>
        <p:spPr>
          <a:xfrm>
            <a:off x="9101938" y="2189074"/>
            <a:ext cx="614477" cy="614477"/>
          </a:xfrm>
          <a:prstGeom prst="ellipse">
            <a:avLst/>
          </a:prstGeom>
          <a:solidFill>
            <a:srgbClr val="FFFFFF">
              <a:alpha val="0"/>
            </a:srgbClr>
          </a:solidFill>
          <a:ln w="22860">
            <a:solidFill>
              <a:srgbClr val="FFFFFF"/>
            </a:solidFill>
            <a:prstDash val="solid"/>
          </a:ln>
        </p:spPr>
        <p:txBody>
          <a:bodyPr/>
          <a:p/>
        </p:txBody>
      </p:sp>
      <p:sp>
        <p:nvSpPr>
          <p:cNvPr id="20" name="Shape 17"/>
          <p:cNvSpPr/>
          <p:nvPr/>
        </p:nvSpPr>
        <p:spPr>
          <a:xfrm>
            <a:off x="9233611" y="2496312"/>
            <a:ext cx="120701" cy="131674"/>
          </a:xfrm>
          <a:prstGeom prst="line">
            <a:avLst/>
          </a:prstGeom>
          <a:noFill/>
          <a:ln w="26670">
            <a:solidFill>
              <a:srgbClr val="FFFFFF"/>
            </a:solidFill>
            <a:prstDash val="solid"/>
          </a:ln>
        </p:spPr>
        <p:txBody>
          <a:bodyPr/>
          <a:p/>
        </p:txBody>
      </p:sp>
      <p:sp>
        <p:nvSpPr>
          <p:cNvPr id="21" name="Shape 18"/>
          <p:cNvSpPr/>
          <p:nvPr/>
        </p:nvSpPr>
        <p:spPr>
          <a:xfrm flipV="1">
            <a:off x="9354312" y="2375611"/>
            <a:ext cx="241402" cy="252374"/>
          </a:xfrm>
          <a:prstGeom prst="line">
            <a:avLst/>
          </a:prstGeom>
          <a:noFill/>
          <a:ln w="26670">
            <a:solidFill>
              <a:srgbClr val="FFFFFF"/>
            </a:solidFill>
            <a:prstDash val="solid"/>
          </a:ln>
        </p:spPr>
        <p:txBody>
          <a:bodyPr/>
          <a:p/>
        </p:txBody>
      </p:sp>
      <p:sp>
        <p:nvSpPr>
          <p:cNvPr id="22" name="Text 19"/>
          <p:cNvSpPr/>
          <p:nvPr/>
        </p:nvSpPr>
        <p:spPr>
          <a:xfrm>
            <a:off x="10149840" y="2020824"/>
            <a:ext cx="1700784" cy="576072"/>
          </a:xfrm>
          <a:prstGeom prst="rect">
            <a:avLst/>
          </a:prstGeom>
          <a:noFill/>
          <a:ln/>
        </p:spPr>
        <p:txBody>
          <a:bodyPr wrap="square" lIns="0" tIns="0" rIns="0" bIns="0" rtlCol="0" anchor="ctr"/>
          <a:lstStyle/>
          <a:p>
            <a:pPr indent="0" marL="0">
              <a:buNone/>
            </a:pPr>
            <a:r>
              <a:rPr lang="en-US" sz="4500" b="1" dirty="0">
                <a:solidFill>
                  <a:srgbClr val="FFFFFF"/>
                </a:solidFill>
                <a:latin typeface="Aptos" pitchFamily="34" charset="0"/>
                <a:ea typeface="Segoe UI" pitchFamily="34" charset="-122"/>
                <a:cs typeface="Segoe UI" pitchFamily="34" charset="-120"/>
              </a:rPr>
              <a:t>2 212</a:t>
            </a:r>
            <a:endParaRPr lang="en-US" sz="4500" dirty="0"/>
          </a:p>
        </p:txBody>
      </p:sp>
      <p:sp>
        <p:nvSpPr>
          <p:cNvPr id="23" name="Text 20"/>
          <p:cNvSpPr/>
          <p:nvPr/>
        </p:nvSpPr>
        <p:spPr>
          <a:xfrm>
            <a:off x="10177272" y="2651760"/>
            <a:ext cx="1627632" cy="384048"/>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Segoe UI" pitchFamily="34" charset="-122"/>
                <a:cs typeface="Segoe UI" pitchFamily="34" charset="-120"/>
              </a:rPr>
              <a:t>Clients retenus</a:t>
            </a:r>
            <a:endParaRPr lang="en-US" sz="1400" dirty="0"/>
          </a:p>
        </p:txBody>
      </p:sp>
      <p:sp>
        <p:nvSpPr>
          <p:cNvPr id="24" name="Text 21"/>
          <p:cNvSpPr/>
          <p:nvPr/>
        </p:nvSpPr>
        <p:spPr>
          <a:xfrm>
            <a:off x="3685032" y="2093976"/>
            <a:ext cx="932688" cy="219456"/>
          </a:xfrm>
          <a:prstGeom prst="rect">
            <a:avLst/>
          </a:prstGeom>
          <a:noFill/>
          <a:ln/>
        </p:spPr>
        <p:txBody>
          <a:bodyPr wrap="square" lIns="0" tIns="0" rIns="0" bIns="0" rtlCol="0" anchor="ctr"/>
          <a:lstStyle/>
          <a:p>
            <a:pPr indent="0" marL="0">
              <a:buNone/>
            </a:pPr>
            <a:r>
              <a:rPr lang="en-US" sz="1220" b="1" dirty="0">
                <a:solidFill>
                  <a:srgbClr val="1D4ED8"/>
                </a:solidFill>
                <a:latin typeface="Aptos" pitchFamily="34" charset="0"/>
                <a:ea typeface="Segoe UI" pitchFamily="34" charset="-122"/>
                <a:cs typeface="Segoe UI" pitchFamily="34" charset="-120"/>
              </a:rPr>
              <a:t>−24 lignes</a:t>
            </a:r>
            <a:endParaRPr lang="en-US" sz="1220" dirty="0"/>
          </a:p>
        </p:txBody>
      </p:sp>
      <p:sp>
        <p:nvSpPr>
          <p:cNvPr id="25" name="Shape 22"/>
          <p:cNvSpPr/>
          <p:nvPr/>
        </p:nvSpPr>
        <p:spPr>
          <a:xfrm>
            <a:off x="3685032" y="2459736"/>
            <a:ext cx="731520" cy="0"/>
          </a:xfrm>
          <a:prstGeom prst="line">
            <a:avLst/>
          </a:prstGeom>
          <a:noFill/>
          <a:ln w="25400">
            <a:solidFill>
              <a:srgbClr val="1D4ED8"/>
            </a:solidFill>
            <a:prstDash val="solid"/>
          </a:ln>
        </p:spPr>
        <p:txBody>
          <a:bodyPr/>
          <a:p/>
        </p:txBody>
      </p:sp>
      <p:sp>
        <p:nvSpPr>
          <p:cNvPr id="26" name="Shape 23"/>
          <p:cNvSpPr/>
          <p:nvPr/>
        </p:nvSpPr>
        <p:spPr>
          <a:xfrm rot="5400000">
            <a:off x="4398264" y="2377440"/>
            <a:ext cx="146304" cy="173736"/>
          </a:xfrm>
          <a:prstGeom prst="triangle">
            <a:avLst/>
          </a:prstGeom>
          <a:solidFill>
            <a:srgbClr val="1D4ED8"/>
          </a:solidFill>
          <a:ln w="12700">
            <a:solidFill>
              <a:srgbClr val="1D4ED8">
                <a:alpha val="0"/>
              </a:srgbClr>
            </a:solidFill>
            <a:prstDash val="solid"/>
          </a:ln>
        </p:spPr>
        <p:txBody>
          <a:bodyPr/>
          <a:p/>
        </p:txBody>
      </p:sp>
      <p:sp>
        <p:nvSpPr>
          <p:cNvPr id="27" name="Text 24"/>
          <p:cNvSpPr/>
          <p:nvPr/>
        </p:nvSpPr>
        <p:spPr>
          <a:xfrm>
            <a:off x="7872984" y="2093976"/>
            <a:ext cx="932688" cy="219456"/>
          </a:xfrm>
          <a:prstGeom prst="rect">
            <a:avLst/>
          </a:prstGeom>
          <a:noFill/>
          <a:ln/>
        </p:spPr>
        <p:txBody>
          <a:bodyPr wrap="square" lIns="0" tIns="0" rIns="0" bIns="0" rtlCol="0" anchor="ctr"/>
          <a:lstStyle/>
          <a:p>
            <a:pPr indent="0" marL="0">
              <a:buNone/>
            </a:pPr>
            <a:r>
              <a:rPr lang="en-US" sz="1220" b="1" dirty="0">
                <a:solidFill>
                  <a:srgbClr val="1D4ED8"/>
                </a:solidFill>
                <a:latin typeface="Aptos" pitchFamily="34" charset="0"/>
                <a:ea typeface="Segoe UI" pitchFamily="34" charset="-122"/>
                <a:cs typeface="Segoe UI" pitchFamily="34" charset="-120"/>
              </a:rPr>
              <a:t>−4 lignes</a:t>
            </a:r>
            <a:endParaRPr lang="en-US" sz="1220" dirty="0"/>
          </a:p>
        </p:txBody>
      </p:sp>
      <p:sp>
        <p:nvSpPr>
          <p:cNvPr id="28" name="Shape 25"/>
          <p:cNvSpPr/>
          <p:nvPr/>
        </p:nvSpPr>
        <p:spPr>
          <a:xfrm>
            <a:off x="7872984" y="2459736"/>
            <a:ext cx="731520" cy="0"/>
          </a:xfrm>
          <a:prstGeom prst="line">
            <a:avLst/>
          </a:prstGeom>
          <a:noFill/>
          <a:ln w="25400">
            <a:solidFill>
              <a:srgbClr val="1D4ED8"/>
            </a:solidFill>
            <a:prstDash val="solid"/>
          </a:ln>
        </p:spPr>
        <p:txBody>
          <a:bodyPr/>
          <a:p/>
        </p:txBody>
      </p:sp>
      <p:sp>
        <p:nvSpPr>
          <p:cNvPr id="29" name="Shape 26"/>
          <p:cNvSpPr/>
          <p:nvPr/>
        </p:nvSpPr>
        <p:spPr>
          <a:xfrm rot="5400000">
            <a:off x="8586216" y="2377440"/>
            <a:ext cx="146304" cy="173736"/>
          </a:xfrm>
          <a:prstGeom prst="triangle">
            <a:avLst/>
          </a:prstGeom>
          <a:solidFill>
            <a:srgbClr val="1D4ED8"/>
          </a:solidFill>
          <a:ln w="12700">
            <a:solidFill>
              <a:srgbClr val="1D4ED8">
                <a:alpha val="0"/>
              </a:srgbClr>
            </a:solidFill>
            <a:prstDash val="solid"/>
          </a:ln>
        </p:spPr>
        <p:txBody>
          <a:bodyPr/>
          <a:p/>
        </p:txBody>
      </p:sp>
      <p:sp>
        <p:nvSpPr>
          <p:cNvPr id="30" name="Text 27"/>
          <p:cNvSpPr/>
          <p:nvPr/>
        </p:nvSpPr>
        <p:spPr>
          <a:xfrm>
            <a:off x="475488" y="3346704"/>
            <a:ext cx="10844784" cy="283464"/>
          </a:xfrm>
          <a:prstGeom prst="rect">
            <a:avLst/>
          </a:prstGeom>
          <a:noFill/>
          <a:ln/>
        </p:spPr>
        <p:txBody>
          <a:bodyPr wrap="square" lIns="0" tIns="0" rIns="0" bIns="0" rtlCol="0" anchor="ctr"/>
          <a:lstStyle/>
          <a:p>
            <a:pPr indent="0" marL="0">
              <a:buNone/>
            </a:pPr>
            <a:r>
              <a:rPr lang="en-US" sz="1500" dirty="0">
                <a:solidFill>
                  <a:srgbClr val="17324D"/>
                </a:solidFill>
                <a:latin typeface="Aptos" pitchFamily="34" charset="0"/>
                <a:ea typeface="Segoe UI" pitchFamily="34" charset="-122"/>
                <a:cs typeface="Segoe UI" pitchFamily="34" charset="-120"/>
              </a:rPr>
              <a:t>Observations exclues : âge ≥ 90 ans ou revenu ≥ 600 000</a:t>
            </a:r>
            <a:endParaRPr lang="en-US" sz="1500" dirty="0"/>
          </a:p>
        </p:txBody>
      </p:sp>
      <p:sp>
        <p:nvSpPr>
          <p:cNvPr id="31" name="Shape 28"/>
          <p:cNvSpPr/>
          <p:nvPr/>
        </p:nvSpPr>
        <p:spPr>
          <a:xfrm>
            <a:off x="365760" y="3666744"/>
            <a:ext cx="7150608" cy="2660904"/>
          </a:xfrm>
          <a:prstGeom prst="roundRect">
            <a:avLst>
              <a:gd name="adj" fmla="val 4811"/>
            </a:avLst>
          </a:prstGeom>
          <a:solidFill>
            <a:srgbClr val="EFF6FF"/>
          </a:solidFill>
          <a:ln w="12700">
            <a:solidFill>
              <a:srgbClr val="EFF6FF">
                <a:alpha val="0"/>
              </a:srgbClr>
            </a:solidFill>
            <a:prstDash val="solid"/>
          </a:ln>
        </p:spPr>
        <p:txBody>
          <a:bodyPr/>
          <a:p/>
        </p:txBody>
      </p:sp>
      <p:sp>
        <p:nvSpPr>
          <p:cNvPr id="32" name="Shape 29"/>
          <p:cNvSpPr/>
          <p:nvPr/>
        </p:nvSpPr>
        <p:spPr>
          <a:xfrm>
            <a:off x="612648" y="3794760"/>
            <a:ext cx="850392" cy="850392"/>
          </a:xfrm>
          <a:prstGeom prst="ellipse">
            <a:avLst/>
          </a:prstGeom>
          <a:solidFill>
            <a:srgbClr val="1D4ED8"/>
          </a:solidFill>
          <a:ln w="12700">
            <a:solidFill>
              <a:srgbClr val="1D4ED8">
                <a:alpha val="0"/>
              </a:srgbClr>
            </a:solidFill>
            <a:prstDash val="solid"/>
          </a:ln>
        </p:spPr>
        <p:txBody>
          <a:bodyPr/>
          <a:p/>
        </p:txBody>
      </p:sp>
      <p:sp>
        <p:nvSpPr>
          <p:cNvPr id="33" name="VECTOR_gear_dark_26"/>
          <p:cNvSpPr/>
          <p:nvPr/>
        </p:nvSpPr>
        <p:spPr>
          <a:xfrm>
            <a:off x="612648" y="3794760"/>
            <a:ext cx="850392" cy="850392"/>
          </a:xfrm>
          <a:custGeom>
            <a:avLst/>
            <a:gdLst/>
            <a:ahLst/>
            <a:cxnLst/>
            <a:rect l="0" t="0" r="r" b="b"/>
            <a:pathLst>
              <a:path w="100000" h="100000" fill="norm" stroke="false" extrusionOk="false">
                <a:moveTo>
                  <a:pt x="51953" y="23438"/>
                </a:moveTo>
                <a:lnTo>
                  <a:pt x="52344" y="23047"/>
                </a:lnTo>
                <a:lnTo>
                  <a:pt x="61719" y="23047"/>
                </a:lnTo>
                <a:lnTo>
                  <a:pt x="62891" y="25000"/>
                </a:lnTo>
                <a:lnTo>
                  <a:pt x="62891" y="25781"/>
                </a:lnTo>
                <a:lnTo>
                  <a:pt x="62891" y="26562"/>
                </a:lnTo>
                <a:lnTo>
                  <a:pt x="63281" y="26953"/>
                </a:lnTo>
                <a:lnTo>
                  <a:pt x="63672" y="27344"/>
                </a:lnTo>
                <a:lnTo>
                  <a:pt x="63672" y="29688"/>
                </a:lnTo>
                <a:lnTo>
                  <a:pt x="65625" y="30078"/>
                </a:lnTo>
                <a:lnTo>
                  <a:pt x="66016" y="30469"/>
                </a:lnTo>
                <a:lnTo>
                  <a:pt x="66406" y="30859"/>
                </a:lnTo>
                <a:lnTo>
                  <a:pt x="68750" y="30859"/>
                </a:lnTo>
                <a:lnTo>
                  <a:pt x="72656" y="28516"/>
                </a:lnTo>
                <a:lnTo>
                  <a:pt x="75000" y="28516"/>
                </a:lnTo>
                <a:lnTo>
                  <a:pt x="80078" y="33594"/>
                </a:lnTo>
                <a:lnTo>
                  <a:pt x="80078" y="35938"/>
                </a:lnTo>
                <a:lnTo>
                  <a:pt x="77734" y="39844"/>
                </a:lnTo>
                <a:lnTo>
                  <a:pt x="77734" y="42188"/>
                </a:lnTo>
                <a:lnTo>
                  <a:pt x="78516" y="43750"/>
                </a:lnTo>
                <a:lnTo>
                  <a:pt x="80469" y="44922"/>
                </a:lnTo>
                <a:lnTo>
                  <a:pt x="82812" y="44922"/>
                </a:lnTo>
                <a:lnTo>
                  <a:pt x="85547" y="46875"/>
                </a:lnTo>
                <a:lnTo>
                  <a:pt x="85547" y="57031"/>
                </a:lnTo>
                <a:lnTo>
                  <a:pt x="83594" y="58203"/>
                </a:lnTo>
                <a:lnTo>
                  <a:pt x="81250" y="58203"/>
                </a:lnTo>
                <a:lnTo>
                  <a:pt x="79688" y="58984"/>
                </a:lnTo>
                <a:lnTo>
                  <a:pt x="77734" y="61719"/>
                </a:lnTo>
                <a:lnTo>
                  <a:pt x="77734" y="64062"/>
                </a:lnTo>
                <a:lnTo>
                  <a:pt x="80078" y="67188"/>
                </a:lnTo>
                <a:lnTo>
                  <a:pt x="80859" y="69531"/>
                </a:lnTo>
                <a:lnTo>
                  <a:pt x="74219" y="76172"/>
                </a:lnTo>
                <a:lnTo>
                  <a:pt x="71094" y="74609"/>
                </a:lnTo>
                <a:lnTo>
                  <a:pt x="69531" y="73047"/>
                </a:lnTo>
                <a:lnTo>
                  <a:pt x="67188" y="73047"/>
                </a:lnTo>
                <a:lnTo>
                  <a:pt x="66797" y="73438"/>
                </a:lnTo>
                <a:lnTo>
                  <a:pt x="66406" y="73828"/>
                </a:lnTo>
                <a:lnTo>
                  <a:pt x="65625" y="73828"/>
                </a:lnTo>
                <a:lnTo>
                  <a:pt x="64844" y="73828"/>
                </a:lnTo>
                <a:lnTo>
                  <a:pt x="63672" y="75000"/>
                </a:lnTo>
                <a:lnTo>
                  <a:pt x="63672" y="75781"/>
                </a:lnTo>
                <a:lnTo>
                  <a:pt x="63672" y="76562"/>
                </a:lnTo>
                <a:lnTo>
                  <a:pt x="63281" y="76953"/>
                </a:lnTo>
                <a:lnTo>
                  <a:pt x="62891" y="77344"/>
                </a:lnTo>
                <a:lnTo>
                  <a:pt x="62891" y="79688"/>
                </a:lnTo>
                <a:lnTo>
                  <a:pt x="60938" y="81641"/>
                </a:lnTo>
                <a:lnTo>
                  <a:pt x="60156" y="81641"/>
                </a:lnTo>
                <a:lnTo>
                  <a:pt x="59375" y="81641"/>
                </a:lnTo>
                <a:lnTo>
                  <a:pt x="58984" y="81250"/>
                </a:lnTo>
                <a:lnTo>
                  <a:pt x="58594" y="80859"/>
                </a:lnTo>
                <a:lnTo>
                  <a:pt x="55469" y="80859"/>
                </a:lnTo>
                <a:lnTo>
                  <a:pt x="55078" y="81250"/>
                </a:lnTo>
                <a:lnTo>
                  <a:pt x="54688" y="81641"/>
                </a:lnTo>
                <a:lnTo>
                  <a:pt x="53906" y="81641"/>
                </a:lnTo>
                <a:lnTo>
                  <a:pt x="53125" y="81641"/>
                </a:lnTo>
                <a:lnTo>
                  <a:pt x="51953" y="80469"/>
                </a:lnTo>
                <a:lnTo>
                  <a:pt x="51953" y="79688"/>
                </a:lnTo>
                <a:lnTo>
                  <a:pt x="51953" y="78906"/>
                </a:lnTo>
                <a:lnTo>
                  <a:pt x="51562" y="78516"/>
                </a:lnTo>
                <a:lnTo>
                  <a:pt x="51172" y="78125"/>
                </a:lnTo>
                <a:lnTo>
                  <a:pt x="51172" y="75781"/>
                </a:lnTo>
                <a:lnTo>
                  <a:pt x="50391" y="74219"/>
                </a:lnTo>
                <a:lnTo>
                  <a:pt x="48438" y="73047"/>
                </a:lnTo>
                <a:lnTo>
                  <a:pt x="45312" y="73047"/>
                </a:lnTo>
                <a:lnTo>
                  <a:pt x="42188" y="75391"/>
                </a:lnTo>
                <a:lnTo>
                  <a:pt x="39062" y="75391"/>
                </a:lnTo>
                <a:lnTo>
                  <a:pt x="33984" y="70312"/>
                </a:lnTo>
                <a:lnTo>
                  <a:pt x="33984" y="67969"/>
                </a:lnTo>
                <a:lnTo>
                  <a:pt x="37109" y="63281"/>
                </a:lnTo>
                <a:lnTo>
                  <a:pt x="36328" y="59375"/>
                </a:lnTo>
                <a:lnTo>
                  <a:pt x="34375" y="58984"/>
                </a:lnTo>
                <a:lnTo>
                  <a:pt x="33984" y="58594"/>
                </a:lnTo>
                <a:lnTo>
                  <a:pt x="33594" y="58203"/>
                </a:lnTo>
                <a:lnTo>
                  <a:pt x="30469" y="58203"/>
                </a:lnTo>
                <a:lnTo>
                  <a:pt x="28516" y="57031"/>
                </a:lnTo>
                <a:lnTo>
                  <a:pt x="28516" y="46875"/>
                </a:lnTo>
                <a:lnTo>
                  <a:pt x="29688" y="45703"/>
                </a:lnTo>
                <a:lnTo>
                  <a:pt x="30469" y="45703"/>
                </a:lnTo>
                <a:lnTo>
                  <a:pt x="31250" y="45703"/>
                </a:lnTo>
                <a:lnTo>
                  <a:pt x="31641" y="45312"/>
                </a:lnTo>
                <a:lnTo>
                  <a:pt x="32031" y="44922"/>
                </a:lnTo>
                <a:lnTo>
                  <a:pt x="34375" y="44922"/>
                </a:lnTo>
                <a:lnTo>
                  <a:pt x="37109" y="42969"/>
                </a:lnTo>
                <a:lnTo>
                  <a:pt x="37109" y="40625"/>
                </a:lnTo>
                <a:lnTo>
                  <a:pt x="33984" y="34375"/>
                </a:lnTo>
                <a:lnTo>
                  <a:pt x="39844" y="28516"/>
                </a:lnTo>
                <a:lnTo>
                  <a:pt x="42188" y="28516"/>
                </a:lnTo>
                <a:lnTo>
                  <a:pt x="46094" y="31641"/>
                </a:lnTo>
                <a:lnTo>
                  <a:pt x="48438" y="30859"/>
                </a:lnTo>
                <a:lnTo>
                  <a:pt x="51172" y="27344"/>
                </a:lnTo>
                <a:lnTo>
                  <a:pt x="51172" y="25000"/>
                </a:lnTo>
                <a:lnTo>
                  <a:pt x="51953" y="23438"/>
                </a:lnTo>
                <a:close/>
                <a:moveTo>
                  <a:pt x="55469" y="26172"/>
                </a:moveTo>
                <a:lnTo>
                  <a:pt x="54297" y="27344"/>
                </a:lnTo>
                <a:lnTo>
                  <a:pt x="53516" y="31250"/>
                </a:lnTo>
                <a:lnTo>
                  <a:pt x="51562" y="33203"/>
                </a:lnTo>
                <a:lnTo>
                  <a:pt x="50781" y="33203"/>
                </a:lnTo>
                <a:lnTo>
                  <a:pt x="50000" y="33203"/>
                </a:lnTo>
                <a:lnTo>
                  <a:pt x="47656" y="34766"/>
                </a:lnTo>
                <a:lnTo>
                  <a:pt x="46875" y="34766"/>
                </a:lnTo>
                <a:lnTo>
                  <a:pt x="46094" y="34766"/>
                </a:lnTo>
                <a:lnTo>
                  <a:pt x="42188" y="32422"/>
                </a:lnTo>
                <a:lnTo>
                  <a:pt x="41406" y="32422"/>
                </a:lnTo>
                <a:lnTo>
                  <a:pt x="40625" y="32422"/>
                </a:lnTo>
                <a:lnTo>
                  <a:pt x="37891" y="35156"/>
                </a:lnTo>
                <a:lnTo>
                  <a:pt x="41016" y="41406"/>
                </a:lnTo>
                <a:lnTo>
                  <a:pt x="39453" y="43750"/>
                </a:lnTo>
                <a:lnTo>
                  <a:pt x="39453" y="44531"/>
                </a:lnTo>
                <a:lnTo>
                  <a:pt x="39453" y="45312"/>
                </a:lnTo>
                <a:lnTo>
                  <a:pt x="38281" y="47266"/>
                </a:lnTo>
                <a:lnTo>
                  <a:pt x="37500" y="47266"/>
                </a:lnTo>
                <a:lnTo>
                  <a:pt x="36719" y="47266"/>
                </a:lnTo>
                <a:lnTo>
                  <a:pt x="36328" y="47656"/>
                </a:lnTo>
                <a:lnTo>
                  <a:pt x="35938" y="48047"/>
                </a:lnTo>
                <a:lnTo>
                  <a:pt x="33594" y="48047"/>
                </a:lnTo>
                <a:lnTo>
                  <a:pt x="31641" y="49219"/>
                </a:lnTo>
                <a:lnTo>
                  <a:pt x="31641" y="53906"/>
                </a:lnTo>
                <a:lnTo>
                  <a:pt x="32812" y="55078"/>
                </a:lnTo>
                <a:lnTo>
                  <a:pt x="35156" y="55078"/>
                </a:lnTo>
                <a:lnTo>
                  <a:pt x="35547" y="55469"/>
                </a:lnTo>
                <a:lnTo>
                  <a:pt x="35938" y="55859"/>
                </a:lnTo>
                <a:lnTo>
                  <a:pt x="36719" y="55859"/>
                </a:lnTo>
                <a:lnTo>
                  <a:pt x="37500" y="55859"/>
                </a:lnTo>
                <a:lnTo>
                  <a:pt x="38672" y="57031"/>
                </a:lnTo>
                <a:lnTo>
                  <a:pt x="39453" y="60938"/>
                </a:lnTo>
                <a:lnTo>
                  <a:pt x="41016" y="63281"/>
                </a:lnTo>
                <a:lnTo>
                  <a:pt x="41016" y="64062"/>
                </a:lnTo>
                <a:lnTo>
                  <a:pt x="37891" y="67969"/>
                </a:lnTo>
                <a:lnTo>
                  <a:pt x="37891" y="68750"/>
                </a:lnTo>
                <a:lnTo>
                  <a:pt x="37891" y="69531"/>
                </a:lnTo>
                <a:lnTo>
                  <a:pt x="39844" y="71484"/>
                </a:lnTo>
                <a:lnTo>
                  <a:pt x="40625" y="71484"/>
                </a:lnTo>
                <a:lnTo>
                  <a:pt x="41406" y="71484"/>
                </a:lnTo>
                <a:lnTo>
                  <a:pt x="45312" y="69141"/>
                </a:lnTo>
                <a:lnTo>
                  <a:pt x="46094" y="69141"/>
                </a:lnTo>
                <a:lnTo>
                  <a:pt x="46875" y="69141"/>
                </a:lnTo>
                <a:lnTo>
                  <a:pt x="49219" y="70703"/>
                </a:lnTo>
                <a:lnTo>
                  <a:pt x="50000" y="70703"/>
                </a:lnTo>
                <a:lnTo>
                  <a:pt x="50781" y="70703"/>
                </a:lnTo>
                <a:lnTo>
                  <a:pt x="52344" y="71484"/>
                </a:lnTo>
                <a:lnTo>
                  <a:pt x="53516" y="72656"/>
                </a:lnTo>
                <a:lnTo>
                  <a:pt x="53516" y="73438"/>
                </a:lnTo>
                <a:lnTo>
                  <a:pt x="53516" y="74219"/>
                </a:lnTo>
                <a:lnTo>
                  <a:pt x="53906" y="74609"/>
                </a:lnTo>
                <a:lnTo>
                  <a:pt x="54297" y="75000"/>
                </a:lnTo>
                <a:lnTo>
                  <a:pt x="54297" y="77344"/>
                </a:lnTo>
                <a:lnTo>
                  <a:pt x="55469" y="78516"/>
                </a:lnTo>
                <a:lnTo>
                  <a:pt x="58594" y="78516"/>
                </a:lnTo>
                <a:lnTo>
                  <a:pt x="59766" y="77344"/>
                </a:lnTo>
                <a:lnTo>
                  <a:pt x="59766" y="76562"/>
                </a:lnTo>
                <a:lnTo>
                  <a:pt x="59766" y="75781"/>
                </a:lnTo>
                <a:lnTo>
                  <a:pt x="60156" y="75391"/>
                </a:lnTo>
                <a:lnTo>
                  <a:pt x="60547" y="75000"/>
                </a:lnTo>
                <a:lnTo>
                  <a:pt x="60547" y="74219"/>
                </a:lnTo>
                <a:lnTo>
                  <a:pt x="60547" y="73438"/>
                </a:lnTo>
                <a:lnTo>
                  <a:pt x="61719" y="71484"/>
                </a:lnTo>
                <a:lnTo>
                  <a:pt x="62500" y="71484"/>
                </a:lnTo>
                <a:lnTo>
                  <a:pt x="63281" y="71484"/>
                </a:lnTo>
                <a:lnTo>
                  <a:pt x="67188" y="69141"/>
                </a:lnTo>
                <a:lnTo>
                  <a:pt x="67969" y="69141"/>
                </a:lnTo>
                <a:lnTo>
                  <a:pt x="68750" y="69141"/>
                </a:lnTo>
                <a:lnTo>
                  <a:pt x="71875" y="70703"/>
                </a:lnTo>
                <a:lnTo>
                  <a:pt x="73438" y="72266"/>
                </a:lnTo>
                <a:lnTo>
                  <a:pt x="76953" y="68750"/>
                </a:lnTo>
                <a:lnTo>
                  <a:pt x="74609" y="65625"/>
                </a:lnTo>
                <a:lnTo>
                  <a:pt x="73828" y="64062"/>
                </a:lnTo>
                <a:lnTo>
                  <a:pt x="73828" y="63281"/>
                </a:lnTo>
                <a:lnTo>
                  <a:pt x="73828" y="62500"/>
                </a:lnTo>
                <a:lnTo>
                  <a:pt x="74219" y="62109"/>
                </a:lnTo>
                <a:lnTo>
                  <a:pt x="74609" y="61719"/>
                </a:lnTo>
                <a:lnTo>
                  <a:pt x="74609" y="60938"/>
                </a:lnTo>
                <a:lnTo>
                  <a:pt x="74609" y="60156"/>
                </a:lnTo>
                <a:lnTo>
                  <a:pt x="75000" y="59766"/>
                </a:lnTo>
                <a:lnTo>
                  <a:pt x="75391" y="59375"/>
                </a:lnTo>
                <a:lnTo>
                  <a:pt x="75391" y="58594"/>
                </a:lnTo>
                <a:lnTo>
                  <a:pt x="75391" y="57812"/>
                </a:lnTo>
                <a:lnTo>
                  <a:pt x="76172" y="56250"/>
                </a:lnTo>
                <a:lnTo>
                  <a:pt x="81250" y="55078"/>
                </a:lnTo>
                <a:lnTo>
                  <a:pt x="82422" y="53906"/>
                </a:lnTo>
                <a:lnTo>
                  <a:pt x="82422" y="49219"/>
                </a:lnTo>
                <a:lnTo>
                  <a:pt x="80469" y="48047"/>
                </a:lnTo>
                <a:lnTo>
                  <a:pt x="77344" y="48047"/>
                </a:lnTo>
                <a:lnTo>
                  <a:pt x="75391" y="46094"/>
                </a:lnTo>
                <a:lnTo>
                  <a:pt x="75391" y="45312"/>
                </a:lnTo>
                <a:lnTo>
                  <a:pt x="75391" y="44531"/>
                </a:lnTo>
                <a:lnTo>
                  <a:pt x="73828" y="42188"/>
                </a:lnTo>
                <a:lnTo>
                  <a:pt x="73828" y="39844"/>
                </a:lnTo>
                <a:lnTo>
                  <a:pt x="76172" y="35938"/>
                </a:lnTo>
                <a:lnTo>
                  <a:pt x="76172" y="35156"/>
                </a:lnTo>
                <a:lnTo>
                  <a:pt x="76172" y="34375"/>
                </a:lnTo>
                <a:lnTo>
                  <a:pt x="74219" y="32422"/>
                </a:lnTo>
                <a:lnTo>
                  <a:pt x="73438" y="32422"/>
                </a:lnTo>
                <a:lnTo>
                  <a:pt x="72656" y="32422"/>
                </a:lnTo>
                <a:lnTo>
                  <a:pt x="70312" y="33984"/>
                </a:lnTo>
                <a:lnTo>
                  <a:pt x="69531" y="33984"/>
                </a:lnTo>
                <a:lnTo>
                  <a:pt x="68750" y="33984"/>
                </a:lnTo>
                <a:lnTo>
                  <a:pt x="67188" y="34766"/>
                </a:lnTo>
                <a:lnTo>
                  <a:pt x="64844" y="33203"/>
                </a:lnTo>
                <a:lnTo>
                  <a:pt x="64062" y="33203"/>
                </a:lnTo>
                <a:lnTo>
                  <a:pt x="63281" y="33203"/>
                </a:lnTo>
                <a:lnTo>
                  <a:pt x="61719" y="32422"/>
                </a:lnTo>
                <a:lnTo>
                  <a:pt x="60547" y="31250"/>
                </a:lnTo>
                <a:lnTo>
                  <a:pt x="60547" y="28125"/>
                </a:lnTo>
                <a:lnTo>
                  <a:pt x="59375" y="26172"/>
                </a:lnTo>
                <a:lnTo>
                  <a:pt x="55469" y="26172"/>
                </a:lnTo>
                <a:close/>
                <a:moveTo>
                  <a:pt x="53516" y="41406"/>
                </a:moveTo>
                <a:lnTo>
                  <a:pt x="53906" y="41016"/>
                </a:lnTo>
                <a:lnTo>
                  <a:pt x="60938" y="41016"/>
                </a:lnTo>
                <a:lnTo>
                  <a:pt x="64062" y="42578"/>
                </a:lnTo>
                <a:lnTo>
                  <a:pt x="67578" y="46094"/>
                </a:lnTo>
                <a:lnTo>
                  <a:pt x="68359" y="47656"/>
                </a:lnTo>
                <a:lnTo>
                  <a:pt x="68359" y="48438"/>
                </a:lnTo>
                <a:lnTo>
                  <a:pt x="68359" y="49219"/>
                </a:lnTo>
                <a:lnTo>
                  <a:pt x="68750" y="49609"/>
                </a:lnTo>
                <a:lnTo>
                  <a:pt x="69141" y="50000"/>
                </a:lnTo>
                <a:lnTo>
                  <a:pt x="69141" y="53906"/>
                </a:lnTo>
                <a:lnTo>
                  <a:pt x="68750" y="54297"/>
                </a:lnTo>
                <a:lnTo>
                  <a:pt x="68359" y="54688"/>
                </a:lnTo>
                <a:lnTo>
                  <a:pt x="68359" y="55469"/>
                </a:lnTo>
                <a:lnTo>
                  <a:pt x="68359" y="56250"/>
                </a:lnTo>
                <a:lnTo>
                  <a:pt x="66797" y="59375"/>
                </a:lnTo>
                <a:lnTo>
                  <a:pt x="64062" y="62109"/>
                </a:lnTo>
                <a:lnTo>
                  <a:pt x="61328" y="63281"/>
                </a:lnTo>
                <a:lnTo>
                  <a:pt x="60938" y="63672"/>
                </a:lnTo>
                <a:lnTo>
                  <a:pt x="53906" y="63672"/>
                </a:lnTo>
                <a:lnTo>
                  <a:pt x="50781" y="62109"/>
                </a:lnTo>
                <a:lnTo>
                  <a:pt x="48047" y="59375"/>
                </a:lnTo>
                <a:lnTo>
                  <a:pt x="46484" y="56250"/>
                </a:lnTo>
                <a:lnTo>
                  <a:pt x="46484" y="55469"/>
                </a:lnTo>
                <a:lnTo>
                  <a:pt x="46484" y="54688"/>
                </a:lnTo>
                <a:lnTo>
                  <a:pt x="46094" y="54297"/>
                </a:lnTo>
                <a:lnTo>
                  <a:pt x="45703" y="53906"/>
                </a:lnTo>
                <a:lnTo>
                  <a:pt x="45703" y="50781"/>
                </a:lnTo>
                <a:lnTo>
                  <a:pt x="46094" y="50391"/>
                </a:lnTo>
                <a:lnTo>
                  <a:pt x="46484" y="50000"/>
                </a:lnTo>
                <a:lnTo>
                  <a:pt x="46484" y="47656"/>
                </a:lnTo>
                <a:lnTo>
                  <a:pt x="47266" y="46094"/>
                </a:lnTo>
                <a:lnTo>
                  <a:pt x="50781" y="42578"/>
                </a:lnTo>
                <a:lnTo>
                  <a:pt x="53516" y="41406"/>
                </a:lnTo>
                <a:close/>
                <a:moveTo>
                  <a:pt x="55469" y="44141"/>
                </a:moveTo>
                <a:lnTo>
                  <a:pt x="52344" y="45703"/>
                </a:lnTo>
                <a:lnTo>
                  <a:pt x="49609" y="49219"/>
                </a:lnTo>
                <a:lnTo>
                  <a:pt x="49609" y="55469"/>
                </a:lnTo>
                <a:lnTo>
                  <a:pt x="51172" y="57031"/>
                </a:lnTo>
                <a:lnTo>
                  <a:pt x="51172" y="57812"/>
                </a:lnTo>
                <a:lnTo>
                  <a:pt x="51562" y="58203"/>
                </a:lnTo>
                <a:lnTo>
                  <a:pt x="52344" y="58203"/>
                </a:lnTo>
                <a:lnTo>
                  <a:pt x="53906" y="59766"/>
                </a:lnTo>
                <a:lnTo>
                  <a:pt x="55469" y="60547"/>
                </a:lnTo>
                <a:lnTo>
                  <a:pt x="59375" y="60547"/>
                </a:lnTo>
                <a:lnTo>
                  <a:pt x="60938" y="59766"/>
                </a:lnTo>
                <a:lnTo>
                  <a:pt x="64453" y="56250"/>
                </a:lnTo>
                <a:lnTo>
                  <a:pt x="65234" y="54688"/>
                </a:lnTo>
                <a:lnTo>
                  <a:pt x="65234" y="49219"/>
                </a:lnTo>
                <a:lnTo>
                  <a:pt x="62500" y="45703"/>
                </a:lnTo>
                <a:lnTo>
                  <a:pt x="59375" y="44141"/>
                </a:lnTo>
                <a:lnTo>
                  <a:pt x="55469" y="44141"/>
                </a:lnTo>
                <a:close/>
              </a:path>
            </a:pathLst>
          </a:custGeom>
          <a:solidFill>
            <a:srgbClr val="FFFFFF"/>
          </a:solidFill>
          <a:ln>
            <a:noFill/>
          </a:ln>
        </p:spPr>
        <p:txBody>
          <a:bodyPr/>
          <a:p/>
        </p:txBody>
      </p:sp>
      <p:sp>
        <p:nvSpPr>
          <p:cNvPr id="34" name="Text 31"/>
          <p:cNvSpPr/>
          <p:nvPr/>
        </p:nvSpPr>
        <p:spPr>
          <a:xfrm>
            <a:off x="1691640" y="3986784"/>
            <a:ext cx="5477256" cy="374904"/>
          </a:xfrm>
          <a:prstGeom prst="rect">
            <a:avLst/>
          </a:prstGeom>
          <a:noFill/>
          <a:ln/>
        </p:spPr>
        <p:txBody>
          <a:bodyPr wrap="square" lIns="0" tIns="0" rIns="0" bIns="0" rtlCol="0" anchor="ctr"/>
          <a:lstStyle/>
          <a:p>
            <a:pPr indent="0" marL="0">
              <a:buNone/>
            </a:pPr>
            <a:r>
              <a:rPr lang="en-US" sz="2900" b="1" dirty="0">
                <a:solidFill>
                  <a:srgbClr val="17324D"/>
                </a:solidFill>
                <a:latin typeface="Aptos" pitchFamily="34" charset="0"/>
                <a:ea typeface="Segoe UI" pitchFamily="34" charset="-122"/>
                <a:cs typeface="Segoe UI" pitchFamily="34" charset="-120"/>
              </a:rPr>
              <a:t>7 variables créées</a:t>
            </a:r>
            <a:endParaRPr lang="en-US" sz="2900" dirty="0"/>
          </a:p>
        </p:txBody>
      </p:sp>
      <p:sp>
        <p:nvSpPr>
          <p:cNvPr id="35" name="Shape 32"/>
          <p:cNvSpPr/>
          <p:nvPr/>
        </p:nvSpPr>
        <p:spPr>
          <a:xfrm>
            <a:off x="621792" y="4599432"/>
            <a:ext cx="1124712" cy="292608"/>
          </a:xfrm>
          <a:prstGeom prst="roundRect">
            <a:avLst>
              <a:gd name="adj" fmla="val 43750"/>
            </a:avLst>
          </a:prstGeom>
          <a:solidFill>
            <a:srgbClr val="DBEAFE"/>
          </a:solidFill>
          <a:ln w="12700">
            <a:solidFill>
              <a:srgbClr val="DBEAFE">
                <a:alpha val="0"/>
              </a:srgbClr>
            </a:solidFill>
            <a:prstDash val="solid"/>
          </a:ln>
        </p:spPr>
        <p:txBody>
          <a:bodyPr/>
          <a:p/>
        </p:txBody>
      </p:sp>
      <p:sp>
        <p:nvSpPr>
          <p:cNvPr id="36" name="Text 33"/>
          <p:cNvSpPr/>
          <p:nvPr/>
        </p:nvSpPr>
        <p:spPr>
          <a:xfrm>
            <a:off x="713232" y="4626864"/>
            <a:ext cx="969264" cy="219456"/>
          </a:xfrm>
          <a:prstGeom prst="rect">
            <a:avLst/>
          </a:prstGeom>
          <a:noFill/>
          <a:ln/>
        </p:spPr>
        <p:txBody>
          <a:bodyPr wrap="square" lIns="0" tIns="0" rIns="0" bIns="0" rtlCol="0" anchor="ctr"/>
          <a:lstStyle/>
          <a:p>
            <a:pPr indent="0" marL="0">
              <a:buNone/>
            </a:pPr>
            <a:r>
              <a:rPr lang="en-US" sz="1300" b="1" dirty="0">
                <a:solidFill>
                  <a:srgbClr val="17324D"/>
                </a:solidFill>
                <a:latin typeface="Aptos" pitchFamily="34" charset="0"/>
                <a:ea typeface="Segoe UI" pitchFamily="34" charset="-122"/>
                <a:cs typeface="Segoe UI" pitchFamily="34" charset="-120"/>
              </a:rPr>
              <a:t>Age</a:t>
            </a:r>
            <a:endParaRPr lang="en-US" sz="1300" dirty="0"/>
          </a:p>
        </p:txBody>
      </p:sp>
      <p:sp>
        <p:nvSpPr>
          <p:cNvPr id="37" name="Text 34"/>
          <p:cNvSpPr/>
          <p:nvPr/>
        </p:nvSpPr>
        <p:spPr>
          <a:xfrm>
            <a:off x="1856232" y="4626864"/>
            <a:ext cx="2286000" cy="256032"/>
          </a:xfrm>
          <a:prstGeom prst="rect">
            <a:avLst/>
          </a:prstGeom>
          <a:noFill/>
          <a:ln/>
        </p:spPr>
        <p:txBody>
          <a:bodyPr wrap="square" lIns="0" tIns="0" rIns="0" bIns="0" rtlCol="0" anchor="ctr"/>
          <a:lstStyle/>
          <a:p>
            <a:pPr indent="0" marL="0">
              <a:buNone/>
            </a:pPr>
            <a:r>
              <a:rPr lang="en-US" sz="1330" dirty="0">
                <a:solidFill>
                  <a:srgbClr val="17324D"/>
                </a:solidFill>
                <a:latin typeface="Aptos" pitchFamily="34" charset="0"/>
                <a:ea typeface="Segoe UI" pitchFamily="34" charset="-122"/>
                <a:cs typeface="Segoe UI" pitchFamily="34" charset="-120"/>
              </a:rPr>
              <a:t>: âge du client en 2014</a:t>
            </a:r>
            <a:endParaRPr lang="en-US" sz="1330" dirty="0"/>
          </a:p>
        </p:txBody>
      </p:sp>
      <p:sp>
        <p:nvSpPr>
          <p:cNvPr id="38" name="Shape 35"/>
          <p:cNvSpPr/>
          <p:nvPr/>
        </p:nvSpPr>
        <p:spPr>
          <a:xfrm>
            <a:off x="621792" y="5029200"/>
            <a:ext cx="1124712" cy="292608"/>
          </a:xfrm>
          <a:prstGeom prst="roundRect">
            <a:avLst>
              <a:gd name="adj" fmla="val 43750"/>
            </a:avLst>
          </a:prstGeom>
          <a:solidFill>
            <a:srgbClr val="DBEAFE"/>
          </a:solidFill>
          <a:ln w="12700">
            <a:solidFill>
              <a:srgbClr val="DBEAFE">
                <a:alpha val="0"/>
              </a:srgbClr>
            </a:solidFill>
            <a:prstDash val="solid"/>
          </a:ln>
        </p:spPr>
        <p:txBody>
          <a:bodyPr/>
          <a:p/>
        </p:txBody>
      </p:sp>
      <p:sp>
        <p:nvSpPr>
          <p:cNvPr id="39" name="Text 36"/>
          <p:cNvSpPr/>
          <p:nvPr/>
        </p:nvSpPr>
        <p:spPr>
          <a:xfrm>
            <a:off x="713232" y="5056632"/>
            <a:ext cx="969264" cy="219456"/>
          </a:xfrm>
          <a:prstGeom prst="rect">
            <a:avLst/>
          </a:prstGeom>
          <a:noFill/>
          <a:ln/>
        </p:spPr>
        <p:txBody>
          <a:bodyPr wrap="square" lIns="0" tIns="0" rIns="0" bIns="0" rtlCol="0" anchor="ctr"/>
          <a:lstStyle/>
          <a:p>
            <a:pPr indent="0" marL="0">
              <a:buNone/>
            </a:pPr>
            <a:r>
              <a:rPr lang="en-US" sz="1300" b="1" dirty="0">
                <a:solidFill>
                  <a:srgbClr val="17324D"/>
                </a:solidFill>
                <a:latin typeface="Aptos" pitchFamily="34" charset="0"/>
                <a:ea typeface="Segoe UI" pitchFamily="34" charset="-122"/>
                <a:cs typeface="Segoe UI" pitchFamily="34" charset="-120"/>
              </a:rPr>
              <a:t>Spent</a:t>
            </a:r>
            <a:endParaRPr lang="en-US" sz="1300" dirty="0"/>
          </a:p>
        </p:txBody>
      </p:sp>
      <p:sp>
        <p:nvSpPr>
          <p:cNvPr id="40" name="Text 37"/>
          <p:cNvSpPr/>
          <p:nvPr/>
        </p:nvSpPr>
        <p:spPr>
          <a:xfrm>
            <a:off x="1856232" y="5056632"/>
            <a:ext cx="2286000" cy="256032"/>
          </a:xfrm>
          <a:prstGeom prst="rect">
            <a:avLst/>
          </a:prstGeom>
          <a:noFill/>
          <a:ln/>
        </p:spPr>
        <p:txBody>
          <a:bodyPr wrap="square" lIns="0" tIns="0" rIns="0" bIns="0" rtlCol="0" anchor="ctr"/>
          <a:lstStyle/>
          <a:p>
            <a:pPr indent="0" marL="0">
              <a:buNone/>
            </a:pPr>
            <a:r>
              <a:rPr lang="en-US" sz="1220" dirty="0">
                <a:solidFill>
                  <a:srgbClr val="17324D"/>
                </a:solidFill>
                <a:latin typeface="Aptos" pitchFamily="34" charset="0"/>
                <a:ea typeface="Segoe UI" pitchFamily="34" charset="-122"/>
                <a:cs typeface="Segoe UI" pitchFamily="34" charset="-120"/>
              </a:rPr>
              <a:t>: dépenses sur 6 catégories</a:t>
            </a:r>
            <a:endParaRPr lang="en-US" sz="1220" dirty="0"/>
          </a:p>
        </p:txBody>
      </p:sp>
      <p:sp>
        <p:nvSpPr>
          <p:cNvPr id="41" name="Shape 38"/>
          <p:cNvSpPr/>
          <p:nvPr/>
        </p:nvSpPr>
        <p:spPr>
          <a:xfrm>
            <a:off x="621792" y="5458968"/>
            <a:ext cx="1124712" cy="292608"/>
          </a:xfrm>
          <a:prstGeom prst="roundRect">
            <a:avLst>
              <a:gd name="adj" fmla="val 43750"/>
            </a:avLst>
          </a:prstGeom>
          <a:solidFill>
            <a:srgbClr val="DBEAFE"/>
          </a:solidFill>
          <a:ln w="12700">
            <a:solidFill>
              <a:srgbClr val="DBEAFE">
                <a:alpha val="0"/>
              </a:srgbClr>
            </a:solidFill>
            <a:prstDash val="solid"/>
          </a:ln>
        </p:spPr>
        <p:txBody>
          <a:bodyPr/>
          <a:p/>
        </p:txBody>
      </p:sp>
      <p:sp>
        <p:nvSpPr>
          <p:cNvPr id="42" name="Text 39"/>
          <p:cNvSpPr/>
          <p:nvPr/>
        </p:nvSpPr>
        <p:spPr>
          <a:xfrm>
            <a:off x="713232" y="5486400"/>
            <a:ext cx="969264" cy="219456"/>
          </a:xfrm>
          <a:prstGeom prst="rect">
            <a:avLst/>
          </a:prstGeom>
          <a:noFill/>
          <a:ln/>
        </p:spPr>
        <p:txBody>
          <a:bodyPr wrap="square" lIns="0" tIns="0" rIns="0" bIns="0" rtlCol="0" anchor="ctr"/>
          <a:lstStyle/>
          <a:p>
            <a:pPr indent="0" marL="0">
              <a:buNone/>
            </a:pPr>
            <a:r>
              <a:rPr lang="en-US" sz="1300" b="1" dirty="0">
                <a:solidFill>
                  <a:srgbClr val="17324D"/>
                </a:solidFill>
                <a:latin typeface="Aptos" pitchFamily="34" charset="0"/>
                <a:ea typeface="Segoe UI" pitchFamily="34" charset="-122"/>
                <a:cs typeface="Segoe UI" pitchFamily="34" charset="-120"/>
              </a:rPr>
              <a:t>Living_With</a:t>
            </a:r>
            <a:endParaRPr lang="en-US" sz="1300" dirty="0"/>
          </a:p>
        </p:txBody>
      </p:sp>
      <p:sp>
        <p:nvSpPr>
          <p:cNvPr id="43" name="Text 40"/>
          <p:cNvSpPr/>
          <p:nvPr/>
        </p:nvSpPr>
        <p:spPr>
          <a:xfrm>
            <a:off x="1856232" y="5486400"/>
            <a:ext cx="2286000" cy="256032"/>
          </a:xfrm>
          <a:prstGeom prst="rect">
            <a:avLst/>
          </a:prstGeom>
          <a:noFill/>
          <a:ln/>
        </p:spPr>
        <p:txBody>
          <a:bodyPr wrap="square" lIns="0" tIns="0" rIns="0" bIns="0" rtlCol="0" anchor="ctr"/>
          <a:lstStyle/>
          <a:p>
            <a:pPr indent="0" marL="0">
              <a:buNone/>
            </a:pPr>
            <a:r>
              <a:rPr lang="en-US" sz="1330" dirty="0">
                <a:solidFill>
                  <a:srgbClr val="17324D"/>
                </a:solidFill>
                <a:latin typeface="Aptos" pitchFamily="34" charset="0"/>
                <a:ea typeface="Segoe UI" pitchFamily="34" charset="-122"/>
                <a:cs typeface="Segoe UI" pitchFamily="34" charset="-120"/>
              </a:rPr>
              <a:t>: seul ou en couple</a:t>
            </a:r>
            <a:endParaRPr lang="en-US" sz="1330" dirty="0"/>
          </a:p>
        </p:txBody>
      </p:sp>
      <p:sp>
        <p:nvSpPr>
          <p:cNvPr id="44" name="Shape 41"/>
          <p:cNvSpPr/>
          <p:nvPr/>
        </p:nvSpPr>
        <p:spPr>
          <a:xfrm>
            <a:off x="4315968" y="4599432"/>
            <a:ext cx="1124712" cy="292608"/>
          </a:xfrm>
          <a:prstGeom prst="roundRect">
            <a:avLst>
              <a:gd name="adj" fmla="val 43750"/>
            </a:avLst>
          </a:prstGeom>
          <a:solidFill>
            <a:srgbClr val="DBEAFE"/>
          </a:solidFill>
          <a:ln w="12700">
            <a:solidFill>
              <a:srgbClr val="DBEAFE">
                <a:alpha val="0"/>
              </a:srgbClr>
            </a:solidFill>
            <a:prstDash val="solid"/>
          </a:ln>
        </p:spPr>
        <p:txBody>
          <a:bodyPr/>
          <a:p/>
        </p:txBody>
      </p:sp>
      <p:sp>
        <p:nvSpPr>
          <p:cNvPr id="45" name="Text 42"/>
          <p:cNvSpPr/>
          <p:nvPr/>
        </p:nvSpPr>
        <p:spPr>
          <a:xfrm>
            <a:off x="4407408" y="4626864"/>
            <a:ext cx="969264" cy="219456"/>
          </a:xfrm>
          <a:prstGeom prst="rect">
            <a:avLst/>
          </a:prstGeom>
          <a:noFill/>
          <a:ln/>
        </p:spPr>
        <p:txBody>
          <a:bodyPr wrap="square" lIns="0" tIns="0" rIns="0" bIns="0" rtlCol="0" anchor="ctr"/>
          <a:lstStyle/>
          <a:p>
            <a:pPr indent="0" marL="0">
              <a:buNone/>
            </a:pPr>
            <a:r>
              <a:rPr lang="en-US" sz="1300" b="1" dirty="0">
                <a:solidFill>
                  <a:srgbClr val="17324D"/>
                </a:solidFill>
                <a:latin typeface="Aptos" pitchFamily="34" charset="0"/>
                <a:ea typeface="Segoe UI" pitchFamily="34" charset="-122"/>
                <a:cs typeface="Segoe UI" pitchFamily="34" charset="-120"/>
              </a:rPr>
              <a:t>Children</a:t>
            </a:r>
            <a:endParaRPr lang="en-US" sz="1300" dirty="0"/>
          </a:p>
        </p:txBody>
      </p:sp>
      <p:sp>
        <p:nvSpPr>
          <p:cNvPr id="46" name="Text 43"/>
          <p:cNvSpPr/>
          <p:nvPr/>
        </p:nvSpPr>
        <p:spPr>
          <a:xfrm>
            <a:off x="5550408" y="4626864"/>
            <a:ext cx="1901952" cy="256032"/>
          </a:xfrm>
          <a:prstGeom prst="rect">
            <a:avLst/>
          </a:prstGeom>
          <a:noFill/>
          <a:ln/>
        </p:spPr>
        <p:txBody>
          <a:bodyPr wrap="square" lIns="0" tIns="0" rIns="0" bIns="0" rtlCol="0" anchor="ctr"/>
          <a:lstStyle/>
          <a:p>
            <a:pPr indent="0" marL="0">
              <a:buNone/>
            </a:pPr>
            <a:r>
              <a:rPr lang="en-US" sz="1330" dirty="0">
                <a:solidFill>
                  <a:srgbClr val="17324D"/>
                </a:solidFill>
                <a:latin typeface="Aptos" pitchFamily="34" charset="0"/>
                <a:ea typeface="Segoe UI" pitchFamily="34" charset="-122"/>
                <a:cs typeface="Segoe UI" pitchFamily="34" charset="-120"/>
              </a:rPr>
              <a:t>: nombre d’enfants</a:t>
            </a:r>
            <a:endParaRPr lang="en-US" sz="1330" dirty="0"/>
          </a:p>
        </p:txBody>
      </p:sp>
      <p:sp>
        <p:nvSpPr>
          <p:cNvPr id="47" name="Shape 44"/>
          <p:cNvSpPr/>
          <p:nvPr/>
        </p:nvSpPr>
        <p:spPr>
          <a:xfrm>
            <a:off x="4315968" y="5029200"/>
            <a:ext cx="1124712" cy="292608"/>
          </a:xfrm>
          <a:prstGeom prst="roundRect">
            <a:avLst>
              <a:gd name="adj" fmla="val 43750"/>
            </a:avLst>
          </a:prstGeom>
          <a:solidFill>
            <a:srgbClr val="DBEAFE"/>
          </a:solidFill>
          <a:ln w="12700">
            <a:solidFill>
              <a:srgbClr val="DBEAFE">
                <a:alpha val="0"/>
              </a:srgbClr>
            </a:solidFill>
            <a:prstDash val="solid"/>
          </a:ln>
        </p:spPr>
        <p:txBody>
          <a:bodyPr/>
          <a:p/>
        </p:txBody>
      </p:sp>
      <p:sp>
        <p:nvSpPr>
          <p:cNvPr id="48" name="Text 45"/>
          <p:cNvSpPr/>
          <p:nvPr/>
        </p:nvSpPr>
        <p:spPr>
          <a:xfrm>
            <a:off x="4407408" y="5056632"/>
            <a:ext cx="969264" cy="219456"/>
          </a:xfrm>
          <a:prstGeom prst="rect">
            <a:avLst/>
          </a:prstGeom>
          <a:noFill/>
          <a:ln/>
        </p:spPr>
        <p:txBody>
          <a:bodyPr wrap="square" lIns="0" tIns="0" rIns="0" bIns="0" rtlCol="0" anchor="ctr"/>
          <a:lstStyle/>
          <a:p>
            <a:pPr indent="0" marL="0">
              <a:buNone/>
            </a:pPr>
            <a:r>
              <a:rPr lang="en-US" sz="1300" b="1" dirty="0">
                <a:solidFill>
                  <a:srgbClr val="17324D"/>
                </a:solidFill>
                <a:latin typeface="Aptos" pitchFamily="34" charset="0"/>
                <a:ea typeface="Segoe UI" pitchFamily="34" charset="-122"/>
                <a:cs typeface="Segoe UI" pitchFamily="34" charset="-120"/>
              </a:rPr>
              <a:t>Family_Size</a:t>
            </a:r>
            <a:endParaRPr lang="en-US" sz="1300" dirty="0"/>
          </a:p>
        </p:txBody>
      </p:sp>
      <p:sp>
        <p:nvSpPr>
          <p:cNvPr id="49" name="Text 46"/>
          <p:cNvSpPr/>
          <p:nvPr/>
        </p:nvSpPr>
        <p:spPr>
          <a:xfrm>
            <a:off x="5550408" y="5056632"/>
            <a:ext cx="1901952" cy="256032"/>
          </a:xfrm>
          <a:prstGeom prst="rect">
            <a:avLst/>
          </a:prstGeom>
          <a:noFill/>
          <a:ln/>
        </p:spPr>
        <p:txBody>
          <a:bodyPr wrap="square" lIns="0" tIns="0" rIns="0" bIns="0" rtlCol="0" anchor="ctr"/>
          <a:lstStyle/>
          <a:p>
            <a:pPr indent="0" marL="0">
              <a:buNone/>
            </a:pPr>
            <a:r>
              <a:rPr lang="en-US" sz="1330" dirty="0">
                <a:solidFill>
                  <a:srgbClr val="17324D"/>
                </a:solidFill>
                <a:latin typeface="Aptos" pitchFamily="34" charset="0"/>
                <a:ea typeface="Segoe UI" pitchFamily="34" charset="-122"/>
                <a:cs typeface="Segoe UI" pitchFamily="34" charset="-120"/>
              </a:rPr>
              <a:t>: taille du foyer</a:t>
            </a:r>
            <a:endParaRPr lang="en-US" sz="1330" dirty="0"/>
          </a:p>
        </p:txBody>
      </p:sp>
      <p:sp>
        <p:nvSpPr>
          <p:cNvPr id="50" name="Shape 47"/>
          <p:cNvSpPr/>
          <p:nvPr/>
        </p:nvSpPr>
        <p:spPr>
          <a:xfrm>
            <a:off x="4315968" y="5458968"/>
            <a:ext cx="1124712" cy="292608"/>
          </a:xfrm>
          <a:prstGeom prst="roundRect">
            <a:avLst>
              <a:gd name="adj" fmla="val 43750"/>
            </a:avLst>
          </a:prstGeom>
          <a:solidFill>
            <a:srgbClr val="DBEAFE"/>
          </a:solidFill>
          <a:ln w="12700">
            <a:solidFill>
              <a:srgbClr val="DBEAFE">
                <a:alpha val="0"/>
              </a:srgbClr>
            </a:solidFill>
            <a:prstDash val="solid"/>
          </a:ln>
        </p:spPr>
        <p:txBody>
          <a:bodyPr/>
          <a:p/>
        </p:txBody>
      </p:sp>
      <p:sp>
        <p:nvSpPr>
          <p:cNvPr id="51" name="Text 48"/>
          <p:cNvSpPr/>
          <p:nvPr/>
        </p:nvSpPr>
        <p:spPr>
          <a:xfrm>
            <a:off x="4407408" y="5486400"/>
            <a:ext cx="969264" cy="219456"/>
          </a:xfrm>
          <a:prstGeom prst="rect">
            <a:avLst/>
          </a:prstGeom>
          <a:noFill/>
          <a:ln/>
        </p:spPr>
        <p:txBody>
          <a:bodyPr wrap="square" lIns="0" tIns="0" rIns="0" bIns="0" rtlCol="0" anchor="ctr"/>
          <a:lstStyle/>
          <a:p>
            <a:pPr indent="0" marL="0">
              <a:buNone/>
            </a:pPr>
            <a:r>
              <a:rPr lang="en-US" sz="1300" b="1" dirty="0">
                <a:solidFill>
                  <a:srgbClr val="17324D"/>
                </a:solidFill>
                <a:latin typeface="Aptos" pitchFamily="34" charset="0"/>
                <a:ea typeface="Segoe UI" pitchFamily="34" charset="-122"/>
                <a:cs typeface="Segoe UI" pitchFamily="34" charset="-120"/>
              </a:rPr>
              <a:t>Is_Parent</a:t>
            </a:r>
            <a:endParaRPr lang="en-US" sz="1300" dirty="0"/>
          </a:p>
        </p:txBody>
      </p:sp>
      <p:sp>
        <p:nvSpPr>
          <p:cNvPr id="52" name="Text 49"/>
          <p:cNvSpPr/>
          <p:nvPr/>
        </p:nvSpPr>
        <p:spPr>
          <a:xfrm>
            <a:off x="5550408" y="5486400"/>
            <a:ext cx="1901952" cy="256032"/>
          </a:xfrm>
          <a:prstGeom prst="rect">
            <a:avLst/>
          </a:prstGeom>
          <a:noFill/>
          <a:ln/>
        </p:spPr>
        <p:txBody>
          <a:bodyPr wrap="square" lIns="0" tIns="0" rIns="0" bIns="0" rtlCol="0" anchor="ctr"/>
          <a:lstStyle/>
          <a:p>
            <a:pPr indent="0" marL="0">
              <a:buNone/>
            </a:pPr>
            <a:r>
              <a:rPr lang="en-US" sz="1330" dirty="0">
                <a:solidFill>
                  <a:srgbClr val="17324D"/>
                </a:solidFill>
                <a:latin typeface="Aptos" pitchFamily="34" charset="0"/>
                <a:ea typeface="Segoe UI" pitchFamily="34" charset="-122"/>
                <a:cs typeface="Segoe UI" pitchFamily="34" charset="-120"/>
              </a:rPr>
              <a:t>: statut parental</a:t>
            </a:r>
            <a:endParaRPr lang="en-US" sz="1330" dirty="0"/>
          </a:p>
        </p:txBody>
      </p:sp>
      <p:sp>
        <p:nvSpPr>
          <p:cNvPr id="53" name="Shape 50"/>
          <p:cNvSpPr/>
          <p:nvPr/>
        </p:nvSpPr>
        <p:spPr>
          <a:xfrm>
            <a:off x="4050792" y="4754880"/>
            <a:ext cx="0" cy="1325880"/>
          </a:xfrm>
          <a:prstGeom prst="line">
            <a:avLst/>
          </a:prstGeom>
          <a:noFill/>
          <a:ln w="10160">
            <a:solidFill>
              <a:srgbClr val="D1D5DB"/>
            </a:solidFill>
            <a:prstDash val="solid"/>
          </a:ln>
        </p:spPr>
        <p:txBody>
          <a:bodyPr/>
          <a:p/>
        </p:txBody>
      </p:sp>
      <p:sp>
        <p:nvSpPr>
          <p:cNvPr id="54" name="Shape 51"/>
          <p:cNvSpPr/>
          <p:nvPr/>
        </p:nvSpPr>
        <p:spPr>
          <a:xfrm>
            <a:off x="7626096" y="3666744"/>
            <a:ext cx="4242816" cy="2660904"/>
          </a:xfrm>
          <a:prstGeom prst="roundRect">
            <a:avLst>
              <a:gd name="adj" fmla="val 4811"/>
            </a:avLst>
          </a:prstGeom>
          <a:solidFill>
            <a:srgbClr val="F0FDFA"/>
          </a:solidFill>
          <a:ln w="12700">
            <a:solidFill>
              <a:srgbClr val="F0FDFA">
                <a:alpha val="0"/>
              </a:srgbClr>
            </a:solidFill>
            <a:prstDash val="solid"/>
          </a:ln>
        </p:spPr>
        <p:txBody>
          <a:bodyPr/>
          <a:p/>
        </p:txBody>
      </p:sp>
      <p:sp>
        <p:nvSpPr>
          <p:cNvPr id="55" name="Shape 52"/>
          <p:cNvSpPr/>
          <p:nvPr/>
        </p:nvSpPr>
        <p:spPr>
          <a:xfrm>
            <a:off x="7836408" y="3831336"/>
            <a:ext cx="822960" cy="822960"/>
          </a:xfrm>
          <a:prstGeom prst="ellipse">
            <a:avLst/>
          </a:prstGeom>
          <a:solidFill>
            <a:srgbClr val="0F766E"/>
          </a:solidFill>
          <a:ln w="12700">
            <a:solidFill>
              <a:srgbClr val="0F766E">
                <a:alpha val="0"/>
              </a:srgbClr>
            </a:solidFill>
            <a:prstDash val="solid"/>
          </a:ln>
        </p:spPr>
        <p:txBody>
          <a:bodyPr/>
          <a:p/>
        </p:txBody>
      </p:sp>
      <p:sp>
        <p:nvSpPr>
          <p:cNvPr id="56" name="VECTOR_graduation_27"/>
          <p:cNvSpPr/>
          <p:nvPr/>
        </p:nvSpPr>
        <p:spPr>
          <a:xfrm>
            <a:off x="7836408" y="3831336"/>
            <a:ext cx="822960" cy="822960"/>
          </a:xfrm>
          <a:custGeom>
            <a:avLst/>
            <a:gdLst/>
            <a:ahLst/>
            <a:cxnLst/>
            <a:rect l="0" t="0" r="r" b="b"/>
            <a:pathLst>
              <a:path w="100000" h="100000" fill="norm" stroke="false" extrusionOk="false">
                <a:moveTo>
                  <a:pt x="45635" y="33333"/>
                </a:moveTo>
                <a:lnTo>
                  <a:pt x="47619" y="32937"/>
                </a:lnTo>
                <a:lnTo>
                  <a:pt x="48016" y="33333"/>
                </a:lnTo>
                <a:lnTo>
                  <a:pt x="48413" y="33730"/>
                </a:lnTo>
                <a:lnTo>
                  <a:pt x="49206" y="33730"/>
                </a:lnTo>
                <a:lnTo>
                  <a:pt x="50000" y="33730"/>
                </a:lnTo>
                <a:lnTo>
                  <a:pt x="55556" y="36905"/>
                </a:lnTo>
                <a:lnTo>
                  <a:pt x="56349" y="36905"/>
                </a:lnTo>
                <a:lnTo>
                  <a:pt x="57143" y="36905"/>
                </a:lnTo>
                <a:lnTo>
                  <a:pt x="73016" y="44841"/>
                </a:lnTo>
                <a:lnTo>
                  <a:pt x="74206" y="46032"/>
                </a:lnTo>
                <a:lnTo>
                  <a:pt x="74206" y="48413"/>
                </a:lnTo>
                <a:lnTo>
                  <a:pt x="73016" y="49603"/>
                </a:lnTo>
                <a:lnTo>
                  <a:pt x="68254" y="51984"/>
                </a:lnTo>
                <a:lnTo>
                  <a:pt x="67460" y="51984"/>
                </a:lnTo>
                <a:lnTo>
                  <a:pt x="66667" y="51984"/>
                </a:lnTo>
                <a:lnTo>
                  <a:pt x="63095" y="53968"/>
                </a:lnTo>
                <a:lnTo>
                  <a:pt x="63095" y="69841"/>
                </a:lnTo>
                <a:lnTo>
                  <a:pt x="62302" y="71429"/>
                </a:lnTo>
                <a:lnTo>
                  <a:pt x="58730" y="74206"/>
                </a:lnTo>
                <a:lnTo>
                  <a:pt x="55556" y="75794"/>
                </a:lnTo>
                <a:lnTo>
                  <a:pt x="54762" y="75794"/>
                </a:lnTo>
                <a:lnTo>
                  <a:pt x="53968" y="75794"/>
                </a:lnTo>
                <a:lnTo>
                  <a:pt x="50794" y="77381"/>
                </a:lnTo>
                <a:lnTo>
                  <a:pt x="48413" y="77381"/>
                </a:lnTo>
                <a:lnTo>
                  <a:pt x="42857" y="77381"/>
                </a:lnTo>
                <a:lnTo>
                  <a:pt x="42460" y="76984"/>
                </a:lnTo>
                <a:lnTo>
                  <a:pt x="42063" y="76587"/>
                </a:lnTo>
                <a:lnTo>
                  <a:pt x="39683" y="76587"/>
                </a:lnTo>
                <a:lnTo>
                  <a:pt x="34921" y="74206"/>
                </a:lnTo>
                <a:lnTo>
                  <a:pt x="31349" y="71429"/>
                </a:lnTo>
                <a:lnTo>
                  <a:pt x="30556" y="69841"/>
                </a:lnTo>
                <a:lnTo>
                  <a:pt x="30556" y="53968"/>
                </a:lnTo>
                <a:lnTo>
                  <a:pt x="21429" y="49603"/>
                </a:lnTo>
                <a:lnTo>
                  <a:pt x="19444" y="47619"/>
                </a:lnTo>
                <a:lnTo>
                  <a:pt x="20635" y="44841"/>
                </a:lnTo>
                <a:lnTo>
                  <a:pt x="23810" y="43254"/>
                </a:lnTo>
                <a:lnTo>
                  <a:pt x="24603" y="43254"/>
                </a:lnTo>
                <a:lnTo>
                  <a:pt x="25397" y="43254"/>
                </a:lnTo>
                <a:lnTo>
                  <a:pt x="42063" y="34524"/>
                </a:lnTo>
                <a:lnTo>
                  <a:pt x="42857" y="34524"/>
                </a:lnTo>
                <a:lnTo>
                  <a:pt x="43651" y="34524"/>
                </a:lnTo>
                <a:lnTo>
                  <a:pt x="45635" y="33333"/>
                </a:lnTo>
                <a:close/>
                <a:moveTo>
                  <a:pt x="45238" y="36905"/>
                </a:moveTo>
                <a:lnTo>
                  <a:pt x="26190" y="46429"/>
                </a:lnTo>
                <a:lnTo>
                  <a:pt x="25794" y="46825"/>
                </a:lnTo>
                <a:lnTo>
                  <a:pt x="25794" y="47619"/>
                </a:lnTo>
                <a:lnTo>
                  <a:pt x="27778" y="48810"/>
                </a:lnTo>
                <a:lnTo>
                  <a:pt x="28571" y="48810"/>
                </a:lnTo>
                <a:lnTo>
                  <a:pt x="29365" y="48810"/>
                </a:lnTo>
                <a:lnTo>
                  <a:pt x="45238" y="56746"/>
                </a:lnTo>
                <a:lnTo>
                  <a:pt x="48810" y="56349"/>
                </a:lnTo>
                <a:lnTo>
                  <a:pt x="50794" y="55952"/>
                </a:lnTo>
                <a:lnTo>
                  <a:pt x="54762" y="53571"/>
                </a:lnTo>
                <a:lnTo>
                  <a:pt x="55556" y="53571"/>
                </a:lnTo>
                <a:lnTo>
                  <a:pt x="56349" y="53571"/>
                </a:lnTo>
                <a:lnTo>
                  <a:pt x="63492" y="49603"/>
                </a:lnTo>
                <a:lnTo>
                  <a:pt x="64286" y="49603"/>
                </a:lnTo>
                <a:lnTo>
                  <a:pt x="65079" y="49603"/>
                </a:lnTo>
                <a:lnTo>
                  <a:pt x="68254" y="48016"/>
                </a:lnTo>
                <a:lnTo>
                  <a:pt x="68651" y="47619"/>
                </a:lnTo>
                <a:lnTo>
                  <a:pt x="68651" y="46825"/>
                </a:lnTo>
                <a:lnTo>
                  <a:pt x="61905" y="43254"/>
                </a:lnTo>
                <a:lnTo>
                  <a:pt x="61111" y="43254"/>
                </a:lnTo>
                <a:lnTo>
                  <a:pt x="60317" y="43254"/>
                </a:lnTo>
                <a:lnTo>
                  <a:pt x="50000" y="37698"/>
                </a:lnTo>
                <a:lnTo>
                  <a:pt x="49206" y="37698"/>
                </a:lnTo>
                <a:lnTo>
                  <a:pt x="48413" y="37698"/>
                </a:lnTo>
                <a:lnTo>
                  <a:pt x="48016" y="37302"/>
                </a:lnTo>
                <a:lnTo>
                  <a:pt x="47619" y="36905"/>
                </a:lnTo>
                <a:lnTo>
                  <a:pt x="45238" y="36905"/>
                </a:lnTo>
                <a:close/>
                <a:moveTo>
                  <a:pt x="34921" y="55952"/>
                </a:moveTo>
                <a:lnTo>
                  <a:pt x="34524" y="56349"/>
                </a:lnTo>
                <a:lnTo>
                  <a:pt x="34524" y="69048"/>
                </a:lnTo>
                <a:lnTo>
                  <a:pt x="36508" y="71032"/>
                </a:lnTo>
                <a:lnTo>
                  <a:pt x="39683" y="72619"/>
                </a:lnTo>
                <a:lnTo>
                  <a:pt x="40476" y="72619"/>
                </a:lnTo>
                <a:lnTo>
                  <a:pt x="41270" y="72619"/>
                </a:lnTo>
                <a:lnTo>
                  <a:pt x="41667" y="73016"/>
                </a:lnTo>
                <a:lnTo>
                  <a:pt x="42063" y="73413"/>
                </a:lnTo>
                <a:lnTo>
                  <a:pt x="51587" y="73413"/>
                </a:lnTo>
                <a:lnTo>
                  <a:pt x="51984" y="73016"/>
                </a:lnTo>
                <a:lnTo>
                  <a:pt x="52381" y="72619"/>
                </a:lnTo>
                <a:lnTo>
                  <a:pt x="53175" y="72619"/>
                </a:lnTo>
                <a:lnTo>
                  <a:pt x="53968" y="72619"/>
                </a:lnTo>
                <a:lnTo>
                  <a:pt x="57143" y="71032"/>
                </a:lnTo>
                <a:lnTo>
                  <a:pt x="59127" y="69048"/>
                </a:lnTo>
                <a:lnTo>
                  <a:pt x="59127" y="56349"/>
                </a:lnTo>
                <a:lnTo>
                  <a:pt x="58730" y="55952"/>
                </a:lnTo>
                <a:lnTo>
                  <a:pt x="49206" y="60714"/>
                </a:lnTo>
                <a:lnTo>
                  <a:pt x="45238" y="60714"/>
                </a:lnTo>
                <a:lnTo>
                  <a:pt x="39683" y="57540"/>
                </a:lnTo>
                <a:lnTo>
                  <a:pt x="38889" y="57540"/>
                </a:lnTo>
                <a:lnTo>
                  <a:pt x="38095" y="57540"/>
                </a:lnTo>
                <a:lnTo>
                  <a:pt x="34921" y="55952"/>
                </a:lnTo>
                <a:close/>
              </a:path>
            </a:pathLst>
          </a:custGeom>
          <a:solidFill>
            <a:srgbClr val="FFFFFF"/>
          </a:solidFill>
          <a:ln>
            <a:noFill/>
          </a:ln>
        </p:spPr>
        <p:txBody>
          <a:bodyPr/>
          <a:p/>
        </p:txBody>
      </p:sp>
      <p:sp>
        <p:nvSpPr>
          <p:cNvPr id="57" name="Text 54"/>
          <p:cNvSpPr/>
          <p:nvPr/>
        </p:nvSpPr>
        <p:spPr>
          <a:xfrm>
            <a:off x="8805672" y="3941064"/>
            <a:ext cx="2843784" cy="329184"/>
          </a:xfrm>
          <a:prstGeom prst="rect">
            <a:avLst/>
          </a:prstGeom>
          <a:noFill/>
          <a:ln/>
        </p:spPr>
        <p:txBody>
          <a:bodyPr wrap="square" lIns="0" tIns="0" rIns="0" bIns="0" rtlCol="0" anchor="ctr"/>
          <a:lstStyle/>
          <a:p>
            <a:pPr indent="0" marL="0">
              <a:buNone/>
            </a:pPr>
            <a:r>
              <a:rPr lang="en-US" sz="1750" b="1" dirty="0">
                <a:solidFill>
                  <a:srgbClr val="17324D"/>
                </a:solidFill>
                <a:latin typeface="Aptos" pitchFamily="34" charset="0"/>
                <a:ea typeface="Segoe UI" pitchFamily="34" charset="-122"/>
                <a:cs typeface="Segoe UI" pitchFamily="34" charset="-120"/>
              </a:rPr>
              <a:t>3 niveaux d’éducation</a:t>
            </a:r>
            <a:endParaRPr lang="en-US" sz="1750" dirty="0"/>
          </a:p>
        </p:txBody>
      </p:sp>
      <p:sp>
        <p:nvSpPr>
          <p:cNvPr id="58" name="Shape 55"/>
          <p:cNvSpPr/>
          <p:nvPr/>
        </p:nvSpPr>
        <p:spPr>
          <a:xfrm>
            <a:off x="8833104" y="4379976"/>
            <a:ext cx="100584" cy="100584"/>
          </a:xfrm>
          <a:prstGeom prst="ellipse">
            <a:avLst/>
          </a:prstGeom>
          <a:solidFill>
            <a:srgbClr val="0F766E"/>
          </a:solidFill>
          <a:ln w="12700">
            <a:solidFill>
              <a:srgbClr val="0F766E">
                <a:alpha val="0"/>
              </a:srgbClr>
            </a:solidFill>
            <a:prstDash val="solid"/>
          </a:ln>
        </p:spPr>
        <p:txBody>
          <a:bodyPr/>
          <a:p/>
        </p:txBody>
      </p:sp>
      <p:sp>
        <p:nvSpPr>
          <p:cNvPr id="59" name="Text 56"/>
          <p:cNvSpPr/>
          <p:nvPr/>
        </p:nvSpPr>
        <p:spPr>
          <a:xfrm>
            <a:off x="9134856" y="4343400"/>
            <a:ext cx="2432304" cy="246888"/>
          </a:xfrm>
          <a:prstGeom prst="rect">
            <a:avLst/>
          </a:prstGeom>
          <a:noFill/>
          <a:ln/>
        </p:spPr>
        <p:txBody>
          <a:bodyPr wrap="square" lIns="0" tIns="0" rIns="0" bIns="0" rtlCol="0" anchor="ctr"/>
          <a:lstStyle/>
          <a:p>
            <a:pPr indent="0" marL="0">
              <a:buNone/>
            </a:pPr>
            <a:r>
              <a:rPr lang="en-US" sz="1400" dirty="0">
                <a:solidFill>
                  <a:srgbClr val="17324D"/>
                </a:solidFill>
                <a:latin typeface="Aptos" pitchFamily="34" charset="0"/>
                <a:ea typeface="Segoe UI" pitchFamily="34" charset="-122"/>
                <a:cs typeface="Segoe UI" pitchFamily="34" charset="-120"/>
              </a:rPr>
              <a:t>Undergraduate</a:t>
            </a:r>
            <a:endParaRPr lang="en-US" sz="1400" dirty="0"/>
          </a:p>
        </p:txBody>
      </p:sp>
      <p:sp>
        <p:nvSpPr>
          <p:cNvPr id="60" name="Shape 57"/>
          <p:cNvSpPr/>
          <p:nvPr/>
        </p:nvSpPr>
        <p:spPr>
          <a:xfrm>
            <a:off x="8833104" y="4645152"/>
            <a:ext cx="100584" cy="100584"/>
          </a:xfrm>
          <a:prstGeom prst="ellipse">
            <a:avLst/>
          </a:prstGeom>
          <a:solidFill>
            <a:srgbClr val="0F766E"/>
          </a:solidFill>
          <a:ln w="12700">
            <a:solidFill>
              <a:srgbClr val="0F766E">
                <a:alpha val="0"/>
              </a:srgbClr>
            </a:solidFill>
            <a:prstDash val="solid"/>
          </a:ln>
        </p:spPr>
        <p:txBody>
          <a:bodyPr/>
          <a:p/>
        </p:txBody>
      </p:sp>
      <p:sp>
        <p:nvSpPr>
          <p:cNvPr id="61" name="Text 58"/>
          <p:cNvSpPr/>
          <p:nvPr/>
        </p:nvSpPr>
        <p:spPr>
          <a:xfrm>
            <a:off x="9134856" y="4608576"/>
            <a:ext cx="2432304" cy="246888"/>
          </a:xfrm>
          <a:prstGeom prst="rect">
            <a:avLst/>
          </a:prstGeom>
          <a:noFill/>
          <a:ln/>
        </p:spPr>
        <p:txBody>
          <a:bodyPr wrap="square" lIns="0" tIns="0" rIns="0" bIns="0" rtlCol="0" anchor="ctr"/>
          <a:lstStyle/>
          <a:p>
            <a:pPr indent="0" marL="0">
              <a:buNone/>
            </a:pPr>
            <a:r>
              <a:rPr lang="en-US" sz="1400" dirty="0">
                <a:solidFill>
                  <a:srgbClr val="17324D"/>
                </a:solidFill>
                <a:latin typeface="Aptos" pitchFamily="34" charset="0"/>
                <a:ea typeface="Segoe UI" pitchFamily="34" charset="-122"/>
                <a:cs typeface="Segoe UI" pitchFamily="34" charset="-120"/>
              </a:rPr>
              <a:t>Graduate</a:t>
            </a:r>
            <a:endParaRPr lang="en-US" sz="1400" dirty="0"/>
          </a:p>
        </p:txBody>
      </p:sp>
      <p:sp>
        <p:nvSpPr>
          <p:cNvPr id="62" name="Shape 59"/>
          <p:cNvSpPr/>
          <p:nvPr/>
        </p:nvSpPr>
        <p:spPr>
          <a:xfrm>
            <a:off x="8833104" y="4910328"/>
            <a:ext cx="100584" cy="100584"/>
          </a:xfrm>
          <a:prstGeom prst="ellipse">
            <a:avLst/>
          </a:prstGeom>
          <a:solidFill>
            <a:srgbClr val="0F766E"/>
          </a:solidFill>
          <a:ln w="12700">
            <a:solidFill>
              <a:srgbClr val="0F766E">
                <a:alpha val="0"/>
              </a:srgbClr>
            </a:solidFill>
            <a:prstDash val="solid"/>
          </a:ln>
        </p:spPr>
        <p:txBody>
          <a:bodyPr/>
          <a:p/>
        </p:txBody>
      </p:sp>
      <p:sp>
        <p:nvSpPr>
          <p:cNvPr id="63" name="Text 60"/>
          <p:cNvSpPr/>
          <p:nvPr/>
        </p:nvSpPr>
        <p:spPr>
          <a:xfrm>
            <a:off x="9134856" y="4873752"/>
            <a:ext cx="2432304" cy="246888"/>
          </a:xfrm>
          <a:prstGeom prst="rect">
            <a:avLst/>
          </a:prstGeom>
          <a:noFill/>
          <a:ln/>
        </p:spPr>
        <p:txBody>
          <a:bodyPr wrap="square" lIns="0" tIns="0" rIns="0" bIns="0" rtlCol="0" anchor="ctr"/>
          <a:lstStyle/>
          <a:p>
            <a:pPr indent="0" marL="0">
              <a:buNone/>
            </a:pPr>
            <a:r>
              <a:rPr lang="en-US" sz="1400" dirty="0">
                <a:solidFill>
                  <a:srgbClr val="17324D"/>
                </a:solidFill>
                <a:latin typeface="Aptos" pitchFamily="34" charset="0"/>
                <a:ea typeface="Segoe UI" pitchFamily="34" charset="-122"/>
                <a:cs typeface="Segoe UI" pitchFamily="34" charset="-120"/>
              </a:rPr>
              <a:t>Postgraduate</a:t>
            </a:r>
            <a:endParaRPr lang="en-US" sz="1400" dirty="0"/>
          </a:p>
        </p:txBody>
      </p:sp>
      <p:sp>
        <p:nvSpPr>
          <p:cNvPr id="64" name="Shape 61"/>
          <p:cNvSpPr/>
          <p:nvPr/>
        </p:nvSpPr>
        <p:spPr>
          <a:xfrm>
            <a:off x="7808976" y="5184648"/>
            <a:ext cx="3849624" cy="0"/>
          </a:xfrm>
          <a:prstGeom prst="line">
            <a:avLst/>
          </a:prstGeom>
          <a:noFill/>
          <a:ln w="10160">
            <a:solidFill>
              <a:srgbClr val="D1D5DB"/>
            </a:solidFill>
            <a:prstDash val="solid"/>
          </a:ln>
        </p:spPr>
        <p:txBody>
          <a:bodyPr/>
          <a:p/>
        </p:txBody>
      </p:sp>
      <p:sp>
        <p:nvSpPr>
          <p:cNvPr id="65" name="Shape 62"/>
          <p:cNvSpPr/>
          <p:nvPr/>
        </p:nvSpPr>
        <p:spPr>
          <a:xfrm>
            <a:off x="7827264" y="5330952"/>
            <a:ext cx="832104" cy="832104"/>
          </a:xfrm>
          <a:prstGeom prst="ellipse">
            <a:avLst/>
          </a:prstGeom>
          <a:solidFill>
            <a:srgbClr val="6D28D9"/>
          </a:solidFill>
          <a:ln w="12700">
            <a:solidFill>
              <a:srgbClr val="6D28D9">
                <a:alpha val="0"/>
              </a:srgbClr>
            </a:solidFill>
            <a:prstDash val="solid"/>
          </a:ln>
        </p:spPr>
        <p:txBody>
          <a:bodyPr/>
          <a:p/>
        </p:txBody>
      </p:sp>
      <p:sp>
        <p:nvSpPr>
          <p:cNvPr id="66" name="VECTOR_bars_dark_28"/>
          <p:cNvSpPr/>
          <p:nvPr/>
        </p:nvSpPr>
        <p:spPr>
          <a:xfrm>
            <a:off x="7827264" y="5330952"/>
            <a:ext cx="832104" cy="832104"/>
          </a:xfrm>
          <a:custGeom>
            <a:avLst/>
            <a:gdLst/>
            <a:ahLst/>
            <a:cxnLst/>
            <a:rect l="0" t="0" r="r" b="b"/>
            <a:pathLst>
              <a:path w="100000" h="100000" fill="norm" stroke="false" extrusionOk="false">
                <a:moveTo>
                  <a:pt x="60547" y="35156"/>
                </a:moveTo>
                <a:lnTo>
                  <a:pt x="60938" y="34766"/>
                </a:lnTo>
                <a:lnTo>
                  <a:pt x="71094" y="34766"/>
                </a:lnTo>
                <a:lnTo>
                  <a:pt x="72266" y="36719"/>
                </a:lnTo>
                <a:lnTo>
                  <a:pt x="72266" y="78125"/>
                </a:lnTo>
                <a:lnTo>
                  <a:pt x="74219" y="78516"/>
                </a:lnTo>
                <a:lnTo>
                  <a:pt x="75391" y="79688"/>
                </a:lnTo>
                <a:lnTo>
                  <a:pt x="75391" y="80469"/>
                </a:lnTo>
                <a:lnTo>
                  <a:pt x="74219" y="81641"/>
                </a:lnTo>
                <a:lnTo>
                  <a:pt x="60156" y="81641"/>
                </a:lnTo>
                <a:lnTo>
                  <a:pt x="58984" y="80469"/>
                </a:lnTo>
                <a:lnTo>
                  <a:pt x="58984" y="36719"/>
                </a:lnTo>
                <a:lnTo>
                  <a:pt x="60547" y="35156"/>
                </a:lnTo>
                <a:close/>
                <a:moveTo>
                  <a:pt x="63281" y="38672"/>
                </a:moveTo>
                <a:lnTo>
                  <a:pt x="62891" y="39062"/>
                </a:lnTo>
                <a:lnTo>
                  <a:pt x="62891" y="77344"/>
                </a:lnTo>
                <a:lnTo>
                  <a:pt x="64062" y="78516"/>
                </a:lnTo>
                <a:lnTo>
                  <a:pt x="64453" y="78125"/>
                </a:lnTo>
                <a:lnTo>
                  <a:pt x="64844" y="77734"/>
                </a:lnTo>
                <a:lnTo>
                  <a:pt x="65234" y="78125"/>
                </a:lnTo>
                <a:lnTo>
                  <a:pt x="65625" y="78516"/>
                </a:lnTo>
                <a:lnTo>
                  <a:pt x="66016" y="78125"/>
                </a:lnTo>
                <a:lnTo>
                  <a:pt x="66406" y="77734"/>
                </a:lnTo>
                <a:lnTo>
                  <a:pt x="66797" y="78125"/>
                </a:lnTo>
                <a:lnTo>
                  <a:pt x="67188" y="78516"/>
                </a:lnTo>
                <a:lnTo>
                  <a:pt x="68359" y="77344"/>
                </a:lnTo>
                <a:lnTo>
                  <a:pt x="68359" y="39062"/>
                </a:lnTo>
                <a:lnTo>
                  <a:pt x="67969" y="38672"/>
                </a:lnTo>
                <a:lnTo>
                  <a:pt x="63281" y="38672"/>
                </a:lnTo>
                <a:close/>
                <a:moveTo>
                  <a:pt x="43359" y="51562"/>
                </a:moveTo>
                <a:lnTo>
                  <a:pt x="43750" y="51172"/>
                </a:lnTo>
                <a:lnTo>
                  <a:pt x="53125" y="51172"/>
                </a:lnTo>
                <a:lnTo>
                  <a:pt x="55078" y="53125"/>
                </a:lnTo>
                <a:lnTo>
                  <a:pt x="55078" y="79688"/>
                </a:lnTo>
                <a:lnTo>
                  <a:pt x="53906" y="81641"/>
                </a:lnTo>
                <a:lnTo>
                  <a:pt x="42969" y="81641"/>
                </a:lnTo>
                <a:lnTo>
                  <a:pt x="41797" y="80469"/>
                </a:lnTo>
                <a:lnTo>
                  <a:pt x="41797" y="53125"/>
                </a:lnTo>
                <a:lnTo>
                  <a:pt x="43359" y="51562"/>
                </a:lnTo>
                <a:close/>
                <a:moveTo>
                  <a:pt x="46094" y="55078"/>
                </a:moveTo>
                <a:lnTo>
                  <a:pt x="45703" y="55469"/>
                </a:lnTo>
                <a:lnTo>
                  <a:pt x="45703" y="78125"/>
                </a:lnTo>
                <a:lnTo>
                  <a:pt x="46094" y="78516"/>
                </a:lnTo>
                <a:lnTo>
                  <a:pt x="50000" y="78516"/>
                </a:lnTo>
                <a:lnTo>
                  <a:pt x="50391" y="78125"/>
                </a:lnTo>
                <a:lnTo>
                  <a:pt x="50781" y="77734"/>
                </a:lnTo>
                <a:lnTo>
                  <a:pt x="51172" y="77344"/>
                </a:lnTo>
                <a:lnTo>
                  <a:pt x="51172" y="55469"/>
                </a:lnTo>
                <a:lnTo>
                  <a:pt x="50781" y="55078"/>
                </a:lnTo>
                <a:lnTo>
                  <a:pt x="46094" y="55078"/>
                </a:lnTo>
                <a:close/>
                <a:moveTo>
                  <a:pt x="25391" y="64062"/>
                </a:moveTo>
                <a:lnTo>
                  <a:pt x="25781" y="63672"/>
                </a:lnTo>
                <a:lnTo>
                  <a:pt x="36719" y="63672"/>
                </a:lnTo>
                <a:lnTo>
                  <a:pt x="37891" y="64844"/>
                </a:lnTo>
                <a:lnTo>
                  <a:pt x="37891" y="80469"/>
                </a:lnTo>
                <a:lnTo>
                  <a:pt x="36719" y="81641"/>
                </a:lnTo>
                <a:lnTo>
                  <a:pt x="34375" y="81641"/>
                </a:lnTo>
                <a:lnTo>
                  <a:pt x="22656" y="81641"/>
                </a:lnTo>
                <a:lnTo>
                  <a:pt x="21484" y="80469"/>
                </a:lnTo>
                <a:lnTo>
                  <a:pt x="21484" y="79688"/>
                </a:lnTo>
                <a:lnTo>
                  <a:pt x="22656" y="78516"/>
                </a:lnTo>
                <a:lnTo>
                  <a:pt x="24609" y="78125"/>
                </a:lnTo>
                <a:lnTo>
                  <a:pt x="24609" y="65625"/>
                </a:lnTo>
                <a:lnTo>
                  <a:pt x="25391" y="64062"/>
                </a:lnTo>
                <a:close/>
                <a:moveTo>
                  <a:pt x="28906" y="67578"/>
                </a:moveTo>
                <a:lnTo>
                  <a:pt x="28516" y="67969"/>
                </a:lnTo>
                <a:lnTo>
                  <a:pt x="28516" y="77344"/>
                </a:lnTo>
                <a:lnTo>
                  <a:pt x="29688" y="78516"/>
                </a:lnTo>
                <a:lnTo>
                  <a:pt x="33594" y="78516"/>
                </a:lnTo>
                <a:lnTo>
                  <a:pt x="33984" y="78125"/>
                </a:lnTo>
                <a:lnTo>
                  <a:pt x="33984" y="67969"/>
                </a:lnTo>
                <a:lnTo>
                  <a:pt x="33594" y="67578"/>
                </a:lnTo>
                <a:lnTo>
                  <a:pt x="28906" y="67578"/>
                </a:lnTo>
                <a:close/>
              </a:path>
            </a:pathLst>
          </a:custGeom>
          <a:solidFill>
            <a:srgbClr val="FFFFFF"/>
          </a:solidFill>
          <a:ln>
            <a:noFill/>
          </a:ln>
        </p:spPr>
        <p:txBody>
          <a:bodyPr/>
          <a:p/>
        </p:txBody>
      </p:sp>
      <p:sp>
        <p:nvSpPr>
          <p:cNvPr id="67" name="Text 64"/>
          <p:cNvSpPr/>
          <p:nvPr/>
        </p:nvSpPr>
        <p:spPr>
          <a:xfrm>
            <a:off x="8833104" y="5266944"/>
            <a:ext cx="1005840" cy="676656"/>
          </a:xfrm>
          <a:prstGeom prst="rect">
            <a:avLst/>
          </a:prstGeom>
          <a:noFill/>
          <a:ln/>
        </p:spPr>
        <p:txBody>
          <a:bodyPr wrap="square" lIns="0" tIns="0" rIns="0" bIns="0" rtlCol="0" anchor="ctr"/>
          <a:lstStyle/>
          <a:p>
            <a:pPr indent="0" marL="0">
              <a:buNone/>
            </a:pPr>
            <a:r>
              <a:rPr lang="en-US" sz="5900" b="1" dirty="0">
                <a:solidFill>
                  <a:srgbClr val="17324D"/>
                </a:solidFill>
                <a:latin typeface="Aptos" pitchFamily="34" charset="0"/>
                <a:ea typeface="Segoe UI" pitchFamily="34" charset="-122"/>
                <a:cs typeface="Segoe UI" pitchFamily="34" charset="-120"/>
              </a:rPr>
              <a:t>23</a:t>
            </a:r>
            <a:endParaRPr lang="en-US" sz="5900" dirty="0"/>
          </a:p>
        </p:txBody>
      </p:sp>
      <p:sp>
        <p:nvSpPr>
          <p:cNvPr id="68" name="Text 65"/>
          <p:cNvSpPr/>
          <p:nvPr/>
        </p:nvSpPr>
        <p:spPr>
          <a:xfrm>
            <a:off x="9902952" y="5486400"/>
            <a:ext cx="1719072" cy="484632"/>
          </a:xfrm>
          <a:prstGeom prst="rect">
            <a:avLst/>
          </a:prstGeom>
          <a:noFill/>
          <a:ln/>
        </p:spPr>
        <p:txBody>
          <a:bodyPr wrap="square" lIns="0" tIns="0" rIns="0" bIns="0" rtlCol="0" anchor="ctr"/>
          <a:lstStyle/>
          <a:p>
            <a:pPr indent="0" marL="0">
              <a:buNone/>
            </a:pPr>
            <a:r>
              <a:rPr lang="en-US" sz="1400" b="1" dirty="0">
                <a:solidFill>
                  <a:srgbClr val="17324D"/>
                </a:solidFill>
                <a:latin typeface="Aptos" pitchFamily="34" charset="0"/>
                <a:ea typeface="Segoe UI" pitchFamily="34" charset="-122"/>
                <a:cs typeface="Segoe UI" pitchFamily="34" charset="-120"/>
              </a:rPr>
              <a:t>variables</a:t>
            </a:r>
            <a:endParaRPr lang="en-US" sz="1400" dirty="0"/>
          </a:p>
          <a:p>
            <a:pPr indent="0" marL="0">
              <a:buNone/>
            </a:pPr>
            <a:r>
              <a:rPr lang="en-US" sz="1400" b="1" dirty="0">
                <a:solidFill>
                  <a:srgbClr val="17324D"/>
                </a:solidFill>
                <a:latin typeface="Aptos" pitchFamily="34" charset="0"/>
                <a:ea typeface="Segoe UI" pitchFamily="34" charset="-122"/>
                <a:cs typeface="Segoe UI" pitchFamily="34" charset="-120"/>
              </a:rPr>
              <a:t>numériques finales</a:t>
            </a:r>
            <a:endParaRPr lang="en-US" sz="1400" dirty="0"/>
          </a:p>
        </p:txBody>
      </p:sp>
      <p:sp>
        <p:nvSpPr>
          <p:cNvPr id="69" name="Text 66"/>
          <p:cNvSpPr/>
          <p:nvPr/>
        </p:nvSpPr>
        <p:spPr>
          <a:xfrm>
            <a:off x="8833104" y="6007608"/>
            <a:ext cx="2816352" cy="210312"/>
          </a:xfrm>
          <a:prstGeom prst="rect">
            <a:avLst/>
          </a:prstGeom>
          <a:noFill/>
          <a:ln/>
        </p:spPr>
        <p:txBody>
          <a:bodyPr wrap="square" lIns="0" tIns="0" rIns="0" bIns="0" rtlCol="0" anchor="ctr"/>
          <a:lstStyle/>
          <a:p>
            <a:pPr indent="0" marL="0">
              <a:buNone/>
            </a:pPr>
            <a:r>
              <a:rPr lang="en-US" sz="1140" dirty="0">
                <a:solidFill>
                  <a:srgbClr val="17324D"/>
                </a:solidFill>
                <a:latin typeface="Aptos" pitchFamily="34" charset="0"/>
                <a:ea typeface="Segoe UI" pitchFamily="34" charset="-122"/>
                <a:cs typeface="Segoe UI" pitchFamily="34" charset="-120"/>
              </a:rPr>
              <a:t>Après encodage et standardisation</a:t>
            </a:r>
            <a:endParaRPr lang="en-US" sz="1140" dirty="0"/>
          </a:p>
        </p:txBody>
      </p:sp>
      <p:sp>
        <p:nvSpPr>
          <p:cNvPr id="70" name="TextBox 69"/>
          <p:cNvSpPr txBox="1"/>
          <p:nvPr/>
        </p:nvSpPr>
        <p:spPr>
          <a:xfrm>
            <a:off x="713232" y="5925312"/>
            <a:ext cx="6492240" cy="246888"/>
          </a:xfrm>
          <a:prstGeom prst="rect">
            <a:avLst/>
          </a:prstGeom>
          <a:noFill/>
        </p:spPr>
        <p:txBody>
          <a:bodyPr wrap="none" lIns="0" tIns="0">
            <a:spAutoFit/>
          </a:bodyPr>
          <a:lstStyle/>
          <a:p>
            <a:r>
              <a:rPr sz="1200">
                <a:solidFill>
                  <a:srgbClr val="17324D"/>
                </a:solidFill>
                <a:latin typeface="Aptos"/>
              </a:rPr>
              <a:t>Customer_For : ancienneté relative à la dernière inscription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4200" b="1" dirty="0">
                <a:solidFill>
                  <a:srgbClr val="2563EB"/>
                </a:solidFill>
                <a:latin typeface="Aptos" pitchFamily="34" charset="0"/>
                <a:ea typeface="Segoe UI" pitchFamily="34" charset="-122"/>
                <a:cs typeface="Segoe UI" pitchFamily="34" charset="-120"/>
              </a:rPr>
              <a:t>06. Réduction de dimension (ACP)</a:t>
            </a:r>
            <a:endParaRPr lang="en-US" sz="42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580" dirty="0">
                <a:solidFill>
                  <a:srgbClr val="17324D"/>
                </a:solidFill>
                <a:latin typeface="Aptos" pitchFamily="34" charset="0"/>
                <a:ea typeface="Segoe UI" pitchFamily="34" charset="-122"/>
                <a:cs typeface="Segoe UI" pitchFamily="34" charset="-120"/>
              </a:rPr>
              <a:t>Les quatre composantes retenues expliquent 61 % de la variance, au prix d’une perte d’information assumée.</a:t>
            </a:r>
            <a:endParaRPr lang="en-US" sz="158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Customer Personality Analysis · Projet collectif ENSEA · Abdoulaye KONE</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06</a:t>
            </a:r>
            <a:endParaRPr lang="en-US" sz="1000" dirty="0"/>
          </a:p>
        </p:txBody>
      </p:sp>
      <p:graphicFrame>
        <p:nvGraphicFramePr>
          <p:cNvPr id="7" name="Chart 0" descr=""/>
          <p:cNvGraphicFramePr/>
          <p:nvPr/>
        </p:nvGraphicFramePr>
        <p:xfrm>
          <a:off x="329184" y="1618488"/>
          <a:ext cx="7882128" cy="4828032"/>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50392" y="2688336"/>
            <a:ext cx="7251192" cy="0"/>
          </a:xfrm>
          <a:prstGeom prst="line">
            <a:avLst/>
          </a:prstGeom>
          <a:noFill/>
          <a:ln w="14605">
            <a:solidFill>
              <a:srgbClr val="1D4ED8"/>
            </a:solidFill>
            <a:prstDash val="dash"/>
          </a:ln>
        </p:spPr>
        <p:txBody>
          <a:bodyPr/>
          <a:p/>
        </p:txBody>
      </p:sp>
      <p:sp>
        <p:nvSpPr>
          <p:cNvPr id="9" name="Shape 5"/>
          <p:cNvSpPr/>
          <p:nvPr/>
        </p:nvSpPr>
        <p:spPr>
          <a:xfrm>
            <a:off x="1005840" y="2139696"/>
            <a:ext cx="1389888" cy="283464"/>
          </a:xfrm>
          <a:prstGeom prst="roundRect">
            <a:avLst>
              <a:gd name="adj" fmla="val 45161"/>
            </a:avLst>
          </a:prstGeom>
          <a:solidFill>
            <a:srgbClr val="FFFFFF"/>
          </a:solidFill>
          <a:ln w="12700">
            <a:solidFill>
              <a:srgbClr val="FFFFFF">
                <a:alpha val="0"/>
              </a:srgbClr>
            </a:solidFill>
            <a:prstDash val="solid"/>
          </a:ln>
        </p:spPr>
        <p:txBody>
          <a:bodyPr/>
          <a:p/>
        </p:txBody>
      </p:sp>
      <p:sp>
        <p:nvSpPr>
          <p:cNvPr id="10" name="Text 6"/>
          <p:cNvSpPr/>
          <p:nvPr/>
        </p:nvSpPr>
        <p:spPr>
          <a:xfrm>
            <a:off x="1060704" y="2194560"/>
            <a:ext cx="1280160" cy="164592"/>
          </a:xfrm>
          <a:prstGeom prst="rect">
            <a:avLst/>
          </a:prstGeom>
          <a:noFill/>
          <a:ln/>
        </p:spPr>
        <p:txBody>
          <a:bodyPr wrap="square" lIns="0" tIns="0" rIns="0" bIns="0" rtlCol="0" anchor="ctr"/>
          <a:lstStyle/>
          <a:p>
            <a:pPr indent="0" marL="0">
              <a:buNone/>
            </a:pPr>
            <a:r>
              <a:rPr lang="en-US" sz="1100" dirty="0">
                <a:solidFill>
                  <a:srgbClr val="334155"/>
                </a:solidFill>
                <a:latin typeface="Aptos" pitchFamily="34" charset="0"/>
                <a:ea typeface="Segoe UI" pitchFamily="34" charset="-122"/>
                <a:cs typeface="Segoe UI" pitchFamily="34" charset="-120"/>
              </a:rPr>
              <a:t>Seuil 90 %</a:t>
            </a:r>
            <a:endParaRPr lang="en-US" sz="1100" dirty="0"/>
          </a:p>
        </p:txBody>
      </p:sp>
      <p:sp>
        <p:nvSpPr>
          <p:cNvPr id="11" name="Shape 7"/>
          <p:cNvSpPr/>
          <p:nvPr/>
        </p:nvSpPr>
        <p:spPr>
          <a:xfrm>
            <a:off x="2212848" y="3749040"/>
            <a:ext cx="1965960" cy="283464"/>
          </a:xfrm>
          <a:prstGeom prst="roundRect">
            <a:avLst>
              <a:gd name="adj" fmla="val 45161"/>
            </a:avLst>
          </a:prstGeom>
          <a:solidFill>
            <a:srgbClr val="1D4ED8"/>
          </a:solidFill>
          <a:ln w="12700">
            <a:solidFill>
              <a:srgbClr val="1D4ED8">
                <a:alpha val="0"/>
              </a:srgbClr>
            </a:solidFill>
            <a:prstDash val="solid"/>
          </a:ln>
        </p:spPr>
        <p:txBody>
          <a:bodyPr/>
          <a:p/>
        </p:txBody>
      </p:sp>
      <p:sp>
        <p:nvSpPr>
          <p:cNvPr id="12" name="Text 8"/>
          <p:cNvSpPr/>
          <p:nvPr/>
        </p:nvSpPr>
        <p:spPr>
          <a:xfrm>
            <a:off x="2322576" y="3822192"/>
            <a:ext cx="1783080" cy="137160"/>
          </a:xfrm>
          <a:prstGeom prst="rect">
            <a:avLst/>
          </a:prstGeom>
          <a:noFill/>
          <a:ln/>
        </p:spPr>
        <p:txBody>
          <a:bodyPr wrap="square" lIns="0" tIns="0" rIns="0" bIns="0" rtlCol="0" anchor="ctr"/>
          <a:lstStyle/>
          <a:p>
            <a:pPr indent="0" marL="0">
              <a:buNone/>
            </a:pPr>
            <a:r>
              <a:rPr lang="en-US" sz="1100" b="1" dirty="0">
                <a:solidFill>
                  <a:srgbClr val="FFFFFF"/>
                </a:solidFill>
                <a:latin typeface="Aptos" pitchFamily="34" charset="0"/>
                <a:ea typeface="Segoe UI" pitchFamily="34" charset="-122"/>
                <a:cs typeface="Segoe UI" pitchFamily="34" charset="-120"/>
              </a:rPr>
              <a:t>4 composantes : 61 %</a:t>
            </a:r>
            <a:endParaRPr lang="en-US" sz="1100" dirty="0"/>
          </a:p>
        </p:txBody>
      </p:sp>
      <p:sp>
        <p:nvSpPr>
          <p:cNvPr id="13" name="Shape 9"/>
          <p:cNvSpPr/>
          <p:nvPr/>
        </p:nvSpPr>
        <p:spPr>
          <a:xfrm>
            <a:off x="4864608" y="2816352"/>
            <a:ext cx="2468880" cy="402336"/>
          </a:xfrm>
          <a:prstGeom prst="roundRect">
            <a:avLst>
              <a:gd name="adj" fmla="val 31818"/>
            </a:avLst>
          </a:prstGeom>
          <a:solidFill>
            <a:srgbClr val="0F766E"/>
          </a:solidFill>
          <a:ln w="12700">
            <a:solidFill>
              <a:srgbClr val="0F766E">
                <a:alpha val="0"/>
              </a:srgbClr>
            </a:solidFill>
            <a:prstDash val="solid"/>
          </a:ln>
        </p:spPr>
        <p:txBody>
          <a:bodyPr/>
          <a:p/>
        </p:txBody>
      </p:sp>
      <p:sp>
        <p:nvSpPr>
          <p:cNvPr id="14" name="Text 10"/>
          <p:cNvSpPr/>
          <p:nvPr/>
        </p:nvSpPr>
        <p:spPr>
          <a:xfrm>
            <a:off x="4965192" y="2843784"/>
            <a:ext cx="2304288" cy="338328"/>
          </a:xfrm>
          <a:prstGeom prst="rect">
            <a:avLst/>
          </a:prstGeom>
          <a:noFill/>
          <a:ln/>
        </p:spPr>
        <p:txBody>
          <a:bodyPr wrap="square" lIns="0" tIns="0" rIns="0" bIns="0" rtlCol="0" anchor="ctr"/>
          <a:lstStyle/>
          <a:p>
            <a:pPr indent="0" marL="0">
              <a:buNone/>
            </a:pPr>
            <a:r>
              <a:rPr lang="en-US" sz="1050" b="1" dirty="0">
                <a:solidFill>
                  <a:srgbClr val="FFFFFF"/>
                </a:solidFill>
                <a:latin typeface="Aptos" pitchFamily="34" charset="0"/>
                <a:ea typeface="Segoe UI" pitchFamily="34" charset="-122"/>
                <a:cs typeface="Segoe UI" pitchFamily="34" charset="-120"/>
              </a:rPr>
              <a:t>13 composantes : seuil de 90 % atteint</a:t>
            </a:r>
            <a:endParaRPr lang="en-US" sz="1050" dirty="0"/>
          </a:p>
        </p:txBody>
      </p:sp>
      <p:sp>
        <p:nvSpPr>
          <p:cNvPr id="15" name="Shape 11"/>
          <p:cNvSpPr/>
          <p:nvPr/>
        </p:nvSpPr>
        <p:spPr>
          <a:xfrm>
            <a:off x="8385048" y="1673352"/>
            <a:ext cx="0" cy="4754880"/>
          </a:xfrm>
          <a:prstGeom prst="line">
            <a:avLst/>
          </a:prstGeom>
          <a:noFill/>
          <a:ln w="10160">
            <a:solidFill>
              <a:srgbClr val="D1D5DB"/>
            </a:solidFill>
            <a:prstDash val="solid"/>
          </a:ln>
        </p:spPr>
        <p:txBody>
          <a:bodyPr/>
          <a:p/>
        </p:txBody>
      </p:sp>
      <p:sp>
        <p:nvSpPr>
          <p:cNvPr id="16" name="Shape 12"/>
          <p:cNvSpPr/>
          <p:nvPr/>
        </p:nvSpPr>
        <p:spPr>
          <a:xfrm>
            <a:off x="8595360" y="1673352"/>
            <a:ext cx="3346704" cy="1600200"/>
          </a:xfrm>
          <a:prstGeom prst="roundRect">
            <a:avLst>
              <a:gd name="adj" fmla="val 8000"/>
            </a:avLst>
          </a:prstGeom>
          <a:solidFill>
            <a:srgbClr val="F0FDFA"/>
          </a:solidFill>
          <a:ln w="12700">
            <a:solidFill>
              <a:srgbClr val="F0FDFA">
                <a:alpha val="0"/>
              </a:srgbClr>
            </a:solidFill>
            <a:prstDash val="solid"/>
          </a:ln>
        </p:spPr>
        <p:txBody>
          <a:bodyPr/>
          <a:p/>
        </p:txBody>
      </p:sp>
      <p:sp>
        <p:nvSpPr>
          <p:cNvPr id="17" name="Shape 13"/>
          <p:cNvSpPr/>
          <p:nvPr/>
        </p:nvSpPr>
        <p:spPr>
          <a:xfrm>
            <a:off x="8823960" y="2039112"/>
            <a:ext cx="950976" cy="950976"/>
          </a:xfrm>
          <a:prstGeom prst="ellipse">
            <a:avLst/>
          </a:prstGeom>
          <a:solidFill>
            <a:srgbClr val="0F766E"/>
          </a:solidFill>
          <a:ln w="12700">
            <a:solidFill>
              <a:srgbClr val="0F766E">
                <a:alpha val="0"/>
              </a:srgbClr>
            </a:solidFill>
            <a:prstDash val="solid"/>
          </a:ln>
        </p:spPr>
        <p:txBody>
          <a:bodyPr/>
          <a:p/>
        </p:txBody>
      </p:sp>
      <p:sp>
        <p:nvSpPr>
          <p:cNvPr id="18" name="VECTOR_gear_29"/>
          <p:cNvSpPr/>
          <p:nvPr/>
        </p:nvSpPr>
        <p:spPr>
          <a:xfrm>
            <a:off x="8823960" y="2039112"/>
            <a:ext cx="950976" cy="950976"/>
          </a:xfrm>
          <a:custGeom>
            <a:avLst/>
            <a:gdLst/>
            <a:ahLst/>
            <a:cxnLst/>
            <a:rect l="0" t="0" r="r" b="b"/>
            <a:pathLst>
              <a:path w="100000" h="100000" fill="norm" stroke="false" extrusionOk="false">
                <a:moveTo>
                  <a:pt x="46875" y="26786"/>
                </a:moveTo>
                <a:lnTo>
                  <a:pt x="47321" y="26339"/>
                </a:lnTo>
                <a:lnTo>
                  <a:pt x="54464" y="26339"/>
                </a:lnTo>
                <a:lnTo>
                  <a:pt x="55804" y="30357"/>
                </a:lnTo>
                <a:lnTo>
                  <a:pt x="58929" y="33482"/>
                </a:lnTo>
                <a:lnTo>
                  <a:pt x="61607" y="33482"/>
                </a:lnTo>
                <a:lnTo>
                  <a:pt x="64286" y="31696"/>
                </a:lnTo>
                <a:lnTo>
                  <a:pt x="65179" y="31696"/>
                </a:lnTo>
                <a:lnTo>
                  <a:pt x="66071" y="31696"/>
                </a:lnTo>
                <a:lnTo>
                  <a:pt x="68304" y="33929"/>
                </a:lnTo>
                <a:lnTo>
                  <a:pt x="68304" y="34821"/>
                </a:lnTo>
                <a:lnTo>
                  <a:pt x="70089" y="35714"/>
                </a:lnTo>
                <a:lnTo>
                  <a:pt x="70089" y="38393"/>
                </a:lnTo>
                <a:lnTo>
                  <a:pt x="68304" y="40179"/>
                </a:lnTo>
                <a:lnTo>
                  <a:pt x="68304" y="42857"/>
                </a:lnTo>
                <a:lnTo>
                  <a:pt x="71429" y="45982"/>
                </a:lnTo>
                <a:lnTo>
                  <a:pt x="72321" y="45982"/>
                </a:lnTo>
                <a:lnTo>
                  <a:pt x="73214" y="45982"/>
                </a:lnTo>
                <a:lnTo>
                  <a:pt x="74554" y="47321"/>
                </a:lnTo>
                <a:lnTo>
                  <a:pt x="74554" y="52679"/>
                </a:lnTo>
                <a:lnTo>
                  <a:pt x="75000" y="53125"/>
                </a:lnTo>
                <a:lnTo>
                  <a:pt x="75446" y="53571"/>
                </a:lnTo>
                <a:lnTo>
                  <a:pt x="75446" y="54464"/>
                </a:lnTo>
                <a:lnTo>
                  <a:pt x="75000" y="54911"/>
                </a:lnTo>
                <a:lnTo>
                  <a:pt x="74107" y="54911"/>
                </a:lnTo>
                <a:lnTo>
                  <a:pt x="73214" y="54911"/>
                </a:lnTo>
                <a:lnTo>
                  <a:pt x="71429" y="55804"/>
                </a:lnTo>
                <a:lnTo>
                  <a:pt x="68304" y="58929"/>
                </a:lnTo>
                <a:lnTo>
                  <a:pt x="68304" y="61607"/>
                </a:lnTo>
                <a:lnTo>
                  <a:pt x="70089" y="63393"/>
                </a:lnTo>
                <a:lnTo>
                  <a:pt x="70089" y="64286"/>
                </a:lnTo>
                <a:lnTo>
                  <a:pt x="70089" y="65179"/>
                </a:lnTo>
                <a:lnTo>
                  <a:pt x="66071" y="70089"/>
                </a:lnTo>
                <a:lnTo>
                  <a:pt x="65179" y="70089"/>
                </a:lnTo>
                <a:lnTo>
                  <a:pt x="64286" y="70089"/>
                </a:lnTo>
                <a:lnTo>
                  <a:pt x="62500" y="68304"/>
                </a:lnTo>
                <a:lnTo>
                  <a:pt x="58929" y="68304"/>
                </a:lnTo>
                <a:lnTo>
                  <a:pt x="56696" y="69643"/>
                </a:lnTo>
                <a:lnTo>
                  <a:pt x="54911" y="75000"/>
                </a:lnTo>
                <a:lnTo>
                  <a:pt x="52679" y="75446"/>
                </a:lnTo>
                <a:lnTo>
                  <a:pt x="47321" y="75446"/>
                </a:lnTo>
                <a:lnTo>
                  <a:pt x="45982" y="73214"/>
                </a:lnTo>
                <a:lnTo>
                  <a:pt x="45982" y="72321"/>
                </a:lnTo>
                <a:lnTo>
                  <a:pt x="45982" y="71429"/>
                </a:lnTo>
                <a:lnTo>
                  <a:pt x="42857" y="68304"/>
                </a:lnTo>
                <a:lnTo>
                  <a:pt x="39286" y="68304"/>
                </a:lnTo>
                <a:lnTo>
                  <a:pt x="37500" y="70089"/>
                </a:lnTo>
                <a:lnTo>
                  <a:pt x="33929" y="68304"/>
                </a:lnTo>
                <a:lnTo>
                  <a:pt x="30804" y="65179"/>
                </a:lnTo>
                <a:lnTo>
                  <a:pt x="31696" y="62500"/>
                </a:lnTo>
                <a:lnTo>
                  <a:pt x="33482" y="60714"/>
                </a:lnTo>
                <a:lnTo>
                  <a:pt x="33482" y="59821"/>
                </a:lnTo>
                <a:lnTo>
                  <a:pt x="33482" y="58929"/>
                </a:lnTo>
                <a:lnTo>
                  <a:pt x="31250" y="56696"/>
                </a:lnTo>
                <a:lnTo>
                  <a:pt x="26339" y="54464"/>
                </a:lnTo>
                <a:lnTo>
                  <a:pt x="26339" y="49107"/>
                </a:lnTo>
                <a:lnTo>
                  <a:pt x="26786" y="48661"/>
                </a:lnTo>
                <a:lnTo>
                  <a:pt x="27232" y="48214"/>
                </a:lnTo>
                <a:lnTo>
                  <a:pt x="26786" y="47768"/>
                </a:lnTo>
                <a:lnTo>
                  <a:pt x="26339" y="47321"/>
                </a:lnTo>
                <a:lnTo>
                  <a:pt x="27679" y="45982"/>
                </a:lnTo>
                <a:lnTo>
                  <a:pt x="28571" y="45982"/>
                </a:lnTo>
                <a:lnTo>
                  <a:pt x="29464" y="45982"/>
                </a:lnTo>
                <a:lnTo>
                  <a:pt x="31250" y="45089"/>
                </a:lnTo>
                <a:lnTo>
                  <a:pt x="33482" y="42857"/>
                </a:lnTo>
                <a:lnTo>
                  <a:pt x="33482" y="40179"/>
                </a:lnTo>
                <a:lnTo>
                  <a:pt x="31696" y="38393"/>
                </a:lnTo>
                <a:lnTo>
                  <a:pt x="31696" y="35714"/>
                </a:lnTo>
                <a:lnTo>
                  <a:pt x="37500" y="30804"/>
                </a:lnTo>
                <a:lnTo>
                  <a:pt x="41964" y="33482"/>
                </a:lnTo>
                <a:lnTo>
                  <a:pt x="43750" y="32589"/>
                </a:lnTo>
                <a:lnTo>
                  <a:pt x="45089" y="31250"/>
                </a:lnTo>
                <a:lnTo>
                  <a:pt x="45982" y="29464"/>
                </a:lnTo>
                <a:lnTo>
                  <a:pt x="45982" y="28571"/>
                </a:lnTo>
                <a:lnTo>
                  <a:pt x="45982" y="27679"/>
                </a:lnTo>
                <a:lnTo>
                  <a:pt x="46429" y="27232"/>
                </a:lnTo>
                <a:lnTo>
                  <a:pt x="46875" y="26786"/>
                </a:lnTo>
                <a:close/>
                <a:moveTo>
                  <a:pt x="49107" y="28125"/>
                </a:moveTo>
                <a:lnTo>
                  <a:pt x="47768" y="29464"/>
                </a:lnTo>
                <a:lnTo>
                  <a:pt x="47768" y="30357"/>
                </a:lnTo>
                <a:lnTo>
                  <a:pt x="47768" y="31250"/>
                </a:lnTo>
                <a:lnTo>
                  <a:pt x="46875" y="33036"/>
                </a:lnTo>
                <a:lnTo>
                  <a:pt x="46429" y="33482"/>
                </a:lnTo>
                <a:lnTo>
                  <a:pt x="45536" y="33482"/>
                </a:lnTo>
                <a:lnTo>
                  <a:pt x="43750" y="35268"/>
                </a:lnTo>
                <a:lnTo>
                  <a:pt x="40179" y="35268"/>
                </a:lnTo>
                <a:lnTo>
                  <a:pt x="39732" y="34821"/>
                </a:lnTo>
                <a:lnTo>
                  <a:pt x="39286" y="34375"/>
                </a:lnTo>
                <a:lnTo>
                  <a:pt x="36607" y="34375"/>
                </a:lnTo>
                <a:lnTo>
                  <a:pt x="34375" y="36607"/>
                </a:lnTo>
                <a:lnTo>
                  <a:pt x="34375" y="37500"/>
                </a:lnTo>
                <a:lnTo>
                  <a:pt x="34375" y="38393"/>
                </a:lnTo>
                <a:lnTo>
                  <a:pt x="36161" y="41964"/>
                </a:lnTo>
                <a:lnTo>
                  <a:pt x="35714" y="42411"/>
                </a:lnTo>
                <a:lnTo>
                  <a:pt x="35268" y="42857"/>
                </a:lnTo>
                <a:lnTo>
                  <a:pt x="35268" y="43750"/>
                </a:lnTo>
                <a:lnTo>
                  <a:pt x="35268" y="44643"/>
                </a:lnTo>
                <a:lnTo>
                  <a:pt x="33036" y="46875"/>
                </a:lnTo>
                <a:lnTo>
                  <a:pt x="29018" y="48214"/>
                </a:lnTo>
                <a:lnTo>
                  <a:pt x="29018" y="52679"/>
                </a:lnTo>
                <a:lnTo>
                  <a:pt x="30357" y="54018"/>
                </a:lnTo>
                <a:lnTo>
                  <a:pt x="31250" y="54018"/>
                </a:lnTo>
                <a:lnTo>
                  <a:pt x="32143" y="54018"/>
                </a:lnTo>
                <a:lnTo>
                  <a:pt x="34375" y="55357"/>
                </a:lnTo>
                <a:lnTo>
                  <a:pt x="36161" y="59821"/>
                </a:lnTo>
                <a:lnTo>
                  <a:pt x="35714" y="60268"/>
                </a:lnTo>
                <a:lnTo>
                  <a:pt x="35268" y="60714"/>
                </a:lnTo>
                <a:lnTo>
                  <a:pt x="35268" y="61607"/>
                </a:lnTo>
                <a:lnTo>
                  <a:pt x="35268" y="62500"/>
                </a:lnTo>
                <a:lnTo>
                  <a:pt x="33482" y="64286"/>
                </a:lnTo>
                <a:lnTo>
                  <a:pt x="36607" y="67411"/>
                </a:lnTo>
                <a:lnTo>
                  <a:pt x="40179" y="65625"/>
                </a:lnTo>
                <a:lnTo>
                  <a:pt x="41071" y="65625"/>
                </a:lnTo>
                <a:lnTo>
                  <a:pt x="41964" y="65625"/>
                </a:lnTo>
                <a:lnTo>
                  <a:pt x="45536" y="67411"/>
                </a:lnTo>
                <a:lnTo>
                  <a:pt x="46875" y="68750"/>
                </a:lnTo>
                <a:lnTo>
                  <a:pt x="48214" y="72768"/>
                </a:lnTo>
                <a:lnTo>
                  <a:pt x="51786" y="72768"/>
                </a:lnTo>
                <a:lnTo>
                  <a:pt x="52679" y="72768"/>
                </a:lnTo>
                <a:lnTo>
                  <a:pt x="53125" y="72321"/>
                </a:lnTo>
                <a:lnTo>
                  <a:pt x="54018" y="69643"/>
                </a:lnTo>
                <a:lnTo>
                  <a:pt x="56250" y="67411"/>
                </a:lnTo>
                <a:lnTo>
                  <a:pt x="59821" y="65625"/>
                </a:lnTo>
                <a:lnTo>
                  <a:pt x="60714" y="65625"/>
                </a:lnTo>
                <a:lnTo>
                  <a:pt x="61607" y="65625"/>
                </a:lnTo>
                <a:lnTo>
                  <a:pt x="65179" y="67411"/>
                </a:lnTo>
                <a:lnTo>
                  <a:pt x="67411" y="65179"/>
                </a:lnTo>
                <a:lnTo>
                  <a:pt x="65625" y="61607"/>
                </a:lnTo>
                <a:lnTo>
                  <a:pt x="65625" y="58929"/>
                </a:lnTo>
                <a:lnTo>
                  <a:pt x="66518" y="57143"/>
                </a:lnTo>
                <a:lnTo>
                  <a:pt x="69643" y="54018"/>
                </a:lnTo>
                <a:lnTo>
                  <a:pt x="70536" y="54018"/>
                </a:lnTo>
                <a:lnTo>
                  <a:pt x="71429" y="54018"/>
                </a:lnTo>
                <a:lnTo>
                  <a:pt x="72768" y="52679"/>
                </a:lnTo>
                <a:lnTo>
                  <a:pt x="72768" y="49107"/>
                </a:lnTo>
                <a:lnTo>
                  <a:pt x="71429" y="47768"/>
                </a:lnTo>
                <a:lnTo>
                  <a:pt x="70536" y="47768"/>
                </a:lnTo>
                <a:lnTo>
                  <a:pt x="69643" y="47768"/>
                </a:lnTo>
                <a:lnTo>
                  <a:pt x="66518" y="44643"/>
                </a:lnTo>
                <a:lnTo>
                  <a:pt x="65625" y="42857"/>
                </a:lnTo>
                <a:lnTo>
                  <a:pt x="65625" y="40179"/>
                </a:lnTo>
                <a:lnTo>
                  <a:pt x="67411" y="36607"/>
                </a:lnTo>
                <a:lnTo>
                  <a:pt x="65179" y="34375"/>
                </a:lnTo>
                <a:lnTo>
                  <a:pt x="64286" y="34375"/>
                </a:lnTo>
                <a:lnTo>
                  <a:pt x="63393" y="34375"/>
                </a:lnTo>
                <a:lnTo>
                  <a:pt x="62946" y="34821"/>
                </a:lnTo>
                <a:lnTo>
                  <a:pt x="62500" y="35268"/>
                </a:lnTo>
                <a:lnTo>
                  <a:pt x="58036" y="35268"/>
                </a:lnTo>
                <a:lnTo>
                  <a:pt x="54018" y="32143"/>
                </a:lnTo>
                <a:lnTo>
                  <a:pt x="54018" y="31250"/>
                </a:lnTo>
                <a:lnTo>
                  <a:pt x="54018" y="30357"/>
                </a:lnTo>
                <a:lnTo>
                  <a:pt x="51786" y="28125"/>
                </a:lnTo>
                <a:lnTo>
                  <a:pt x="49107" y="28125"/>
                </a:lnTo>
                <a:close/>
                <a:moveTo>
                  <a:pt x="48661" y="41964"/>
                </a:moveTo>
                <a:lnTo>
                  <a:pt x="52679" y="41518"/>
                </a:lnTo>
                <a:lnTo>
                  <a:pt x="53125" y="41964"/>
                </a:lnTo>
                <a:lnTo>
                  <a:pt x="53571" y="42411"/>
                </a:lnTo>
                <a:lnTo>
                  <a:pt x="54464" y="42411"/>
                </a:lnTo>
                <a:lnTo>
                  <a:pt x="55357" y="42411"/>
                </a:lnTo>
                <a:lnTo>
                  <a:pt x="59375" y="46429"/>
                </a:lnTo>
                <a:lnTo>
                  <a:pt x="59375" y="47321"/>
                </a:lnTo>
                <a:lnTo>
                  <a:pt x="59375" y="48214"/>
                </a:lnTo>
                <a:lnTo>
                  <a:pt x="59821" y="48661"/>
                </a:lnTo>
                <a:lnTo>
                  <a:pt x="60268" y="49107"/>
                </a:lnTo>
                <a:lnTo>
                  <a:pt x="60268" y="52679"/>
                </a:lnTo>
                <a:lnTo>
                  <a:pt x="59821" y="53125"/>
                </a:lnTo>
                <a:lnTo>
                  <a:pt x="59375" y="53571"/>
                </a:lnTo>
                <a:lnTo>
                  <a:pt x="59375" y="54464"/>
                </a:lnTo>
                <a:lnTo>
                  <a:pt x="59375" y="55357"/>
                </a:lnTo>
                <a:lnTo>
                  <a:pt x="55357" y="59375"/>
                </a:lnTo>
                <a:lnTo>
                  <a:pt x="53571" y="60268"/>
                </a:lnTo>
                <a:lnTo>
                  <a:pt x="48214" y="60268"/>
                </a:lnTo>
                <a:lnTo>
                  <a:pt x="44643" y="58482"/>
                </a:lnTo>
                <a:lnTo>
                  <a:pt x="41518" y="54464"/>
                </a:lnTo>
                <a:lnTo>
                  <a:pt x="41518" y="48214"/>
                </a:lnTo>
                <a:lnTo>
                  <a:pt x="42411" y="46429"/>
                </a:lnTo>
                <a:lnTo>
                  <a:pt x="46429" y="42411"/>
                </a:lnTo>
                <a:lnTo>
                  <a:pt x="48661" y="41964"/>
                </a:lnTo>
                <a:close/>
                <a:moveTo>
                  <a:pt x="48214" y="44196"/>
                </a:moveTo>
                <a:lnTo>
                  <a:pt x="46429" y="45089"/>
                </a:lnTo>
                <a:lnTo>
                  <a:pt x="44196" y="48214"/>
                </a:lnTo>
                <a:lnTo>
                  <a:pt x="44196" y="53571"/>
                </a:lnTo>
                <a:lnTo>
                  <a:pt x="47321" y="57589"/>
                </a:lnTo>
                <a:lnTo>
                  <a:pt x="48214" y="57589"/>
                </a:lnTo>
                <a:lnTo>
                  <a:pt x="49107" y="57589"/>
                </a:lnTo>
                <a:lnTo>
                  <a:pt x="49554" y="58036"/>
                </a:lnTo>
                <a:lnTo>
                  <a:pt x="50000" y="58482"/>
                </a:lnTo>
                <a:lnTo>
                  <a:pt x="50893" y="58482"/>
                </a:lnTo>
                <a:lnTo>
                  <a:pt x="51786" y="58482"/>
                </a:lnTo>
                <a:lnTo>
                  <a:pt x="52232" y="58036"/>
                </a:lnTo>
                <a:lnTo>
                  <a:pt x="52679" y="57589"/>
                </a:lnTo>
                <a:lnTo>
                  <a:pt x="55357" y="56696"/>
                </a:lnTo>
                <a:lnTo>
                  <a:pt x="56696" y="55357"/>
                </a:lnTo>
                <a:lnTo>
                  <a:pt x="57589" y="53571"/>
                </a:lnTo>
                <a:lnTo>
                  <a:pt x="57589" y="49107"/>
                </a:lnTo>
                <a:lnTo>
                  <a:pt x="56696" y="47321"/>
                </a:lnTo>
                <a:lnTo>
                  <a:pt x="53571" y="44196"/>
                </a:lnTo>
                <a:lnTo>
                  <a:pt x="48214" y="44196"/>
                </a:lnTo>
                <a:close/>
              </a:path>
            </a:pathLst>
          </a:custGeom>
          <a:solidFill>
            <a:srgbClr val="FFFFFF"/>
          </a:solidFill>
          <a:ln>
            <a:noFill/>
          </a:ln>
        </p:spPr>
        <p:txBody>
          <a:bodyPr/>
          <a:p/>
        </p:txBody>
      </p:sp>
      <p:sp>
        <p:nvSpPr>
          <p:cNvPr id="19" name="Text 15"/>
          <p:cNvSpPr/>
          <p:nvPr/>
        </p:nvSpPr>
        <p:spPr>
          <a:xfrm>
            <a:off x="9921240" y="2002536"/>
            <a:ext cx="1901952" cy="685800"/>
          </a:xfrm>
          <a:prstGeom prst="rect">
            <a:avLst/>
          </a:prstGeom>
          <a:noFill/>
          <a:ln/>
        </p:spPr>
        <p:txBody>
          <a:bodyPr wrap="square" lIns="0" tIns="0" rIns="0" bIns="0" rtlCol="0" anchor="ctr"/>
          <a:lstStyle/>
          <a:p>
            <a:pPr indent="0" marL="0">
              <a:buNone/>
            </a:pPr>
            <a:r>
              <a:rPr lang="en-US" sz="6200" b="1" dirty="0">
                <a:solidFill>
                  <a:srgbClr val="17324D"/>
                </a:solidFill>
                <a:latin typeface="Aptos" pitchFamily="34" charset="0"/>
                <a:ea typeface="Segoe UI" pitchFamily="34" charset="-122"/>
                <a:cs typeface="Segoe UI" pitchFamily="34" charset="-120"/>
              </a:rPr>
              <a:t>4</a:t>
            </a:r>
            <a:endParaRPr lang="en-US" sz="6200" dirty="0"/>
          </a:p>
        </p:txBody>
      </p:sp>
      <p:sp>
        <p:nvSpPr>
          <p:cNvPr id="20" name="Text 16"/>
          <p:cNvSpPr/>
          <p:nvPr/>
        </p:nvSpPr>
        <p:spPr>
          <a:xfrm>
            <a:off x="9921240" y="2843784"/>
            <a:ext cx="1883664" cy="228600"/>
          </a:xfrm>
          <a:prstGeom prst="rect">
            <a:avLst/>
          </a:prstGeom>
          <a:noFill/>
          <a:ln/>
        </p:spPr>
        <p:txBody>
          <a:bodyPr wrap="square" lIns="0" tIns="0" rIns="0" bIns="0" rtlCol="0" anchor="ctr"/>
          <a:lstStyle/>
          <a:p>
            <a:pPr indent="0" marL="0">
              <a:buNone/>
            </a:pPr>
            <a:r>
              <a:rPr lang="en-US" sz="1200" dirty="0">
                <a:solidFill>
                  <a:srgbClr val="334155"/>
                </a:solidFill>
                <a:latin typeface="Aptos" pitchFamily="34" charset="0"/>
                <a:ea typeface="Segoe UI" pitchFamily="34" charset="-122"/>
                <a:cs typeface="Segoe UI" pitchFamily="34" charset="-120"/>
              </a:rPr>
              <a:t>composantes retenues</a:t>
            </a:r>
            <a:endParaRPr lang="en-US" sz="1200" dirty="0"/>
          </a:p>
        </p:txBody>
      </p:sp>
      <p:sp>
        <p:nvSpPr>
          <p:cNvPr id="21" name="Shape 17"/>
          <p:cNvSpPr/>
          <p:nvPr/>
        </p:nvSpPr>
        <p:spPr>
          <a:xfrm>
            <a:off x="8595360" y="3364992"/>
            <a:ext cx="3346704" cy="1600200"/>
          </a:xfrm>
          <a:prstGeom prst="roundRect">
            <a:avLst>
              <a:gd name="adj" fmla="val 8000"/>
            </a:avLst>
          </a:prstGeom>
          <a:solidFill>
            <a:srgbClr val="EFF6FF"/>
          </a:solidFill>
          <a:ln w="12700">
            <a:solidFill>
              <a:srgbClr val="EFF6FF">
                <a:alpha val="0"/>
              </a:srgbClr>
            </a:solidFill>
            <a:prstDash val="solid"/>
          </a:ln>
        </p:spPr>
        <p:txBody>
          <a:bodyPr/>
          <a:p/>
        </p:txBody>
      </p:sp>
      <p:sp>
        <p:nvSpPr>
          <p:cNvPr id="22" name="Shape 18"/>
          <p:cNvSpPr/>
          <p:nvPr/>
        </p:nvSpPr>
        <p:spPr>
          <a:xfrm>
            <a:off x="8823960" y="3730752"/>
            <a:ext cx="950976" cy="950976"/>
          </a:xfrm>
          <a:prstGeom prst="ellipse">
            <a:avLst/>
          </a:prstGeom>
          <a:solidFill>
            <a:srgbClr val="1D4ED8"/>
          </a:solidFill>
          <a:ln w="12700">
            <a:solidFill>
              <a:srgbClr val="1D4ED8">
                <a:alpha val="0"/>
              </a:srgbClr>
            </a:solidFill>
            <a:prstDash val="solid"/>
          </a:ln>
        </p:spPr>
        <p:txBody>
          <a:bodyPr/>
          <a:p/>
        </p:txBody>
      </p:sp>
      <p:sp>
        <p:nvSpPr>
          <p:cNvPr id="23" name="VECTOR_pie_30"/>
          <p:cNvSpPr/>
          <p:nvPr/>
        </p:nvSpPr>
        <p:spPr>
          <a:xfrm>
            <a:off x="8823960" y="3730752"/>
            <a:ext cx="950976" cy="950976"/>
          </a:xfrm>
          <a:custGeom>
            <a:avLst/>
            <a:gdLst/>
            <a:ahLst/>
            <a:cxnLst/>
            <a:rect l="0" t="0" r="r" b="b"/>
            <a:pathLst>
              <a:path w="100000" h="100000" fill="norm" stroke="false" extrusionOk="false">
                <a:moveTo>
                  <a:pt x="57836" y="28358"/>
                </a:moveTo>
                <a:lnTo>
                  <a:pt x="59701" y="27985"/>
                </a:lnTo>
                <a:lnTo>
                  <a:pt x="60821" y="29104"/>
                </a:lnTo>
                <a:lnTo>
                  <a:pt x="60821" y="51493"/>
                </a:lnTo>
                <a:lnTo>
                  <a:pt x="61194" y="51866"/>
                </a:lnTo>
                <a:lnTo>
                  <a:pt x="84328" y="51866"/>
                </a:lnTo>
                <a:lnTo>
                  <a:pt x="84701" y="52239"/>
                </a:lnTo>
                <a:lnTo>
                  <a:pt x="84701" y="57463"/>
                </a:lnTo>
                <a:lnTo>
                  <a:pt x="84328" y="57836"/>
                </a:lnTo>
                <a:lnTo>
                  <a:pt x="83955" y="58209"/>
                </a:lnTo>
                <a:lnTo>
                  <a:pt x="83955" y="60448"/>
                </a:lnTo>
                <a:lnTo>
                  <a:pt x="83582" y="60821"/>
                </a:lnTo>
                <a:lnTo>
                  <a:pt x="83209" y="61194"/>
                </a:lnTo>
                <a:lnTo>
                  <a:pt x="83209" y="61940"/>
                </a:lnTo>
                <a:lnTo>
                  <a:pt x="83209" y="62687"/>
                </a:lnTo>
                <a:lnTo>
                  <a:pt x="80970" y="67164"/>
                </a:lnTo>
                <a:lnTo>
                  <a:pt x="78731" y="69403"/>
                </a:lnTo>
                <a:lnTo>
                  <a:pt x="78731" y="70149"/>
                </a:lnTo>
                <a:lnTo>
                  <a:pt x="76119" y="72761"/>
                </a:lnTo>
                <a:lnTo>
                  <a:pt x="75373" y="72761"/>
                </a:lnTo>
                <a:lnTo>
                  <a:pt x="71642" y="75746"/>
                </a:lnTo>
                <a:lnTo>
                  <a:pt x="70149" y="76493"/>
                </a:lnTo>
                <a:lnTo>
                  <a:pt x="69403" y="76493"/>
                </a:lnTo>
                <a:lnTo>
                  <a:pt x="68657" y="76493"/>
                </a:lnTo>
                <a:lnTo>
                  <a:pt x="66418" y="77985"/>
                </a:lnTo>
                <a:lnTo>
                  <a:pt x="63433" y="77985"/>
                </a:lnTo>
                <a:lnTo>
                  <a:pt x="61940" y="78731"/>
                </a:lnTo>
                <a:lnTo>
                  <a:pt x="57463" y="78731"/>
                </a:lnTo>
                <a:lnTo>
                  <a:pt x="57090" y="78358"/>
                </a:lnTo>
                <a:lnTo>
                  <a:pt x="56716" y="77985"/>
                </a:lnTo>
                <a:lnTo>
                  <a:pt x="53731" y="77985"/>
                </a:lnTo>
                <a:lnTo>
                  <a:pt x="53358" y="77612"/>
                </a:lnTo>
                <a:lnTo>
                  <a:pt x="52985" y="77239"/>
                </a:lnTo>
                <a:lnTo>
                  <a:pt x="49254" y="76493"/>
                </a:lnTo>
                <a:lnTo>
                  <a:pt x="46269" y="74254"/>
                </a:lnTo>
                <a:lnTo>
                  <a:pt x="45522" y="74254"/>
                </a:lnTo>
                <a:lnTo>
                  <a:pt x="39179" y="67910"/>
                </a:lnTo>
                <a:lnTo>
                  <a:pt x="39179" y="67164"/>
                </a:lnTo>
                <a:lnTo>
                  <a:pt x="37687" y="65672"/>
                </a:lnTo>
                <a:lnTo>
                  <a:pt x="37687" y="64925"/>
                </a:lnTo>
                <a:lnTo>
                  <a:pt x="37687" y="64179"/>
                </a:lnTo>
                <a:lnTo>
                  <a:pt x="36194" y="61940"/>
                </a:lnTo>
                <a:lnTo>
                  <a:pt x="36194" y="61194"/>
                </a:lnTo>
                <a:lnTo>
                  <a:pt x="36194" y="60448"/>
                </a:lnTo>
                <a:lnTo>
                  <a:pt x="35821" y="60075"/>
                </a:lnTo>
                <a:lnTo>
                  <a:pt x="35448" y="59701"/>
                </a:lnTo>
                <a:lnTo>
                  <a:pt x="35448" y="57463"/>
                </a:lnTo>
                <a:lnTo>
                  <a:pt x="35075" y="57090"/>
                </a:lnTo>
                <a:lnTo>
                  <a:pt x="34701" y="56716"/>
                </a:lnTo>
                <a:lnTo>
                  <a:pt x="34701" y="49254"/>
                </a:lnTo>
                <a:lnTo>
                  <a:pt x="35075" y="48881"/>
                </a:lnTo>
                <a:lnTo>
                  <a:pt x="35448" y="48507"/>
                </a:lnTo>
                <a:lnTo>
                  <a:pt x="35448" y="46269"/>
                </a:lnTo>
                <a:lnTo>
                  <a:pt x="35821" y="45896"/>
                </a:lnTo>
                <a:lnTo>
                  <a:pt x="36194" y="45522"/>
                </a:lnTo>
                <a:lnTo>
                  <a:pt x="36194" y="44776"/>
                </a:lnTo>
                <a:lnTo>
                  <a:pt x="36194" y="44030"/>
                </a:lnTo>
                <a:lnTo>
                  <a:pt x="38433" y="39552"/>
                </a:lnTo>
                <a:lnTo>
                  <a:pt x="46269" y="31716"/>
                </a:lnTo>
                <a:lnTo>
                  <a:pt x="50746" y="29478"/>
                </a:lnTo>
                <a:lnTo>
                  <a:pt x="51493" y="29478"/>
                </a:lnTo>
                <a:lnTo>
                  <a:pt x="52239" y="29478"/>
                </a:lnTo>
                <a:lnTo>
                  <a:pt x="52612" y="29104"/>
                </a:lnTo>
                <a:lnTo>
                  <a:pt x="52985" y="28731"/>
                </a:lnTo>
                <a:lnTo>
                  <a:pt x="57463" y="28731"/>
                </a:lnTo>
                <a:lnTo>
                  <a:pt x="57836" y="28358"/>
                </a:lnTo>
                <a:close/>
                <a:moveTo>
                  <a:pt x="56716" y="30224"/>
                </a:moveTo>
                <a:lnTo>
                  <a:pt x="56343" y="30597"/>
                </a:lnTo>
                <a:lnTo>
                  <a:pt x="55970" y="30970"/>
                </a:lnTo>
                <a:lnTo>
                  <a:pt x="53731" y="30970"/>
                </a:lnTo>
                <a:lnTo>
                  <a:pt x="53358" y="31343"/>
                </a:lnTo>
                <a:lnTo>
                  <a:pt x="52985" y="31716"/>
                </a:lnTo>
                <a:lnTo>
                  <a:pt x="52239" y="31716"/>
                </a:lnTo>
                <a:lnTo>
                  <a:pt x="51493" y="31716"/>
                </a:lnTo>
                <a:lnTo>
                  <a:pt x="48507" y="33209"/>
                </a:lnTo>
                <a:lnTo>
                  <a:pt x="47015" y="34701"/>
                </a:lnTo>
                <a:lnTo>
                  <a:pt x="46269" y="34701"/>
                </a:lnTo>
                <a:lnTo>
                  <a:pt x="41418" y="39552"/>
                </a:lnTo>
                <a:lnTo>
                  <a:pt x="40672" y="41791"/>
                </a:lnTo>
                <a:lnTo>
                  <a:pt x="39179" y="43284"/>
                </a:lnTo>
                <a:lnTo>
                  <a:pt x="39179" y="44030"/>
                </a:lnTo>
                <a:lnTo>
                  <a:pt x="39179" y="44776"/>
                </a:lnTo>
                <a:lnTo>
                  <a:pt x="37687" y="47761"/>
                </a:lnTo>
                <a:lnTo>
                  <a:pt x="37687" y="51493"/>
                </a:lnTo>
                <a:lnTo>
                  <a:pt x="37313" y="51866"/>
                </a:lnTo>
                <a:lnTo>
                  <a:pt x="36940" y="52239"/>
                </a:lnTo>
                <a:lnTo>
                  <a:pt x="36940" y="55224"/>
                </a:lnTo>
                <a:lnTo>
                  <a:pt x="37313" y="55597"/>
                </a:lnTo>
                <a:lnTo>
                  <a:pt x="37687" y="55970"/>
                </a:lnTo>
                <a:lnTo>
                  <a:pt x="37687" y="58955"/>
                </a:lnTo>
                <a:lnTo>
                  <a:pt x="38060" y="59328"/>
                </a:lnTo>
                <a:lnTo>
                  <a:pt x="38433" y="59701"/>
                </a:lnTo>
                <a:lnTo>
                  <a:pt x="38433" y="60448"/>
                </a:lnTo>
                <a:lnTo>
                  <a:pt x="38433" y="61194"/>
                </a:lnTo>
                <a:lnTo>
                  <a:pt x="40672" y="65672"/>
                </a:lnTo>
                <a:lnTo>
                  <a:pt x="43657" y="68657"/>
                </a:lnTo>
                <a:lnTo>
                  <a:pt x="43657" y="69403"/>
                </a:lnTo>
                <a:lnTo>
                  <a:pt x="44776" y="70522"/>
                </a:lnTo>
                <a:lnTo>
                  <a:pt x="45522" y="70522"/>
                </a:lnTo>
                <a:lnTo>
                  <a:pt x="47761" y="72761"/>
                </a:lnTo>
                <a:lnTo>
                  <a:pt x="52239" y="75000"/>
                </a:lnTo>
                <a:lnTo>
                  <a:pt x="52985" y="75000"/>
                </a:lnTo>
                <a:lnTo>
                  <a:pt x="53731" y="75000"/>
                </a:lnTo>
                <a:lnTo>
                  <a:pt x="54104" y="75373"/>
                </a:lnTo>
                <a:lnTo>
                  <a:pt x="54478" y="75746"/>
                </a:lnTo>
                <a:lnTo>
                  <a:pt x="57463" y="75746"/>
                </a:lnTo>
                <a:lnTo>
                  <a:pt x="57836" y="76119"/>
                </a:lnTo>
                <a:lnTo>
                  <a:pt x="58209" y="76493"/>
                </a:lnTo>
                <a:lnTo>
                  <a:pt x="61194" y="76493"/>
                </a:lnTo>
                <a:lnTo>
                  <a:pt x="61567" y="76119"/>
                </a:lnTo>
                <a:lnTo>
                  <a:pt x="61940" y="75746"/>
                </a:lnTo>
                <a:lnTo>
                  <a:pt x="65672" y="75746"/>
                </a:lnTo>
                <a:lnTo>
                  <a:pt x="66045" y="75373"/>
                </a:lnTo>
                <a:lnTo>
                  <a:pt x="66418" y="75000"/>
                </a:lnTo>
                <a:lnTo>
                  <a:pt x="67164" y="75000"/>
                </a:lnTo>
                <a:lnTo>
                  <a:pt x="67910" y="75000"/>
                </a:lnTo>
                <a:lnTo>
                  <a:pt x="70896" y="73507"/>
                </a:lnTo>
                <a:lnTo>
                  <a:pt x="73134" y="71269"/>
                </a:lnTo>
                <a:lnTo>
                  <a:pt x="73881" y="71269"/>
                </a:lnTo>
                <a:lnTo>
                  <a:pt x="79478" y="64925"/>
                </a:lnTo>
                <a:lnTo>
                  <a:pt x="80970" y="61940"/>
                </a:lnTo>
                <a:lnTo>
                  <a:pt x="80970" y="61194"/>
                </a:lnTo>
                <a:lnTo>
                  <a:pt x="80970" y="60448"/>
                </a:lnTo>
                <a:lnTo>
                  <a:pt x="81343" y="60075"/>
                </a:lnTo>
                <a:lnTo>
                  <a:pt x="81716" y="59701"/>
                </a:lnTo>
                <a:lnTo>
                  <a:pt x="81716" y="56716"/>
                </a:lnTo>
                <a:lnTo>
                  <a:pt x="82463" y="55224"/>
                </a:lnTo>
                <a:lnTo>
                  <a:pt x="81343" y="54104"/>
                </a:lnTo>
                <a:lnTo>
                  <a:pt x="58955" y="54104"/>
                </a:lnTo>
                <a:lnTo>
                  <a:pt x="58582" y="53731"/>
                </a:lnTo>
                <a:lnTo>
                  <a:pt x="58582" y="30597"/>
                </a:lnTo>
                <a:lnTo>
                  <a:pt x="56716" y="30224"/>
                </a:lnTo>
                <a:close/>
              </a:path>
            </a:pathLst>
          </a:custGeom>
          <a:solidFill>
            <a:srgbClr val="FFFFFF"/>
          </a:solidFill>
          <a:ln>
            <a:noFill/>
          </a:ln>
        </p:spPr>
        <p:txBody>
          <a:bodyPr/>
          <a:p/>
        </p:txBody>
      </p:sp>
      <p:sp>
        <p:nvSpPr>
          <p:cNvPr id="24" name="Text 20"/>
          <p:cNvSpPr/>
          <p:nvPr/>
        </p:nvSpPr>
        <p:spPr>
          <a:xfrm>
            <a:off x="9921240" y="3694176"/>
            <a:ext cx="1901952" cy="685800"/>
          </a:xfrm>
          <a:prstGeom prst="rect">
            <a:avLst/>
          </a:prstGeom>
          <a:noFill/>
          <a:ln/>
        </p:spPr>
        <p:txBody>
          <a:bodyPr wrap="square" lIns="0" tIns="0" rIns="0" bIns="0" rtlCol="0" anchor="ctr"/>
          <a:lstStyle/>
          <a:p>
            <a:pPr indent="0" marL="0">
              <a:buNone/>
            </a:pPr>
            <a:r>
              <a:rPr lang="en-US" sz="6200" b="1" dirty="0">
                <a:solidFill>
                  <a:srgbClr val="1D4ED8"/>
                </a:solidFill>
                <a:latin typeface="Aptos" pitchFamily="34" charset="0"/>
                <a:ea typeface="Segoe UI" pitchFamily="34" charset="-122"/>
                <a:cs typeface="Segoe UI" pitchFamily="34" charset="-120"/>
              </a:rPr>
              <a:t>61 %</a:t>
            </a:r>
            <a:endParaRPr lang="en-US" sz="6200" dirty="0"/>
          </a:p>
        </p:txBody>
      </p:sp>
      <p:sp>
        <p:nvSpPr>
          <p:cNvPr id="25" name="Text 21"/>
          <p:cNvSpPr/>
          <p:nvPr/>
        </p:nvSpPr>
        <p:spPr>
          <a:xfrm>
            <a:off x="9921240" y="4535424"/>
            <a:ext cx="1883664" cy="228600"/>
          </a:xfrm>
          <a:prstGeom prst="rect">
            <a:avLst/>
          </a:prstGeom>
          <a:noFill/>
          <a:ln/>
        </p:spPr>
        <p:txBody>
          <a:bodyPr wrap="square" lIns="0" tIns="0" rIns="0" bIns="0" rtlCol="0" anchor="ctr"/>
          <a:lstStyle/>
          <a:p>
            <a:pPr indent="0" marL="0">
              <a:buNone/>
            </a:pPr>
            <a:r>
              <a:rPr lang="en-US" sz="1200" dirty="0">
                <a:solidFill>
                  <a:srgbClr val="334155"/>
                </a:solidFill>
                <a:latin typeface="Aptos" pitchFamily="34" charset="0"/>
                <a:ea typeface="Segoe UI" pitchFamily="34" charset="-122"/>
                <a:cs typeface="Segoe UI" pitchFamily="34" charset="-120"/>
              </a:rPr>
              <a:t>de la variance totale</a:t>
            </a:r>
            <a:endParaRPr lang="en-US" sz="1200" dirty="0"/>
          </a:p>
        </p:txBody>
      </p:sp>
      <p:sp>
        <p:nvSpPr>
          <p:cNvPr id="26" name="Shape 22"/>
          <p:cNvSpPr/>
          <p:nvPr/>
        </p:nvSpPr>
        <p:spPr>
          <a:xfrm>
            <a:off x="8595360" y="5065776"/>
            <a:ext cx="3346704" cy="1280160"/>
          </a:xfrm>
          <a:prstGeom prst="roundRect">
            <a:avLst>
              <a:gd name="adj" fmla="val 10000"/>
            </a:avLst>
          </a:prstGeom>
          <a:solidFill>
            <a:srgbClr val="F3F4F6"/>
          </a:solidFill>
          <a:ln w="12700">
            <a:solidFill>
              <a:srgbClr val="F3F4F6">
                <a:alpha val="0"/>
              </a:srgbClr>
            </a:solidFill>
            <a:prstDash val="solid"/>
          </a:ln>
        </p:spPr>
        <p:txBody>
          <a:bodyPr/>
          <a:p/>
        </p:txBody>
      </p:sp>
      <p:sp>
        <p:nvSpPr>
          <p:cNvPr id="27" name="Shape 23"/>
          <p:cNvSpPr/>
          <p:nvPr/>
        </p:nvSpPr>
        <p:spPr>
          <a:xfrm>
            <a:off x="8778240" y="5321808"/>
            <a:ext cx="777240" cy="777240"/>
          </a:xfrm>
          <a:prstGeom prst="ellipse">
            <a:avLst/>
          </a:prstGeom>
          <a:solidFill>
            <a:srgbClr val="6D28D9"/>
          </a:solidFill>
          <a:ln w="12700">
            <a:solidFill>
              <a:srgbClr val="6D28D9">
                <a:alpha val="0"/>
              </a:srgbClr>
            </a:solidFill>
            <a:prstDash val="solid"/>
          </a:ln>
        </p:spPr>
        <p:txBody>
          <a:bodyPr/>
          <a:p/>
        </p:txBody>
      </p:sp>
      <p:sp>
        <p:nvSpPr>
          <p:cNvPr id="28" name="VECTOR_scales_31"/>
          <p:cNvSpPr/>
          <p:nvPr/>
        </p:nvSpPr>
        <p:spPr>
          <a:xfrm>
            <a:off x="8778240" y="5321808"/>
            <a:ext cx="777240" cy="777240"/>
          </a:xfrm>
          <a:custGeom>
            <a:avLst/>
            <a:gdLst/>
            <a:ahLst/>
            <a:cxnLst/>
            <a:rect l="0" t="0" r="r" b="b"/>
            <a:pathLst>
              <a:path w="100000" h="100000" fill="norm" stroke="false" extrusionOk="false">
                <a:moveTo>
                  <a:pt x="59328" y="19403"/>
                </a:moveTo>
                <a:lnTo>
                  <a:pt x="59701" y="19030"/>
                </a:lnTo>
                <a:lnTo>
                  <a:pt x="60821" y="20149"/>
                </a:lnTo>
                <a:lnTo>
                  <a:pt x="60821" y="24627"/>
                </a:lnTo>
                <a:lnTo>
                  <a:pt x="61940" y="25746"/>
                </a:lnTo>
                <a:lnTo>
                  <a:pt x="62687" y="25746"/>
                </a:lnTo>
                <a:lnTo>
                  <a:pt x="64925" y="28731"/>
                </a:lnTo>
                <a:lnTo>
                  <a:pt x="81343" y="28731"/>
                </a:lnTo>
                <a:lnTo>
                  <a:pt x="81716" y="29104"/>
                </a:lnTo>
                <a:lnTo>
                  <a:pt x="81716" y="29851"/>
                </a:lnTo>
                <a:lnTo>
                  <a:pt x="80224" y="30597"/>
                </a:lnTo>
                <a:lnTo>
                  <a:pt x="80224" y="31343"/>
                </a:lnTo>
                <a:lnTo>
                  <a:pt x="80224" y="32090"/>
                </a:lnTo>
                <a:lnTo>
                  <a:pt x="80597" y="32463"/>
                </a:lnTo>
                <a:lnTo>
                  <a:pt x="80970" y="32836"/>
                </a:lnTo>
                <a:lnTo>
                  <a:pt x="81716" y="36567"/>
                </a:lnTo>
                <a:lnTo>
                  <a:pt x="86194" y="45522"/>
                </a:lnTo>
                <a:lnTo>
                  <a:pt x="86940" y="49254"/>
                </a:lnTo>
                <a:lnTo>
                  <a:pt x="88433" y="51493"/>
                </a:lnTo>
                <a:lnTo>
                  <a:pt x="88433" y="54478"/>
                </a:lnTo>
                <a:lnTo>
                  <a:pt x="87687" y="55970"/>
                </a:lnTo>
                <a:lnTo>
                  <a:pt x="85821" y="57836"/>
                </a:lnTo>
                <a:lnTo>
                  <a:pt x="82836" y="59328"/>
                </a:lnTo>
                <a:lnTo>
                  <a:pt x="82090" y="59328"/>
                </a:lnTo>
                <a:lnTo>
                  <a:pt x="81343" y="59328"/>
                </a:lnTo>
                <a:lnTo>
                  <a:pt x="80970" y="59701"/>
                </a:lnTo>
                <a:lnTo>
                  <a:pt x="80597" y="60075"/>
                </a:lnTo>
                <a:lnTo>
                  <a:pt x="75373" y="60075"/>
                </a:lnTo>
                <a:lnTo>
                  <a:pt x="70896" y="57836"/>
                </a:lnTo>
                <a:lnTo>
                  <a:pt x="68284" y="54478"/>
                </a:lnTo>
                <a:lnTo>
                  <a:pt x="68284" y="51493"/>
                </a:lnTo>
                <a:lnTo>
                  <a:pt x="70522" y="47015"/>
                </a:lnTo>
                <a:lnTo>
                  <a:pt x="70522" y="46269"/>
                </a:lnTo>
                <a:lnTo>
                  <a:pt x="70522" y="45522"/>
                </a:lnTo>
                <a:lnTo>
                  <a:pt x="72015" y="43284"/>
                </a:lnTo>
                <a:lnTo>
                  <a:pt x="72015" y="42537"/>
                </a:lnTo>
                <a:lnTo>
                  <a:pt x="72015" y="41791"/>
                </a:lnTo>
                <a:lnTo>
                  <a:pt x="74254" y="38060"/>
                </a:lnTo>
                <a:lnTo>
                  <a:pt x="74254" y="37313"/>
                </a:lnTo>
                <a:lnTo>
                  <a:pt x="74254" y="36567"/>
                </a:lnTo>
                <a:lnTo>
                  <a:pt x="75746" y="34328"/>
                </a:lnTo>
                <a:lnTo>
                  <a:pt x="76493" y="30597"/>
                </a:lnTo>
                <a:lnTo>
                  <a:pt x="76119" y="30224"/>
                </a:lnTo>
                <a:lnTo>
                  <a:pt x="64925" y="30224"/>
                </a:lnTo>
                <a:lnTo>
                  <a:pt x="63433" y="32463"/>
                </a:lnTo>
                <a:lnTo>
                  <a:pt x="60821" y="33582"/>
                </a:lnTo>
                <a:lnTo>
                  <a:pt x="60821" y="68657"/>
                </a:lnTo>
                <a:lnTo>
                  <a:pt x="61194" y="69030"/>
                </a:lnTo>
                <a:lnTo>
                  <a:pt x="71642" y="69030"/>
                </a:lnTo>
                <a:lnTo>
                  <a:pt x="72761" y="70149"/>
                </a:lnTo>
                <a:lnTo>
                  <a:pt x="72761" y="70896"/>
                </a:lnTo>
                <a:lnTo>
                  <a:pt x="72388" y="71269"/>
                </a:lnTo>
                <a:lnTo>
                  <a:pt x="59701" y="71269"/>
                </a:lnTo>
                <a:lnTo>
                  <a:pt x="47761" y="71269"/>
                </a:lnTo>
                <a:lnTo>
                  <a:pt x="47388" y="70896"/>
                </a:lnTo>
                <a:lnTo>
                  <a:pt x="47761" y="69030"/>
                </a:lnTo>
                <a:lnTo>
                  <a:pt x="58209" y="69030"/>
                </a:lnTo>
                <a:lnTo>
                  <a:pt x="58582" y="68657"/>
                </a:lnTo>
                <a:lnTo>
                  <a:pt x="58582" y="33582"/>
                </a:lnTo>
                <a:lnTo>
                  <a:pt x="58209" y="33209"/>
                </a:lnTo>
                <a:lnTo>
                  <a:pt x="57463" y="33209"/>
                </a:lnTo>
                <a:lnTo>
                  <a:pt x="55597" y="31343"/>
                </a:lnTo>
                <a:lnTo>
                  <a:pt x="55597" y="30597"/>
                </a:lnTo>
                <a:lnTo>
                  <a:pt x="55224" y="30224"/>
                </a:lnTo>
                <a:lnTo>
                  <a:pt x="44030" y="30224"/>
                </a:lnTo>
                <a:lnTo>
                  <a:pt x="42910" y="31343"/>
                </a:lnTo>
                <a:lnTo>
                  <a:pt x="43284" y="31716"/>
                </a:lnTo>
                <a:lnTo>
                  <a:pt x="43657" y="32090"/>
                </a:lnTo>
                <a:lnTo>
                  <a:pt x="44403" y="35821"/>
                </a:lnTo>
                <a:lnTo>
                  <a:pt x="45896" y="38060"/>
                </a:lnTo>
                <a:lnTo>
                  <a:pt x="45896" y="38806"/>
                </a:lnTo>
                <a:lnTo>
                  <a:pt x="45896" y="39552"/>
                </a:lnTo>
                <a:lnTo>
                  <a:pt x="49627" y="47015"/>
                </a:lnTo>
                <a:lnTo>
                  <a:pt x="49627" y="47761"/>
                </a:lnTo>
                <a:lnTo>
                  <a:pt x="49627" y="48507"/>
                </a:lnTo>
                <a:lnTo>
                  <a:pt x="51866" y="52239"/>
                </a:lnTo>
                <a:lnTo>
                  <a:pt x="51493" y="52612"/>
                </a:lnTo>
                <a:lnTo>
                  <a:pt x="51119" y="52985"/>
                </a:lnTo>
                <a:lnTo>
                  <a:pt x="51119" y="53731"/>
                </a:lnTo>
                <a:lnTo>
                  <a:pt x="51119" y="54478"/>
                </a:lnTo>
                <a:lnTo>
                  <a:pt x="50373" y="55970"/>
                </a:lnTo>
                <a:lnTo>
                  <a:pt x="48507" y="57836"/>
                </a:lnTo>
                <a:lnTo>
                  <a:pt x="47761" y="57836"/>
                </a:lnTo>
                <a:lnTo>
                  <a:pt x="46269" y="59328"/>
                </a:lnTo>
                <a:lnTo>
                  <a:pt x="44030" y="59328"/>
                </a:lnTo>
                <a:lnTo>
                  <a:pt x="43657" y="59701"/>
                </a:lnTo>
                <a:lnTo>
                  <a:pt x="43284" y="60075"/>
                </a:lnTo>
                <a:lnTo>
                  <a:pt x="38060" y="60075"/>
                </a:lnTo>
                <a:lnTo>
                  <a:pt x="37687" y="59701"/>
                </a:lnTo>
                <a:lnTo>
                  <a:pt x="37313" y="59328"/>
                </a:lnTo>
                <a:lnTo>
                  <a:pt x="36567" y="59328"/>
                </a:lnTo>
                <a:lnTo>
                  <a:pt x="35821" y="59328"/>
                </a:lnTo>
                <a:lnTo>
                  <a:pt x="31716" y="55224"/>
                </a:lnTo>
                <a:lnTo>
                  <a:pt x="30970" y="53731"/>
                </a:lnTo>
                <a:lnTo>
                  <a:pt x="30970" y="51493"/>
                </a:lnTo>
                <a:lnTo>
                  <a:pt x="33209" y="47761"/>
                </a:lnTo>
                <a:lnTo>
                  <a:pt x="33955" y="44030"/>
                </a:lnTo>
                <a:lnTo>
                  <a:pt x="36194" y="40299"/>
                </a:lnTo>
                <a:lnTo>
                  <a:pt x="36194" y="39552"/>
                </a:lnTo>
                <a:lnTo>
                  <a:pt x="36194" y="38806"/>
                </a:lnTo>
                <a:lnTo>
                  <a:pt x="39179" y="32836"/>
                </a:lnTo>
                <a:lnTo>
                  <a:pt x="39179" y="30597"/>
                </a:lnTo>
                <a:lnTo>
                  <a:pt x="38806" y="30224"/>
                </a:lnTo>
                <a:lnTo>
                  <a:pt x="38060" y="30224"/>
                </a:lnTo>
                <a:lnTo>
                  <a:pt x="37687" y="29851"/>
                </a:lnTo>
                <a:lnTo>
                  <a:pt x="37687" y="29104"/>
                </a:lnTo>
                <a:lnTo>
                  <a:pt x="38806" y="27985"/>
                </a:lnTo>
                <a:lnTo>
                  <a:pt x="46269" y="27985"/>
                </a:lnTo>
                <a:lnTo>
                  <a:pt x="46642" y="28358"/>
                </a:lnTo>
                <a:lnTo>
                  <a:pt x="47015" y="28731"/>
                </a:lnTo>
                <a:lnTo>
                  <a:pt x="54478" y="28731"/>
                </a:lnTo>
                <a:lnTo>
                  <a:pt x="58582" y="24627"/>
                </a:lnTo>
                <a:lnTo>
                  <a:pt x="58582" y="20149"/>
                </a:lnTo>
                <a:lnTo>
                  <a:pt x="58955" y="19776"/>
                </a:lnTo>
                <a:lnTo>
                  <a:pt x="59328" y="19403"/>
                </a:lnTo>
                <a:close/>
                <a:moveTo>
                  <a:pt x="58955" y="27239"/>
                </a:moveTo>
                <a:lnTo>
                  <a:pt x="57836" y="28358"/>
                </a:lnTo>
                <a:lnTo>
                  <a:pt x="57836" y="30597"/>
                </a:lnTo>
                <a:lnTo>
                  <a:pt x="58955" y="31716"/>
                </a:lnTo>
                <a:lnTo>
                  <a:pt x="61194" y="31716"/>
                </a:lnTo>
                <a:lnTo>
                  <a:pt x="62313" y="29104"/>
                </a:lnTo>
                <a:lnTo>
                  <a:pt x="61194" y="27239"/>
                </a:lnTo>
                <a:lnTo>
                  <a:pt x="58955" y="27239"/>
                </a:lnTo>
                <a:close/>
                <a:moveTo>
                  <a:pt x="41045" y="33955"/>
                </a:moveTo>
                <a:lnTo>
                  <a:pt x="39925" y="35821"/>
                </a:lnTo>
                <a:lnTo>
                  <a:pt x="39925" y="36567"/>
                </a:lnTo>
                <a:lnTo>
                  <a:pt x="39925" y="37313"/>
                </a:lnTo>
                <a:lnTo>
                  <a:pt x="37687" y="41045"/>
                </a:lnTo>
                <a:lnTo>
                  <a:pt x="37687" y="41791"/>
                </a:lnTo>
                <a:lnTo>
                  <a:pt x="37687" y="42537"/>
                </a:lnTo>
                <a:lnTo>
                  <a:pt x="36194" y="44776"/>
                </a:lnTo>
                <a:lnTo>
                  <a:pt x="36194" y="45522"/>
                </a:lnTo>
                <a:lnTo>
                  <a:pt x="36194" y="46269"/>
                </a:lnTo>
                <a:lnTo>
                  <a:pt x="33955" y="50000"/>
                </a:lnTo>
                <a:lnTo>
                  <a:pt x="33955" y="50746"/>
                </a:lnTo>
                <a:lnTo>
                  <a:pt x="34328" y="51119"/>
                </a:lnTo>
                <a:lnTo>
                  <a:pt x="41045" y="51119"/>
                </a:lnTo>
                <a:lnTo>
                  <a:pt x="47761" y="51119"/>
                </a:lnTo>
                <a:lnTo>
                  <a:pt x="48134" y="50746"/>
                </a:lnTo>
                <a:lnTo>
                  <a:pt x="47388" y="49254"/>
                </a:lnTo>
                <a:lnTo>
                  <a:pt x="47388" y="48507"/>
                </a:lnTo>
                <a:lnTo>
                  <a:pt x="47388" y="47761"/>
                </a:lnTo>
                <a:lnTo>
                  <a:pt x="45896" y="45522"/>
                </a:lnTo>
                <a:lnTo>
                  <a:pt x="45896" y="44776"/>
                </a:lnTo>
                <a:lnTo>
                  <a:pt x="45896" y="44030"/>
                </a:lnTo>
                <a:lnTo>
                  <a:pt x="44403" y="41791"/>
                </a:lnTo>
                <a:lnTo>
                  <a:pt x="44403" y="41045"/>
                </a:lnTo>
                <a:lnTo>
                  <a:pt x="44403" y="40299"/>
                </a:lnTo>
                <a:lnTo>
                  <a:pt x="42910" y="38060"/>
                </a:lnTo>
                <a:lnTo>
                  <a:pt x="42910" y="37313"/>
                </a:lnTo>
                <a:lnTo>
                  <a:pt x="42910" y="36567"/>
                </a:lnTo>
                <a:lnTo>
                  <a:pt x="41045" y="33955"/>
                </a:lnTo>
                <a:close/>
                <a:moveTo>
                  <a:pt x="78358" y="33955"/>
                </a:moveTo>
                <a:lnTo>
                  <a:pt x="75746" y="38806"/>
                </a:lnTo>
                <a:lnTo>
                  <a:pt x="75746" y="39552"/>
                </a:lnTo>
                <a:lnTo>
                  <a:pt x="75746" y="40299"/>
                </a:lnTo>
                <a:lnTo>
                  <a:pt x="72761" y="46269"/>
                </a:lnTo>
                <a:lnTo>
                  <a:pt x="72761" y="47015"/>
                </a:lnTo>
                <a:lnTo>
                  <a:pt x="72761" y="47761"/>
                </a:lnTo>
                <a:lnTo>
                  <a:pt x="71269" y="50000"/>
                </a:lnTo>
                <a:lnTo>
                  <a:pt x="71269" y="50746"/>
                </a:lnTo>
                <a:lnTo>
                  <a:pt x="71642" y="51119"/>
                </a:lnTo>
                <a:lnTo>
                  <a:pt x="78358" y="51119"/>
                </a:lnTo>
                <a:lnTo>
                  <a:pt x="85075" y="51119"/>
                </a:lnTo>
                <a:lnTo>
                  <a:pt x="85448" y="50746"/>
                </a:lnTo>
                <a:lnTo>
                  <a:pt x="83955" y="47761"/>
                </a:lnTo>
                <a:lnTo>
                  <a:pt x="83955" y="47015"/>
                </a:lnTo>
                <a:lnTo>
                  <a:pt x="83955" y="46269"/>
                </a:lnTo>
                <a:lnTo>
                  <a:pt x="82463" y="44030"/>
                </a:lnTo>
                <a:lnTo>
                  <a:pt x="82463" y="43284"/>
                </a:lnTo>
                <a:lnTo>
                  <a:pt x="82463" y="42537"/>
                </a:lnTo>
                <a:lnTo>
                  <a:pt x="80970" y="40299"/>
                </a:lnTo>
                <a:lnTo>
                  <a:pt x="80970" y="39552"/>
                </a:lnTo>
                <a:lnTo>
                  <a:pt x="80970" y="38806"/>
                </a:lnTo>
                <a:lnTo>
                  <a:pt x="78358" y="33955"/>
                </a:lnTo>
                <a:close/>
                <a:moveTo>
                  <a:pt x="34328" y="53358"/>
                </a:moveTo>
                <a:lnTo>
                  <a:pt x="33955" y="53731"/>
                </a:lnTo>
                <a:lnTo>
                  <a:pt x="33955" y="54478"/>
                </a:lnTo>
                <a:lnTo>
                  <a:pt x="35821" y="56343"/>
                </a:lnTo>
                <a:lnTo>
                  <a:pt x="37313" y="57090"/>
                </a:lnTo>
                <a:lnTo>
                  <a:pt x="38060" y="57090"/>
                </a:lnTo>
                <a:lnTo>
                  <a:pt x="38806" y="57090"/>
                </a:lnTo>
                <a:lnTo>
                  <a:pt x="39179" y="57463"/>
                </a:lnTo>
                <a:lnTo>
                  <a:pt x="39552" y="57836"/>
                </a:lnTo>
                <a:lnTo>
                  <a:pt x="43284" y="57836"/>
                </a:lnTo>
                <a:lnTo>
                  <a:pt x="46269" y="56343"/>
                </a:lnTo>
                <a:lnTo>
                  <a:pt x="48134" y="54478"/>
                </a:lnTo>
                <a:lnTo>
                  <a:pt x="48134" y="53731"/>
                </a:lnTo>
                <a:lnTo>
                  <a:pt x="47761" y="53358"/>
                </a:lnTo>
                <a:lnTo>
                  <a:pt x="34328" y="53358"/>
                </a:lnTo>
                <a:close/>
                <a:moveTo>
                  <a:pt x="71642" y="53358"/>
                </a:moveTo>
                <a:lnTo>
                  <a:pt x="71269" y="53731"/>
                </a:lnTo>
                <a:lnTo>
                  <a:pt x="71269" y="54478"/>
                </a:lnTo>
                <a:lnTo>
                  <a:pt x="73881" y="57090"/>
                </a:lnTo>
                <a:lnTo>
                  <a:pt x="74627" y="57090"/>
                </a:lnTo>
                <a:lnTo>
                  <a:pt x="75373" y="57090"/>
                </a:lnTo>
                <a:lnTo>
                  <a:pt x="75746" y="57463"/>
                </a:lnTo>
                <a:lnTo>
                  <a:pt x="76119" y="57836"/>
                </a:lnTo>
                <a:lnTo>
                  <a:pt x="80597" y="57836"/>
                </a:lnTo>
                <a:lnTo>
                  <a:pt x="83582" y="56343"/>
                </a:lnTo>
                <a:lnTo>
                  <a:pt x="85448" y="54478"/>
                </a:lnTo>
                <a:lnTo>
                  <a:pt x="85448" y="53731"/>
                </a:lnTo>
                <a:lnTo>
                  <a:pt x="85075" y="53358"/>
                </a:lnTo>
                <a:lnTo>
                  <a:pt x="71642" y="53358"/>
                </a:lnTo>
                <a:close/>
              </a:path>
            </a:pathLst>
          </a:custGeom>
          <a:solidFill>
            <a:srgbClr val="FFFFFF"/>
          </a:solidFill>
          <a:ln>
            <a:noFill/>
          </a:ln>
        </p:spPr>
        <p:txBody>
          <a:bodyPr/>
          <a:p/>
        </p:txBody>
      </p:sp>
      <p:sp>
        <p:nvSpPr>
          <p:cNvPr id="29" name="Text 25"/>
          <p:cNvSpPr/>
          <p:nvPr/>
        </p:nvSpPr>
        <p:spPr>
          <a:xfrm>
            <a:off x="9646920" y="5239512"/>
            <a:ext cx="2139696" cy="914400"/>
          </a:xfrm>
          <a:prstGeom prst="rect">
            <a:avLst/>
          </a:prstGeom>
          <a:noFill/>
          <a:ln/>
        </p:spPr>
        <p:txBody>
          <a:bodyPr wrap="square" lIns="0" tIns="0" rIns="0" bIns="0" rtlCol="0" anchor="ctr"/>
          <a:lstStyle/>
          <a:p>
            <a:pPr indent="0" marL="0">
              <a:buNone/>
            </a:pPr>
            <a:r>
              <a:rPr lang="en-US" sz="1300" b="1" dirty="0">
                <a:solidFill>
                  <a:srgbClr val="17324D"/>
                </a:solidFill>
                <a:latin typeface="Aptos" pitchFamily="34" charset="0"/>
                <a:ea typeface="Segoe UI" pitchFamily="34" charset="-122"/>
                <a:cs typeface="Segoe UI" pitchFamily="34" charset="-120"/>
              </a:rPr>
              <a:t>Représentation réduite :</a:t>
            </a:r>
            <a:endParaRPr lang="en-US" sz="1300" dirty="0"/>
          </a:p>
          <a:p>
            <a:pPr indent="0" marL="0">
              <a:buNone/>
            </a:pPr>
            <a:r>
              <a:rPr lang="en-US" sz="1300" b="1" dirty="0">
                <a:solidFill>
                  <a:srgbClr val="17324D"/>
                </a:solidFill>
                <a:latin typeface="Aptos" pitchFamily="34" charset="0"/>
                <a:ea typeface="Segoe UI" pitchFamily="34" charset="-122"/>
                <a:cs typeface="Segoe UI" pitchFamily="34" charset="-120"/>
              </a:rPr>
              <a:t>61,0 % de variance conservée.</a:t>
            </a:r>
          </a:p>
          <a:p>
            <a:pPr indent="0" marL="0">
              <a:buNone/>
            </a:pPr>
            <a:r>
              <a:rPr lang="en-US" sz="1300" b="1" dirty="0">
                <a:solidFill>
                  <a:srgbClr val="17324D"/>
                </a:solidFill>
                <a:latin typeface="Aptos" pitchFamily="34" charset="0"/>
                <a:ea typeface="Segoe UI" pitchFamily="34" charset="-122"/>
                <a:cs typeface="Segoe UI" pitchFamily="34" charset="-120"/>
              </a:rPr>
              <a:t>La vue 3D montre 3 axes</a:t>
            </a:r>
          </a:p>
          <a:p>
            <a:pPr indent="0" marL="0">
              <a:buNone/>
            </a:pPr>
            <a:r>
              <a:rPr lang="en-US" sz="1300" b="1" dirty="0">
                <a:solidFill>
                  <a:srgbClr val="17324D"/>
                </a:solidFill>
                <a:latin typeface="Aptos" pitchFamily="34" charset="0"/>
                <a:ea typeface="Segoe UI" pitchFamily="34" charset="-122"/>
                <a:cs typeface="Segoe UI" pitchFamily="34" charset="-120"/>
              </a:rPr>
              <a:t>(55,3 % de la variance).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4200" b="1" dirty="0">
                <a:solidFill>
                  <a:srgbClr val="2563EB"/>
                </a:solidFill>
                <a:latin typeface="Aptos" pitchFamily="34" charset="0"/>
                <a:ea typeface="Segoe UI" pitchFamily="34" charset="-122"/>
                <a:cs typeface="Segoe UI" pitchFamily="34" charset="-120"/>
              </a:rPr>
              <a:t>07. Choix du nombre de clusters</a:t>
            </a:r>
            <a:endParaRPr lang="en-US" sz="42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600" dirty="0">
                <a:solidFill>
                  <a:srgbClr val="17324D"/>
                </a:solidFill>
                <a:latin typeface="Aptos" pitchFamily="34" charset="0"/>
                <a:ea typeface="Segoe UI" pitchFamily="34" charset="-122"/>
                <a:cs typeface="Segoe UI" pitchFamily="34" charset="-120"/>
              </a:rPr>
              <a:t>Quatre groupes sont étudiés pour détailler les profils ; leur utilité commerciale reste à valider.</a:t>
            </a:r>
            <a:endParaRPr lang="en-US" sz="170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Customer Personality Analysis · Projet collectif ENSEA · Abdoulaye KONE</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07</a:t>
            </a:r>
            <a:endParaRPr lang="en-US" sz="1000" dirty="0"/>
          </a:p>
        </p:txBody>
      </p:sp>
      <p:graphicFrame>
        <p:nvGraphicFramePr>
          <p:cNvPr id="7" name="Chart 0" descr=""/>
          <p:cNvGraphicFramePr/>
          <p:nvPr/>
        </p:nvGraphicFramePr>
        <p:xfrm>
          <a:off x="365760" y="1755648"/>
          <a:ext cx="7863840" cy="461772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3639312" y="2313432"/>
            <a:ext cx="0" cy="3456432"/>
          </a:xfrm>
          <a:prstGeom prst="line">
            <a:avLst/>
          </a:prstGeom>
          <a:noFill/>
          <a:ln w="21590">
            <a:solidFill>
              <a:srgbClr val="1D4ED8"/>
            </a:solidFill>
            <a:prstDash val="dash"/>
          </a:ln>
        </p:spPr>
        <p:txBody>
          <a:bodyPr/>
          <a:p/>
        </p:txBody>
      </p:sp>
      <p:sp>
        <p:nvSpPr>
          <p:cNvPr id="9" name="Text 5"/>
          <p:cNvSpPr/>
          <p:nvPr/>
        </p:nvSpPr>
        <p:spPr>
          <a:xfrm>
            <a:off x="3767328" y="2432304"/>
            <a:ext cx="1865376" cy="274320"/>
          </a:xfrm>
          <a:prstGeom prst="rect">
            <a:avLst/>
          </a:prstGeom>
          <a:noFill/>
          <a:ln/>
        </p:spPr>
        <p:txBody>
          <a:bodyPr wrap="square" lIns="0" tIns="0" rIns="0" bIns="0" rtlCol="0" anchor="ctr"/>
          <a:lstStyle/>
          <a:p>
            <a:pPr indent="0" marL="0">
              <a:buNone/>
            </a:pPr>
            <a:r>
              <a:rPr lang="en-US" sz="1700" b="1" dirty="0">
                <a:solidFill>
                  <a:srgbClr val="1D4ED8"/>
                </a:solidFill>
                <a:latin typeface="Aptos" pitchFamily="34" charset="0"/>
                <a:ea typeface="Segoe UI" pitchFamily="34" charset="-122"/>
                <a:cs typeface="Segoe UI" pitchFamily="34" charset="-120"/>
              </a:rPr>
              <a:t>k = 4 retenu</a:t>
            </a:r>
            <a:endParaRPr lang="en-US" sz="1700" dirty="0"/>
          </a:p>
        </p:txBody>
      </p:sp>
      <p:sp>
        <p:nvSpPr>
          <p:cNvPr id="10" name="Shape 6"/>
          <p:cNvSpPr/>
          <p:nvPr/>
        </p:nvSpPr>
        <p:spPr>
          <a:xfrm>
            <a:off x="8412480" y="1682496"/>
            <a:ext cx="3557016" cy="2148840"/>
          </a:xfrm>
          <a:prstGeom prst="roundRect">
            <a:avLst>
              <a:gd name="adj" fmla="val 5957"/>
            </a:avLst>
          </a:prstGeom>
          <a:solidFill>
            <a:srgbClr val="17324D"/>
          </a:solidFill>
          <a:ln w="12700">
            <a:solidFill>
              <a:srgbClr val="17324D">
                <a:alpha val="0"/>
              </a:srgbClr>
            </a:solidFill>
            <a:prstDash val="solid"/>
          </a:ln>
        </p:spPr>
        <p:txBody>
          <a:bodyPr/>
          <a:p/>
        </p:txBody>
      </p:sp>
      <p:sp>
        <p:nvSpPr>
          <p:cNvPr id="11" name="Text 7"/>
          <p:cNvSpPr/>
          <p:nvPr/>
        </p:nvSpPr>
        <p:spPr>
          <a:xfrm>
            <a:off x="9592056" y="1938528"/>
            <a:ext cx="1307592" cy="1042416"/>
          </a:xfrm>
          <a:prstGeom prst="rect">
            <a:avLst/>
          </a:prstGeom>
          <a:noFill/>
          <a:ln/>
        </p:spPr>
        <p:txBody>
          <a:bodyPr wrap="square" lIns="0" tIns="0" rIns="0" bIns="0" rtlCol="0" anchor="ctr"/>
          <a:lstStyle/>
          <a:p>
            <a:pPr indent="0" marL="0">
              <a:buNone/>
            </a:pPr>
            <a:r>
              <a:rPr lang="en-US" sz="10400" b="1" dirty="0">
                <a:solidFill>
                  <a:srgbClr val="FFFFFF"/>
                </a:solidFill>
                <a:latin typeface="Aptos" pitchFamily="34" charset="0"/>
                <a:ea typeface="Segoe UI" pitchFamily="34" charset="-122"/>
                <a:cs typeface="Segoe UI" pitchFamily="34" charset="-120"/>
              </a:rPr>
              <a:t>4</a:t>
            </a:r>
            <a:endParaRPr lang="en-US" sz="10400" dirty="0"/>
          </a:p>
        </p:txBody>
      </p:sp>
      <p:sp>
        <p:nvSpPr>
          <p:cNvPr id="12" name="Text 8"/>
          <p:cNvSpPr/>
          <p:nvPr/>
        </p:nvSpPr>
        <p:spPr>
          <a:xfrm>
            <a:off x="8750808" y="3191256"/>
            <a:ext cx="3017520" cy="393192"/>
          </a:xfrm>
          <a:prstGeom prst="rect">
            <a:avLst/>
          </a:prstGeom>
          <a:noFill/>
          <a:ln/>
        </p:spPr>
        <p:txBody>
          <a:bodyPr wrap="square" lIns="0" tIns="0" rIns="0" bIns="0" rtlCol="0" anchor="ctr"/>
          <a:lstStyle/>
          <a:p>
            <a:pPr indent="0" marL="0">
              <a:buNone/>
            </a:pPr>
            <a:r>
              <a:rPr lang="en-US" sz="2300" b="1" dirty="0">
                <a:solidFill>
                  <a:srgbClr val="FFFFFF"/>
                </a:solidFill>
                <a:latin typeface="Aptos" pitchFamily="34" charset="0"/>
                <a:ea typeface="Segoe UI" pitchFamily="34" charset="-122"/>
                <a:cs typeface="Segoe UI" pitchFamily="34" charset="-120"/>
              </a:rPr>
              <a:t>clusters retenus</a:t>
            </a:r>
            <a:endParaRPr lang="en-US" sz="2300" dirty="0"/>
          </a:p>
        </p:txBody>
      </p:sp>
      <p:sp>
        <p:nvSpPr>
          <p:cNvPr id="13" name="Shape 9"/>
          <p:cNvSpPr/>
          <p:nvPr/>
        </p:nvSpPr>
        <p:spPr>
          <a:xfrm>
            <a:off x="8412480" y="3931920"/>
            <a:ext cx="3557016" cy="2404872"/>
          </a:xfrm>
          <a:prstGeom prst="roundRect">
            <a:avLst>
              <a:gd name="adj" fmla="val 5323"/>
            </a:avLst>
          </a:prstGeom>
          <a:solidFill>
            <a:srgbClr val="F3F4F6"/>
          </a:solidFill>
          <a:ln w="12700">
            <a:solidFill>
              <a:srgbClr val="F3F4F6">
                <a:alpha val="0"/>
              </a:srgbClr>
            </a:solidFill>
            <a:prstDash val="solid"/>
          </a:ln>
        </p:spPr>
        <p:txBody>
          <a:bodyPr/>
          <a:p/>
        </p:txBody>
      </p:sp>
      <p:sp>
        <p:nvSpPr>
          <p:cNvPr id="14" name="Shape 10"/>
          <p:cNvSpPr/>
          <p:nvPr/>
        </p:nvSpPr>
        <p:spPr>
          <a:xfrm>
            <a:off x="8613648" y="4215384"/>
            <a:ext cx="905256" cy="905256"/>
          </a:xfrm>
          <a:prstGeom prst="ellipse">
            <a:avLst/>
          </a:prstGeom>
          <a:solidFill>
            <a:srgbClr val="6D28D9"/>
          </a:solidFill>
          <a:ln w="12700">
            <a:solidFill>
              <a:srgbClr val="6D28D9">
                <a:alpha val="0"/>
              </a:srgbClr>
            </a:solidFill>
            <a:prstDash val="solid"/>
          </a:ln>
        </p:spPr>
        <p:txBody>
          <a:bodyPr/>
          <a:p/>
        </p:txBody>
      </p:sp>
      <p:sp>
        <p:nvSpPr>
          <p:cNvPr id="15" name="VECTOR_hierarchy_32"/>
          <p:cNvSpPr/>
          <p:nvPr/>
        </p:nvSpPr>
        <p:spPr>
          <a:xfrm>
            <a:off x="8613648" y="4215384"/>
            <a:ext cx="905256" cy="905256"/>
          </a:xfrm>
          <a:custGeom>
            <a:avLst/>
            <a:gdLst/>
            <a:ahLst/>
            <a:cxnLst/>
            <a:rect l="0" t="0" r="r" b="b"/>
            <a:pathLst>
              <a:path w="100000" h="100000" fill="norm" stroke="false" extrusionOk="false">
                <a:moveTo>
                  <a:pt x="43403" y="25000"/>
                </a:moveTo>
                <a:lnTo>
                  <a:pt x="43750" y="24653"/>
                </a:lnTo>
                <a:lnTo>
                  <a:pt x="49306" y="24653"/>
                </a:lnTo>
                <a:lnTo>
                  <a:pt x="50694" y="25347"/>
                </a:lnTo>
                <a:lnTo>
                  <a:pt x="53125" y="27778"/>
                </a:lnTo>
                <a:lnTo>
                  <a:pt x="53819" y="29167"/>
                </a:lnTo>
                <a:lnTo>
                  <a:pt x="53819" y="34028"/>
                </a:lnTo>
                <a:lnTo>
                  <a:pt x="53125" y="35417"/>
                </a:lnTo>
                <a:lnTo>
                  <a:pt x="50000" y="38542"/>
                </a:lnTo>
                <a:lnTo>
                  <a:pt x="47569" y="39583"/>
                </a:lnTo>
                <a:lnTo>
                  <a:pt x="47569" y="46528"/>
                </a:lnTo>
                <a:lnTo>
                  <a:pt x="47917" y="46875"/>
                </a:lnTo>
                <a:lnTo>
                  <a:pt x="68750" y="46875"/>
                </a:lnTo>
                <a:lnTo>
                  <a:pt x="69097" y="47222"/>
                </a:lnTo>
                <a:lnTo>
                  <a:pt x="69097" y="58333"/>
                </a:lnTo>
                <a:lnTo>
                  <a:pt x="72917" y="60069"/>
                </a:lnTo>
                <a:lnTo>
                  <a:pt x="74653" y="61806"/>
                </a:lnTo>
                <a:lnTo>
                  <a:pt x="74653" y="62500"/>
                </a:lnTo>
                <a:lnTo>
                  <a:pt x="74653" y="63194"/>
                </a:lnTo>
                <a:lnTo>
                  <a:pt x="75000" y="63542"/>
                </a:lnTo>
                <a:lnTo>
                  <a:pt x="75347" y="63889"/>
                </a:lnTo>
                <a:lnTo>
                  <a:pt x="75347" y="67361"/>
                </a:lnTo>
                <a:lnTo>
                  <a:pt x="73958" y="70139"/>
                </a:lnTo>
                <a:lnTo>
                  <a:pt x="72917" y="71181"/>
                </a:lnTo>
                <a:lnTo>
                  <a:pt x="70139" y="72569"/>
                </a:lnTo>
                <a:lnTo>
                  <a:pt x="65972" y="72569"/>
                </a:lnTo>
                <a:lnTo>
                  <a:pt x="64583" y="71875"/>
                </a:lnTo>
                <a:lnTo>
                  <a:pt x="61458" y="68750"/>
                </a:lnTo>
                <a:lnTo>
                  <a:pt x="61458" y="66667"/>
                </a:lnTo>
                <a:lnTo>
                  <a:pt x="60764" y="65278"/>
                </a:lnTo>
                <a:lnTo>
                  <a:pt x="61111" y="64931"/>
                </a:lnTo>
                <a:lnTo>
                  <a:pt x="61458" y="64583"/>
                </a:lnTo>
                <a:lnTo>
                  <a:pt x="61458" y="63889"/>
                </a:lnTo>
                <a:lnTo>
                  <a:pt x="61458" y="63194"/>
                </a:lnTo>
                <a:lnTo>
                  <a:pt x="62153" y="61806"/>
                </a:lnTo>
                <a:lnTo>
                  <a:pt x="64583" y="59375"/>
                </a:lnTo>
                <a:lnTo>
                  <a:pt x="65278" y="59375"/>
                </a:lnTo>
                <a:lnTo>
                  <a:pt x="65972" y="59375"/>
                </a:lnTo>
                <a:lnTo>
                  <a:pt x="67014" y="58333"/>
                </a:lnTo>
                <a:lnTo>
                  <a:pt x="67014" y="49306"/>
                </a:lnTo>
                <a:lnTo>
                  <a:pt x="66667" y="48958"/>
                </a:lnTo>
                <a:lnTo>
                  <a:pt x="47917" y="48958"/>
                </a:lnTo>
                <a:lnTo>
                  <a:pt x="47569" y="49306"/>
                </a:lnTo>
                <a:lnTo>
                  <a:pt x="47569" y="58333"/>
                </a:lnTo>
                <a:lnTo>
                  <a:pt x="50000" y="59375"/>
                </a:lnTo>
                <a:lnTo>
                  <a:pt x="53125" y="62500"/>
                </a:lnTo>
                <a:lnTo>
                  <a:pt x="53125" y="63194"/>
                </a:lnTo>
                <a:lnTo>
                  <a:pt x="53125" y="63889"/>
                </a:lnTo>
                <a:lnTo>
                  <a:pt x="53472" y="64236"/>
                </a:lnTo>
                <a:lnTo>
                  <a:pt x="53819" y="64583"/>
                </a:lnTo>
                <a:lnTo>
                  <a:pt x="53819" y="66667"/>
                </a:lnTo>
                <a:lnTo>
                  <a:pt x="53472" y="67014"/>
                </a:lnTo>
                <a:lnTo>
                  <a:pt x="53125" y="67361"/>
                </a:lnTo>
                <a:lnTo>
                  <a:pt x="53125" y="68056"/>
                </a:lnTo>
                <a:lnTo>
                  <a:pt x="53125" y="68750"/>
                </a:lnTo>
                <a:lnTo>
                  <a:pt x="50000" y="71875"/>
                </a:lnTo>
                <a:lnTo>
                  <a:pt x="49306" y="71875"/>
                </a:lnTo>
                <a:lnTo>
                  <a:pt x="48958" y="72222"/>
                </a:lnTo>
                <a:lnTo>
                  <a:pt x="48611" y="72569"/>
                </a:lnTo>
                <a:lnTo>
                  <a:pt x="44444" y="72569"/>
                </a:lnTo>
                <a:lnTo>
                  <a:pt x="41667" y="71181"/>
                </a:lnTo>
                <a:lnTo>
                  <a:pt x="39236" y="68056"/>
                </a:lnTo>
                <a:lnTo>
                  <a:pt x="39236" y="63194"/>
                </a:lnTo>
                <a:lnTo>
                  <a:pt x="39931" y="61806"/>
                </a:lnTo>
                <a:lnTo>
                  <a:pt x="42361" y="59375"/>
                </a:lnTo>
                <a:lnTo>
                  <a:pt x="45486" y="58333"/>
                </a:lnTo>
                <a:lnTo>
                  <a:pt x="45486" y="49306"/>
                </a:lnTo>
                <a:lnTo>
                  <a:pt x="45139" y="48958"/>
                </a:lnTo>
                <a:lnTo>
                  <a:pt x="27083" y="48958"/>
                </a:lnTo>
                <a:lnTo>
                  <a:pt x="26042" y="50000"/>
                </a:lnTo>
                <a:lnTo>
                  <a:pt x="26042" y="58333"/>
                </a:lnTo>
                <a:lnTo>
                  <a:pt x="28472" y="59375"/>
                </a:lnTo>
                <a:lnTo>
                  <a:pt x="30903" y="61806"/>
                </a:lnTo>
                <a:lnTo>
                  <a:pt x="32292" y="64583"/>
                </a:lnTo>
                <a:lnTo>
                  <a:pt x="32292" y="67361"/>
                </a:lnTo>
                <a:lnTo>
                  <a:pt x="30903" y="70139"/>
                </a:lnTo>
                <a:lnTo>
                  <a:pt x="29861" y="71181"/>
                </a:lnTo>
                <a:lnTo>
                  <a:pt x="27083" y="72569"/>
                </a:lnTo>
                <a:lnTo>
                  <a:pt x="22222" y="72569"/>
                </a:lnTo>
                <a:lnTo>
                  <a:pt x="19097" y="70139"/>
                </a:lnTo>
                <a:lnTo>
                  <a:pt x="18403" y="68750"/>
                </a:lnTo>
                <a:lnTo>
                  <a:pt x="18403" y="68056"/>
                </a:lnTo>
                <a:lnTo>
                  <a:pt x="18403" y="67361"/>
                </a:lnTo>
                <a:lnTo>
                  <a:pt x="18056" y="67014"/>
                </a:lnTo>
                <a:lnTo>
                  <a:pt x="17708" y="66667"/>
                </a:lnTo>
                <a:lnTo>
                  <a:pt x="17708" y="63889"/>
                </a:lnTo>
                <a:lnTo>
                  <a:pt x="19097" y="61111"/>
                </a:lnTo>
                <a:lnTo>
                  <a:pt x="20139" y="60069"/>
                </a:lnTo>
                <a:lnTo>
                  <a:pt x="23958" y="58333"/>
                </a:lnTo>
                <a:lnTo>
                  <a:pt x="23958" y="47222"/>
                </a:lnTo>
                <a:lnTo>
                  <a:pt x="24306" y="46875"/>
                </a:lnTo>
                <a:lnTo>
                  <a:pt x="45139" y="46875"/>
                </a:lnTo>
                <a:lnTo>
                  <a:pt x="45486" y="46528"/>
                </a:lnTo>
                <a:lnTo>
                  <a:pt x="45486" y="39583"/>
                </a:lnTo>
                <a:lnTo>
                  <a:pt x="41667" y="37847"/>
                </a:lnTo>
                <a:lnTo>
                  <a:pt x="39236" y="34722"/>
                </a:lnTo>
                <a:lnTo>
                  <a:pt x="39236" y="29167"/>
                </a:lnTo>
                <a:lnTo>
                  <a:pt x="39931" y="27778"/>
                </a:lnTo>
                <a:lnTo>
                  <a:pt x="42361" y="25347"/>
                </a:lnTo>
                <a:lnTo>
                  <a:pt x="43056" y="25347"/>
                </a:lnTo>
                <a:lnTo>
                  <a:pt x="43403" y="25000"/>
                </a:lnTo>
                <a:close/>
                <a:moveTo>
                  <a:pt x="46528" y="26042"/>
                </a:moveTo>
                <a:lnTo>
                  <a:pt x="46181" y="26389"/>
                </a:lnTo>
                <a:lnTo>
                  <a:pt x="45833" y="26736"/>
                </a:lnTo>
                <a:lnTo>
                  <a:pt x="45139" y="26736"/>
                </a:lnTo>
                <a:lnTo>
                  <a:pt x="44444" y="26736"/>
                </a:lnTo>
                <a:lnTo>
                  <a:pt x="43056" y="27431"/>
                </a:lnTo>
                <a:lnTo>
                  <a:pt x="41319" y="29861"/>
                </a:lnTo>
                <a:lnTo>
                  <a:pt x="41319" y="33333"/>
                </a:lnTo>
                <a:lnTo>
                  <a:pt x="42014" y="34722"/>
                </a:lnTo>
                <a:lnTo>
                  <a:pt x="43750" y="36458"/>
                </a:lnTo>
                <a:lnTo>
                  <a:pt x="45139" y="37153"/>
                </a:lnTo>
                <a:lnTo>
                  <a:pt x="45833" y="37153"/>
                </a:lnTo>
                <a:lnTo>
                  <a:pt x="46528" y="37153"/>
                </a:lnTo>
                <a:lnTo>
                  <a:pt x="47222" y="37153"/>
                </a:lnTo>
                <a:lnTo>
                  <a:pt x="47917" y="37153"/>
                </a:lnTo>
                <a:lnTo>
                  <a:pt x="49306" y="36458"/>
                </a:lnTo>
                <a:lnTo>
                  <a:pt x="51736" y="33333"/>
                </a:lnTo>
                <a:lnTo>
                  <a:pt x="51736" y="30556"/>
                </a:lnTo>
                <a:lnTo>
                  <a:pt x="50347" y="27778"/>
                </a:lnTo>
                <a:lnTo>
                  <a:pt x="48611" y="26736"/>
                </a:lnTo>
                <a:lnTo>
                  <a:pt x="47917" y="26736"/>
                </a:lnTo>
                <a:lnTo>
                  <a:pt x="47222" y="26736"/>
                </a:lnTo>
                <a:lnTo>
                  <a:pt x="46875" y="26389"/>
                </a:lnTo>
                <a:lnTo>
                  <a:pt x="46528" y="26042"/>
                </a:lnTo>
                <a:close/>
                <a:moveTo>
                  <a:pt x="23611" y="60764"/>
                </a:moveTo>
                <a:lnTo>
                  <a:pt x="20486" y="63194"/>
                </a:lnTo>
                <a:lnTo>
                  <a:pt x="19792" y="66667"/>
                </a:lnTo>
                <a:lnTo>
                  <a:pt x="22222" y="69792"/>
                </a:lnTo>
                <a:lnTo>
                  <a:pt x="23611" y="70486"/>
                </a:lnTo>
                <a:lnTo>
                  <a:pt x="26389" y="70486"/>
                </a:lnTo>
                <a:lnTo>
                  <a:pt x="28819" y="68750"/>
                </a:lnTo>
                <a:lnTo>
                  <a:pt x="30208" y="65278"/>
                </a:lnTo>
                <a:lnTo>
                  <a:pt x="29861" y="64931"/>
                </a:lnTo>
                <a:lnTo>
                  <a:pt x="29514" y="64583"/>
                </a:lnTo>
                <a:lnTo>
                  <a:pt x="29514" y="63889"/>
                </a:lnTo>
                <a:lnTo>
                  <a:pt x="29514" y="63194"/>
                </a:lnTo>
                <a:lnTo>
                  <a:pt x="27778" y="61458"/>
                </a:lnTo>
                <a:lnTo>
                  <a:pt x="26389" y="60764"/>
                </a:lnTo>
                <a:lnTo>
                  <a:pt x="23611" y="60764"/>
                </a:lnTo>
                <a:close/>
                <a:moveTo>
                  <a:pt x="45139" y="60764"/>
                </a:moveTo>
                <a:lnTo>
                  <a:pt x="42014" y="63194"/>
                </a:lnTo>
                <a:lnTo>
                  <a:pt x="41319" y="64583"/>
                </a:lnTo>
                <a:lnTo>
                  <a:pt x="41319" y="66667"/>
                </a:lnTo>
                <a:lnTo>
                  <a:pt x="42014" y="68056"/>
                </a:lnTo>
                <a:lnTo>
                  <a:pt x="44444" y="70486"/>
                </a:lnTo>
                <a:lnTo>
                  <a:pt x="47222" y="70486"/>
                </a:lnTo>
                <a:lnTo>
                  <a:pt x="49306" y="69792"/>
                </a:lnTo>
                <a:lnTo>
                  <a:pt x="50347" y="68750"/>
                </a:lnTo>
                <a:lnTo>
                  <a:pt x="51042" y="67361"/>
                </a:lnTo>
                <a:lnTo>
                  <a:pt x="51042" y="63194"/>
                </a:lnTo>
                <a:lnTo>
                  <a:pt x="47917" y="60764"/>
                </a:lnTo>
                <a:lnTo>
                  <a:pt x="45139" y="60764"/>
                </a:lnTo>
                <a:close/>
                <a:moveTo>
                  <a:pt x="66667" y="60764"/>
                </a:moveTo>
                <a:lnTo>
                  <a:pt x="63542" y="63194"/>
                </a:lnTo>
                <a:lnTo>
                  <a:pt x="63542" y="63889"/>
                </a:lnTo>
                <a:lnTo>
                  <a:pt x="63542" y="64583"/>
                </a:lnTo>
                <a:lnTo>
                  <a:pt x="62847" y="65972"/>
                </a:lnTo>
                <a:lnTo>
                  <a:pt x="64236" y="68750"/>
                </a:lnTo>
                <a:lnTo>
                  <a:pt x="65278" y="69792"/>
                </a:lnTo>
                <a:lnTo>
                  <a:pt x="66667" y="70486"/>
                </a:lnTo>
                <a:lnTo>
                  <a:pt x="69444" y="70486"/>
                </a:lnTo>
                <a:lnTo>
                  <a:pt x="72569" y="68056"/>
                </a:lnTo>
                <a:lnTo>
                  <a:pt x="73264" y="66667"/>
                </a:lnTo>
                <a:lnTo>
                  <a:pt x="73264" y="64583"/>
                </a:lnTo>
                <a:lnTo>
                  <a:pt x="72569" y="63194"/>
                </a:lnTo>
                <a:lnTo>
                  <a:pt x="70139" y="60764"/>
                </a:lnTo>
                <a:lnTo>
                  <a:pt x="66667" y="60764"/>
                </a:lnTo>
                <a:close/>
              </a:path>
            </a:pathLst>
          </a:custGeom>
          <a:solidFill>
            <a:srgbClr val="FFFFFF"/>
          </a:solidFill>
          <a:ln>
            <a:noFill/>
          </a:ln>
        </p:spPr>
        <p:txBody>
          <a:bodyPr/>
          <a:p/>
        </p:txBody>
      </p:sp>
      <p:sp>
        <p:nvSpPr>
          <p:cNvPr id="16" name="Text 12"/>
          <p:cNvSpPr/>
          <p:nvPr/>
        </p:nvSpPr>
        <p:spPr>
          <a:xfrm>
            <a:off x="9692640" y="4187952"/>
            <a:ext cx="2039112" cy="329184"/>
          </a:xfrm>
          <a:prstGeom prst="rect">
            <a:avLst/>
          </a:prstGeom>
          <a:noFill/>
          <a:ln/>
        </p:spPr>
        <p:txBody>
          <a:bodyPr wrap="square" lIns="0" tIns="0" rIns="0" bIns="0" rtlCol="0" anchor="ctr"/>
          <a:lstStyle/>
          <a:p>
            <a:pPr indent="0" marL="0">
              <a:buNone/>
            </a:pPr>
            <a:r>
              <a:rPr lang="en-US" sz="1630" b="1" dirty="0">
                <a:solidFill>
                  <a:srgbClr val="17324D"/>
                </a:solidFill>
                <a:latin typeface="Aptos" pitchFamily="34" charset="0"/>
                <a:ea typeface="Segoe UI" pitchFamily="34" charset="-122"/>
                <a:cs typeface="Segoe UI" pitchFamily="34" charset="-120"/>
              </a:rPr>
              <a:t>Algorithme final</a:t>
            </a:r>
            <a:endParaRPr lang="en-US" sz="1630" dirty="0"/>
          </a:p>
        </p:txBody>
      </p:sp>
      <p:sp>
        <p:nvSpPr>
          <p:cNvPr id="17" name="Text 13"/>
          <p:cNvSpPr/>
          <p:nvPr/>
        </p:nvSpPr>
        <p:spPr>
          <a:xfrm>
            <a:off x="9692640" y="4590288"/>
            <a:ext cx="2002536" cy="859536"/>
          </a:xfrm>
          <a:prstGeom prst="rect">
            <a:avLst/>
          </a:prstGeom>
          <a:noFill/>
          <a:ln/>
        </p:spPr>
        <p:txBody>
          <a:bodyPr wrap="square" lIns="0" tIns="0" rIns="0" bIns="0" rtlCol="0" anchor="t"/>
          <a:lstStyle/>
          <a:p>
            <a:pPr indent="0" marL="0">
              <a:buNone/>
            </a:pPr>
            <a:r>
              <a:rPr lang="en-US" sz="1400" dirty="0">
                <a:solidFill>
                  <a:srgbClr val="334155"/>
                </a:solidFill>
                <a:latin typeface="Aptos" pitchFamily="34" charset="0"/>
                <a:ea typeface="Segoe UI" pitchFamily="34" charset="-122"/>
                <a:cs typeface="Segoe UI" pitchFamily="34" charset="-120"/>
              </a:rPr>
              <a:t>Clustering agglomératif</a:t>
            </a:r>
            <a:endParaRPr lang="en-US" sz="1400" dirty="0"/>
          </a:p>
          <a:p>
            <a:pPr indent="0" marL="0">
              <a:buNone/>
            </a:pPr>
            <a:r>
              <a:rPr lang="en-US" sz="1400" dirty="0">
                <a:solidFill>
                  <a:srgbClr val="334155"/>
                </a:solidFill>
                <a:latin typeface="Aptos" pitchFamily="34" charset="0"/>
                <a:ea typeface="Segoe UI" pitchFamily="34" charset="-122"/>
                <a:cs typeface="Segoe UI" pitchFamily="34" charset="-120"/>
              </a:rPr>
              <a:t>hiérarchique</a:t>
            </a:r>
            <a:endParaRPr lang="en-US" sz="1400" dirty="0"/>
          </a:p>
          <a:p>
            <a:pPr indent="0" marL="0">
              <a:buNone/>
            </a:pPr>
            <a:r>
              <a:rPr lang="en-US" sz="1400" dirty="0">
                <a:solidFill>
                  <a:srgbClr val="334155"/>
                </a:solidFill>
                <a:latin typeface="Aptos" pitchFamily="34" charset="0"/>
                <a:ea typeface="Segoe UI" pitchFamily="34" charset="-122"/>
                <a:cs typeface="Segoe UI" pitchFamily="34" charset="-120"/>
              </a:rPr>
              <a:t>Critère de Ward</a:t>
            </a:r>
            <a:endParaRPr lang="en-US" sz="1400" dirty="0"/>
          </a:p>
        </p:txBody>
      </p:sp>
      <p:sp>
        <p:nvSpPr>
          <p:cNvPr id="18" name="Shape 14"/>
          <p:cNvSpPr/>
          <p:nvPr/>
        </p:nvSpPr>
        <p:spPr>
          <a:xfrm>
            <a:off x="8622792" y="5568696"/>
            <a:ext cx="3154680" cy="0"/>
          </a:xfrm>
          <a:prstGeom prst="line">
            <a:avLst/>
          </a:prstGeom>
          <a:noFill/>
          <a:ln w="11430">
            <a:solidFill>
              <a:srgbClr val="D1D5DB"/>
            </a:solidFill>
            <a:prstDash val="solid"/>
          </a:ln>
        </p:spPr>
        <p:txBody>
          <a:bodyPr/>
          <a:p/>
        </p:txBody>
      </p:sp>
      <p:sp>
        <p:nvSpPr>
          <p:cNvPr id="19" name="Text 15"/>
          <p:cNvSpPr/>
          <p:nvPr/>
        </p:nvSpPr>
        <p:spPr>
          <a:xfrm>
            <a:off x="8622792" y="5733288"/>
            <a:ext cx="3136392" cy="466344"/>
          </a:xfrm>
          <a:prstGeom prst="rect">
            <a:avLst/>
          </a:prstGeom>
          <a:noFill/>
          <a:ln/>
        </p:spPr>
        <p:txBody>
          <a:bodyPr wrap="square" lIns="0" tIns="0" rIns="0" bIns="0" rtlCol="0" anchor="ctr"/>
          <a:lstStyle/>
          <a:p>
            <a:pPr indent="0" marL="0">
              <a:buNone/>
            </a:pPr>
            <a:r>
              <a:rPr lang="en-US" sz="1300" dirty="0">
                <a:solidFill>
                  <a:srgbClr val="334155"/>
                </a:solidFill>
                <a:latin typeface="Aptos" pitchFamily="34" charset="0"/>
                <a:ea typeface="Segoe UI" pitchFamily="34" charset="-122"/>
                <a:cs typeface="Segoe UI" pitchFamily="34" charset="-120"/>
              </a:rPr>
              <a:t>Coude KMeans : repère exploratoire.</a:t>
            </a:r>
            <a:endParaRPr lang="en-US" sz="1300" dirty="0"/>
          </a:p>
          <a:p>
            <a:pPr indent="0" marL="0">
              <a:buNone/>
            </a:pPr>
            <a:r>
              <a:rPr lang="en-US" sz="1300" dirty="0">
                <a:solidFill>
                  <a:srgbClr val="334155"/>
                </a:solidFill>
                <a:latin typeface="Aptos" pitchFamily="34" charset="0"/>
                <a:ea typeface="Segoe UI" pitchFamily="34" charset="-122"/>
                <a:cs typeface="Segoe UI" pitchFamily="34" charset="-120"/>
              </a:rPr>
              <a:t>Le modèle final utilise Ward.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4200" b="1" dirty="0">
                <a:solidFill>
                  <a:srgbClr val="2563EB"/>
                </a:solidFill>
                <a:latin typeface="Aptos" pitchFamily="34" charset="0"/>
                <a:ea typeface="Segoe UI" pitchFamily="34" charset="-122"/>
                <a:cs typeface="Segoe UI" pitchFamily="34" charset="-120"/>
              </a:rPr>
              <a:t>08. Qualité de la segmentation</a:t>
            </a:r>
            <a:endParaRPr lang="en-US" sz="42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600" dirty="0">
                <a:solidFill>
                  <a:srgbClr val="17324D"/>
                </a:solidFill>
                <a:latin typeface="Aptos" pitchFamily="34" charset="0"/>
                <a:ea typeface="Segoe UI" pitchFamily="34" charset="-122"/>
                <a:cs typeface="Segoe UI" pitchFamily="34" charset="-120"/>
              </a:rPr>
              <a:t>La séparation est modérée ; deux et trois groupes obtiennent de meilleurs indices internes.</a:t>
            </a:r>
            <a:endParaRPr lang="en-US" sz="170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Customer Personality Analysis · Projet collectif ENSEA · Abdoulaye KONE</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08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1682496"/>
          <a:ext cx="6803136" cy="4105656"/>
        </p:xfrm>
        <a:graphic>
          <a:graphicData uri="http://schemas.openxmlformats.org/drawingml/2006/table">
            <a:tbl>
              <a:tblPr/>
              <a:tblGrid>
                <a:gridCol w="1353312"/>
                <a:gridCol w="2093976"/>
                <a:gridCol w="3355848"/>
              </a:tblGrid>
              <a:tr h="512064">
                <a:tc>
                  <a:txBody>
                    <a:bodyPr/>
                    <a:lstStyle/>
                    <a:p>
                      <a:pPr algn="ctr" indent="0" marL="0">
                        <a:buNone/>
                      </a:pPr>
                      <a:r>
                        <a:rPr lang="en-US" sz="1600" b="1" dirty="0">
                          <a:solidFill>
                            <a:srgbClr val="000000"/>
                          </a:solidFill>
                          <a:latin typeface="Aptos" pitchFamily="34" charset="0"/>
                          <a:ea typeface="Segoe UI" pitchFamily="34" charset="-122"/>
                          <a:cs typeface="Segoe UI" pitchFamily="34" charset="-120"/>
                        </a:rPr>
                        <a:t>k</a:t>
                      </a:r>
                      <a:endParaRPr lang="en-US" sz="1800" dirty="0">
                        <a:latin typeface="Segoe UI" charset="0"/>
                        <a:ea typeface="Segoe UI" charset="0"/>
                        <a:cs typeface="Segoe UI" charset="0"/>
                      </a:endParaRP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D1D5DB"/>
                    </a:solidFill>
                  </a:tcPr>
                </a:tc>
                <a:tc>
                  <a:txBody>
                    <a:bodyPr/>
                    <a:lstStyle/>
                    <a:p>
                      <a:pPr algn="ctr" indent="0" marL="0">
                        <a:buNone/>
                      </a:pPr>
                      <a:r>
                        <a:rPr lang="en-US" sz="1600" b="1" dirty="0">
                          <a:solidFill>
                            <a:srgbClr val="000000"/>
                          </a:solidFill>
                          <a:latin typeface="Aptos" pitchFamily="34" charset="0"/>
                          <a:ea typeface="Segoe UI" pitchFamily="34" charset="-122"/>
                          <a:cs typeface="Segoe UI" pitchFamily="34" charset="-120"/>
                        </a:rPr>
                        <a:t>Silhouette</a:t>
                      </a:r>
                      <a:endParaRPr lang="en-US" sz="1800" dirty="0">
                        <a:latin typeface="Segoe UI" charset="0"/>
                        <a:ea typeface="Segoe UI" charset="0"/>
                        <a:cs typeface="Segoe UI" charset="0"/>
                      </a:endParaRP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D1D5DB"/>
                    </a:solidFill>
                  </a:tcPr>
                </a:tc>
                <a:tc>
                  <a:txBody>
                    <a:bodyPr/>
                    <a:lstStyle/>
                    <a:p>
                      <a:pPr algn="ctr" indent="0" marL="0">
                        <a:buNone/>
                      </a:pPr>
                      <a:r>
                        <a:rPr lang="en-US" sz="1600" b="1" dirty="0">
                          <a:solidFill>
                            <a:srgbClr val="000000"/>
                          </a:solidFill>
                          <a:latin typeface="Aptos" pitchFamily="34" charset="0"/>
                          <a:ea typeface="Segoe UI" pitchFamily="34" charset="-122"/>
                          <a:cs typeface="Segoe UI" pitchFamily="34" charset="-120"/>
                        </a:rPr>
                        <a:t>Davies-Bouldin</a:t>
                      </a:r>
                      <a:endParaRPr lang="en-US" sz="1800" dirty="0">
                        <a:latin typeface="Segoe UI" charset="0"/>
                        <a:ea typeface="Segoe UI" charset="0"/>
                        <a:cs typeface="Segoe UI" charset="0"/>
                      </a:endParaRP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D1D5DB"/>
                    </a:solidFill>
                  </a:tcPr>
                </a:tc>
              </a:tr>
              <a:tr h="512064">
                <a:tc>
                  <a:txBody>
                    <a:bodyPr/>
                    <a:lstStyle/>
                    <a:p>
                      <a:r>
                        <a:rPr sz="1600" b="0">
                          <a:solidFill>
                            <a:srgbClr val="000000"/>
                          </a:solidFill>
                          <a:latin typeface="Aptos"/>
                        </a:rPr>
                        <a:t>2</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c>
                  <a:txBody>
                    <a:bodyPr/>
                    <a:lstStyle/>
                    <a:p>
                      <a:r>
                        <a:rPr sz="1600" b="0">
                          <a:solidFill>
                            <a:srgbClr val="000000"/>
                          </a:solidFill>
                          <a:latin typeface="Aptos"/>
                        </a:rPr>
                        <a:t>0,390</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c>
                  <a:txBody>
                    <a:bodyPr/>
                    <a:lstStyle/>
                    <a:p>
                      <a:r>
                        <a:rPr sz="1600" b="0">
                          <a:solidFill>
                            <a:srgbClr val="000000"/>
                          </a:solidFill>
                          <a:latin typeface="Aptos"/>
                        </a:rPr>
                        <a:t>0,885</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r>
              <a:tr h="512064">
                <a:tc>
                  <a:txBody>
                    <a:bodyPr/>
                    <a:lstStyle/>
                    <a:p>
                      <a:r>
                        <a:rPr sz="1600" b="0">
                          <a:solidFill>
                            <a:srgbClr val="000000"/>
                          </a:solidFill>
                          <a:latin typeface="Aptos"/>
                        </a:rPr>
                        <a:t>3</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E5E7EB"/>
                    </a:solidFill>
                  </a:tcPr>
                </a:tc>
                <a:tc>
                  <a:txBody>
                    <a:bodyPr/>
                    <a:lstStyle/>
                    <a:p>
                      <a:r>
                        <a:rPr sz="1600" b="0">
                          <a:solidFill>
                            <a:srgbClr val="000000"/>
                          </a:solidFill>
                          <a:latin typeface="Aptos"/>
                        </a:rPr>
                        <a:t>0,336</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E5E7EB"/>
                    </a:solidFill>
                  </a:tcPr>
                </a:tc>
                <a:tc>
                  <a:txBody>
                    <a:bodyPr/>
                    <a:lstStyle/>
                    <a:p>
                      <a:r>
                        <a:rPr sz="1600" b="0">
                          <a:solidFill>
                            <a:srgbClr val="000000"/>
                          </a:solidFill>
                          <a:latin typeface="Aptos"/>
                        </a:rPr>
                        <a:t>1,141</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E5E7EB"/>
                    </a:solidFill>
                  </a:tcPr>
                </a:tc>
              </a:tr>
              <a:tr h="512064">
                <a:tc>
                  <a:txBody>
                    <a:bodyPr/>
                    <a:lstStyle/>
                    <a:p>
                      <a:r>
                        <a:rPr sz="1600" b="0">
                          <a:solidFill>
                            <a:srgbClr val="000000"/>
                          </a:solidFill>
                          <a:latin typeface="Aptos"/>
                        </a:rPr>
                        <a:t>4</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c>
                  <a:txBody>
                    <a:bodyPr/>
                    <a:lstStyle/>
                    <a:p>
                      <a:r>
                        <a:rPr sz="1600" b="0">
                          <a:solidFill>
                            <a:srgbClr val="000000"/>
                          </a:solidFill>
                          <a:latin typeface="Aptos"/>
                        </a:rPr>
                        <a:t>0,304</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c>
                  <a:txBody>
                    <a:bodyPr/>
                    <a:lstStyle/>
                    <a:p>
                      <a:r>
                        <a:rPr sz="1600" b="0">
                          <a:solidFill>
                            <a:srgbClr val="000000"/>
                          </a:solidFill>
                          <a:latin typeface="Aptos"/>
                        </a:rPr>
                        <a:t>1,188</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r>
              <a:tr h="512064">
                <a:tc>
                  <a:txBody>
                    <a:bodyPr/>
                    <a:lstStyle/>
                    <a:p>
                      <a:r>
                        <a:rPr sz="1600" b="0">
                          <a:solidFill>
                            <a:srgbClr val="000000"/>
                          </a:solidFill>
                          <a:latin typeface="Aptos"/>
                        </a:rPr>
                        <a:t>5</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E5E7EB"/>
                    </a:solidFill>
                  </a:tcPr>
                </a:tc>
                <a:tc>
                  <a:txBody>
                    <a:bodyPr/>
                    <a:lstStyle/>
                    <a:p>
                      <a:r>
                        <a:rPr sz="1600" b="0">
                          <a:solidFill>
                            <a:srgbClr val="000000"/>
                          </a:solidFill>
                          <a:latin typeface="Aptos"/>
                        </a:rPr>
                        <a:t>0,276</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E5E7EB"/>
                    </a:solidFill>
                  </a:tcPr>
                </a:tc>
                <a:tc>
                  <a:txBody>
                    <a:bodyPr/>
                    <a:lstStyle/>
                    <a:p>
                      <a:r>
                        <a:rPr sz="1600" b="0">
                          <a:solidFill>
                            <a:srgbClr val="000000"/>
                          </a:solidFill>
                          <a:latin typeface="Aptos"/>
                        </a:rPr>
                        <a:t>1,116</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E5E7EB"/>
                    </a:solidFill>
                  </a:tcPr>
                </a:tc>
              </a:tr>
              <a:tr h="512064">
                <a:tc>
                  <a:txBody>
                    <a:bodyPr/>
                    <a:lstStyle/>
                    <a:p>
                      <a:r>
                        <a:rPr sz="1600" b="0">
                          <a:solidFill>
                            <a:srgbClr val="000000"/>
                          </a:solidFill>
                          <a:latin typeface="Aptos"/>
                        </a:rPr>
                        <a:t>6</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c>
                  <a:txBody>
                    <a:bodyPr/>
                    <a:lstStyle/>
                    <a:p>
                      <a:r>
                        <a:rPr sz="1600" b="0">
                          <a:solidFill>
                            <a:srgbClr val="000000"/>
                          </a:solidFill>
                          <a:latin typeface="Aptos"/>
                        </a:rPr>
                        <a:t>0,240</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c>
                  <a:txBody>
                    <a:bodyPr/>
                    <a:lstStyle/>
                    <a:p>
                      <a:r>
                        <a:rPr sz="1600" b="0">
                          <a:solidFill>
                            <a:srgbClr val="000000"/>
                          </a:solidFill>
                          <a:latin typeface="Aptos"/>
                        </a:rPr>
                        <a:t>1,254</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r>
              <a:tr h="512064">
                <a:tc>
                  <a:txBody>
                    <a:bodyPr/>
                    <a:lstStyle/>
                    <a:p>
                      <a:r>
                        <a:rPr sz="1600" b="0">
                          <a:solidFill>
                            <a:srgbClr val="000000"/>
                          </a:solidFill>
                          <a:latin typeface="Aptos"/>
                        </a:rPr>
                        <a:t>7</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E5E7EB"/>
                    </a:solidFill>
                  </a:tcPr>
                </a:tc>
                <a:tc>
                  <a:txBody>
                    <a:bodyPr/>
                    <a:lstStyle/>
                    <a:p>
                      <a:r>
                        <a:rPr sz="1600" b="0">
                          <a:solidFill>
                            <a:srgbClr val="000000"/>
                          </a:solidFill>
                          <a:latin typeface="Aptos"/>
                        </a:rPr>
                        <a:t>0,256</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E5E7EB"/>
                    </a:solidFill>
                  </a:tcPr>
                </a:tc>
                <a:tc>
                  <a:txBody>
                    <a:bodyPr/>
                    <a:lstStyle/>
                    <a:p>
                      <a:r>
                        <a:rPr sz="1600" b="0">
                          <a:solidFill>
                            <a:srgbClr val="000000"/>
                          </a:solidFill>
                          <a:latin typeface="Aptos"/>
                        </a:rPr>
                        <a:t>1,284</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E5E7EB"/>
                    </a:solidFill>
                  </a:tcPr>
                </a:tc>
              </a:tr>
              <a:tr h="512064">
                <a:tc>
                  <a:txBody>
                    <a:bodyPr/>
                    <a:lstStyle/>
                    <a:p>
                      <a:r>
                        <a:rPr sz="1600" b="0">
                          <a:solidFill>
                            <a:srgbClr val="000000"/>
                          </a:solidFill>
                          <a:latin typeface="Aptos"/>
                        </a:rPr>
                        <a:t>8</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c>
                  <a:txBody>
                    <a:bodyPr/>
                    <a:lstStyle/>
                    <a:p>
                      <a:r>
                        <a:rPr sz="1600" b="0">
                          <a:solidFill>
                            <a:srgbClr val="000000"/>
                          </a:solidFill>
                          <a:latin typeface="Aptos"/>
                        </a:rPr>
                        <a:t>0,266</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c>
                  <a:txBody>
                    <a:bodyPr/>
                    <a:lstStyle/>
                    <a:p>
                      <a:r>
                        <a:rPr sz="1600" b="0">
                          <a:solidFill>
                            <a:srgbClr val="000000"/>
                          </a:solidFill>
                          <a:latin typeface="Aptos"/>
                        </a:rPr>
                        <a:t>1,309</a:t>
                      </a:r>
                    </a:p>
                  </a:txBody>
                  <a:tcPr marL="76200" marR="76200" marT="76200" marB="76200" anchor="ctr">
                    <a:lnL w="8890" cap="flat" cmpd="sng" algn="ctr">
                      <a:solidFill>
                        <a:srgbClr val="D1D5DB"/>
                      </a:solidFill>
                      <a:prstDash val="solid"/>
                      <a:round/>
                      <a:headEnd type="none" w="med" len="med"/>
                      <a:tailEnd type="none" w="med" len="med"/>
                    </a:lnL>
                    <a:lnR w="8890" cap="flat" cmpd="sng" algn="ctr">
                      <a:solidFill>
                        <a:srgbClr val="D1D5DB"/>
                      </a:solidFill>
                      <a:prstDash val="solid"/>
                      <a:round/>
                      <a:headEnd type="none" w="med" len="med"/>
                      <a:tailEnd type="none" w="med" len="med"/>
                    </a:lnR>
                    <a:lnT w="8890" cap="flat" cmpd="sng" algn="ctr">
                      <a:solidFill>
                        <a:srgbClr val="D1D5DB"/>
                      </a:solidFill>
                      <a:prstDash val="solid"/>
                      <a:round/>
                      <a:headEnd type="none" w="med" len="med"/>
                      <a:tailEnd type="none" w="med" len="med"/>
                    </a:lnT>
                    <a:lnB w="8890" cap="flat" cmpd="sng" algn="ctr">
                      <a:solidFill>
                        <a:srgbClr val="D1D5DB"/>
                      </a:solidFill>
                      <a:prstDash val="solid"/>
                      <a:round/>
                      <a:headEnd type="none" w="med" len="med"/>
                      <a:tailEnd type="none" w="med" len="med"/>
                    </a:lnB>
                    <a:solidFill>
                      <a:srgbClr val="F3F4F6"/>
                    </a:solidFill>
                  </a:tcPr>
                </a:tc>
              </a:tr>
            </a:tbl>
          </a:graphicData>
        </a:graphic>
      </p:graphicFrame>
      <p:sp>
        <p:nvSpPr>
          <p:cNvPr id="8" name="Shape 4"/>
          <p:cNvSpPr/>
          <p:nvPr/>
        </p:nvSpPr>
        <p:spPr>
          <a:xfrm>
            <a:off x="5879592" y="3291840"/>
            <a:ext cx="1024128" cy="274320"/>
          </a:xfrm>
          <a:prstGeom prst="roundRect">
            <a:avLst>
              <a:gd name="adj" fmla="val 46667"/>
            </a:avLst>
          </a:prstGeom>
          <a:solidFill>
            <a:srgbClr val="1D4ED8"/>
          </a:solidFill>
          <a:ln w="12700">
            <a:solidFill>
              <a:srgbClr val="1D4ED8">
                <a:alpha val="0"/>
              </a:srgbClr>
            </a:solidFill>
            <a:prstDash val="solid"/>
          </a:ln>
        </p:spPr>
        <p:txBody>
          <a:bodyPr/>
          <a:p/>
        </p:txBody>
      </p:sp>
      <p:sp>
        <p:nvSpPr>
          <p:cNvPr id="9" name="Text 5"/>
          <p:cNvSpPr/>
          <p:nvPr/>
        </p:nvSpPr>
        <p:spPr>
          <a:xfrm>
            <a:off x="5989320" y="3355848"/>
            <a:ext cx="822960" cy="155448"/>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Segoe UI" pitchFamily="34" charset="-122"/>
                <a:cs typeface="Segoe UI" pitchFamily="34" charset="-120"/>
              </a:rPr>
              <a:t>Retenu</a:t>
            </a:r>
            <a:endParaRPr lang="en-US" sz="1200" dirty="0"/>
          </a:p>
        </p:txBody>
      </p:sp>
      <p:sp>
        <p:nvSpPr>
          <p:cNvPr id="10" name="Text 6"/>
          <p:cNvSpPr/>
          <p:nvPr/>
        </p:nvSpPr>
        <p:spPr>
          <a:xfrm>
            <a:off x="320040" y="5961888"/>
            <a:ext cx="6858000" cy="411480"/>
          </a:xfrm>
          <a:prstGeom prst="rect">
            <a:avLst/>
          </a:prstGeom>
          <a:noFill/>
          <a:ln/>
        </p:spPr>
        <p:txBody>
          <a:bodyPr wrap="square" lIns="0" tIns="0" rIns="0" bIns="0" rtlCol="0" anchor="ctr"/>
          <a:lstStyle/>
          <a:p>
            <a:pPr indent="0" marL="0">
              <a:buNone/>
            </a:pPr>
            <a:r>
              <a:rPr lang="en-US" sz="1200" dirty="0">
                <a:solidFill>
                  <a:srgbClr val="334155"/>
                </a:solidFill>
                <a:latin typeface="Aptos" pitchFamily="34" charset="0"/>
                <a:ea typeface="Segoe UI" pitchFamily="34" charset="-122"/>
                <a:cs typeface="Segoe UI" pitchFamily="34" charset="-120"/>
              </a:rPr>
              <a:t>Silhouette : plus élevée = meilleure séparation.</a:t>
            </a:r>
            <a:endParaRPr lang="en-US" sz="1200" dirty="0"/>
          </a:p>
          <a:p>
            <a:pPr indent="0" marL="0">
              <a:buNone/>
            </a:pPr>
            <a:r>
              <a:rPr lang="en-US" sz="1200" dirty="0">
                <a:solidFill>
                  <a:srgbClr val="334155"/>
                </a:solidFill>
                <a:latin typeface="Aptos" pitchFamily="34" charset="0"/>
                <a:ea typeface="Segoe UI" pitchFamily="34" charset="-122"/>
                <a:cs typeface="Segoe UI" pitchFamily="34" charset="-120"/>
              </a:rPr>
              <a:t>Davies-Bouldin : plus faible = meilleur résultat.</a:t>
            </a:r>
            <a:endParaRPr lang="en-US" sz="1200" dirty="0"/>
          </a:p>
        </p:txBody>
      </p:sp>
      <p:sp>
        <p:nvSpPr>
          <p:cNvPr id="11" name="Shape 7"/>
          <p:cNvSpPr/>
          <p:nvPr/>
        </p:nvSpPr>
        <p:spPr>
          <a:xfrm>
            <a:off x="7287768" y="1682496"/>
            <a:ext cx="0" cy="4608576"/>
          </a:xfrm>
          <a:prstGeom prst="line">
            <a:avLst/>
          </a:prstGeom>
          <a:noFill/>
          <a:ln w="10160">
            <a:solidFill>
              <a:srgbClr val="D1D5DB"/>
            </a:solidFill>
            <a:prstDash val="solid"/>
          </a:ln>
        </p:spPr>
        <p:txBody>
          <a:bodyPr/>
          <a:p/>
        </p:txBody>
      </p:sp>
      <p:sp>
        <p:nvSpPr>
          <p:cNvPr id="12" name="Shape 8"/>
          <p:cNvSpPr/>
          <p:nvPr/>
        </p:nvSpPr>
        <p:spPr>
          <a:xfrm>
            <a:off x="7434072" y="1709928"/>
            <a:ext cx="4453128" cy="1307592"/>
          </a:xfrm>
          <a:prstGeom prst="roundRect">
            <a:avLst>
              <a:gd name="adj" fmla="val 9790"/>
            </a:avLst>
          </a:prstGeom>
          <a:solidFill>
            <a:srgbClr val="F0FDFA"/>
          </a:solidFill>
          <a:ln w="12700">
            <a:solidFill>
              <a:srgbClr val="F0FDFA">
                <a:alpha val="0"/>
              </a:srgbClr>
            </a:solidFill>
            <a:prstDash val="solid"/>
          </a:ln>
        </p:spPr>
        <p:txBody>
          <a:bodyPr/>
          <a:p/>
        </p:txBody>
      </p:sp>
      <p:sp>
        <p:nvSpPr>
          <p:cNvPr id="13" name="Shape 9"/>
          <p:cNvSpPr/>
          <p:nvPr/>
        </p:nvSpPr>
        <p:spPr>
          <a:xfrm>
            <a:off x="7644384" y="1856232"/>
            <a:ext cx="923544" cy="923544"/>
          </a:xfrm>
          <a:prstGeom prst="ellipse">
            <a:avLst/>
          </a:prstGeom>
          <a:solidFill>
            <a:srgbClr val="0F766E"/>
          </a:solidFill>
          <a:ln w="12700">
            <a:solidFill>
              <a:srgbClr val="0F766E">
                <a:alpha val="0"/>
              </a:srgbClr>
            </a:solidFill>
            <a:prstDash val="solid"/>
          </a:ln>
        </p:spPr>
        <p:txBody>
          <a:bodyPr/>
          <a:p/>
        </p:txBody>
      </p:sp>
      <p:sp>
        <p:nvSpPr>
          <p:cNvPr id="14" name="VECTOR_bars_33"/>
          <p:cNvSpPr/>
          <p:nvPr/>
        </p:nvSpPr>
        <p:spPr>
          <a:xfrm>
            <a:off x="7644384" y="1856232"/>
            <a:ext cx="923544" cy="923544"/>
          </a:xfrm>
          <a:custGeom>
            <a:avLst/>
            <a:gdLst/>
            <a:ahLst/>
            <a:cxnLst/>
            <a:rect l="0" t="0" r="r" b="b"/>
            <a:pathLst>
              <a:path w="100000" h="100000" fill="norm" stroke="false" extrusionOk="false">
                <a:moveTo>
                  <a:pt x="60268" y="29464"/>
                </a:moveTo>
                <a:lnTo>
                  <a:pt x="60714" y="29018"/>
                </a:lnTo>
                <a:lnTo>
                  <a:pt x="73214" y="29018"/>
                </a:lnTo>
                <a:lnTo>
                  <a:pt x="73661" y="29464"/>
                </a:lnTo>
                <a:lnTo>
                  <a:pt x="73661" y="74107"/>
                </a:lnTo>
                <a:lnTo>
                  <a:pt x="73214" y="74554"/>
                </a:lnTo>
                <a:lnTo>
                  <a:pt x="26786" y="74554"/>
                </a:lnTo>
                <a:lnTo>
                  <a:pt x="26339" y="74107"/>
                </a:lnTo>
                <a:lnTo>
                  <a:pt x="26339" y="53571"/>
                </a:lnTo>
                <a:lnTo>
                  <a:pt x="26786" y="53125"/>
                </a:lnTo>
                <a:lnTo>
                  <a:pt x="38393" y="53125"/>
                </a:lnTo>
                <a:lnTo>
                  <a:pt x="38839" y="53571"/>
                </a:lnTo>
                <a:lnTo>
                  <a:pt x="38839" y="61607"/>
                </a:lnTo>
                <a:lnTo>
                  <a:pt x="38839" y="72321"/>
                </a:lnTo>
                <a:lnTo>
                  <a:pt x="39286" y="72768"/>
                </a:lnTo>
                <a:lnTo>
                  <a:pt x="42411" y="72321"/>
                </a:lnTo>
                <a:lnTo>
                  <a:pt x="42411" y="44643"/>
                </a:lnTo>
                <a:lnTo>
                  <a:pt x="42857" y="44196"/>
                </a:lnTo>
                <a:lnTo>
                  <a:pt x="51786" y="44196"/>
                </a:lnTo>
                <a:lnTo>
                  <a:pt x="52232" y="41071"/>
                </a:lnTo>
                <a:lnTo>
                  <a:pt x="53125" y="39286"/>
                </a:lnTo>
                <a:lnTo>
                  <a:pt x="53571" y="38839"/>
                </a:lnTo>
                <a:lnTo>
                  <a:pt x="54464" y="38839"/>
                </a:lnTo>
                <a:lnTo>
                  <a:pt x="55804" y="40179"/>
                </a:lnTo>
                <a:lnTo>
                  <a:pt x="55357" y="40625"/>
                </a:lnTo>
                <a:lnTo>
                  <a:pt x="54911" y="41071"/>
                </a:lnTo>
                <a:lnTo>
                  <a:pt x="54911" y="43750"/>
                </a:lnTo>
                <a:lnTo>
                  <a:pt x="56696" y="44643"/>
                </a:lnTo>
                <a:lnTo>
                  <a:pt x="56696" y="72321"/>
                </a:lnTo>
                <a:lnTo>
                  <a:pt x="59821" y="72768"/>
                </a:lnTo>
                <a:lnTo>
                  <a:pt x="61161" y="71429"/>
                </a:lnTo>
                <a:lnTo>
                  <a:pt x="60268" y="69643"/>
                </a:lnTo>
                <a:lnTo>
                  <a:pt x="60268" y="34821"/>
                </a:lnTo>
                <a:lnTo>
                  <a:pt x="60714" y="34375"/>
                </a:lnTo>
                <a:lnTo>
                  <a:pt x="61161" y="33929"/>
                </a:lnTo>
                <a:lnTo>
                  <a:pt x="60268" y="32143"/>
                </a:lnTo>
                <a:lnTo>
                  <a:pt x="60268" y="29464"/>
                </a:lnTo>
                <a:close/>
                <a:moveTo>
                  <a:pt x="63393" y="30804"/>
                </a:moveTo>
                <a:lnTo>
                  <a:pt x="62946" y="31250"/>
                </a:lnTo>
                <a:lnTo>
                  <a:pt x="62946" y="72321"/>
                </a:lnTo>
                <a:lnTo>
                  <a:pt x="63393" y="72768"/>
                </a:lnTo>
                <a:lnTo>
                  <a:pt x="70536" y="72768"/>
                </a:lnTo>
                <a:lnTo>
                  <a:pt x="70982" y="72321"/>
                </a:lnTo>
                <a:lnTo>
                  <a:pt x="71429" y="71875"/>
                </a:lnTo>
                <a:lnTo>
                  <a:pt x="71875" y="71429"/>
                </a:lnTo>
                <a:lnTo>
                  <a:pt x="71875" y="32143"/>
                </a:lnTo>
                <a:lnTo>
                  <a:pt x="70536" y="30804"/>
                </a:lnTo>
                <a:lnTo>
                  <a:pt x="63393" y="30804"/>
                </a:lnTo>
                <a:close/>
                <a:moveTo>
                  <a:pt x="45536" y="45982"/>
                </a:moveTo>
                <a:lnTo>
                  <a:pt x="45089" y="46429"/>
                </a:lnTo>
                <a:lnTo>
                  <a:pt x="45089" y="71429"/>
                </a:lnTo>
                <a:lnTo>
                  <a:pt x="46429" y="72768"/>
                </a:lnTo>
                <a:lnTo>
                  <a:pt x="53571" y="72768"/>
                </a:lnTo>
                <a:lnTo>
                  <a:pt x="54018" y="72321"/>
                </a:lnTo>
                <a:lnTo>
                  <a:pt x="54464" y="71875"/>
                </a:lnTo>
                <a:lnTo>
                  <a:pt x="54911" y="69643"/>
                </a:lnTo>
                <a:lnTo>
                  <a:pt x="54464" y="69196"/>
                </a:lnTo>
                <a:lnTo>
                  <a:pt x="54018" y="68750"/>
                </a:lnTo>
                <a:lnTo>
                  <a:pt x="54018" y="55357"/>
                </a:lnTo>
                <a:lnTo>
                  <a:pt x="54464" y="54911"/>
                </a:lnTo>
                <a:lnTo>
                  <a:pt x="54911" y="54464"/>
                </a:lnTo>
                <a:lnTo>
                  <a:pt x="54911" y="47321"/>
                </a:lnTo>
                <a:lnTo>
                  <a:pt x="53571" y="45982"/>
                </a:lnTo>
                <a:lnTo>
                  <a:pt x="45536" y="45982"/>
                </a:lnTo>
                <a:close/>
                <a:moveTo>
                  <a:pt x="29464" y="54911"/>
                </a:moveTo>
                <a:lnTo>
                  <a:pt x="29018" y="55357"/>
                </a:lnTo>
                <a:lnTo>
                  <a:pt x="29018" y="72321"/>
                </a:lnTo>
                <a:lnTo>
                  <a:pt x="29464" y="72768"/>
                </a:lnTo>
                <a:lnTo>
                  <a:pt x="35714" y="72768"/>
                </a:lnTo>
                <a:lnTo>
                  <a:pt x="36161" y="72321"/>
                </a:lnTo>
                <a:lnTo>
                  <a:pt x="36607" y="71875"/>
                </a:lnTo>
                <a:lnTo>
                  <a:pt x="37054" y="71429"/>
                </a:lnTo>
                <a:lnTo>
                  <a:pt x="36607" y="70982"/>
                </a:lnTo>
                <a:lnTo>
                  <a:pt x="36161" y="70536"/>
                </a:lnTo>
                <a:lnTo>
                  <a:pt x="36161" y="55357"/>
                </a:lnTo>
                <a:lnTo>
                  <a:pt x="35714" y="54911"/>
                </a:lnTo>
                <a:lnTo>
                  <a:pt x="29464" y="54911"/>
                </a:lnTo>
                <a:close/>
              </a:path>
            </a:pathLst>
          </a:custGeom>
          <a:solidFill>
            <a:srgbClr val="FFFFFF"/>
          </a:solidFill>
          <a:ln>
            <a:noFill/>
          </a:ln>
        </p:spPr>
        <p:txBody>
          <a:bodyPr/>
          <a:p/>
        </p:txBody>
      </p:sp>
      <p:sp>
        <p:nvSpPr>
          <p:cNvPr id="15" name="Text 11"/>
          <p:cNvSpPr/>
          <p:nvPr/>
        </p:nvSpPr>
        <p:spPr>
          <a:xfrm>
            <a:off x="8851392" y="1883664"/>
            <a:ext cx="2816352" cy="649224"/>
          </a:xfrm>
          <a:prstGeom prst="rect">
            <a:avLst/>
          </a:prstGeom>
          <a:noFill/>
          <a:ln/>
        </p:spPr>
        <p:txBody>
          <a:bodyPr wrap="square" lIns="0" tIns="0" rIns="0" bIns="0" rtlCol="0" anchor="ctr"/>
          <a:lstStyle/>
          <a:p>
            <a:pPr indent="0" marL="0">
              <a:buNone/>
            </a:pPr>
            <a:r>
              <a:rPr lang="en-US" sz="5700" b="1" dirty="0">
                <a:solidFill>
                  <a:srgbClr val="17324D"/>
                </a:solidFill>
                <a:latin typeface="Aptos" pitchFamily="34" charset="0"/>
                <a:ea typeface="Segoe UI" pitchFamily="34" charset="-122"/>
                <a:cs typeface="Segoe UI" pitchFamily="34" charset="-120"/>
              </a:rPr>
              <a:t>0,304</a:t>
            </a:r>
            <a:endParaRPr lang="en-US" sz="5700" dirty="0"/>
          </a:p>
        </p:txBody>
      </p:sp>
      <p:sp>
        <p:nvSpPr>
          <p:cNvPr id="16" name="Text 12"/>
          <p:cNvSpPr/>
          <p:nvPr/>
        </p:nvSpPr>
        <p:spPr>
          <a:xfrm>
            <a:off x="8851392" y="2615184"/>
            <a:ext cx="2743200" cy="237744"/>
          </a:xfrm>
          <a:prstGeom prst="rect">
            <a:avLst/>
          </a:prstGeom>
          <a:noFill/>
          <a:ln/>
        </p:spPr>
        <p:txBody>
          <a:bodyPr wrap="square" lIns="0" tIns="0" rIns="0" bIns="0" rtlCol="0" anchor="ctr"/>
          <a:lstStyle/>
          <a:p>
            <a:pPr indent="0" marL="0">
              <a:buNone/>
            </a:pPr>
            <a:r>
              <a:rPr lang="en-US" sz="1600" dirty="0">
                <a:solidFill>
                  <a:srgbClr val="334155"/>
                </a:solidFill>
                <a:latin typeface="Aptos" pitchFamily="34" charset="0"/>
                <a:ea typeface="Segoe UI" pitchFamily="34" charset="-122"/>
                <a:cs typeface="Segoe UI" pitchFamily="34" charset="-120"/>
              </a:rPr>
              <a:t>Coefficient de silhouette</a:t>
            </a:r>
            <a:endParaRPr lang="en-US" sz="1600" dirty="0"/>
          </a:p>
        </p:txBody>
      </p:sp>
      <p:sp>
        <p:nvSpPr>
          <p:cNvPr id="17" name="Shape 13"/>
          <p:cNvSpPr/>
          <p:nvPr/>
        </p:nvSpPr>
        <p:spPr>
          <a:xfrm>
            <a:off x="7434072" y="3182112"/>
            <a:ext cx="4453128" cy="1307592"/>
          </a:xfrm>
          <a:prstGeom prst="roundRect">
            <a:avLst>
              <a:gd name="adj" fmla="val 9790"/>
            </a:avLst>
          </a:prstGeom>
          <a:solidFill>
            <a:srgbClr val="EFF6FF"/>
          </a:solidFill>
          <a:ln w="12700">
            <a:solidFill>
              <a:srgbClr val="EFF6FF">
                <a:alpha val="0"/>
              </a:srgbClr>
            </a:solidFill>
            <a:prstDash val="solid"/>
          </a:ln>
        </p:spPr>
        <p:txBody>
          <a:bodyPr/>
          <a:p/>
        </p:txBody>
      </p:sp>
      <p:sp>
        <p:nvSpPr>
          <p:cNvPr id="18" name="Shape 14"/>
          <p:cNvSpPr/>
          <p:nvPr/>
        </p:nvSpPr>
        <p:spPr>
          <a:xfrm>
            <a:off x="7644384" y="3328416"/>
            <a:ext cx="923544" cy="923544"/>
          </a:xfrm>
          <a:prstGeom prst="ellipse">
            <a:avLst/>
          </a:prstGeom>
          <a:solidFill>
            <a:srgbClr val="1D4ED8"/>
          </a:solidFill>
          <a:ln w="12700">
            <a:solidFill>
              <a:srgbClr val="1D4ED8">
                <a:alpha val="0"/>
              </a:srgbClr>
            </a:solidFill>
            <a:prstDash val="solid"/>
          </a:ln>
        </p:spPr>
        <p:txBody>
          <a:bodyPr/>
          <a:p/>
        </p:txBody>
      </p:sp>
      <p:sp>
        <p:nvSpPr>
          <p:cNvPr id="19" name="VECTOR_database_34"/>
          <p:cNvSpPr/>
          <p:nvPr/>
        </p:nvSpPr>
        <p:spPr>
          <a:xfrm>
            <a:off x="7644384" y="3328416"/>
            <a:ext cx="923544" cy="923544"/>
          </a:xfrm>
          <a:custGeom>
            <a:avLst/>
            <a:gdLst/>
            <a:ahLst/>
            <a:cxnLst/>
            <a:rect l="0" t="0" r="r" b="b"/>
            <a:pathLst>
              <a:path w="100000" h="100000" fill="norm" stroke="false" extrusionOk="false">
                <a:moveTo>
                  <a:pt x="41154" y="22308"/>
                </a:moveTo>
                <a:lnTo>
                  <a:pt x="41538" y="21923"/>
                </a:lnTo>
                <a:lnTo>
                  <a:pt x="53846" y="21923"/>
                </a:lnTo>
                <a:lnTo>
                  <a:pt x="54231" y="22308"/>
                </a:lnTo>
                <a:lnTo>
                  <a:pt x="54615" y="22692"/>
                </a:lnTo>
                <a:lnTo>
                  <a:pt x="58462" y="22692"/>
                </a:lnTo>
                <a:lnTo>
                  <a:pt x="58846" y="23077"/>
                </a:lnTo>
                <a:lnTo>
                  <a:pt x="59231" y="23462"/>
                </a:lnTo>
                <a:lnTo>
                  <a:pt x="60000" y="23462"/>
                </a:lnTo>
                <a:lnTo>
                  <a:pt x="60769" y="23462"/>
                </a:lnTo>
                <a:lnTo>
                  <a:pt x="62308" y="24231"/>
                </a:lnTo>
                <a:lnTo>
                  <a:pt x="65769" y="27692"/>
                </a:lnTo>
                <a:lnTo>
                  <a:pt x="65769" y="63077"/>
                </a:lnTo>
                <a:lnTo>
                  <a:pt x="63077" y="65769"/>
                </a:lnTo>
                <a:lnTo>
                  <a:pt x="60000" y="67308"/>
                </a:lnTo>
                <a:lnTo>
                  <a:pt x="52308" y="68846"/>
                </a:lnTo>
                <a:lnTo>
                  <a:pt x="40769" y="68846"/>
                </a:lnTo>
                <a:lnTo>
                  <a:pt x="40385" y="68462"/>
                </a:lnTo>
                <a:lnTo>
                  <a:pt x="40000" y="68077"/>
                </a:lnTo>
                <a:lnTo>
                  <a:pt x="36923" y="68077"/>
                </a:lnTo>
                <a:lnTo>
                  <a:pt x="36538" y="67692"/>
                </a:lnTo>
                <a:lnTo>
                  <a:pt x="36154" y="67308"/>
                </a:lnTo>
                <a:lnTo>
                  <a:pt x="35385" y="67308"/>
                </a:lnTo>
                <a:lnTo>
                  <a:pt x="34615" y="67308"/>
                </a:lnTo>
                <a:lnTo>
                  <a:pt x="31538" y="65769"/>
                </a:lnTo>
                <a:lnTo>
                  <a:pt x="28846" y="63077"/>
                </a:lnTo>
                <a:lnTo>
                  <a:pt x="28846" y="55385"/>
                </a:lnTo>
                <a:lnTo>
                  <a:pt x="29231" y="55000"/>
                </a:lnTo>
                <a:lnTo>
                  <a:pt x="29615" y="54615"/>
                </a:lnTo>
                <a:lnTo>
                  <a:pt x="28846" y="53077"/>
                </a:lnTo>
                <a:lnTo>
                  <a:pt x="28846" y="46923"/>
                </a:lnTo>
                <a:lnTo>
                  <a:pt x="29231" y="46538"/>
                </a:lnTo>
                <a:lnTo>
                  <a:pt x="29615" y="46154"/>
                </a:lnTo>
                <a:lnTo>
                  <a:pt x="29615" y="43846"/>
                </a:lnTo>
                <a:lnTo>
                  <a:pt x="29231" y="43462"/>
                </a:lnTo>
                <a:lnTo>
                  <a:pt x="28846" y="43077"/>
                </a:lnTo>
                <a:lnTo>
                  <a:pt x="28846" y="28462"/>
                </a:lnTo>
                <a:lnTo>
                  <a:pt x="31538" y="25000"/>
                </a:lnTo>
                <a:lnTo>
                  <a:pt x="34615" y="23462"/>
                </a:lnTo>
                <a:lnTo>
                  <a:pt x="35385" y="23462"/>
                </a:lnTo>
                <a:lnTo>
                  <a:pt x="36154" y="23462"/>
                </a:lnTo>
                <a:lnTo>
                  <a:pt x="36538" y="23077"/>
                </a:lnTo>
                <a:lnTo>
                  <a:pt x="36923" y="22692"/>
                </a:lnTo>
                <a:lnTo>
                  <a:pt x="40769" y="22692"/>
                </a:lnTo>
                <a:lnTo>
                  <a:pt x="41154" y="22308"/>
                </a:lnTo>
                <a:close/>
                <a:moveTo>
                  <a:pt x="40769" y="24231"/>
                </a:moveTo>
                <a:lnTo>
                  <a:pt x="40385" y="24615"/>
                </a:lnTo>
                <a:lnTo>
                  <a:pt x="40000" y="25000"/>
                </a:lnTo>
                <a:lnTo>
                  <a:pt x="37692" y="25000"/>
                </a:lnTo>
                <a:lnTo>
                  <a:pt x="37308" y="25385"/>
                </a:lnTo>
                <a:lnTo>
                  <a:pt x="36923" y="25769"/>
                </a:lnTo>
                <a:lnTo>
                  <a:pt x="36154" y="25769"/>
                </a:lnTo>
                <a:lnTo>
                  <a:pt x="35385" y="25769"/>
                </a:lnTo>
                <a:lnTo>
                  <a:pt x="33846" y="26538"/>
                </a:lnTo>
                <a:lnTo>
                  <a:pt x="31154" y="29231"/>
                </a:lnTo>
                <a:lnTo>
                  <a:pt x="31154" y="30000"/>
                </a:lnTo>
                <a:lnTo>
                  <a:pt x="31154" y="30769"/>
                </a:lnTo>
                <a:lnTo>
                  <a:pt x="33846" y="33462"/>
                </a:lnTo>
                <a:lnTo>
                  <a:pt x="35385" y="34231"/>
                </a:lnTo>
                <a:lnTo>
                  <a:pt x="36154" y="34231"/>
                </a:lnTo>
                <a:lnTo>
                  <a:pt x="36923" y="34231"/>
                </a:lnTo>
                <a:lnTo>
                  <a:pt x="37308" y="34615"/>
                </a:lnTo>
                <a:lnTo>
                  <a:pt x="37692" y="35000"/>
                </a:lnTo>
                <a:lnTo>
                  <a:pt x="40000" y="35000"/>
                </a:lnTo>
                <a:lnTo>
                  <a:pt x="40385" y="35385"/>
                </a:lnTo>
                <a:lnTo>
                  <a:pt x="40769" y="35769"/>
                </a:lnTo>
                <a:lnTo>
                  <a:pt x="53077" y="35769"/>
                </a:lnTo>
                <a:lnTo>
                  <a:pt x="53462" y="35385"/>
                </a:lnTo>
                <a:lnTo>
                  <a:pt x="56923" y="35000"/>
                </a:lnTo>
                <a:lnTo>
                  <a:pt x="57308" y="34615"/>
                </a:lnTo>
                <a:lnTo>
                  <a:pt x="57692" y="34231"/>
                </a:lnTo>
                <a:lnTo>
                  <a:pt x="58462" y="34231"/>
                </a:lnTo>
                <a:lnTo>
                  <a:pt x="59231" y="34231"/>
                </a:lnTo>
                <a:lnTo>
                  <a:pt x="62308" y="32692"/>
                </a:lnTo>
                <a:lnTo>
                  <a:pt x="63462" y="31538"/>
                </a:lnTo>
                <a:lnTo>
                  <a:pt x="63462" y="28462"/>
                </a:lnTo>
                <a:lnTo>
                  <a:pt x="62308" y="27308"/>
                </a:lnTo>
                <a:lnTo>
                  <a:pt x="59231" y="25769"/>
                </a:lnTo>
                <a:lnTo>
                  <a:pt x="58462" y="25769"/>
                </a:lnTo>
                <a:lnTo>
                  <a:pt x="57692" y="25769"/>
                </a:lnTo>
                <a:lnTo>
                  <a:pt x="57308" y="25385"/>
                </a:lnTo>
                <a:lnTo>
                  <a:pt x="56923" y="25000"/>
                </a:lnTo>
                <a:lnTo>
                  <a:pt x="54615" y="25000"/>
                </a:lnTo>
                <a:lnTo>
                  <a:pt x="54231" y="24615"/>
                </a:lnTo>
                <a:lnTo>
                  <a:pt x="53846" y="24231"/>
                </a:lnTo>
                <a:lnTo>
                  <a:pt x="40769" y="24231"/>
                </a:lnTo>
                <a:close/>
                <a:moveTo>
                  <a:pt x="31538" y="35000"/>
                </a:moveTo>
                <a:lnTo>
                  <a:pt x="31154" y="35385"/>
                </a:lnTo>
                <a:lnTo>
                  <a:pt x="31154" y="41538"/>
                </a:lnTo>
                <a:lnTo>
                  <a:pt x="34615" y="44231"/>
                </a:lnTo>
                <a:lnTo>
                  <a:pt x="35385" y="44231"/>
                </a:lnTo>
                <a:lnTo>
                  <a:pt x="36154" y="44231"/>
                </a:lnTo>
                <a:lnTo>
                  <a:pt x="36538" y="44615"/>
                </a:lnTo>
                <a:lnTo>
                  <a:pt x="36923" y="45000"/>
                </a:lnTo>
                <a:lnTo>
                  <a:pt x="40000" y="45000"/>
                </a:lnTo>
                <a:lnTo>
                  <a:pt x="40385" y="45385"/>
                </a:lnTo>
                <a:lnTo>
                  <a:pt x="40769" y="45769"/>
                </a:lnTo>
                <a:lnTo>
                  <a:pt x="53846" y="45769"/>
                </a:lnTo>
                <a:lnTo>
                  <a:pt x="54231" y="45385"/>
                </a:lnTo>
                <a:lnTo>
                  <a:pt x="54615" y="45000"/>
                </a:lnTo>
                <a:lnTo>
                  <a:pt x="56923" y="45000"/>
                </a:lnTo>
                <a:lnTo>
                  <a:pt x="57308" y="44615"/>
                </a:lnTo>
                <a:lnTo>
                  <a:pt x="57692" y="44231"/>
                </a:lnTo>
                <a:lnTo>
                  <a:pt x="58462" y="44231"/>
                </a:lnTo>
                <a:lnTo>
                  <a:pt x="59231" y="44231"/>
                </a:lnTo>
                <a:lnTo>
                  <a:pt x="62308" y="42692"/>
                </a:lnTo>
                <a:lnTo>
                  <a:pt x="63462" y="41538"/>
                </a:lnTo>
                <a:lnTo>
                  <a:pt x="63462" y="40769"/>
                </a:lnTo>
                <a:lnTo>
                  <a:pt x="63462" y="40000"/>
                </a:lnTo>
                <a:lnTo>
                  <a:pt x="63462" y="35385"/>
                </a:lnTo>
                <a:lnTo>
                  <a:pt x="63077" y="35000"/>
                </a:lnTo>
                <a:lnTo>
                  <a:pt x="61538" y="35769"/>
                </a:lnTo>
                <a:lnTo>
                  <a:pt x="60769" y="35769"/>
                </a:lnTo>
                <a:lnTo>
                  <a:pt x="60000" y="35769"/>
                </a:lnTo>
                <a:lnTo>
                  <a:pt x="59615" y="36154"/>
                </a:lnTo>
                <a:lnTo>
                  <a:pt x="59231" y="36538"/>
                </a:lnTo>
                <a:lnTo>
                  <a:pt x="58462" y="36538"/>
                </a:lnTo>
                <a:lnTo>
                  <a:pt x="57692" y="36538"/>
                </a:lnTo>
                <a:lnTo>
                  <a:pt x="57308" y="36923"/>
                </a:lnTo>
                <a:lnTo>
                  <a:pt x="56923" y="37308"/>
                </a:lnTo>
                <a:lnTo>
                  <a:pt x="56154" y="37308"/>
                </a:lnTo>
                <a:lnTo>
                  <a:pt x="55385" y="37308"/>
                </a:lnTo>
                <a:lnTo>
                  <a:pt x="55000" y="37692"/>
                </a:lnTo>
                <a:lnTo>
                  <a:pt x="54615" y="38077"/>
                </a:lnTo>
                <a:lnTo>
                  <a:pt x="49231" y="38077"/>
                </a:lnTo>
                <a:lnTo>
                  <a:pt x="47308" y="39231"/>
                </a:lnTo>
                <a:lnTo>
                  <a:pt x="46923" y="41154"/>
                </a:lnTo>
                <a:lnTo>
                  <a:pt x="46538" y="39231"/>
                </a:lnTo>
                <a:lnTo>
                  <a:pt x="45385" y="38077"/>
                </a:lnTo>
                <a:lnTo>
                  <a:pt x="40000" y="38077"/>
                </a:lnTo>
                <a:lnTo>
                  <a:pt x="39615" y="37692"/>
                </a:lnTo>
                <a:lnTo>
                  <a:pt x="39231" y="37308"/>
                </a:lnTo>
                <a:lnTo>
                  <a:pt x="36923" y="37308"/>
                </a:lnTo>
                <a:lnTo>
                  <a:pt x="36538" y="36923"/>
                </a:lnTo>
                <a:lnTo>
                  <a:pt x="36154" y="36538"/>
                </a:lnTo>
                <a:lnTo>
                  <a:pt x="35385" y="36538"/>
                </a:lnTo>
                <a:lnTo>
                  <a:pt x="34615" y="36538"/>
                </a:lnTo>
                <a:lnTo>
                  <a:pt x="31538" y="35000"/>
                </a:lnTo>
                <a:close/>
                <a:moveTo>
                  <a:pt x="32308" y="45000"/>
                </a:moveTo>
                <a:lnTo>
                  <a:pt x="31154" y="46154"/>
                </a:lnTo>
                <a:lnTo>
                  <a:pt x="31154" y="51538"/>
                </a:lnTo>
                <a:lnTo>
                  <a:pt x="32308" y="52692"/>
                </a:lnTo>
                <a:lnTo>
                  <a:pt x="35385" y="54231"/>
                </a:lnTo>
                <a:lnTo>
                  <a:pt x="36154" y="54231"/>
                </a:lnTo>
                <a:lnTo>
                  <a:pt x="36923" y="54231"/>
                </a:lnTo>
                <a:lnTo>
                  <a:pt x="40000" y="55769"/>
                </a:lnTo>
                <a:lnTo>
                  <a:pt x="54615" y="55769"/>
                </a:lnTo>
                <a:lnTo>
                  <a:pt x="55000" y="55385"/>
                </a:lnTo>
                <a:lnTo>
                  <a:pt x="55385" y="55000"/>
                </a:lnTo>
                <a:lnTo>
                  <a:pt x="58462" y="55000"/>
                </a:lnTo>
                <a:lnTo>
                  <a:pt x="62308" y="52692"/>
                </a:lnTo>
                <a:lnTo>
                  <a:pt x="63077" y="52692"/>
                </a:lnTo>
                <a:lnTo>
                  <a:pt x="63462" y="52308"/>
                </a:lnTo>
                <a:lnTo>
                  <a:pt x="63462" y="45385"/>
                </a:lnTo>
                <a:lnTo>
                  <a:pt x="63077" y="45000"/>
                </a:lnTo>
                <a:lnTo>
                  <a:pt x="60000" y="46538"/>
                </a:lnTo>
                <a:lnTo>
                  <a:pt x="56154" y="47308"/>
                </a:lnTo>
                <a:lnTo>
                  <a:pt x="55769" y="47692"/>
                </a:lnTo>
                <a:lnTo>
                  <a:pt x="55385" y="48077"/>
                </a:lnTo>
                <a:lnTo>
                  <a:pt x="39231" y="48077"/>
                </a:lnTo>
                <a:lnTo>
                  <a:pt x="38846" y="47692"/>
                </a:lnTo>
                <a:lnTo>
                  <a:pt x="38462" y="47308"/>
                </a:lnTo>
                <a:lnTo>
                  <a:pt x="37692" y="47308"/>
                </a:lnTo>
                <a:lnTo>
                  <a:pt x="36923" y="47308"/>
                </a:lnTo>
                <a:lnTo>
                  <a:pt x="32308" y="45000"/>
                </a:lnTo>
                <a:close/>
                <a:moveTo>
                  <a:pt x="62308" y="55000"/>
                </a:moveTo>
                <a:lnTo>
                  <a:pt x="60769" y="56538"/>
                </a:lnTo>
                <a:lnTo>
                  <a:pt x="60000" y="56538"/>
                </a:lnTo>
                <a:lnTo>
                  <a:pt x="59231" y="56538"/>
                </a:lnTo>
                <a:lnTo>
                  <a:pt x="58846" y="56923"/>
                </a:lnTo>
                <a:lnTo>
                  <a:pt x="58462" y="57308"/>
                </a:lnTo>
                <a:lnTo>
                  <a:pt x="56154" y="57308"/>
                </a:lnTo>
                <a:lnTo>
                  <a:pt x="53077" y="58846"/>
                </a:lnTo>
                <a:lnTo>
                  <a:pt x="52692" y="58462"/>
                </a:lnTo>
                <a:lnTo>
                  <a:pt x="52308" y="58077"/>
                </a:lnTo>
                <a:lnTo>
                  <a:pt x="50000" y="58077"/>
                </a:lnTo>
                <a:lnTo>
                  <a:pt x="48462" y="58846"/>
                </a:lnTo>
                <a:lnTo>
                  <a:pt x="47692" y="60385"/>
                </a:lnTo>
                <a:lnTo>
                  <a:pt x="45385" y="58077"/>
                </a:lnTo>
                <a:lnTo>
                  <a:pt x="40000" y="58077"/>
                </a:lnTo>
                <a:lnTo>
                  <a:pt x="39615" y="57692"/>
                </a:lnTo>
                <a:lnTo>
                  <a:pt x="39231" y="57308"/>
                </a:lnTo>
                <a:lnTo>
                  <a:pt x="36154" y="57308"/>
                </a:lnTo>
                <a:lnTo>
                  <a:pt x="35769" y="56923"/>
                </a:lnTo>
                <a:lnTo>
                  <a:pt x="35385" y="56538"/>
                </a:lnTo>
                <a:lnTo>
                  <a:pt x="31538" y="55769"/>
                </a:lnTo>
                <a:lnTo>
                  <a:pt x="31154" y="56154"/>
                </a:lnTo>
                <a:lnTo>
                  <a:pt x="31154" y="61538"/>
                </a:lnTo>
                <a:lnTo>
                  <a:pt x="31538" y="61923"/>
                </a:lnTo>
                <a:lnTo>
                  <a:pt x="33846" y="64231"/>
                </a:lnTo>
                <a:lnTo>
                  <a:pt x="35385" y="65000"/>
                </a:lnTo>
                <a:lnTo>
                  <a:pt x="37692" y="65000"/>
                </a:lnTo>
                <a:lnTo>
                  <a:pt x="38077" y="65385"/>
                </a:lnTo>
                <a:lnTo>
                  <a:pt x="38462" y="65769"/>
                </a:lnTo>
                <a:lnTo>
                  <a:pt x="43077" y="65769"/>
                </a:lnTo>
                <a:lnTo>
                  <a:pt x="43462" y="66154"/>
                </a:lnTo>
                <a:lnTo>
                  <a:pt x="43846" y="66538"/>
                </a:lnTo>
                <a:lnTo>
                  <a:pt x="51538" y="66538"/>
                </a:lnTo>
                <a:lnTo>
                  <a:pt x="51923" y="66154"/>
                </a:lnTo>
                <a:lnTo>
                  <a:pt x="52308" y="65769"/>
                </a:lnTo>
                <a:lnTo>
                  <a:pt x="56923" y="65769"/>
                </a:lnTo>
                <a:lnTo>
                  <a:pt x="57308" y="65385"/>
                </a:lnTo>
                <a:lnTo>
                  <a:pt x="57692" y="65000"/>
                </a:lnTo>
                <a:lnTo>
                  <a:pt x="58462" y="65000"/>
                </a:lnTo>
                <a:lnTo>
                  <a:pt x="59231" y="65000"/>
                </a:lnTo>
                <a:lnTo>
                  <a:pt x="62308" y="63462"/>
                </a:lnTo>
                <a:lnTo>
                  <a:pt x="63462" y="62308"/>
                </a:lnTo>
                <a:lnTo>
                  <a:pt x="63462" y="55385"/>
                </a:lnTo>
                <a:lnTo>
                  <a:pt x="63077" y="55000"/>
                </a:lnTo>
                <a:lnTo>
                  <a:pt x="62308" y="55000"/>
                </a:lnTo>
                <a:close/>
              </a:path>
            </a:pathLst>
          </a:custGeom>
          <a:solidFill>
            <a:srgbClr val="FFFFFF"/>
          </a:solidFill>
          <a:ln>
            <a:noFill/>
          </a:ln>
        </p:spPr>
        <p:txBody>
          <a:bodyPr/>
          <a:p/>
        </p:txBody>
      </p:sp>
      <p:sp>
        <p:nvSpPr>
          <p:cNvPr id="20" name="Text 16"/>
          <p:cNvSpPr/>
          <p:nvPr/>
        </p:nvSpPr>
        <p:spPr>
          <a:xfrm>
            <a:off x="8851392" y="3355848"/>
            <a:ext cx="2816352" cy="649224"/>
          </a:xfrm>
          <a:prstGeom prst="rect">
            <a:avLst/>
          </a:prstGeom>
          <a:noFill/>
          <a:ln/>
        </p:spPr>
        <p:txBody>
          <a:bodyPr wrap="square" lIns="0" tIns="0" rIns="0" bIns="0" rtlCol="0" anchor="ctr"/>
          <a:lstStyle/>
          <a:p>
            <a:pPr indent="0" marL="0">
              <a:buNone/>
            </a:pPr>
            <a:r>
              <a:rPr lang="en-US" sz="5700" b="1" dirty="0">
                <a:solidFill>
                  <a:srgbClr val="17324D"/>
                </a:solidFill>
                <a:latin typeface="Aptos" pitchFamily="34" charset="0"/>
                <a:ea typeface="Segoe UI" pitchFamily="34" charset="-122"/>
                <a:cs typeface="Segoe UI" pitchFamily="34" charset="-120"/>
              </a:rPr>
              <a:t>1,188</a:t>
            </a:r>
            <a:endParaRPr lang="en-US" sz="5700" dirty="0"/>
          </a:p>
        </p:txBody>
      </p:sp>
      <p:sp>
        <p:nvSpPr>
          <p:cNvPr id="21" name="Text 17"/>
          <p:cNvSpPr/>
          <p:nvPr/>
        </p:nvSpPr>
        <p:spPr>
          <a:xfrm>
            <a:off x="8851392" y="4087368"/>
            <a:ext cx="2743200" cy="237744"/>
          </a:xfrm>
          <a:prstGeom prst="rect">
            <a:avLst/>
          </a:prstGeom>
          <a:noFill/>
          <a:ln/>
        </p:spPr>
        <p:txBody>
          <a:bodyPr wrap="square" lIns="0" tIns="0" rIns="0" bIns="0" rtlCol="0" anchor="ctr"/>
          <a:lstStyle/>
          <a:p>
            <a:pPr indent="0" marL="0">
              <a:buNone/>
            </a:pPr>
            <a:r>
              <a:rPr lang="en-US" sz="1600" dirty="0">
                <a:solidFill>
                  <a:srgbClr val="334155"/>
                </a:solidFill>
                <a:latin typeface="Aptos" pitchFamily="34" charset="0"/>
                <a:ea typeface="Segoe UI" pitchFamily="34" charset="-122"/>
                <a:cs typeface="Segoe UI" pitchFamily="34" charset="-120"/>
              </a:rPr>
              <a:t>Indice de Davies-Bouldin</a:t>
            </a:r>
            <a:endParaRPr lang="en-US" sz="1600" dirty="0"/>
          </a:p>
        </p:txBody>
      </p:sp>
      <p:sp>
        <p:nvSpPr>
          <p:cNvPr id="22" name="Shape 18"/>
          <p:cNvSpPr/>
          <p:nvPr/>
        </p:nvSpPr>
        <p:spPr>
          <a:xfrm>
            <a:off x="7434072" y="4626864"/>
            <a:ext cx="4453128" cy="1609344"/>
          </a:xfrm>
          <a:prstGeom prst="roundRect">
            <a:avLst>
              <a:gd name="adj" fmla="val 7955"/>
            </a:avLst>
          </a:prstGeom>
          <a:solidFill>
            <a:srgbClr val="F3F4F6"/>
          </a:solidFill>
          <a:ln w="12700">
            <a:solidFill>
              <a:srgbClr val="F3F4F6">
                <a:alpha val="0"/>
              </a:srgbClr>
            </a:solidFill>
            <a:prstDash val="solid"/>
          </a:ln>
        </p:spPr>
        <p:txBody>
          <a:bodyPr/>
          <a:p/>
        </p:txBody>
      </p:sp>
      <p:sp>
        <p:nvSpPr>
          <p:cNvPr id="23" name="Shape 19"/>
          <p:cNvSpPr/>
          <p:nvPr/>
        </p:nvSpPr>
        <p:spPr>
          <a:xfrm>
            <a:off x="7644384" y="4873752"/>
            <a:ext cx="923544" cy="923544"/>
          </a:xfrm>
          <a:prstGeom prst="ellipse">
            <a:avLst/>
          </a:prstGeom>
          <a:solidFill>
            <a:srgbClr val="6D28D9"/>
          </a:solidFill>
          <a:ln w="12700">
            <a:solidFill>
              <a:srgbClr val="6D28D9">
                <a:alpha val="0"/>
              </a:srgbClr>
            </a:solidFill>
            <a:prstDash val="solid"/>
          </a:ln>
        </p:spPr>
        <p:txBody>
          <a:bodyPr/>
          <a:p/>
        </p:txBody>
      </p:sp>
      <p:sp>
        <p:nvSpPr>
          <p:cNvPr id="24" name="VECTOR_bulb_35"/>
          <p:cNvSpPr/>
          <p:nvPr/>
        </p:nvSpPr>
        <p:spPr>
          <a:xfrm>
            <a:off x="7644384" y="4873752"/>
            <a:ext cx="923544" cy="923544"/>
          </a:xfrm>
          <a:custGeom>
            <a:avLst/>
            <a:gdLst/>
            <a:ahLst/>
            <a:cxnLst/>
            <a:rect l="0" t="0" r="r" b="b"/>
            <a:pathLst>
              <a:path w="100000" h="100000" fill="norm" stroke="false" extrusionOk="false">
                <a:moveTo>
                  <a:pt x="49554" y="21429"/>
                </a:moveTo>
                <a:lnTo>
                  <a:pt x="50000" y="20982"/>
                </a:lnTo>
                <a:lnTo>
                  <a:pt x="52232" y="21429"/>
                </a:lnTo>
                <a:lnTo>
                  <a:pt x="52232" y="28571"/>
                </a:lnTo>
                <a:lnTo>
                  <a:pt x="51786" y="29018"/>
                </a:lnTo>
                <a:lnTo>
                  <a:pt x="49554" y="28571"/>
                </a:lnTo>
                <a:lnTo>
                  <a:pt x="49554" y="21429"/>
                </a:lnTo>
                <a:close/>
                <a:moveTo>
                  <a:pt x="31696" y="28571"/>
                </a:moveTo>
                <a:lnTo>
                  <a:pt x="32143" y="28125"/>
                </a:lnTo>
                <a:lnTo>
                  <a:pt x="33036" y="28125"/>
                </a:lnTo>
                <a:lnTo>
                  <a:pt x="33482" y="28571"/>
                </a:lnTo>
                <a:lnTo>
                  <a:pt x="33482" y="29464"/>
                </a:lnTo>
                <a:lnTo>
                  <a:pt x="37054" y="33036"/>
                </a:lnTo>
                <a:lnTo>
                  <a:pt x="36607" y="33482"/>
                </a:lnTo>
                <a:lnTo>
                  <a:pt x="36161" y="33929"/>
                </a:lnTo>
                <a:lnTo>
                  <a:pt x="35714" y="34375"/>
                </a:lnTo>
                <a:lnTo>
                  <a:pt x="34821" y="34375"/>
                </a:lnTo>
                <a:lnTo>
                  <a:pt x="31696" y="31250"/>
                </a:lnTo>
                <a:lnTo>
                  <a:pt x="30804" y="29464"/>
                </a:lnTo>
                <a:lnTo>
                  <a:pt x="31250" y="29018"/>
                </a:lnTo>
                <a:lnTo>
                  <a:pt x="31696" y="28571"/>
                </a:lnTo>
                <a:close/>
                <a:moveTo>
                  <a:pt x="68304" y="29464"/>
                </a:moveTo>
                <a:lnTo>
                  <a:pt x="70536" y="29018"/>
                </a:lnTo>
                <a:lnTo>
                  <a:pt x="70982" y="29464"/>
                </a:lnTo>
                <a:lnTo>
                  <a:pt x="70982" y="30357"/>
                </a:lnTo>
                <a:lnTo>
                  <a:pt x="66964" y="34375"/>
                </a:lnTo>
                <a:lnTo>
                  <a:pt x="66518" y="34821"/>
                </a:lnTo>
                <a:lnTo>
                  <a:pt x="66071" y="35268"/>
                </a:lnTo>
                <a:lnTo>
                  <a:pt x="64732" y="33929"/>
                </a:lnTo>
                <a:lnTo>
                  <a:pt x="68304" y="30357"/>
                </a:lnTo>
                <a:lnTo>
                  <a:pt x="68304" y="29464"/>
                </a:lnTo>
                <a:close/>
                <a:moveTo>
                  <a:pt x="46875" y="33929"/>
                </a:moveTo>
                <a:lnTo>
                  <a:pt x="47321" y="33482"/>
                </a:lnTo>
                <a:lnTo>
                  <a:pt x="53571" y="33482"/>
                </a:lnTo>
                <a:lnTo>
                  <a:pt x="54018" y="33929"/>
                </a:lnTo>
                <a:lnTo>
                  <a:pt x="54464" y="34375"/>
                </a:lnTo>
                <a:lnTo>
                  <a:pt x="58929" y="35268"/>
                </a:lnTo>
                <a:lnTo>
                  <a:pt x="63839" y="40179"/>
                </a:lnTo>
                <a:lnTo>
                  <a:pt x="65625" y="43750"/>
                </a:lnTo>
                <a:lnTo>
                  <a:pt x="65625" y="46429"/>
                </a:lnTo>
                <a:lnTo>
                  <a:pt x="66071" y="46875"/>
                </a:lnTo>
                <a:lnTo>
                  <a:pt x="66518" y="47321"/>
                </a:lnTo>
                <a:lnTo>
                  <a:pt x="66518" y="50893"/>
                </a:lnTo>
                <a:lnTo>
                  <a:pt x="66071" y="51339"/>
                </a:lnTo>
                <a:lnTo>
                  <a:pt x="65625" y="51786"/>
                </a:lnTo>
                <a:lnTo>
                  <a:pt x="64732" y="56250"/>
                </a:lnTo>
                <a:lnTo>
                  <a:pt x="62946" y="58036"/>
                </a:lnTo>
                <a:lnTo>
                  <a:pt x="62946" y="58929"/>
                </a:lnTo>
                <a:lnTo>
                  <a:pt x="57589" y="64286"/>
                </a:lnTo>
                <a:lnTo>
                  <a:pt x="57589" y="75893"/>
                </a:lnTo>
                <a:lnTo>
                  <a:pt x="54464" y="79911"/>
                </a:lnTo>
                <a:lnTo>
                  <a:pt x="54018" y="80357"/>
                </a:lnTo>
                <a:lnTo>
                  <a:pt x="53571" y="80804"/>
                </a:lnTo>
                <a:lnTo>
                  <a:pt x="48214" y="80804"/>
                </a:lnTo>
                <a:lnTo>
                  <a:pt x="45982" y="79464"/>
                </a:lnTo>
                <a:lnTo>
                  <a:pt x="43304" y="74107"/>
                </a:lnTo>
                <a:lnTo>
                  <a:pt x="43304" y="64286"/>
                </a:lnTo>
                <a:lnTo>
                  <a:pt x="42411" y="62500"/>
                </a:lnTo>
                <a:lnTo>
                  <a:pt x="37054" y="57143"/>
                </a:lnTo>
                <a:lnTo>
                  <a:pt x="36161" y="55357"/>
                </a:lnTo>
                <a:lnTo>
                  <a:pt x="36161" y="54464"/>
                </a:lnTo>
                <a:lnTo>
                  <a:pt x="36161" y="53571"/>
                </a:lnTo>
                <a:lnTo>
                  <a:pt x="35714" y="53125"/>
                </a:lnTo>
                <a:lnTo>
                  <a:pt x="35268" y="52679"/>
                </a:lnTo>
                <a:lnTo>
                  <a:pt x="35268" y="45536"/>
                </a:lnTo>
                <a:lnTo>
                  <a:pt x="35714" y="45089"/>
                </a:lnTo>
                <a:lnTo>
                  <a:pt x="36161" y="44643"/>
                </a:lnTo>
                <a:lnTo>
                  <a:pt x="36161" y="43750"/>
                </a:lnTo>
                <a:lnTo>
                  <a:pt x="36161" y="42857"/>
                </a:lnTo>
                <a:lnTo>
                  <a:pt x="37946" y="39286"/>
                </a:lnTo>
                <a:lnTo>
                  <a:pt x="42857" y="35268"/>
                </a:lnTo>
                <a:lnTo>
                  <a:pt x="46875" y="33929"/>
                </a:lnTo>
                <a:close/>
                <a:moveTo>
                  <a:pt x="46429" y="36161"/>
                </a:moveTo>
                <a:lnTo>
                  <a:pt x="44643" y="37054"/>
                </a:lnTo>
                <a:lnTo>
                  <a:pt x="39732" y="41964"/>
                </a:lnTo>
                <a:lnTo>
                  <a:pt x="37946" y="45536"/>
                </a:lnTo>
                <a:lnTo>
                  <a:pt x="37946" y="52679"/>
                </a:lnTo>
                <a:lnTo>
                  <a:pt x="39732" y="56250"/>
                </a:lnTo>
                <a:lnTo>
                  <a:pt x="41518" y="58036"/>
                </a:lnTo>
                <a:lnTo>
                  <a:pt x="41518" y="58929"/>
                </a:lnTo>
                <a:lnTo>
                  <a:pt x="45982" y="63393"/>
                </a:lnTo>
                <a:lnTo>
                  <a:pt x="46429" y="66518"/>
                </a:lnTo>
                <a:lnTo>
                  <a:pt x="55357" y="66518"/>
                </a:lnTo>
                <a:lnTo>
                  <a:pt x="55804" y="62500"/>
                </a:lnTo>
                <a:lnTo>
                  <a:pt x="61161" y="57143"/>
                </a:lnTo>
                <a:lnTo>
                  <a:pt x="61161" y="56250"/>
                </a:lnTo>
                <a:lnTo>
                  <a:pt x="62946" y="54464"/>
                </a:lnTo>
                <a:lnTo>
                  <a:pt x="62946" y="53571"/>
                </a:lnTo>
                <a:lnTo>
                  <a:pt x="62946" y="52679"/>
                </a:lnTo>
                <a:lnTo>
                  <a:pt x="63393" y="52232"/>
                </a:lnTo>
                <a:lnTo>
                  <a:pt x="63839" y="51786"/>
                </a:lnTo>
                <a:lnTo>
                  <a:pt x="63839" y="45536"/>
                </a:lnTo>
                <a:lnTo>
                  <a:pt x="63393" y="45089"/>
                </a:lnTo>
                <a:lnTo>
                  <a:pt x="62946" y="44643"/>
                </a:lnTo>
                <a:lnTo>
                  <a:pt x="62946" y="43750"/>
                </a:lnTo>
                <a:lnTo>
                  <a:pt x="62946" y="42857"/>
                </a:lnTo>
                <a:lnTo>
                  <a:pt x="57143" y="37054"/>
                </a:lnTo>
                <a:lnTo>
                  <a:pt x="55357" y="36161"/>
                </a:lnTo>
                <a:lnTo>
                  <a:pt x="46429" y="36161"/>
                </a:lnTo>
                <a:close/>
                <a:moveTo>
                  <a:pt x="21875" y="48214"/>
                </a:moveTo>
                <a:lnTo>
                  <a:pt x="22321" y="47768"/>
                </a:lnTo>
                <a:lnTo>
                  <a:pt x="30357" y="47768"/>
                </a:lnTo>
                <a:lnTo>
                  <a:pt x="30804" y="48214"/>
                </a:lnTo>
                <a:lnTo>
                  <a:pt x="30804" y="49107"/>
                </a:lnTo>
                <a:lnTo>
                  <a:pt x="30357" y="49554"/>
                </a:lnTo>
                <a:lnTo>
                  <a:pt x="22321" y="49554"/>
                </a:lnTo>
                <a:lnTo>
                  <a:pt x="21875" y="49107"/>
                </a:lnTo>
                <a:lnTo>
                  <a:pt x="21875" y="48214"/>
                </a:lnTo>
                <a:close/>
                <a:moveTo>
                  <a:pt x="71875" y="48214"/>
                </a:moveTo>
                <a:lnTo>
                  <a:pt x="72321" y="47768"/>
                </a:lnTo>
                <a:lnTo>
                  <a:pt x="79464" y="47768"/>
                </a:lnTo>
                <a:lnTo>
                  <a:pt x="79911" y="48214"/>
                </a:lnTo>
                <a:lnTo>
                  <a:pt x="79911" y="49107"/>
                </a:lnTo>
                <a:lnTo>
                  <a:pt x="79464" y="49554"/>
                </a:lnTo>
                <a:lnTo>
                  <a:pt x="72321" y="49554"/>
                </a:lnTo>
                <a:lnTo>
                  <a:pt x="71875" y="49107"/>
                </a:lnTo>
                <a:lnTo>
                  <a:pt x="71875" y="48214"/>
                </a:lnTo>
                <a:close/>
                <a:moveTo>
                  <a:pt x="67411" y="61607"/>
                </a:moveTo>
                <a:lnTo>
                  <a:pt x="67857" y="61161"/>
                </a:lnTo>
                <a:lnTo>
                  <a:pt x="73661" y="66964"/>
                </a:lnTo>
                <a:lnTo>
                  <a:pt x="73214" y="67411"/>
                </a:lnTo>
                <a:lnTo>
                  <a:pt x="72768" y="67857"/>
                </a:lnTo>
                <a:lnTo>
                  <a:pt x="72321" y="68304"/>
                </a:lnTo>
                <a:lnTo>
                  <a:pt x="70536" y="67411"/>
                </a:lnTo>
                <a:lnTo>
                  <a:pt x="66518" y="63393"/>
                </a:lnTo>
                <a:lnTo>
                  <a:pt x="67411" y="61607"/>
                </a:lnTo>
                <a:close/>
                <a:moveTo>
                  <a:pt x="33482" y="62500"/>
                </a:moveTo>
                <a:lnTo>
                  <a:pt x="33929" y="62054"/>
                </a:lnTo>
                <a:lnTo>
                  <a:pt x="35268" y="63393"/>
                </a:lnTo>
                <a:lnTo>
                  <a:pt x="30357" y="68304"/>
                </a:lnTo>
                <a:lnTo>
                  <a:pt x="29464" y="68304"/>
                </a:lnTo>
                <a:lnTo>
                  <a:pt x="28125" y="66964"/>
                </a:lnTo>
                <a:lnTo>
                  <a:pt x="32143" y="62946"/>
                </a:lnTo>
                <a:lnTo>
                  <a:pt x="33036" y="62946"/>
                </a:lnTo>
                <a:lnTo>
                  <a:pt x="33482" y="62500"/>
                </a:lnTo>
                <a:close/>
                <a:moveTo>
                  <a:pt x="46429" y="69196"/>
                </a:moveTo>
                <a:lnTo>
                  <a:pt x="45982" y="69643"/>
                </a:lnTo>
                <a:lnTo>
                  <a:pt x="46429" y="71875"/>
                </a:lnTo>
                <a:lnTo>
                  <a:pt x="54464" y="71875"/>
                </a:lnTo>
                <a:lnTo>
                  <a:pt x="54911" y="71429"/>
                </a:lnTo>
                <a:lnTo>
                  <a:pt x="55357" y="70982"/>
                </a:lnTo>
                <a:lnTo>
                  <a:pt x="55804" y="70536"/>
                </a:lnTo>
                <a:lnTo>
                  <a:pt x="54464" y="69196"/>
                </a:lnTo>
                <a:lnTo>
                  <a:pt x="46429" y="69196"/>
                </a:lnTo>
                <a:close/>
                <a:moveTo>
                  <a:pt x="47321" y="74554"/>
                </a:moveTo>
                <a:lnTo>
                  <a:pt x="46875" y="76786"/>
                </a:lnTo>
                <a:lnTo>
                  <a:pt x="49107" y="79018"/>
                </a:lnTo>
                <a:lnTo>
                  <a:pt x="51786" y="79018"/>
                </a:lnTo>
                <a:lnTo>
                  <a:pt x="53125" y="77679"/>
                </a:lnTo>
                <a:lnTo>
                  <a:pt x="54911" y="75893"/>
                </a:lnTo>
                <a:lnTo>
                  <a:pt x="54911" y="75000"/>
                </a:lnTo>
                <a:lnTo>
                  <a:pt x="54464" y="74554"/>
                </a:lnTo>
                <a:lnTo>
                  <a:pt x="47321" y="74554"/>
                </a:lnTo>
                <a:close/>
              </a:path>
            </a:pathLst>
          </a:custGeom>
          <a:solidFill>
            <a:srgbClr val="FFFFFF"/>
          </a:solidFill>
          <a:ln>
            <a:noFill/>
          </a:ln>
        </p:spPr>
        <p:txBody>
          <a:bodyPr/>
          <a:p/>
        </p:txBody>
      </p:sp>
      <p:sp>
        <p:nvSpPr>
          <p:cNvPr id="25" name="Text 21"/>
          <p:cNvSpPr/>
          <p:nvPr/>
        </p:nvSpPr>
        <p:spPr>
          <a:xfrm>
            <a:off x="8613648" y="4818888"/>
            <a:ext cx="3026664" cy="329184"/>
          </a:xfrm>
          <a:prstGeom prst="rect">
            <a:avLst/>
          </a:prstGeom>
          <a:noFill/>
          <a:ln/>
        </p:spPr>
        <p:txBody>
          <a:bodyPr wrap="square" lIns="0" tIns="0" rIns="0" bIns="0" rtlCol="0" anchor="ctr"/>
          <a:lstStyle/>
          <a:p>
            <a:pPr indent="0" marL="0">
              <a:buNone/>
            </a:pPr>
            <a:r>
              <a:rPr lang="en-US" sz="2200" b="1" dirty="0">
                <a:solidFill>
                  <a:srgbClr val="17324D"/>
                </a:solidFill>
                <a:latin typeface="Aptos" pitchFamily="34" charset="0"/>
                <a:ea typeface="Segoe UI" pitchFamily="34" charset="-122"/>
                <a:cs typeface="Segoe UI" pitchFamily="34" charset="-120"/>
              </a:rPr>
              <a:t>Interprétation</a:t>
            </a:r>
            <a:endParaRPr lang="en-US" sz="2200" dirty="0"/>
          </a:p>
        </p:txBody>
      </p:sp>
      <p:sp>
        <p:nvSpPr>
          <p:cNvPr id="26" name="Text 22"/>
          <p:cNvSpPr/>
          <p:nvPr/>
        </p:nvSpPr>
        <p:spPr>
          <a:xfrm>
            <a:off x="8613648" y="5239512"/>
            <a:ext cx="3026664" cy="950976"/>
          </a:xfrm>
          <a:prstGeom prst="rect">
            <a:avLst/>
          </a:prstGeom>
          <a:noFill/>
          <a:ln/>
        </p:spPr>
        <p:txBody>
          <a:bodyPr wrap="square" lIns="0" tIns="0" rIns="0" bIns="0" rtlCol="0" anchor="t"/>
          <a:lstStyle/>
          <a:p>
            <a:pPr indent="0" marL="0">
              <a:buNone/>
            </a:pPr>
            <a:r>
              <a:rPr lang="en-US" sz="1350" dirty="0">
                <a:solidFill>
                  <a:srgbClr val="334155"/>
                </a:solidFill>
                <a:latin typeface="Aptos" pitchFamily="34" charset="0"/>
                <a:ea typeface="Segoe UI" pitchFamily="34" charset="-122"/>
                <a:cs typeface="Segoe UI" pitchFamily="34" charset="-120"/>
              </a:rPr>
              <a:t>Séparation modérée.</a:t>
            </a:r>
            <a:endParaRPr lang="en-US" sz="1350" dirty="0"/>
          </a:p>
          <a:p>
            <a:pPr indent="0" marL="0">
              <a:buNone/>
            </a:pPr>
            <a:r>
              <a:rPr lang="en-US" sz="1350" dirty="0">
                <a:solidFill>
                  <a:srgbClr val="334155"/>
                </a:solidFill>
                <a:latin typeface="Aptos" pitchFamily="34" charset="0"/>
                <a:ea typeface="Segoe UI" pitchFamily="34" charset="-122"/>
                <a:cs typeface="Segoe UI" pitchFamily="34" charset="-120"/>
              </a:rPr>
              <a:t>k = 2 et 3 : meilleurs indices.</a:t>
            </a:r>
          </a:p>
          <a:p>
            <a:pPr indent="0" marL="0">
              <a:buNone/>
            </a:pPr>
            <a:r>
              <a:rPr lang="en-US" sz="1350" dirty="0">
                <a:solidFill>
                  <a:srgbClr val="334155"/>
                </a:solidFill>
                <a:latin typeface="Aptos" pitchFamily="34" charset="0"/>
                <a:ea typeface="Segoe UI" pitchFamily="34" charset="-122"/>
                <a:cs typeface="Segoe UI" pitchFamily="34" charset="-120"/>
              </a:rPr>
              <a:t>k = 4 : davantage de détail.</a:t>
            </a:r>
          </a:p>
          <a:p>
            <a:pPr indent="0" marL="0">
              <a:buNone/>
            </a:pPr>
            <a:r>
              <a:rPr lang="en-US" sz="1350" dirty="0">
                <a:solidFill>
                  <a:srgbClr val="334155"/>
                </a:solidFill>
                <a:latin typeface="Aptos" pitchFamily="34" charset="0"/>
                <a:ea typeface="Segoe UI" pitchFamily="34" charset="-122"/>
                <a:cs typeface="Segoe UI" pitchFamily="34" charset="-120"/>
              </a:rPr>
              <a:t>Utilité et stabilité à vérifier.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4200" b="1" dirty="0">
                <a:solidFill>
                  <a:srgbClr val="2563EB"/>
                </a:solidFill>
                <a:latin typeface="Aptos" pitchFamily="34" charset="0"/>
                <a:ea typeface="Segoe UI" pitchFamily="34" charset="-122"/>
                <a:cs typeface="Segoe UI" pitchFamily="34" charset="-120"/>
              </a:rPr>
              <a:t>09. Vue d’ensemble des 4 segments</a:t>
            </a:r>
            <a:endParaRPr lang="en-US" sz="42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650" dirty="0">
                <a:solidFill>
                  <a:srgbClr val="17324D"/>
                </a:solidFill>
                <a:latin typeface="Aptos" pitchFamily="34" charset="0"/>
                <a:ea typeface="Segoe UI" pitchFamily="34" charset="-122"/>
                <a:cs typeface="Segoe UI" pitchFamily="34" charset="-120"/>
              </a:rPr>
              <a:t>Les quatre segments ont des effectifs comparables, mais des niveaux de revenu et de dépense différents.</a:t>
            </a:r>
            <a:endParaRPr lang="en-US" sz="165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Customer Personality Analysis · Projet collectif ENSEA · Abdoulaye KONE</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09</a:t>
            </a:r>
            <a:endParaRPr lang="en-US" sz="1000" dirty="0"/>
          </a:p>
        </p:txBody>
      </p:sp>
      <p:graphicFrame>
        <p:nvGraphicFramePr>
          <p:cNvPr id="7" name="Chart 0" descr=""/>
          <p:cNvGraphicFramePr/>
          <p:nvPr/>
        </p:nvGraphicFramePr>
        <p:xfrm>
          <a:off x="310896" y="1581912"/>
          <a:ext cx="5230368" cy="3557016"/>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5632704" y="1591056"/>
            <a:ext cx="0" cy="3401568"/>
          </a:xfrm>
          <a:prstGeom prst="line">
            <a:avLst/>
          </a:prstGeom>
          <a:noFill/>
          <a:ln w="10160">
            <a:solidFill>
              <a:srgbClr val="D1D5DB"/>
            </a:solidFill>
            <a:prstDash val="solid"/>
          </a:ln>
        </p:spPr>
        <p:txBody>
          <a:bodyPr/>
          <a:p/>
        </p:txBody>
      </p:sp>
      <p:graphicFrame>
        <p:nvGraphicFramePr>
          <p:cNvPr id="9" name="Chart 1" descr=""/>
          <p:cNvGraphicFramePr/>
          <p:nvPr/>
        </p:nvGraphicFramePr>
        <p:xfrm>
          <a:off x="5833872" y="1581912"/>
          <a:ext cx="6099048" cy="3584448"/>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256032" y="5285232"/>
            <a:ext cx="2834640" cy="1060704"/>
          </a:xfrm>
          <a:prstGeom prst="roundRect">
            <a:avLst>
              <a:gd name="adj" fmla="val 12069"/>
            </a:avLst>
          </a:prstGeom>
          <a:solidFill>
            <a:srgbClr val="EFF6FF"/>
          </a:solidFill>
          <a:ln w="12700">
            <a:solidFill>
              <a:srgbClr val="EFF6FF">
                <a:alpha val="0"/>
              </a:srgbClr>
            </a:solidFill>
            <a:prstDash val="solid"/>
          </a:ln>
        </p:spPr>
        <p:txBody>
          <a:bodyPr/>
          <a:p/>
        </p:txBody>
      </p:sp>
      <p:sp>
        <p:nvSpPr>
          <p:cNvPr id="11" name="Shape 6"/>
          <p:cNvSpPr/>
          <p:nvPr/>
        </p:nvSpPr>
        <p:spPr>
          <a:xfrm>
            <a:off x="384048" y="5431536"/>
            <a:ext cx="795528" cy="795528"/>
          </a:xfrm>
          <a:prstGeom prst="ellipse">
            <a:avLst/>
          </a:prstGeom>
          <a:solidFill>
            <a:srgbClr val="1D4ED8"/>
          </a:solidFill>
          <a:ln w="12700">
            <a:solidFill>
              <a:srgbClr val="1D4ED8">
                <a:alpha val="0"/>
              </a:srgbClr>
            </a:solidFill>
            <a:prstDash val="solid"/>
          </a:ln>
        </p:spPr>
        <p:txBody>
          <a:bodyPr/>
          <a:p/>
        </p:txBody>
      </p:sp>
      <p:sp>
        <p:nvSpPr>
          <p:cNvPr id="12" name="VECTOR_people2_36"/>
          <p:cNvSpPr/>
          <p:nvPr/>
        </p:nvSpPr>
        <p:spPr>
          <a:xfrm>
            <a:off x="384048" y="5431536"/>
            <a:ext cx="795528" cy="795528"/>
          </a:xfrm>
          <a:custGeom>
            <a:avLst/>
            <a:gdLst/>
            <a:ahLst/>
            <a:cxnLst/>
            <a:rect l="0" t="0" r="r" b="b"/>
            <a:pathLst>
              <a:path w="100000" h="100000" fill="norm" stroke="false" extrusionOk="false">
                <a:moveTo>
                  <a:pt x="47768" y="28571"/>
                </a:moveTo>
                <a:lnTo>
                  <a:pt x="48214" y="28125"/>
                </a:lnTo>
                <a:lnTo>
                  <a:pt x="52679" y="28125"/>
                </a:lnTo>
                <a:lnTo>
                  <a:pt x="56250" y="29911"/>
                </a:lnTo>
                <a:lnTo>
                  <a:pt x="56696" y="30357"/>
                </a:lnTo>
                <a:lnTo>
                  <a:pt x="56696" y="31250"/>
                </a:lnTo>
                <a:lnTo>
                  <a:pt x="58482" y="33036"/>
                </a:lnTo>
                <a:lnTo>
                  <a:pt x="58482" y="33929"/>
                </a:lnTo>
                <a:lnTo>
                  <a:pt x="58482" y="34821"/>
                </a:lnTo>
                <a:lnTo>
                  <a:pt x="58929" y="35268"/>
                </a:lnTo>
                <a:lnTo>
                  <a:pt x="59375" y="35714"/>
                </a:lnTo>
                <a:lnTo>
                  <a:pt x="58482" y="40179"/>
                </a:lnTo>
                <a:lnTo>
                  <a:pt x="57589" y="41964"/>
                </a:lnTo>
                <a:lnTo>
                  <a:pt x="54018" y="44643"/>
                </a:lnTo>
                <a:lnTo>
                  <a:pt x="53571" y="45089"/>
                </a:lnTo>
                <a:lnTo>
                  <a:pt x="48214" y="45089"/>
                </a:lnTo>
                <a:lnTo>
                  <a:pt x="46429" y="44196"/>
                </a:lnTo>
                <a:lnTo>
                  <a:pt x="43304" y="41071"/>
                </a:lnTo>
                <a:lnTo>
                  <a:pt x="43304" y="40179"/>
                </a:lnTo>
                <a:lnTo>
                  <a:pt x="43304" y="39286"/>
                </a:lnTo>
                <a:lnTo>
                  <a:pt x="42857" y="38839"/>
                </a:lnTo>
                <a:lnTo>
                  <a:pt x="42411" y="38393"/>
                </a:lnTo>
                <a:lnTo>
                  <a:pt x="42411" y="34821"/>
                </a:lnTo>
                <a:lnTo>
                  <a:pt x="42857" y="34375"/>
                </a:lnTo>
                <a:lnTo>
                  <a:pt x="43304" y="33929"/>
                </a:lnTo>
                <a:lnTo>
                  <a:pt x="43304" y="33036"/>
                </a:lnTo>
                <a:lnTo>
                  <a:pt x="43304" y="32143"/>
                </a:lnTo>
                <a:lnTo>
                  <a:pt x="46429" y="29018"/>
                </a:lnTo>
                <a:lnTo>
                  <a:pt x="47321" y="29018"/>
                </a:lnTo>
                <a:lnTo>
                  <a:pt x="47768" y="28571"/>
                </a:lnTo>
                <a:close/>
                <a:moveTo>
                  <a:pt x="48214" y="30804"/>
                </a:moveTo>
                <a:lnTo>
                  <a:pt x="45982" y="32143"/>
                </a:lnTo>
                <a:lnTo>
                  <a:pt x="44196" y="35714"/>
                </a:lnTo>
                <a:lnTo>
                  <a:pt x="44196" y="36607"/>
                </a:lnTo>
                <a:lnTo>
                  <a:pt x="44196" y="37500"/>
                </a:lnTo>
                <a:lnTo>
                  <a:pt x="45982" y="41071"/>
                </a:lnTo>
                <a:lnTo>
                  <a:pt x="48214" y="43304"/>
                </a:lnTo>
                <a:lnTo>
                  <a:pt x="52679" y="43304"/>
                </a:lnTo>
                <a:lnTo>
                  <a:pt x="54464" y="42411"/>
                </a:lnTo>
                <a:lnTo>
                  <a:pt x="56696" y="39286"/>
                </a:lnTo>
                <a:lnTo>
                  <a:pt x="56696" y="33929"/>
                </a:lnTo>
                <a:lnTo>
                  <a:pt x="53571" y="30804"/>
                </a:lnTo>
                <a:lnTo>
                  <a:pt x="48214" y="30804"/>
                </a:lnTo>
                <a:close/>
                <a:moveTo>
                  <a:pt x="28125" y="37500"/>
                </a:moveTo>
                <a:lnTo>
                  <a:pt x="28571" y="37054"/>
                </a:lnTo>
                <a:lnTo>
                  <a:pt x="33036" y="37054"/>
                </a:lnTo>
                <a:lnTo>
                  <a:pt x="36161" y="39286"/>
                </a:lnTo>
                <a:lnTo>
                  <a:pt x="37054" y="41071"/>
                </a:lnTo>
                <a:lnTo>
                  <a:pt x="37054" y="41964"/>
                </a:lnTo>
                <a:lnTo>
                  <a:pt x="37054" y="42857"/>
                </a:lnTo>
                <a:lnTo>
                  <a:pt x="37500" y="43304"/>
                </a:lnTo>
                <a:lnTo>
                  <a:pt x="37946" y="43750"/>
                </a:lnTo>
                <a:lnTo>
                  <a:pt x="37500" y="44196"/>
                </a:lnTo>
                <a:lnTo>
                  <a:pt x="37054" y="44643"/>
                </a:lnTo>
                <a:lnTo>
                  <a:pt x="37054" y="45536"/>
                </a:lnTo>
                <a:lnTo>
                  <a:pt x="37054" y="46429"/>
                </a:lnTo>
                <a:lnTo>
                  <a:pt x="34821" y="48661"/>
                </a:lnTo>
                <a:lnTo>
                  <a:pt x="33929" y="48661"/>
                </a:lnTo>
                <a:lnTo>
                  <a:pt x="33482" y="49107"/>
                </a:lnTo>
                <a:lnTo>
                  <a:pt x="33036" y="49554"/>
                </a:lnTo>
                <a:lnTo>
                  <a:pt x="28571" y="49554"/>
                </a:lnTo>
                <a:lnTo>
                  <a:pt x="25446" y="47321"/>
                </a:lnTo>
                <a:lnTo>
                  <a:pt x="24554" y="45536"/>
                </a:lnTo>
                <a:lnTo>
                  <a:pt x="24554" y="41071"/>
                </a:lnTo>
                <a:lnTo>
                  <a:pt x="25446" y="39286"/>
                </a:lnTo>
                <a:lnTo>
                  <a:pt x="28125" y="37500"/>
                </a:lnTo>
                <a:close/>
                <a:moveTo>
                  <a:pt x="68304" y="37500"/>
                </a:moveTo>
                <a:lnTo>
                  <a:pt x="68750" y="37054"/>
                </a:lnTo>
                <a:lnTo>
                  <a:pt x="73214" y="37054"/>
                </a:lnTo>
                <a:lnTo>
                  <a:pt x="75000" y="37946"/>
                </a:lnTo>
                <a:lnTo>
                  <a:pt x="77232" y="41071"/>
                </a:lnTo>
                <a:lnTo>
                  <a:pt x="77232" y="45536"/>
                </a:lnTo>
                <a:lnTo>
                  <a:pt x="76339" y="47321"/>
                </a:lnTo>
                <a:lnTo>
                  <a:pt x="73214" y="49554"/>
                </a:lnTo>
                <a:lnTo>
                  <a:pt x="67857" y="49554"/>
                </a:lnTo>
                <a:lnTo>
                  <a:pt x="64732" y="46429"/>
                </a:lnTo>
                <a:lnTo>
                  <a:pt x="63839" y="44643"/>
                </a:lnTo>
                <a:lnTo>
                  <a:pt x="64732" y="40179"/>
                </a:lnTo>
                <a:lnTo>
                  <a:pt x="66964" y="37946"/>
                </a:lnTo>
                <a:lnTo>
                  <a:pt x="67857" y="37946"/>
                </a:lnTo>
                <a:lnTo>
                  <a:pt x="68304" y="37500"/>
                </a:lnTo>
                <a:close/>
                <a:moveTo>
                  <a:pt x="30357" y="38839"/>
                </a:moveTo>
                <a:lnTo>
                  <a:pt x="27232" y="41071"/>
                </a:lnTo>
                <a:lnTo>
                  <a:pt x="26339" y="43750"/>
                </a:lnTo>
                <a:lnTo>
                  <a:pt x="28571" y="47768"/>
                </a:lnTo>
                <a:lnTo>
                  <a:pt x="31250" y="47768"/>
                </a:lnTo>
                <a:lnTo>
                  <a:pt x="32143" y="47768"/>
                </a:lnTo>
                <a:lnTo>
                  <a:pt x="33036" y="47768"/>
                </a:lnTo>
                <a:lnTo>
                  <a:pt x="35268" y="45536"/>
                </a:lnTo>
                <a:lnTo>
                  <a:pt x="35268" y="41964"/>
                </a:lnTo>
                <a:lnTo>
                  <a:pt x="33036" y="39732"/>
                </a:lnTo>
                <a:lnTo>
                  <a:pt x="30357" y="38839"/>
                </a:lnTo>
                <a:close/>
                <a:moveTo>
                  <a:pt x="70536" y="38839"/>
                </a:moveTo>
                <a:lnTo>
                  <a:pt x="66518" y="41964"/>
                </a:lnTo>
                <a:lnTo>
                  <a:pt x="66518" y="45536"/>
                </a:lnTo>
                <a:lnTo>
                  <a:pt x="68750" y="47768"/>
                </a:lnTo>
                <a:lnTo>
                  <a:pt x="71429" y="47768"/>
                </a:lnTo>
                <a:lnTo>
                  <a:pt x="72321" y="47768"/>
                </a:lnTo>
                <a:lnTo>
                  <a:pt x="75446" y="44643"/>
                </a:lnTo>
                <a:lnTo>
                  <a:pt x="75446" y="43750"/>
                </a:lnTo>
                <a:lnTo>
                  <a:pt x="75446" y="42857"/>
                </a:lnTo>
                <a:lnTo>
                  <a:pt x="73214" y="39732"/>
                </a:lnTo>
                <a:lnTo>
                  <a:pt x="70536" y="38839"/>
                </a:lnTo>
                <a:close/>
                <a:moveTo>
                  <a:pt x="46875" y="48214"/>
                </a:moveTo>
                <a:lnTo>
                  <a:pt x="47321" y="47768"/>
                </a:lnTo>
                <a:lnTo>
                  <a:pt x="54464" y="47768"/>
                </a:lnTo>
                <a:lnTo>
                  <a:pt x="58036" y="49554"/>
                </a:lnTo>
                <a:lnTo>
                  <a:pt x="62054" y="53571"/>
                </a:lnTo>
                <a:lnTo>
                  <a:pt x="62946" y="55357"/>
                </a:lnTo>
                <a:lnTo>
                  <a:pt x="62946" y="56250"/>
                </a:lnTo>
                <a:lnTo>
                  <a:pt x="62946" y="57143"/>
                </a:lnTo>
                <a:lnTo>
                  <a:pt x="63393" y="57589"/>
                </a:lnTo>
                <a:lnTo>
                  <a:pt x="63839" y="58036"/>
                </a:lnTo>
                <a:lnTo>
                  <a:pt x="63839" y="66964"/>
                </a:lnTo>
                <a:lnTo>
                  <a:pt x="63393" y="67411"/>
                </a:lnTo>
                <a:lnTo>
                  <a:pt x="54464" y="67411"/>
                </a:lnTo>
                <a:lnTo>
                  <a:pt x="37500" y="67411"/>
                </a:lnTo>
                <a:lnTo>
                  <a:pt x="37054" y="66964"/>
                </a:lnTo>
                <a:lnTo>
                  <a:pt x="37054" y="58036"/>
                </a:lnTo>
                <a:lnTo>
                  <a:pt x="38839" y="54464"/>
                </a:lnTo>
                <a:lnTo>
                  <a:pt x="40625" y="52679"/>
                </a:lnTo>
                <a:lnTo>
                  <a:pt x="40625" y="51786"/>
                </a:lnTo>
                <a:lnTo>
                  <a:pt x="41071" y="51339"/>
                </a:lnTo>
                <a:lnTo>
                  <a:pt x="41964" y="51339"/>
                </a:lnTo>
                <a:lnTo>
                  <a:pt x="43750" y="49554"/>
                </a:lnTo>
                <a:lnTo>
                  <a:pt x="46875" y="48214"/>
                </a:lnTo>
                <a:close/>
                <a:moveTo>
                  <a:pt x="49107" y="49554"/>
                </a:moveTo>
                <a:lnTo>
                  <a:pt x="48661" y="50000"/>
                </a:lnTo>
                <a:lnTo>
                  <a:pt x="48214" y="50446"/>
                </a:lnTo>
                <a:lnTo>
                  <a:pt x="47321" y="50446"/>
                </a:lnTo>
                <a:lnTo>
                  <a:pt x="46429" y="50446"/>
                </a:lnTo>
                <a:lnTo>
                  <a:pt x="44643" y="51339"/>
                </a:lnTo>
                <a:lnTo>
                  <a:pt x="41518" y="54464"/>
                </a:lnTo>
                <a:lnTo>
                  <a:pt x="39732" y="58036"/>
                </a:lnTo>
                <a:lnTo>
                  <a:pt x="39732" y="65179"/>
                </a:lnTo>
                <a:lnTo>
                  <a:pt x="40179" y="65625"/>
                </a:lnTo>
                <a:lnTo>
                  <a:pt x="52679" y="65625"/>
                </a:lnTo>
                <a:lnTo>
                  <a:pt x="61607" y="65625"/>
                </a:lnTo>
                <a:lnTo>
                  <a:pt x="62054" y="65179"/>
                </a:lnTo>
                <a:lnTo>
                  <a:pt x="62054" y="58036"/>
                </a:lnTo>
                <a:lnTo>
                  <a:pt x="59375" y="54464"/>
                </a:lnTo>
                <a:lnTo>
                  <a:pt x="59375" y="53571"/>
                </a:lnTo>
                <a:lnTo>
                  <a:pt x="55357" y="50446"/>
                </a:lnTo>
                <a:lnTo>
                  <a:pt x="54464" y="50446"/>
                </a:lnTo>
                <a:lnTo>
                  <a:pt x="53571" y="50446"/>
                </a:lnTo>
                <a:lnTo>
                  <a:pt x="53125" y="50000"/>
                </a:lnTo>
                <a:lnTo>
                  <a:pt x="52679" y="49554"/>
                </a:lnTo>
                <a:lnTo>
                  <a:pt x="49107" y="49554"/>
                </a:lnTo>
                <a:close/>
                <a:moveTo>
                  <a:pt x="28125" y="52679"/>
                </a:moveTo>
                <a:lnTo>
                  <a:pt x="28571" y="52232"/>
                </a:lnTo>
                <a:lnTo>
                  <a:pt x="33036" y="52232"/>
                </a:lnTo>
                <a:lnTo>
                  <a:pt x="35268" y="53571"/>
                </a:lnTo>
                <a:lnTo>
                  <a:pt x="35268" y="54464"/>
                </a:lnTo>
                <a:lnTo>
                  <a:pt x="34821" y="54911"/>
                </a:lnTo>
                <a:lnTo>
                  <a:pt x="34375" y="54464"/>
                </a:lnTo>
                <a:lnTo>
                  <a:pt x="33929" y="54018"/>
                </a:lnTo>
                <a:lnTo>
                  <a:pt x="28571" y="54018"/>
                </a:lnTo>
                <a:lnTo>
                  <a:pt x="26786" y="54911"/>
                </a:lnTo>
                <a:lnTo>
                  <a:pt x="23661" y="58036"/>
                </a:lnTo>
                <a:lnTo>
                  <a:pt x="23661" y="58929"/>
                </a:lnTo>
                <a:lnTo>
                  <a:pt x="23661" y="59821"/>
                </a:lnTo>
                <a:lnTo>
                  <a:pt x="23214" y="60268"/>
                </a:lnTo>
                <a:lnTo>
                  <a:pt x="22768" y="60714"/>
                </a:lnTo>
                <a:lnTo>
                  <a:pt x="22768" y="65179"/>
                </a:lnTo>
                <a:lnTo>
                  <a:pt x="23214" y="65625"/>
                </a:lnTo>
                <a:lnTo>
                  <a:pt x="28571" y="65625"/>
                </a:lnTo>
                <a:lnTo>
                  <a:pt x="33036" y="65625"/>
                </a:lnTo>
                <a:lnTo>
                  <a:pt x="33482" y="66071"/>
                </a:lnTo>
                <a:lnTo>
                  <a:pt x="33482" y="66964"/>
                </a:lnTo>
                <a:lnTo>
                  <a:pt x="33036" y="67411"/>
                </a:lnTo>
                <a:lnTo>
                  <a:pt x="21429" y="67411"/>
                </a:lnTo>
                <a:lnTo>
                  <a:pt x="20982" y="66964"/>
                </a:lnTo>
                <a:lnTo>
                  <a:pt x="20982" y="58929"/>
                </a:lnTo>
                <a:lnTo>
                  <a:pt x="21875" y="57143"/>
                </a:lnTo>
                <a:lnTo>
                  <a:pt x="25000" y="54018"/>
                </a:lnTo>
                <a:lnTo>
                  <a:pt x="28125" y="52679"/>
                </a:lnTo>
                <a:close/>
                <a:moveTo>
                  <a:pt x="67411" y="52679"/>
                </a:moveTo>
                <a:lnTo>
                  <a:pt x="67857" y="52232"/>
                </a:lnTo>
                <a:lnTo>
                  <a:pt x="72321" y="52232"/>
                </a:lnTo>
                <a:lnTo>
                  <a:pt x="72768" y="52679"/>
                </a:lnTo>
                <a:lnTo>
                  <a:pt x="73214" y="53125"/>
                </a:lnTo>
                <a:lnTo>
                  <a:pt x="74107" y="53125"/>
                </a:lnTo>
                <a:lnTo>
                  <a:pt x="75000" y="53125"/>
                </a:lnTo>
                <a:lnTo>
                  <a:pt x="76786" y="54018"/>
                </a:lnTo>
                <a:lnTo>
                  <a:pt x="79911" y="57143"/>
                </a:lnTo>
                <a:lnTo>
                  <a:pt x="79911" y="58036"/>
                </a:lnTo>
                <a:lnTo>
                  <a:pt x="79911" y="58929"/>
                </a:lnTo>
                <a:lnTo>
                  <a:pt x="80357" y="59375"/>
                </a:lnTo>
                <a:lnTo>
                  <a:pt x="80804" y="59821"/>
                </a:lnTo>
                <a:lnTo>
                  <a:pt x="80804" y="66964"/>
                </a:lnTo>
                <a:lnTo>
                  <a:pt x="80357" y="67411"/>
                </a:lnTo>
                <a:lnTo>
                  <a:pt x="67857" y="67411"/>
                </a:lnTo>
                <a:lnTo>
                  <a:pt x="67411" y="66964"/>
                </a:lnTo>
                <a:lnTo>
                  <a:pt x="67411" y="66071"/>
                </a:lnTo>
                <a:lnTo>
                  <a:pt x="67857" y="65625"/>
                </a:lnTo>
                <a:lnTo>
                  <a:pt x="77679" y="65625"/>
                </a:lnTo>
                <a:lnTo>
                  <a:pt x="79018" y="64286"/>
                </a:lnTo>
                <a:lnTo>
                  <a:pt x="79018" y="60714"/>
                </a:lnTo>
                <a:lnTo>
                  <a:pt x="77232" y="57143"/>
                </a:lnTo>
                <a:lnTo>
                  <a:pt x="75000" y="54911"/>
                </a:lnTo>
                <a:lnTo>
                  <a:pt x="73214" y="54018"/>
                </a:lnTo>
                <a:lnTo>
                  <a:pt x="67857" y="54018"/>
                </a:lnTo>
                <a:lnTo>
                  <a:pt x="67411" y="54464"/>
                </a:lnTo>
                <a:lnTo>
                  <a:pt x="66964" y="54911"/>
                </a:lnTo>
                <a:lnTo>
                  <a:pt x="66518" y="54464"/>
                </a:lnTo>
                <a:lnTo>
                  <a:pt x="66518" y="53571"/>
                </a:lnTo>
                <a:lnTo>
                  <a:pt x="66964" y="53125"/>
                </a:lnTo>
                <a:lnTo>
                  <a:pt x="67411" y="52679"/>
                </a:lnTo>
                <a:close/>
              </a:path>
            </a:pathLst>
          </a:custGeom>
          <a:solidFill>
            <a:srgbClr val="FFFFFF"/>
          </a:solidFill>
          <a:ln>
            <a:noFill/>
          </a:ln>
        </p:spPr>
        <p:txBody>
          <a:bodyPr/>
          <a:p/>
        </p:txBody>
      </p:sp>
      <p:sp>
        <p:nvSpPr>
          <p:cNvPr id="13" name="Text 8"/>
          <p:cNvSpPr/>
          <p:nvPr/>
        </p:nvSpPr>
        <p:spPr>
          <a:xfrm>
            <a:off x="1261872" y="5440680"/>
            <a:ext cx="1746504" cy="777240"/>
          </a:xfrm>
          <a:prstGeom prst="rect">
            <a:avLst/>
          </a:prstGeom>
          <a:noFill/>
          <a:ln/>
        </p:spPr>
        <p:txBody>
          <a:bodyPr wrap="square" lIns="0" tIns="0" rIns="0" bIns="0" rtlCol="0" anchor="ctr"/>
          <a:lstStyle/>
          <a:p>
            <a:pPr indent="0" marL="0">
              <a:buNone/>
            </a:pPr>
            <a:r>
              <a:rPr lang="en-US" sz="1330" b="1" dirty="0">
                <a:solidFill>
                  <a:srgbClr val="1D4ED8"/>
                </a:solidFill>
                <a:latin typeface="Aptos" pitchFamily="34" charset="0"/>
                <a:ea typeface="Segoe UI" pitchFamily="34" charset="-122"/>
                <a:cs typeface="Segoe UI" pitchFamily="34" charset="-120"/>
              </a:rPr>
              <a:t>C0 · Jeunes</a:t>
            </a:r>
            <a:endParaRPr lang="en-US" sz="1330" dirty="0"/>
          </a:p>
          <a:p>
            <a:pPr indent="0" marL="0">
              <a:buNone/>
            </a:pPr>
            <a:r>
              <a:rPr lang="en-US" sz="1330" b="1" dirty="0">
                <a:solidFill>
                  <a:srgbClr val="1D4ED8"/>
                </a:solidFill>
                <a:latin typeface="Aptos" pitchFamily="34" charset="0"/>
                <a:ea typeface="Segoe UI" pitchFamily="34" charset="-122"/>
                <a:cs typeface="Segoe UI" pitchFamily="34" charset="-120"/>
              </a:rPr>
              <a:t>foyers modestes</a:t>
            </a:r>
            <a:endParaRPr lang="en-US" sz="1330" dirty="0"/>
          </a:p>
        </p:txBody>
      </p:sp>
      <p:sp>
        <p:nvSpPr>
          <p:cNvPr id="14" name="Shape 9"/>
          <p:cNvSpPr/>
          <p:nvPr/>
        </p:nvSpPr>
        <p:spPr>
          <a:xfrm>
            <a:off x="3191256" y="5285232"/>
            <a:ext cx="2834640" cy="1060704"/>
          </a:xfrm>
          <a:prstGeom prst="roundRect">
            <a:avLst>
              <a:gd name="adj" fmla="val 12069"/>
            </a:avLst>
          </a:prstGeom>
          <a:solidFill>
            <a:srgbClr val="F0FDFA"/>
          </a:solidFill>
          <a:ln w="12700">
            <a:solidFill>
              <a:srgbClr val="F0FDFA">
                <a:alpha val="0"/>
              </a:srgbClr>
            </a:solidFill>
            <a:prstDash val="solid"/>
          </a:ln>
        </p:spPr>
        <p:txBody>
          <a:bodyPr/>
          <a:p/>
        </p:txBody>
      </p:sp>
      <p:sp>
        <p:nvSpPr>
          <p:cNvPr id="15" name="Shape 10"/>
          <p:cNvSpPr/>
          <p:nvPr/>
        </p:nvSpPr>
        <p:spPr>
          <a:xfrm>
            <a:off x="3319272" y="5431536"/>
            <a:ext cx="795528" cy="795528"/>
          </a:xfrm>
          <a:prstGeom prst="ellipse">
            <a:avLst/>
          </a:prstGeom>
          <a:solidFill>
            <a:srgbClr val="0F766E"/>
          </a:solidFill>
          <a:ln w="12700">
            <a:solidFill>
              <a:srgbClr val="0F766E">
                <a:alpha val="0"/>
              </a:srgbClr>
            </a:solidFill>
            <a:prstDash val="solid"/>
          </a:ln>
        </p:spPr>
        <p:txBody>
          <a:bodyPr/>
          <a:p/>
        </p:txBody>
      </p:sp>
      <p:sp>
        <p:nvSpPr>
          <p:cNvPr id="16" name="VECTOR_people3_37"/>
          <p:cNvSpPr/>
          <p:nvPr/>
        </p:nvSpPr>
        <p:spPr>
          <a:xfrm>
            <a:off x="3319272" y="5431536"/>
            <a:ext cx="795528" cy="795528"/>
          </a:xfrm>
          <a:custGeom>
            <a:avLst/>
            <a:gdLst/>
            <a:ahLst/>
            <a:cxnLst/>
            <a:rect l="0" t="0" r="r" b="b"/>
            <a:pathLst>
              <a:path w="100000" h="100000" fill="norm" stroke="false" extrusionOk="false">
                <a:moveTo>
                  <a:pt x="47768" y="28571"/>
                </a:moveTo>
                <a:lnTo>
                  <a:pt x="48214" y="28125"/>
                </a:lnTo>
                <a:lnTo>
                  <a:pt x="52679" y="28125"/>
                </a:lnTo>
                <a:lnTo>
                  <a:pt x="56250" y="29911"/>
                </a:lnTo>
                <a:lnTo>
                  <a:pt x="56696" y="30357"/>
                </a:lnTo>
                <a:lnTo>
                  <a:pt x="56696" y="31250"/>
                </a:lnTo>
                <a:lnTo>
                  <a:pt x="58482" y="33036"/>
                </a:lnTo>
                <a:lnTo>
                  <a:pt x="58482" y="33929"/>
                </a:lnTo>
                <a:lnTo>
                  <a:pt x="58482" y="34821"/>
                </a:lnTo>
                <a:lnTo>
                  <a:pt x="58929" y="35268"/>
                </a:lnTo>
                <a:lnTo>
                  <a:pt x="59375" y="35714"/>
                </a:lnTo>
                <a:lnTo>
                  <a:pt x="58482" y="40179"/>
                </a:lnTo>
                <a:lnTo>
                  <a:pt x="57589" y="41964"/>
                </a:lnTo>
                <a:lnTo>
                  <a:pt x="54018" y="44643"/>
                </a:lnTo>
                <a:lnTo>
                  <a:pt x="53571" y="45089"/>
                </a:lnTo>
                <a:lnTo>
                  <a:pt x="48214" y="45089"/>
                </a:lnTo>
                <a:lnTo>
                  <a:pt x="46429" y="44196"/>
                </a:lnTo>
                <a:lnTo>
                  <a:pt x="43304" y="41071"/>
                </a:lnTo>
                <a:lnTo>
                  <a:pt x="43304" y="40179"/>
                </a:lnTo>
                <a:lnTo>
                  <a:pt x="43304" y="39286"/>
                </a:lnTo>
                <a:lnTo>
                  <a:pt x="42857" y="38839"/>
                </a:lnTo>
                <a:lnTo>
                  <a:pt x="42411" y="38393"/>
                </a:lnTo>
                <a:lnTo>
                  <a:pt x="42411" y="34821"/>
                </a:lnTo>
                <a:lnTo>
                  <a:pt x="42857" y="34375"/>
                </a:lnTo>
                <a:lnTo>
                  <a:pt x="43304" y="33929"/>
                </a:lnTo>
                <a:lnTo>
                  <a:pt x="43304" y="33036"/>
                </a:lnTo>
                <a:lnTo>
                  <a:pt x="43304" y="32143"/>
                </a:lnTo>
                <a:lnTo>
                  <a:pt x="46429" y="29018"/>
                </a:lnTo>
                <a:lnTo>
                  <a:pt x="47321" y="29018"/>
                </a:lnTo>
                <a:lnTo>
                  <a:pt x="47768" y="28571"/>
                </a:lnTo>
                <a:close/>
                <a:moveTo>
                  <a:pt x="48214" y="30804"/>
                </a:moveTo>
                <a:lnTo>
                  <a:pt x="45982" y="32143"/>
                </a:lnTo>
                <a:lnTo>
                  <a:pt x="44196" y="35714"/>
                </a:lnTo>
                <a:lnTo>
                  <a:pt x="44196" y="36607"/>
                </a:lnTo>
                <a:lnTo>
                  <a:pt x="44196" y="37500"/>
                </a:lnTo>
                <a:lnTo>
                  <a:pt x="45982" y="41071"/>
                </a:lnTo>
                <a:lnTo>
                  <a:pt x="48214" y="43304"/>
                </a:lnTo>
                <a:lnTo>
                  <a:pt x="52679" y="43304"/>
                </a:lnTo>
                <a:lnTo>
                  <a:pt x="54464" y="42411"/>
                </a:lnTo>
                <a:lnTo>
                  <a:pt x="56696" y="39286"/>
                </a:lnTo>
                <a:lnTo>
                  <a:pt x="56696" y="33929"/>
                </a:lnTo>
                <a:lnTo>
                  <a:pt x="53571" y="30804"/>
                </a:lnTo>
                <a:lnTo>
                  <a:pt x="48214" y="30804"/>
                </a:lnTo>
                <a:close/>
                <a:moveTo>
                  <a:pt x="28125" y="37500"/>
                </a:moveTo>
                <a:lnTo>
                  <a:pt x="28571" y="37054"/>
                </a:lnTo>
                <a:lnTo>
                  <a:pt x="33036" y="37054"/>
                </a:lnTo>
                <a:lnTo>
                  <a:pt x="36161" y="39286"/>
                </a:lnTo>
                <a:lnTo>
                  <a:pt x="37054" y="41071"/>
                </a:lnTo>
                <a:lnTo>
                  <a:pt x="37054" y="41964"/>
                </a:lnTo>
                <a:lnTo>
                  <a:pt x="37054" y="42857"/>
                </a:lnTo>
                <a:lnTo>
                  <a:pt x="37500" y="43304"/>
                </a:lnTo>
                <a:lnTo>
                  <a:pt x="37946" y="43750"/>
                </a:lnTo>
                <a:lnTo>
                  <a:pt x="37500" y="44196"/>
                </a:lnTo>
                <a:lnTo>
                  <a:pt x="37054" y="44643"/>
                </a:lnTo>
                <a:lnTo>
                  <a:pt x="37054" y="45536"/>
                </a:lnTo>
                <a:lnTo>
                  <a:pt x="37054" y="46429"/>
                </a:lnTo>
                <a:lnTo>
                  <a:pt x="34821" y="48661"/>
                </a:lnTo>
                <a:lnTo>
                  <a:pt x="33929" y="48661"/>
                </a:lnTo>
                <a:lnTo>
                  <a:pt x="33482" y="49107"/>
                </a:lnTo>
                <a:lnTo>
                  <a:pt x="33036" y="49554"/>
                </a:lnTo>
                <a:lnTo>
                  <a:pt x="28571" y="49554"/>
                </a:lnTo>
                <a:lnTo>
                  <a:pt x="25446" y="47321"/>
                </a:lnTo>
                <a:lnTo>
                  <a:pt x="24554" y="45536"/>
                </a:lnTo>
                <a:lnTo>
                  <a:pt x="24554" y="41071"/>
                </a:lnTo>
                <a:lnTo>
                  <a:pt x="25446" y="39286"/>
                </a:lnTo>
                <a:lnTo>
                  <a:pt x="28125" y="37500"/>
                </a:lnTo>
                <a:close/>
                <a:moveTo>
                  <a:pt x="68304" y="37500"/>
                </a:moveTo>
                <a:lnTo>
                  <a:pt x="68750" y="37054"/>
                </a:lnTo>
                <a:lnTo>
                  <a:pt x="73214" y="37054"/>
                </a:lnTo>
                <a:lnTo>
                  <a:pt x="75000" y="37946"/>
                </a:lnTo>
                <a:lnTo>
                  <a:pt x="77232" y="41071"/>
                </a:lnTo>
                <a:lnTo>
                  <a:pt x="77232" y="45536"/>
                </a:lnTo>
                <a:lnTo>
                  <a:pt x="76339" y="47321"/>
                </a:lnTo>
                <a:lnTo>
                  <a:pt x="73214" y="49554"/>
                </a:lnTo>
                <a:lnTo>
                  <a:pt x="67857" y="49554"/>
                </a:lnTo>
                <a:lnTo>
                  <a:pt x="64732" y="46429"/>
                </a:lnTo>
                <a:lnTo>
                  <a:pt x="63839" y="44643"/>
                </a:lnTo>
                <a:lnTo>
                  <a:pt x="64732" y="40179"/>
                </a:lnTo>
                <a:lnTo>
                  <a:pt x="66964" y="37946"/>
                </a:lnTo>
                <a:lnTo>
                  <a:pt x="67857" y="37946"/>
                </a:lnTo>
                <a:lnTo>
                  <a:pt x="68304" y="37500"/>
                </a:lnTo>
                <a:close/>
                <a:moveTo>
                  <a:pt x="30357" y="38839"/>
                </a:moveTo>
                <a:lnTo>
                  <a:pt x="27232" y="41071"/>
                </a:lnTo>
                <a:lnTo>
                  <a:pt x="26339" y="43750"/>
                </a:lnTo>
                <a:lnTo>
                  <a:pt x="28571" y="47768"/>
                </a:lnTo>
                <a:lnTo>
                  <a:pt x="31250" y="47768"/>
                </a:lnTo>
                <a:lnTo>
                  <a:pt x="32143" y="47768"/>
                </a:lnTo>
                <a:lnTo>
                  <a:pt x="33036" y="47768"/>
                </a:lnTo>
                <a:lnTo>
                  <a:pt x="35268" y="45536"/>
                </a:lnTo>
                <a:lnTo>
                  <a:pt x="35268" y="41964"/>
                </a:lnTo>
                <a:lnTo>
                  <a:pt x="33036" y="39732"/>
                </a:lnTo>
                <a:lnTo>
                  <a:pt x="30357" y="38839"/>
                </a:lnTo>
                <a:close/>
                <a:moveTo>
                  <a:pt x="70536" y="38839"/>
                </a:moveTo>
                <a:lnTo>
                  <a:pt x="66518" y="41964"/>
                </a:lnTo>
                <a:lnTo>
                  <a:pt x="66518" y="45536"/>
                </a:lnTo>
                <a:lnTo>
                  <a:pt x="68750" y="47768"/>
                </a:lnTo>
                <a:lnTo>
                  <a:pt x="71429" y="47768"/>
                </a:lnTo>
                <a:lnTo>
                  <a:pt x="72321" y="47768"/>
                </a:lnTo>
                <a:lnTo>
                  <a:pt x="75446" y="44643"/>
                </a:lnTo>
                <a:lnTo>
                  <a:pt x="75446" y="43750"/>
                </a:lnTo>
                <a:lnTo>
                  <a:pt x="75446" y="42857"/>
                </a:lnTo>
                <a:lnTo>
                  <a:pt x="73214" y="39732"/>
                </a:lnTo>
                <a:lnTo>
                  <a:pt x="70536" y="38839"/>
                </a:lnTo>
                <a:close/>
                <a:moveTo>
                  <a:pt x="46875" y="48214"/>
                </a:moveTo>
                <a:lnTo>
                  <a:pt x="47321" y="47768"/>
                </a:lnTo>
                <a:lnTo>
                  <a:pt x="54464" y="47768"/>
                </a:lnTo>
                <a:lnTo>
                  <a:pt x="58036" y="49554"/>
                </a:lnTo>
                <a:lnTo>
                  <a:pt x="62054" y="53571"/>
                </a:lnTo>
                <a:lnTo>
                  <a:pt x="62946" y="55357"/>
                </a:lnTo>
                <a:lnTo>
                  <a:pt x="62946" y="56250"/>
                </a:lnTo>
                <a:lnTo>
                  <a:pt x="62946" y="57143"/>
                </a:lnTo>
                <a:lnTo>
                  <a:pt x="63393" y="57589"/>
                </a:lnTo>
                <a:lnTo>
                  <a:pt x="63839" y="58036"/>
                </a:lnTo>
                <a:lnTo>
                  <a:pt x="63839" y="66964"/>
                </a:lnTo>
                <a:lnTo>
                  <a:pt x="63393" y="67411"/>
                </a:lnTo>
                <a:lnTo>
                  <a:pt x="54464" y="67411"/>
                </a:lnTo>
                <a:lnTo>
                  <a:pt x="37500" y="67411"/>
                </a:lnTo>
                <a:lnTo>
                  <a:pt x="37054" y="66964"/>
                </a:lnTo>
                <a:lnTo>
                  <a:pt x="37054" y="58036"/>
                </a:lnTo>
                <a:lnTo>
                  <a:pt x="38839" y="54464"/>
                </a:lnTo>
                <a:lnTo>
                  <a:pt x="40625" y="52679"/>
                </a:lnTo>
                <a:lnTo>
                  <a:pt x="40625" y="51786"/>
                </a:lnTo>
                <a:lnTo>
                  <a:pt x="41071" y="51339"/>
                </a:lnTo>
                <a:lnTo>
                  <a:pt x="41964" y="51339"/>
                </a:lnTo>
                <a:lnTo>
                  <a:pt x="43750" y="49554"/>
                </a:lnTo>
                <a:lnTo>
                  <a:pt x="46875" y="48214"/>
                </a:lnTo>
                <a:close/>
                <a:moveTo>
                  <a:pt x="49107" y="49554"/>
                </a:moveTo>
                <a:lnTo>
                  <a:pt x="48661" y="50000"/>
                </a:lnTo>
                <a:lnTo>
                  <a:pt x="48214" y="50446"/>
                </a:lnTo>
                <a:lnTo>
                  <a:pt x="47321" y="50446"/>
                </a:lnTo>
                <a:lnTo>
                  <a:pt x="46429" y="50446"/>
                </a:lnTo>
                <a:lnTo>
                  <a:pt x="44643" y="51339"/>
                </a:lnTo>
                <a:lnTo>
                  <a:pt x="41518" y="54464"/>
                </a:lnTo>
                <a:lnTo>
                  <a:pt x="39732" y="58036"/>
                </a:lnTo>
                <a:lnTo>
                  <a:pt x="39732" y="65179"/>
                </a:lnTo>
                <a:lnTo>
                  <a:pt x="40179" y="65625"/>
                </a:lnTo>
                <a:lnTo>
                  <a:pt x="52679" y="65625"/>
                </a:lnTo>
                <a:lnTo>
                  <a:pt x="61607" y="65625"/>
                </a:lnTo>
                <a:lnTo>
                  <a:pt x="62054" y="65179"/>
                </a:lnTo>
                <a:lnTo>
                  <a:pt x="62054" y="58036"/>
                </a:lnTo>
                <a:lnTo>
                  <a:pt x="59375" y="54464"/>
                </a:lnTo>
                <a:lnTo>
                  <a:pt x="59375" y="53571"/>
                </a:lnTo>
                <a:lnTo>
                  <a:pt x="55357" y="50446"/>
                </a:lnTo>
                <a:lnTo>
                  <a:pt x="54464" y="50446"/>
                </a:lnTo>
                <a:lnTo>
                  <a:pt x="53571" y="50446"/>
                </a:lnTo>
                <a:lnTo>
                  <a:pt x="53125" y="50000"/>
                </a:lnTo>
                <a:lnTo>
                  <a:pt x="52679" y="49554"/>
                </a:lnTo>
                <a:lnTo>
                  <a:pt x="49107" y="49554"/>
                </a:lnTo>
                <a:close/>
                <a:moveTo>
                  <a:pt x="28125" y="52679"/>
                </a:moveTo>
                <a:lnTo>
                  <a:pt x="28571" y="52232"/>
                </a:lnTo>
                <a:lnTo>
                  <a:pt x="33036" y="52232"/>
                </a:lnTo>
                <a:lnTo>
                  <a:pt x="35268" y="53571"/>
                </a:lnTo>
                <a:lnTo>
                  <a:pt x="35268" y="54464"/>
                </a:lnTo>
                <a:lnTo>
                  <a:pt x="34821" y="54911"/>
                </a:lnTo>
                <a:lnTo>
                  <a:pt x="34375" y="54464"/>
                </a:lnTo>
                <a:lnTo>
                  <a:pt x="33929" y="54018"/>
                </a:lnTo>
                <a:lnTo>
                  <a:pt x="28571" y="54018"/>
                </a:lnTo>
                <a:lnTo>
                  <a:pt x="26786" y="54911"/>
                </a:lnTo>
                <a:lnTo>
                  <a:pt x="23661" y="58036"/>
                </a:lnTo>
                <a:lnTo>
                  <a:pt x="23661" y="58929"/>
                </a:lnTo>
                <a:lnTo>
                  <a:pt x="23661" y="59821"/>
                </a:lnTo>
                <a:lnTo>
                  <a:pt x="23214" y="60268"/>
                </a:lnTo>
                <a:lnTo>
                  <a:pt x="22768" y="60714"/>
                </a:lnTo>
                <a:lnTo>
                  <a:pt x="22768" y="65179"/>
                </a:lnTo>
                <a:lnTo>
                  <a:pt x="23214" y="65625"/>
                </a:lnTo>
                <a:lnTo>
                  <a:pt x="28571" y="65625"/>
                </a:lnTo>
                <a:lnTo>
                  <a:pt x="33036" y="65625"/>
                </a:lnTo>
                <a:lnTo>
                  <a:pt x="33482" y="66071"/>
                </a:lnTo>
                <a:lnTo>
                  <a:pt x="33482" y="66964"/>
                </a:lnTo>
                <a:lnTo>
                  <a:pt x="33036" y="67411"/>
                </a:lnTo>
                <a:lnTo>
                  <a:pt x="21429" y="67411"/>
                </a:lnTo>
                <a:lnTo>
                  <a:pt x="20982" y="66964"/>
                </a:lnTo>
                <a:lnTo>
                  <a:pt x="20982" y="58929"/>
                </a:lnTo>
                <a:lnTo>
                  <a:pt x="21875" y="57143"/>
                </a:lnTo>
                <a:lnTo>
                  <a:pt x="25000" y="54018"/>
                </a:lnTo>
                <a:lnTo>
                  <a:pt x="28125" y="52679"/>
                </a:lnTo>
                <a:close/>
                <a:moveTo>
                  <a:pt x="67411" y="52679"/>
                </a:moveTo>
                <a:lnTo>
                  <a:pt x="67857" y="52232"/>
                </a:lnTo>
                <a:lnTo>
                  <a:pt x="72321" y="52232"/>
                </a:lnTo>
                <a:lnTo>
                  <a:pt x="72768" y="52679"/>
                </a:lnTo>
                <a:lnTo>
                  <a:pt x="73214" y="53125"/>
                </a:lnTo>
                <a:lnTo>
                  <a:pt x="74107" y="53125"/>
                </a:lnTo>
                <a:lnTo>
                  <a:pt x="75000" y="53125"/>
                </a:lnTo>
                <a:lnTo>
                  <a:pt x="76786" y="54018"/>
                </a:lnTo>
                <a:lnTo>
                  <a:pt x="79911" y="57143"/>
                </a:lnTo>
                <a:lnTo>
                  <a:pt x="79911" y="58036"/>
                </a:lnTo>
                <a:lnTo>
                  <a:pt x="79911" y="58929"/>
                </a:lnTo>
                <a:lnTo>
                  <a:pt x="80357" y="59375"/>
                </a:lnTo>
                <a:lnTo>
                  <a:pt x="80804" y="59821"/>
                </a:lnTo>
                <a:lnTo>
                  <a:pt x="80804" y="66964"/>
                </a:lnTo>
                <a:lnTo>
                  <a:pt x="80357" y="67411"/>
                </a:lnTo>
                <a:lnTo>
                  <a:pt x="67857" y="67411"/>
                </a:lnTo>
                <a:lnTo>
                  <a:pt x="67411" y="66964"/>
                </a:lnTo>
                <a:lnTo>
                  <a:pt x="67411" y="66071"/>
                </a:lnTo>
                <a:lnTo>
                  <a:pt x="67857" y="65625"/>
                </a:lnTo>
                <a:lnTo>
                  <a:pt x="77679" y="65625"/>
                </a:lnTo>
                <a:lnTo>
                  <a:pt x="79018" y="64286"/>
                </a:lnTo>
                <a:lnTo>
                  <a:pt x="79018" y="60714"/>
                </a:lnTo>
                <a:lnTo>
                  <a:pt x="77232" y="57143"/>
                </a:lnTo>
                <a:lnTo>
                  <a:pt x="75000" y="54911"/>
                </a:lnTo>
                <a:lnTo>
                  <a:pt x="73214" y="54018"/>
                </a:lnTo>
                <a:lnTo>
                  <a:pt x="67857" y="54018"/>
                </a:lnTo>
                <a:lnTo>
                  <a:pt x="67411" y="54464"/>
                </a:lnTo>
                <a:lnTo>
                  <a:pt x="66964" y="54911"/>
                </a:lnTo>
                <a:lnTo>
                  <a:pt x="66518" y="54464"/>
                </a:lnTo>
                <a:lnTo>
                  <a:pt x="66518" y="53571"/>
                </a:lnTo>
                <a:lnTo>
                  <a:pt x="66964" y="53125"/>
                </a:lnTo>
                <a:lnTo>
                  <a:pt x="67411" y="52679"/>
                </a:lnTo>
                <a:close/>
              </a:path>
            </a:pathLst>
          </a:custGeom>
          <a:solidFill>
            <a:srgbClr val="FFFFFF"/>
          </a:solidFill>
          <a:ln>
            <a:noFill/>
          </a:ln>
        </p:spPr>
        <p:txBody>
          <a:bodyPr/>
          <a:p/>
        </p:txBody>
      </p:sp>
      <p:sp>
        <p:nvSpPr>
          <p:cNvPr id="17" name="Text 12"/>
          <p:cNvSpPr/>
          <p:nvPr/>
        </p:nvSpPr>
        <p:spPr>
          <a:xfrm>
            <a:off x="4197096" y="5440680"/>
            <a:ext cx="1746504" cy="777240"/>
          </a:xfrm>
          <a:prstGeom prst="rect">
            <a:avLst/>
          </a:prstGeom>
          <a:noFill/>
          <a:ln/>
        </p:spPr>
        <p:txBody>
          <a:bodyPr wrap="square" lIns="0" tIns="0" rIns="0" bIns="0" rtlCol="0" anchor="ctr"/>
          <a:lstStyle/>
          <a:p>
            <a:pPr indent="0" marL="0">
              <a:buNone/>
            </a:pPr>
            <a:r>
              <a:rPr lang="en-US" sz="1330" b="1" dirty="0">
                <a:solidFill>
                  <a:srgbClr val="0F766E"/>
                </a:solidFill>
                <a:latin typeface="Aptos" pitchFamily="34" charset="0"/>
                <a:ea typeface="Segoe UI" pitchFamily="34" charset="-122"/>
                <a:cs typeface="Segoe UI" pitchFamily="34" charset="-120"/>
              </a:rPr>
              <a:t>C1 · Foyers avec</a:t>
            </a:r>
            <a:endParaRPr lang="en-US" sz="1330" dirty="0"/>
          </a:p>
          <a:p>
            <a:pPr indent="0" marL="0">
              <a:buNone/>
            </a:pPr>
            <a:r>
              <a:rPr lang="en-US" sz="1330" b="1" dirty="0">
                <a:solidFill>
                  <a:srgbClr val="0F766E"/>
                </a:solidFill>
                <a:latin typeface="Aptos" pitchFamily="34" charset="0"/>
                <a:ea typeface="Segoe UI" pitchFamily="34" charset="-122"/>
                <a:cs typeface="Segoe UI" pitchFamily="34" charset="-120"/>
              </a:rPr>
              <a:t>enfants, faibles</a:t>
            </a:r>
          </a:p>
          <a:p>
            <a:pPr indent="0" marL="0">
              <a:buNone/>
            </a:pPr>
            <a:r>
              <a:rPr lang="en-US" sz="1330" b="1" dirty="0">
                <a:solidFill>
                  <a:srgbClr val="0F766E"/>
                </a:solidFill>
                <a:latin typeface="Aptos" pitchFamily="34" charset="0"/>
                <a:ea typeface="Segoe UI" pitchFamily="34" charset="-122"/>
                <a:cs typeface="Segoe UI" pitchFamily="34" charset="-120"/>
              </a:rPr>
              <a:t>dépenses</a:t>
            </a:r>
          </a:p>
        </p:txBody>
      </p:sp>
      <p:sp>
        <p:nvSpPr>
          <p:cNvPr id="18" name="Shape 13"/>
          <p:cNvSpPr/>
          <p:nvPr/>
        </p:nvSpPr>
        <p:spPr>
          <a:xfrm>
            <a:off x="6126480" y="5285232"/>
            <a:ext cx="2834640" cy="1060704"/>
          </a:xfrm>
          <a:prstGeom prst="roundRect">
            <a:avLst>
              <a:gd name="adj" fmla="val 12069"/>
            </a:avLst>
          </a:prstGeom>
          <a:solidFill>
            <a:srgbClr val="F3F4F6"/>
          </a:solidFill>
          <a:ln w="12700">
            <a:solidFill>
              <a:srgbClr val="F3F4F6">
                <a:alpha val="0"/>
              </a:srgbClr>
            </a:solidFill>
            <a:prstDash val="solid"/>
          </a:ln>
        </p:spPr>
        <p:txBody>
          <a:bodyPr/>
          <a:p/>
        </p:txBody>
      </p:sp>
      <p:sp>
        <p:nvSpPr>
          <p:cNvPr id="19" name="Shape 14"/>
          <p:cNvSpPr/>
          <p:nvPr/>
        </p:nvSpPr>
        <p:spPr>
          <a:xfrm>
            <a:off x="6254496" y="5431536"/>
            <a:ext cx="795528" cy="795528"/>
          </a:xfrm>
          <a:prstGeom prst="ellipse">
            <a:avLst/>
          </a:prstGeom>
          <a:solidFill>
            <a:srgbClr val="B45309"/>
          </a:solidFill>
          <a:ln w="12700">
            <a:solidFill>
              <a:srgbClr val="6D28D9">
                <a:alpha val="0"/>
              </a:srgbClr>
            </a:solidFill>
            <a:prstDash val="solid"/>
          </a:ln>
        </p:spPr>
        <p:txBody>
          <a:bodyPr/>
          <a:p/>
        </p:txBody>
      </p:sp>
      <p:sp>
        <p:nvSpPr>
          <p:cNvPr id="20" name="VECTOR_bag_38"/>
          <p:cNvSpPr/>
          <p:nvPr/>
        </p:nvSpPr>
        <p:spPr>
          <a:xfrm>
            <a:off x="6254496" y="5431536"/>
            <a:ext cx="795528" cy="795528"/>
          </a:xfrm>
          <a:custGeom>
            <a:avLst/>
            <a:gdLst/>
            <a:ahLst/>
            <a:cxnLst/>
            <a:rect l="0" t="0" r="r" b="b"/>
            <a:pathLst>
              <a:path w="100000" h="100000" fill="norm" stroke="false" extrusionOk="false">
                <a:moveTo>
                  <a:pt x="45000" y="24615"/>
                </a:moveTo>
                <a:lnTo>
                  <a:pt x="45385" y="24231"/>
                </a:lnTo>
                <a:lnTo>
                  <a:pt x="51538" y="24231"/>
                </a:lnTo>
                <a:lnTo>
                  <a:pt x="54615" y="25769"/>
                </a:lnTo>
                <a:lnTo>
                  <a:pt x="57308" y="28462"/>
                </a:lnTo>
                <a:lnTo>
                  <a:pt x="58846" y="31538"/>
                </a:lnTo>
                <a:lnTo>
                  <a:pt x="58846" y="37692"/>
                </a:lnTo>
                <a:lnTo>
                  <a:pt x="59231" y="38077"/>
                </a:lnTo>
                <a:lnTo>
                  <a:pt x="66154" y="38077"/>
                </a:lnTo>
                <a:lnTo>
                  <a:pt x="68077" y="40000"/>
                </a:lnTo>
                <a:lnTo>
                  <a:pt x="68077" y="44615"/>
                </a:lnTo>
                <a:lnTo>
                  <a:pt x="68462" y="45000"/>
                </a:lnTo>
                <a:lnTo>
                  <a:pt x="68846" y="45385"/>
                </a:lnTo>
                <a:lnTo>
                  <a:pt x="68846" y="51538"/>
                </a:lnTo>
                <a:lnTo>
                  <a:pt x="69231" y="51923"/>
                </a:lnTo>
                <a:lnTo>
                  <a:pt x="69615" y="52308"/>
                </a:lnTo>
                <a:lnTo>
                  <a:pt x="69615" y="57692"/>
                </a:lnTo>
                <a:lnTo>
                  <a:pt x="70000" y="58077"/>
                </a:lnTo>
                <a:lnTo>
                  <a:pt x="70385" y="58462"/>
                </a:lnTo>
                <a:lnTo>
                  <a:pt x="70385" y="63846"/>
                </a:lnTo>
                <a:lnTo>
                  <a:pt x="70769" y="64231"/>
                </a:lnTo>
                <a:lnTo>
                  <a:pt x="71154" y="64615"/>
                </a:lnTo>
                <a:lnTo>
                  <a:pt x="71154" y="70769"/>
                </a:lnTo>
                <a:lnTo>
                  <a:pt x="71538" y="71154"/>
                </a:lnTo>
                <a:lnTo>
                  <a:pt x="71923" y="71538"/>
                </a:lnTo>
                <a:lnTo>
                  <a:pt x="71923" y="76923"/>
                </a:lnTo>
                <a:lnTo>
                  <a:pt x="70000" y="78077"/>
                </a:lnTo>
                <a:lnTo>
                  <a:pt x="52308" y="78077"/>
                </a:lnTo>
                <a:lnTo>
                  <a:pt x="26923" y="78077"/>
                </a:lnTo>
                <a:lnTo>
                  <a:pt x="25000" y="76154"/>
                </a:lnTo>
                <a:lnTo>
                  <a:pt x="25000" y="73846"/>
                </a:lnTo>
                <a:lnTo>
                  <a:pt x="25385" y="73462"/>
                </a:lnTo>
                <a:lnTo>
                  <a:pt x="25769" y="73077"/>
                </a:lnTo>
                <a:lnTo>
                  <a:pt x="25769" y="67692"/>
                </a:lnTo>
                <a:lnTo>
                  <a:pt x="26154" y="67308"/>
                </a:lnTo>
                <a:lnTo>
                  <a:pt x="26538" y="66923"/>
                </a:lnTo>
                <a:lnTo>
                  <a:pt x="26538" y="62308"/>
                </a:lnTo>
                <a:lnTo>
                  <a:pt x="26923" y="61923"/>
                </a:lnTo>
                <a:lnTo>
                  <a:pt x="27308" y="61538"/>
                </a:lnTo>
                <a:lnTo>
                  <a:pt x="27308" y="56154"/>
                </a:lnTo>
                <a:lnTo>
                  <a:pt x="27692" y="55769"/>
                </a:lnTo>
                <a:lnTo>
                  <a:pt x="28077" y="55385"/>
                </a:lnTo>
                <a:lnTo>
                  <a:pt x="28077" y="49231"/>
                </a:lnTo>
                <a:lnTo>
                  <a:pt x="28462" y="48846"/>
                </a:lnTo>
                <a:lnTo>
                  <a:pt x="28846" y="48462"/>
                </a:lnTo>
                <a:lnTo>
                  <a:pt x="28846" y="43846"/>
                </a:lnTo>
                <a:lnTo>
                  <a:pt x="29231" y="43462"/>
                </a:lnTo>
                <a:lnTo>
                  <a:pt x="29615" y="43077"/>
                </a:lnTo>
                <a:lnTo>
                  <a:pt x="29615" y="39231"/>
                </a:lnTo>
                <a:lnTo>
                  <a:pt x="30769" y="38077"/>
                </a:lnTo>
                <a:lnTo>
                  <a:pt x="37692" y="38077"/>
                </a:lnTo>
                <a:lnTo>
                  <a:pt x="38077" y="37692"/>
                </a:lnTo>
                <a:lnTo>
                  <a:pt x="38077" y="32308"/>
                </a:lnTo>
                <a:lnTo>
                  <a:pt x="38462" y="31923"/>
                </a:lnTo>
                <a:lnTo>
                  <a:pt x="38846" y="31538"/>
                </a:lnTo>
                <a:lnTo>
                  <a:pt x="38846" y="30769"/>
                </a:lnTo>
                <a:lnTo>
                  <a:pt x="38846" y="30000"/>
                </a:lnTo>
                <a:lnTo>
                  <a:pt x="39615" y="28462"/>
                </a:lnTo>
                <a:lnTo>
                  <a:pt x="42308" y="25769"/>
                </a:lnTo>
                <a:lnTo>
                  <a:pt x="45000" y="24615"/>
                </a:lnTo>
                <a:close/>
                <a:moveTo>
                  <a:pt x="46154" y="26538"/>
                </a:moveTo>
                <a:lnTo>
                  <a:pt x="44615" y="27308"/>
                </a:lnTo>
                <a:lnTo>
                  <a:pt x="41923" y="30000"/>
                </a:lnTo>
                <a:lnTo>
                  <a:pt x="41154" y="31538"/>
                </a:lnTo>
                <a:lnTo>
                  <a:pt x="41154" y="37692"/>
                </a:lnTo>
                <a:lnTo>
                  <a:pt x="41538" y="38077"/>
                </a:lnTo>
                <a:lnTo>
                  <a:pt x="51538" y="38077"/>
                </a:lnTo>
                <a:lnTo>
                  <a:pt x="56154" y="38077"/>
                </a:lnTo>
                <a:lnTo>
                  <a:pt x="56538" y="37692"/>
                </a:lnTo>
                <a:lnTo>
                  <a:pt x="56538" y="33077"/>
                </a:lnTo>
                <a:lnTo>
                  <a:pt x="56154" y="32692"/>
                </a:lnTo>
                <a:lnTo>
                  <a:pt x="55769" y="32308"/>
                </a:lnTo>
                <a:lnTo>
                  <a:pt x="55769" y="31538"/>
                </a:lnTo>
                <a:lnTo>
                  <a:pt x="55769" y="30769"/>
                </a:lnTo>
                <a:lnTo>
                  <a:pt x="52308" y="27308"/>
                </a:lnTo>
                <a:lnTo>
                  <a:pt x="51538" y="27308"/>
                </a:lnTo>
                <a:lnTo>
                  <a:pt x="50769" y="27308"/>
                </a:lnTo>
                <a:lnTo>
                  <a:pt x="50385" y="26923"/>
                </a:lnTo>
                <a:lnTo>
                  <a:pt x="50000" y="26538"/>
                </a:lnTo>
                <a:lnTo>
                  <a:pt x="46154" y="26538"/>
                </a:lnTo>
                <a:close/>
                <a:moveTo>
                  <a:pt x="33077" y="41154"/>
                </a:moveTo>
                <a:lnTo>
                  <a:pt x="31923" y="42308"/>
                </a:lnTo>
                <a:lnTo>
                  <a:pt x="31923" y="45385"/>
                </a:lnTo>
                <a:lnTo>
                  <a:pt x="31538" y="45769"/>
                </a:lnTo>
                <a:lnTo>
                  <a:pt x="31154" y="46154"/>
                </a:lnTo>
                <a:lnTo>
                  <a:pt x="31154" y="51538"/>
                </a:lnTo>
                <a:lnTo>
                  <a:pt x="30769" y="51923"/>
                </a:lnTo>
                <a:lnTo>
                  <a:pt x="30385" y="52308"/>
                </a:lnTo>
                <a:lnTo>
                  <a:pt x="30385" y="56923"/>
                </a:lnTo>
                <a:lnTo>
                  <a:pt x="30000" y="57308"/>
                </a:lnTo>
                <a:lnTo>
                  <a:pt x="29615" y="57692"/>
                </a:lnTo>
                <a:lnTo>
                  <a:pt x="29615" y="63077"/>
                </a:lnTo>
                <a:lnTo>
                  <a:pt x="29231" y="63462"/>
                </a:lnTo>
                <a:lnTo>
                  <a:pt x="28846" y="63846"/>
                </a:lnTo>
                <a:lnTo>
                  <a:pt x="28846" y="69231"/>
                </a:lnTo>
                <a:lnTo>
                  <a:pt x="28462" y="69615"/>
                </a:lnTo>
                <a:lnTo>
                  <a:pt x="28077" y="70000"/>
                </a:lnTo>
                <a:lnTo>
                  <a:pt x="28077" y="74615"/>
                </a:lnTo>
                <a:lnTo>
                  <a:pt x="29231" y="75769"/>
                </a:lnTo>
                <a:lnTo>
                  <a:pt x="63077" y="75769"/>
                </a:lnTo>
                <a:lnTo>
                  <a:pt x="63462" y="75385"/>
                </a:lnTo>
                <a:lnTo>
                  <a:pt x="63846" y="75000"/>
                </a:lnTo>
                <a:lnTo>
                  <a:pt x="66923" y="75000"/>
                </a:lnTo>
                <a:lnTo>
                  <a:pt x="67308" y="75385"/>
                </a:lnTo>
                <a:lnTo>
                  <a:pt x="67692" y="75769"/>
                </a:lnTo>
                <a:lnTo>
                  <a:pt x="68846" y="74615"/>
                </a:lnTo>
                <a:lnTo>
                  <a:pt x="68846" y="73846"/>
                </a:lnTo>
                <a:lnTo>
                  <a:pt x="68846" y="68462"/>
                </a:lnTo>
                <a:lnTo>
                  <a:pt x="68462" y="68077"/>
                </a:lnTo>
                <a:lnTo>
                  <a:pt x="68077" y="67692"/>
                </a:lnTo>
                <a:lnTo>
                  <a:pt x="68077" y="61538"/>
                </a:lnTo>
                <a:lnTo>
                  <a:pt x="67692" y="61154"/>
                </a:lnTo>
                <a:lnTo>
                  <a:pt x="67308" y="60769"/>
                </a:lnTo>
                <a:lnTo>
                  <a:pt x="67308" y="55385"/>
                </a:lnTo>
                <a:lnTo>
                  <a:pt x="66923" y="55000"/>
                </a:lnTo>
                <a:lnTo>
                  <a:pt x="66538" y="54615"/>
                </a:lnTo>
                <a:lnTo>
                  <a:pt x="66538" y="49231"/>
                </a:lnTo>
                <a:lnTo>
                  <a:pt x="66154" y="48846"/>
                </a:lnTo>
                <a:lnTo>
                  <a:pt x="65769" y="48462"/>
                </a:lnTo>
                <a:lnTo>
                  <a:pt x="65769" y="43077"/>
                </a:lnTo>
                <a:lnTo>
                  <a:pt x="64615" y="41154"/>
                </a:lnTo>
                <a:lnTo>
                  <a:pt x="59231" y="41154"/>
                </a:lnTo>
                <a:lnTo>
                  <a:pt x="58846" y="43846"/>
                </a:lnTo>
                <a:lnTo>
                  <a:pt x="57692" y="45000"/>
                </a:lnTo>
                <a:lnTo>
                  <a:pt x="56538" y="43846"/>
                </a:lnTo>
                <a:lnTo>
                  <a:pt x="56154" y="41154"/>
                </a:lnTo>
                <a:lnTo>
                  <a:pt x="41538" y="41154"/>
                </a:lnTo>
                <a:lnTo>
                  <a:pt x="41154" y="43846"/>
                </a:lnTo>
                <a:lnTo>
                  <a:pt x="40000" y="45000"/>
                </a:lnTo>
                <a:lnTo>
                  <a:pt x="39231" y="45000"/>
                </a:lnTo>
                <a:lnTo>
                  <a:pt x="38077" y="43846"/>
                </a:lnTo>
                <a:lnTo>
                  <a:pt x="37692" y="41154"/>
                </a:lnTo>
                <a:lnTo>
                  <a:pt x="33077" y="41154"/>
                </a:lnTo>
                <a:close/>
              </a:path>
            </a:pathLst>
          </a:custGeom>
          <a:solidFill>
            <a:srgbClr val="FFFFFF"/>
          </a:solidFill>
          <a:ln>
            <a:noFill/>
          </a:ln>
        </p:spPr>
        <p:txBody>
          <a:bodyPr/>
          <a:p/>
        </p:txBody>
      </p:sp>
      <p:sp>
        <p:nvSpPr>
          <p:cNvPr id="21" name="Text 16"/>
          <p:cNvSpPr/>
          <p:nvPr/>
        </p:nvSpPr>
        <p:spPr>
          <a:xfrm>
            <a:off x="7132320" y="5440680"/>
            <a:ext cx="1746504" cy="777240"/>
          </a:xfrm>
          <a:prstGeom prst="rect">
            <a:avLst/>
          </a:prstGeom>
          <a:noFill/>
          <a:ln/>
        </p:spPr>
        <p:txBody>
          <a:bodyPr wrap="square" lIns="0" tIns="0" rIns="0" bIns="0" rtlCol="0" anchor="ctr"/>
          <a:lstStyle/>
          <a:p>
            <a:pPr indent="0" marL="0">
              <a:buNone/>
            </a:pPr>
            <a:r>
              <a:rPr lang="en-US" sz="1330" b="1" dirty="0">
                <a:solidFill>
                  <a:srgbClr val="B45309"/>
                </a:solidFill>
                <a:latin typeface="Aptos" pitchFamily="34" charset="0"/>
                <a:ea typeface="Segoe UI" pitchFamily="34" charset="-122"/>
                <a:cs typeface="Segoe UI" pitchFamily="34" charset="-120"/>
              </a:rPr>
              <a:t>C2 · Foyers avec</a:t>
            </a:r>
            <a:endParaRPr lang="en-US" sz="1330" dirty="0"/>
          </a:p>
          <a:p>
            <a:pPr indent="0" marL="0">
              <a:buNone/>
            </a:pPr>
            <a:r>
              <a:rPr lang="en-US" sz="1330" b="1" dirty="0">
                <a:solidFill>
                  <a:srgbClr val="B45309"/>
                </a:solidFill>
                <a:latin typeface="Aptos" pitchFamily="34" charset="0"/>
                <a:ea typeface="Segoe UI" pitchFamily="34" charset="-122"/>
                <a:cs typeface="Segoe UI" pitchFamily="34" charset="-120"/>
              </a:rPr>
              <a:t>enfants, dépenses</a:t>
            </a:r>
          </a:p>
          <a:p>
            <a:pPr indent="0" marL="0">
              <a:buNone/>
            </a:pPr>
            <a:r>
              <a:rPr lang="en-US" sz="1330" b="1" dirty="0">
                <a:solidFill>
                  <a:srgbClr val="B45309"/>
                </a:solidFill>
                <a:latin typeface="Aptos" pitchFamily="34" charset="0"/>
                <a:ea typeface="Segoe UI" pitchFamily="34" charset="-122"/>
                <a:cs typeface="Segoe UI" pitchFamily="34" charset="-120"/>
              </a:rPr>
              <a:t>intermédiaires</a:t>
            </a:r>
          </a:p>
        </p:txBody>
      </p:sp>
      <p:sp>
        <p:nvSpPr>
          <p:cNvPr id="22" name="Shape 17"/>
          <p:cNvSpPr/>
          <p:nvPr/>
        </p:nvSpPr>
        <p:spPr>
          <a:xfrm>
            <a:off x="9061704" y="5285232"/>
            <a:ext cx="2834640" cy="1060704"/>
          </a:xfrm>
          <a:prstGeom prst="roundRect">
            <a:avLst>
              <a:gd name="adj" fmla="val 12069"/>
            </a:avLst>
          </a:prstGeom>
          <a:solidFill>
            <a:srgbClr val="F3F4F6"/>
          </a:solidFill>
          <a:ln w="12700">
            <a:solidFill>
              <a:srgbClr val="F3F4F6">
                <a:alpha val="0"/>
              </a:srgbClr>
            </a:solidFill>
            <a:prstDash val="solid"/>
          </a:ln>
        </p:spPr>
        <p:txBody>
          <a:bodyPr/>
          <a:p/>
        </p:txBody>
      </p:sp>
      <p:sp>
        <p:nvSpPr>
          <p:cNvPr id="23" name="Shape 18"/>
          <p:cNvSpPr/>
          <p:nvPr/>
        </p:nvSpPr>
        <p:spPr>
          <a:xfrm>
            <a:off x="9189720" y="5431536"/>
            <a:ext cx="795528" cy="795528"/>
          </a:xfrm>
          <a:prstGeom prst="ellipse">
            <a:avLst/>
          </a:prstGeom>
          <a:solidFill>
            <a:srgbClr val="6D28D9"/>
          </a:solidFill>
          <a:ln w="12700">
            <a:solidFill>
              <a:srgbClr val="17324D">
                <a:alpha val="0"/>
              </a:srgbClr>
            </a:solidFill>
            <a:prstDash val="solid"/>
          </a:ln>
        </p:spPr>
        <p:txBody>
          <a:bodyPr/>
          <a:p/>
        </p:txBody>
      </p:sp>
      <p:sp>
        <p:nvSpPr>
          <p:cNvPr id="24" name="VECTOR_diamond_39"/>
          <p:cNvSpPr/>
          <p:nvPr/>
        </p:nvSpPr>
        <p:spPr>
          <a:xfrm>
            <a:off x="9189720" y="5431536"/>
            <a:ext cx="795528" cy="795528"/>
          </a:xfrm>
          <a:custGeom>
            <a:avLst/>
            <a:gdLst/>
            <a:ahLst/>
            <a:cxnLst/>
            <a:rect l="0" t="0" r="r" b="b"/>
            <a:pathLst>
              <a:path w="100000" h="100000" fill="norm" stroke="false" extrusionOk="false">
                <a:moveTo>
                  <a:pt x="40873" y="27778"/>
                </a:moveTo>
                <a:lnTo>
                  <a:pt x="41270" y="27381"/>
                </a:lnTo>
                <a:lnTo>
                  <a:pt x="42063" y="27381"/>
                </a:lnTo>
                <a:lnTo>
                  <a:pt x="42460" y="27778"/>
                </a:lnTo>
                <a:lnTo>
                  <a:pt x="42857" y="28175"/>
                </a:lnTo>
                <a:lnTo>
                  <a:pt x="57937" y="28175"/>
                </a:lnTo>
                <a:lnTo>
                  <a:pt x="58333" y="27778"/>
                </a:lnTo>
                <a:lnTo>
                  <a:pt x="58730" y="27381"/>
                </a:lnTo>
                <a:lnTo>
                  <a:pt x="59524" y="27381"/>
                </a:lnTo>
                <a:lnTo>
                  <a:pt x="60317" y="27381"/>
                </a:lnTo>
                <a:lnTo>
                  <a:pt x="60714" y="27778"/>
                </a:lnTo>
                <a:lnTo>
                  <a:pt x="61111" y="28175"/>
                </a:lnTo>
                <a:lnTo>
                  <a:pt x="66667" y="28175"/>
                </a:lnTo>
                <a:lnTo>
                  <a:pt x="71825" y="34127"/>
                </a:lnTo>
                <a:lnTo>
                  <a:pt x="71825" y="34921"/>
                </a:lnTo>
                <a:lnTo>
                  <a:pt x="74206" y="37302"/>
                </a:lnTo>
                <a:lnTo>
                  <a:pt x="74206" y="38095"/>
                </a:lnTo>
                <a:lnTo>
                  <a:pt x="78175" y="42063"/>
                </a:lnTo>
                <a:lnTo>
                  <a:pt x="78968" y="43651"/>
                </a:lnTo>
                <a:lnTo>
                  <a:pt x="78968" y="44444"/>
                </a:lnTo>
                <a:lnTo>
                  <a:pt x="78968" y="45238"/>
                </a:lnTo>
                <a:lnTo>
                  <a:pt x="76587" y="47619"/>
                </a:lnTo>
                <a:lnTo>
                  <a:pt x="76587" y="48413"/>
                </a:lnTo>
                <a:lnTo>
                  <a:pt x="71825" y="53175"/>
                </a:lnTo>
                <a:lnTo>
                  <a:pt x="71825" y="53968"/>
                </a:lnTo>
                <a:lnTo>
                  <a:pt x="67063" y="58730"/>
                </a:lnTo>
                <a:lnTo>
                  <a:pt x="67063" y="59524"/>
                </a:lnTo>
                <a:lnTo>
                  <a:pt x="59921" y="67460"/>
                </a:lnTo>
                <a:lnTo>
                  <a:pt x="57540" y="69841"/>
                </a:lnTo>
                <a:lnTo>
                  <a:pt x="57540" y="70635"/>
                </a:lnTo>
                <a:lnTo>
                  <a:pt x="53968" y="74206"/>
                </a:lnTo>
                <a:lnTo>
                  <a:pt x="53175" y="74206"/>
                </a:lnTo>
                <a:lnTo>
                  <a:pt x="41667" y="61905"/>
                </a:lnTo>
                <a:lnTo>
                  <a:pt x="41667" y="61111"/>
                </a:lnTo>
                <a:lnTo>
                  <a:pt x="32143" y="50794"/>
                </a:lnTo>
                <a:lnTo>
                  <a:pt x="32143" y="50000"/>
                </a:lnTo>
                <a:lnTo>
                  <a:pt x="28175" y="46032"/>
                </a:lnTo>
                <a:lnTo>
                  <a:pt x="27381" y="44444"/>
                </a:lnTo>
                <a:lnTo>
                  <a:pt x="28175" y="42857"/>
                </a:lnTo>
                <a:lnTo>
                  <a:pt x="33730" y="36508"/>
                </a:lnTo>
                <a:lnTo>
                  <a:pt x="33730" y="35714"/>
                </a:lnTo>
                <a:lnTo>
                  <a:pt x="40873" y="27778"/>
                </a:lnTo>
                <a:close/>
                <a:moveTo>
                  <a:pt x="42063" y="28968"/>
                </a:moveTo>
                <a:lnTo>
                  <a:pt x="35317" y="36508"/>
                </a:lnTo>
                <a:lnTo>
                  <a:pt x="35317" y="37302"/>
                </a:lnTo>
                <a:lnTo>
                  <a:pt x="30556" y="42857"/>
                </a:lnTo>
                <a:lnTo>
                  <a:pt x="30952" y="43254"/>
                </a:lnTo>
                <a:lnTo>
                  <a:pt x="34921" y="43254"/>
                </a:lnTo>
                <a:lnTo>
                  <a:pt x="42063" y="43254"/>
                </a:lnTo>
                <a:lnTo>
                  <a:pt x="42460" y="42857"/>
                </a:lnTo>
                <a:lnTo>
                  <a:pt x="43254" y="41270"/>
                </a:lnTo>
                <a:lnTo>
                  <a:pt x="43254" y="40476"/>
                </a:lnTo>
                <a:lnTo>
                  <a:pt x="43254" y="39683"/>
                </a:lnTo>
                <a:lnTo>
                  <a:pt x="43651" y="39286"/>
                </a:lnTo>
                <a:lnTo>
                  <a:pt x="44048" y="38889"/>
                </a:lnTo>
                <a:lnTo>
                  <a:pt x="44048" y="38095"/>
                </a:lnTo>
                <a:lnTo>
                  <a:pt x="44048" y="37302"/>
                </a:lnTo>
                <a:lnTo>
                  <a:pt x="44444" y="36905"/>
                </a:lnTo>
                <a:lnTo>
                  <a:pt x="44841" y="36508"/>
                </a:lnTo>
                <a:lnTo>
                  <a:pt x="44841" y="34127"/>
                </a:lnTo>
                <a:lnTo>
                  <a:pt x="45238" y="33730"/>
                </a:lnTo>
                <a:lnTo>
                  <a:pt x="45635" y="33333"/>
                </a:lnTo>
                <a:lnTo>
                  <a:pt x="46429" y="29365"/>
                </a:lnTo>
                <a:lnTo>
                  <a:pt x="46032" y="28968"/>
                </a:lnTo>
                <a:lnTo>
                  <a:pt x="42063" y="28968"/>
                </a:lnTo>
                <a:close/>
                <a:moveTo>
                  <a:pt x="48413" y="28968"/>
                </a:moveTo>
                <a:lnTo>
                  <a:pt x="47222" y="30952"/>
                </a:lnTo>
                <a:lnTo>
                  <a:pt x="47222" y="31746"/>
                </a:lnTo>
                <a:lnTo>
                  <a:pt x="47222" y="32540"/>
                </a:lnTo>
                <a:lnTo>
                  <a:pt x="46825" y="32937"/>
                </a:lnTo>
                <a:lnTo>
                  <a:pt x="46429" y="33333"/>
                </a:lnTo>
                <a:lnTo>
                  <a:pt x="46429" y="35714"/>
                </a:lnTo>
                <a:lnTo>
                  <a:pt x="46032" y="36111"/>
                </a:lnTo>
                <a:lnTo>
                  <a:pt x="45635" y="36508"/>
                </a:lnTo>
                <a:lnTo>
                  <a:pt x="45635" y="37302"/>
                </a:lnTo>
                <a:lnTo>
                  <a:pt x="45635" y="38095"/>
                </a:lnTo>
                <a:lnTo>
                  <a:pt x="45238" y="38492"/>
                </a:lnTo>
                <a:lnTo>
                  <a:pt x="44841" y="38889"/>
                </a:lnTo>
                <a:lnTo>
                  <a:pt x="44841" y="41270"/>
                </a:lnTo>
                <a:lnTo>
                  <a:pt x="44048" y="42857"/>
                </a:lnTo>
                <a:lnTo>
                  <a:pt x="44444" y="43254"/>
                </a:lnTo>
                <a:lnTo>
                  <a:pt x="58730" y="43254"/>
                </a:lnTo>
                <a:lnTo>
                  <a:pt x="62698" y="43254"/>
                </a:lnTo>
                <a:lnTo>
                  <a:pt x="63095" y="42857"/>
                </a:lnTo>
                <a:lnTo>
                  <a:pt x="62698" y="42460"/>
                </a:lnTo>
                <a:lnTo>
                  <a:pt x="62302" y="42063"/>
                </a:lnTo>
                <a:lnTo>
                  <a:pt x="62302" y="39683"/>
                </a:lnTo>
                <a:lnTo>
                  <a:pt x="61905" y="39286"/>
                </a:lnTo>
                <a:lnTo>
                  <a:pt x="61508" y="38889"/>
                </a:lnTo>
                <a:lnTo>
                  <a:pt x="61508" y="38095"/>
                </a:lnTo>
                <a:lnTo>
                  <a:pt x="61508" y="37302"/>
                </a:lnTo>
                <a:lnTo>
                  <a:pt x="61111" y="36905"/>
                </a:lnTo>
                <a:lnTo>
                  <a:pt x="60714" y="36508"/>
                </a:lnTo>
                <a:lnTo>
                  <a:pt x="60714" y="34127"/>
                </a:lnTo>
                <a:lnTo>
                  <a:pt x="60317" y="33730"/>
                </a:lnTo>
                <a:lnTo>
                  <a:pt x="59921" y="33333"/>
                </a:lnTo>
                <a:lnTo>
                  <a:pt x="59921" y="32540"/>
                </a:lnTo>
                <a:lnTo>
                  <a:pt x="59921" y="31746"/>
                </a:lnTo>
                <a:lnTo>
                  <a:pt x="59127" y="30159"/>
                </a:lnTo>
                <a:lnTo>
                  <a:pt x="57937" y="28968"/>
                </a:lnTo>
                <a:lnTo>
                  <a:pt x="48413" y="28968"/>
                </a:lnTo>
                <a:close/>
                <a:moveTo>
                  <a:pt x="61111" y="28968"/>
                </a:moveTo>
                <a:lnTo>
                  <a:pt x="60714" y="31746"/>
                </a:lnTo>
                <a:lnTo>
                  <a:pt x="61111" y="32143"/>
                </a:lnTo>
                <a:lnTo>
                  <a:pt x="61508" y="32540"/>
                </a:lnTo>
                <a:lnTo>
                  <a:pt x="61508" y="33333"/>
                </a:lnTo>
                <a:lnTo>
                  <a:pt x="61508" y="34127"/>
                </a:lnTo>
                <a:lnTo>
                  <a:pt x="63095" y="37302"/>
                </a:lnTo>
                <a:lnTo>
                  <a:pt x="63095" y="39683"/>
                </a:lnTo>
                <a:lnTo>
                  <a:pt x="63492" y="40079"/>
                </a:lnTo>
                <a:lnTo>
                  <a:pt x="63889" y="40476"/>
                </a:lnTo>
                <a:lnTo>
                  <a:pt x="64286" y="43254"/>
                </a:lnTo>
                <a:lnTo>
                  <a:pt x="76190" y="43254"/>
                </a:lnTo>
                <a:lnTo>
                  <a:pt x="76587" y="42857"/>
                </a:lnTo>
                <a:lnTo>
                  <a:pt x="74206" y="40476"/>
                </a:lnTo>
                <a:lnTo>
                  <a:pt x="74206" y="39683"/>
                </a:lnTo>
                <a:lnTo>
                  <a:pt x="71825" y="37302"/>
                </a:lnTo>
                <a:lnTo>
                  <a:pt x="71825" y="36508"/>
                </a:lnTo>
                <a:lnTo>
                  <a:pt x="65079" y="28968"/>
                </a:lnTo>
                <a:lnTo>
                  <a:pt x="61111" y="28968"/>
                </a:lnTo>
                <a:close/>
                <a:moveTo>
                  <a:pt x="30952" y="44841"/>
                </a:moveTo>
                <a:lnTo>
                  <a:pt x="30556" y="45238"/>
                </a:lnTo>
                <a:lnTo>
                  <a:pt x="30556" y="46032"/>
                </a:lnTo>
                <a:lnTo>
                  <a:pt x="32937" y="48413"/>
                </a:lnTo>
                <a:lnTo>
                  <a:pt x="32937" y="49206"/>
                </a:lnTo>
                <a:lnTo>
                  <a:pt x="39286" y="55556"/>
                </a:lnTo>
                <a:lnTo>
                  <a:pt x="39286" y="56349"/>
                </a:lnTo>
                <a:lnTo>
                  <a:pt x="44048" y="61111"/>
                </a:lnTo>
                <a:lnTo>
                  <a:pt x="44048" y="61905"/>
                </a:lnTo>
                <a:lnTo>
                  <a:pt x="50000" y="67857"/>
                </a:lnTo>
                <a:lnTo>
                  <a:pt x="50794" y="67857"/>
                </a:lnTo>
                <a:lnTo>
                  <a:pt x="51190" y="67460"/>
                </a:lnTo>
                <a:lnTo>
                  <a:pt x="49603" y="65079"/>
                </a:lnTo>
                <a:lnTo>
                  <a:pt x="49603" y="64286"/>
                </a:lnTo>
                <a:lnTo>
                  <a:pt x="49603" y="63492"/>
                </a:lnTo>
                <a:lnTo>
                  <a:pt x="47222" y="58730"/>
                </a:lnTo>
                <a:lnTo>
                  <a:pt x="46429" y="54762"/>
                </a:lnTo>
                <a:lnTo>
                  <a:pt x="44841" y="52381"/>
                </a:lnTo>
                <a:lnTo>
                  <a:pt x="44841" y="51587"/>
                </a:lnTo>
                <a:lnTo>
                  <a:pt x="44841" y="50794"/>
                </a:lnTo>
                <a:lnTo>
                  <a:pt x="42460" y="46032"/>
                </a:lnTo>
                <a:lnTo>
                  <a:pt x="41270" y="44841"/>
                </a:lnTo>
                <a:lnTo>
                  <a:pt x="30952" y="44841"/>
                </a:lnTo>
                <a:close/>
                <a:moveTo>
                  <a:pt x="44444" y="44841"/>
                </a:moveTo>
                <a:lnTo>
                  <a:pt x="44048" y="46825"/>
                </a:lnTo>
                <a:lnTo>
                  <a:pt x="44444" y="47222"/>
                </a:lnTo>
                <a:lnTo>
                  <a:pt x="44841" y="47619"/>
                </a:lnTo>
                <a:lnTo>
                  <a:pt x="44841" y="48413"/>
                </a:lnTo>
                <a:lnTo>
                  <a:pt x="44841" y="49206"/>
                </a:lnTo>
                <a:lnTo>
                  <a:pt x="47222" y="53175"/>
                </a:lnTo>
                <a:lnTo>
                  <a:pt x="47222" y="53968"/>
                </a:lnTo>
                <a:lnTo>
                  <a:pt x="47222" y="54762"/>
                </a:lnTo>
                <a:lnTo>
                  <a:pt x="48810" y="57143"/>
                </a:lnTo>
                <a:lnTo>
                  <a:pt x="48810" y="57937"/>
                </a:lnTo>
                <a:lnTo>
                  <a:pt x="48810" y="58730"/>
                </a:lnTo>
                <a:lnTo>
                  <a:pt x="51190" y="63492"/>
                </a:lnTo>
                <a:lnTo>
                  <a:pt x="51190" y="64286"/>
                </a:lnTo>
                <a:lnTo>
                  <a:pt x="51190" y="65079"/>
                </a:lnTo>
                <a:lnTo>
                  <a:pt x="52778" y="67460"/>
                </a:lnTo>
                <a:lnTo>
                  <a:pt x="52778" y="68254"/>
                </a:lnTo>
                <a:lnTo>
                  <a:pt x="52778" y="69048"/>
                </a:lnTo>
                <a:lnTo>
                  <a:pt x="53175" y="69444"/>
                </a:lnTo>
                <a:lnTo>
                  <a:pt x="53968" y="69444"/>
                </a:lnTo>
                <a:lnTo>
                  <a:pt x="55159" y="68254"/>
                </a:lnTo>
                <a:lnTo>
                  <a:pt x="55159" y="67460"/>
                </a:lnTo>
                <a:lnTo>
                  <a:pt x="55159" y="66667"/>
                </a:lnTo>
                <a:lnTo>
                  <a:pt x="55556" y="66270"/>
                </a:lnTo>
                <a:lnTo>
                  <a:pt x="55952" y="65873"/>
                </a:lnTo>
                <a:lnTo>
                  <a:pt x="56349" y="63889"/>
                </a:lnTo>
                <a:lnTo>
                  <a:pt x="56746" y="61905"/>
                </a:lnTo>
                <a:lnTo>
                  <a:pt x="57143" y="61508"/>
                </a:lnTo>
                <a:lnTo>
                  <a:pt x="57540" y="61111"/>
                </a:lnTo>
                <a:lnTo>
                  <a:pt x="57540" y="60317"/>
                </a:lnTo>
                <a:lnTo>
                  <a:pt x="57540" y="59524"/>
                </a:lnTo>
                <a:lnTo>
                  <a:pt x="57937" y="59127"/>
                </a:lnTo>
                <a:lnTo>
                  <a:pt x="58333" y="58730"/>
                </a:lnTo>
                <a:lnTo>
                  <a:pt x="58333" y="57937"/>
                </a:lnTo>
                <a:lnTo>
                  <a:pt x="58333" y="57143"/>
                </a:lnTo>
                <a:lnTo>
                  <a:pt x="58730" y="56746"/>
                </a:lnTo>
                <a:lnTo>
                  <a:pt x="59127" y="56349"/>
                </a:lnTo>
                <a:lnTo>
                  <a:pt x="59127" y="55556"/>
                </a:lnTo>
                <a:lnTo>
                  <a:pt x="59127" y="54762"/>
                </a:lnTo>
                <a:lnTo>
                  <a:pt x="60714" y="52381"/>
                </a:lnTo>
                <a:lnTo>
                  <a:pt x="60714" y="51587"/>
                </a:lnTo>
                <a:lnTo>
                  <a:pt x="60714" y="50794"/>
                </a:lnTo>
                <a:lnTo>
                  <a:pt x="62302" y="47619"/>
                </a:lnTo>
                <a:lnTo>
                  <a:pt x="62302" y="45238"/>
                </a:lnTo>
                <a:lnTo>
                  <a:pt x="61905" y="44841"/>
                </a:lnTo>
                <a:lnTo>
                  <a:pt x="44444" y="44841"/>
                </a:lnTo>
                <a:close/>
                <a:moveTo>
                  <a:pt x="65079" y="44841"/>
                </a:moveTo>
                <a:lnTo>
                  <a:pt x="63889" y="46032"/>
                </a:lnTo>
                <a:lnTo>
                  <a:pt x="63889" y="46825"/>
                </a:lnTo>
                <a:lnTo>
                  <a:pt x="63889" y="47619"/>
                </a:lnTo>
                <a:lnTo>
                  <a:pt x="61508" y="52381"/>
                </a:lnTo>
                <a:lnTo>
                  <a:pt x="60714" y="56349"/>
                </a:lnTo>
                <a:lnTo>
                  <a:pt x="59127" y="58730"/>
                </a:lnTo>
                <a:lnTo>
                  <a:pt x="59127" y="59524"/>
                </a:lnTo>
                <a:lnTo>
                  <a:pt x="59127" y="60317"/>
                </a:lnTo>
                <a:lnTo>
                  <a:pt x="58730" y="60714"/>
                </a:lnTo>
                <a:lnTo>
                  <a:pt x="58333" y="61111"/>
                </a:lnTo>
                <a:lnTo>
                  <a:pt x="57540" y="65079"/>
                </a:lnTo>
                <a:lnTo>
                  <a:pt x="55952" y="67460"/>
                </a:lnTo>
                <a:lnTo>
                  <a:pt x="57937" y="67857"/>
                </a:lnTo>
                <a:lnTo>
                  <a:pt x="58333" y="67460"/>
                </a:lnTo>
                <a:lnTo>
                  <a:pt x="58333" y="66667"/>
                </a:lnTo>
                <a:lnTo>
                  <a:pt x="61905" y="63095"/>
                </a:lnTo>
                <a:lnTo>
                  <a:pt x="62302" y="62698"/>
                </a:lnTo>
                <a:lnTo>
                  <a:pt x="62302" y="61905"/>
                </a:lnTo>
                <a:lnTo>
                  <a:pt x="67063" y="57143"/>
                </a:lnTo>
                <a:lnTo>
                  <a:pt x="67063" y="56349"/>
                </a:lnTo>
                <a:lnTo>
                  <a:pt x="75794" y="46825"/>
                </a:lnTo>
                <a:lnTo>
                  <a:pt x="75397" y="44841"/>
                </a:lnTo>
                <a:lnTo>
                  <a:pt x="65079" y="44841"/>
                </a:lnTo>
                <a:close/>
              </a:path>
            </a:pathLst>
          </a:custGeom>
          <a:solidFill>
            <a:srgbClr val="FFFFFF"/>
          </a:solidFill>
          <a:ln>
            <a:noFill/>
          </a:ln>
        </p:spPr>
        <p:txBody>
          <a:bodyPr/>
          <a:p/>
        </p:txBody>
      </p:sp>
      <p:sp>
        <p:nvSpPr>
          <p:cNvPr id="25" name="Text 20"/>
          <p:cNvSpPr/>
          <p:nvPr/>
        </p:nvSpPr>
        <p:spPr>
          <a:xfrm>
            <a:off x="10067544" y="5440680"/>
            <a:ext cx="1746504" cy="777240"/>
          </a:xfrm>
          <a:prstGeom prst="rect">
            <a:avLst/>
          </a:prstGeom>
          <a:noFill/>
          <a:ln/>
        </p:spPr>
        <p:txBody>
          <a:bodyPr wrap="square" lIns="0" tIns="0" rIns="0" bIns="0" rtlCol="0" anchor="ctr"/>
          <a:lstStyle/>
          <a:p>
            <a:pPr indent="0" marL="0">
              <a:buNone/>
            </a:pPr>
            <a:r>
              <a:rPr lang="en-US" sz="1330" b="1" dirty="0">
                <a:solidFill>
                  <a:srgbClr val="6D28D9"/>
                </a:solidFill>
                <a:latin typeface="Aptos" pitchFamily="34" charset="0"/>
                <a:ea typeface="Segoe UI" pitchFamily="34" charset="-122"/>
                <a:cs typeface="Segoe UI" pitchFamily="34" charset="-120"/>
              </a:rPr>
              <a:t>C3 · Foyers surtout</a:t>
            </a:r>
            <a:endParaRPr lang="en-US" sz="1330" dirty="0"/>
          </a:p>
          <a:p>
            <a:pPr indent="0" marL="0">
              <a:buNone/>
            </a:pPr>
            <a:r>
              <a:rPr lang="en-US" sz="1330" b="1" dirty="0">
                <a:solidFill>
                  <a:srgbClr val="6D28D9"/>
                </a:solidFill>
                <a:latin typeface="Aptos" pitchFamily="34" charset="0"/>
                <a:ea typeface="Segoe UI" pitchFamily="34" charset="-122"/>
                <a:cs typeface="Segoe UI" pitchFamily="34" charset="-120"/>
              </a:rPr>
              <a:t>sans enfant, fortes</a:t>
            </a:r>
          </a:p>
          <a:p>
            <a:pPr indent="0" marL="0">
              <a:buNone/>
            </a:pPr>
            <a:r>
              <a:rPr lang="en-US" sz="1330" b="1" dirty="0">
                <a:solidFill>
                  <a:srgbClr val="6D28D9"/>
                </a:solidFill>
                <a:latin typeface="Aptos" pitchFamily="34" charset="0"/>
                <a:ea typeface="Segoe UI" pitchFamily="34" charset="-122"/>
                <a:cs typeface="Segoe UI" pitchFamily="34" charset="-120"/>
              </a:rPr>
              <a:t>dépenses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3800" b="1" dirty="0">
                <a:solidFill>
                  <a:srgbClr val="2563EB"/>
                </a:solidFill>
                <a:latin typeface="Aptos" pitchFamily="34" charset="0"/>
                <a:ea typeface="Segoe UI" pitchFamily="34" charset="-122"/>
                <a:cs typeface="Segoe UI" pitchFamily="34" charset="-120"/>
              </a:rPr>
              <a:t>10. Cluster 0 : Jeunes foyers modestes</a:t>
            </a:r>
            <a:endParaRPr lang="en-US" sz="38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650" dirty="0">
                <a:solidFill>
                  <a:srgbClr val="17324D"/>
                </a:solidFill>
                <a:latin typeface="Aptos" pitchFamily="34" charset="0"/>
                <a:ea typeface="Segoe UI" pitchFamily="34" charset="-122"/>
                <a:cs typeface="Segoe UI" pitchFamily="34" charset="-120"/>
              </a:rPr>
              <a:t>Le segment le plus jeune présente un faible revenu et de faibles dépenses observées.</a:t>
            </a:r>
            <a:endParaRPr lang="en-US" sz="165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Montants : unités du jeu de données · Âges en 2014 · Projet collectif ENSEA</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10</a:t>
            </a:r>
            <a:endParaRPr lang="en-US" sz="1000" dirty="0"/>
          </a:p>
        </p:txBody>
      </p:sp>
      <p:sp>
        <p:nvSpPr>
          <p:cNvPr id="7" name="Shape 4"/>
          <p:cNvSpPr/>
          <p:nvPr/>
        </p:nvSpPr>
        <p:spPr>
          <a:xfrm>
            <a:off x="457200" y="1865376"/>
            <a:ext cx="2715768" cy="2715768"/>
          </a:xfrm>
          <a:prstGeom prst="ellipse">
            <a:avLst/>
          </a:prstGeom>
          <a:solidFill>
            <a:srgbClr val="1D4ED8"/>
          </a:solidFill>
          <a:ln w="12700">
            <a:solidFill>
              <a:srgbClr val="1D4ED8">
                <a:alpha val="0"/>
              </a:srgbClr>
            </a:solidFill>
            <a:prstDash val="solid"/>
          </a:ln>
        </p:spPr>
        <p:txBody>
          <a:bodyPr/>
          <a:p/>
        </p:txBody>
      </p:sp>
      <p:sp>
        <p:nvSpPr>
          <p:cNvPr id="8" name="VECTOR_hero_family_40"/>
          <p:cNvSpPr/>
          <p:nvPr/>
        </p:nvSpPr>
        <p:spPr>
          <a:xfrm>
            <a:off x="457200" y="1865376"/>
            <a:ext cx="2715768" cy="2715768"/>
          </a:xfrm>
          <a:custGeom>
            <a:avLst/>
            <a:gdLst/>
            <a:ahLst/>
            <a:cxnLst/>
            <a:rect l="0" t="0" r="r" b="b"/>
            <a:pathLst>
              <a:path w="100000" h="100000" fill="norm" stroke="false" extrusionOk="false">
                <a:moveTo>
                  <a:pt x="28668" y="25815"/>
                </a:moveTo>
                <a:lnTo>
                  <a:pt x="28804" y="25679"/>
                </a:lnTo>
                <a:lnTo>
                  <a:pt x="32065" y="25679"/>
                </a:lnTo>
                <a:lnTo>
                  <a:pt x="32880" y="26223"/>
                </a:lnTo>
                <a:lnTo>
                  <a:pt x="33152" y="26223"/>
                </a:lnTo>
                <a:lnTo>
                  <a:pt x="33424" y="26223"/>
                </a:lnTo>
                <a:lnTo>
                  <a:pt x="33967" y="26495"/>
                </a:lnTo>
                <a:lnTo>
                  <a:pt x="36005" y="28533"/>
                </a:lnTo>
                <a:lnTo>
                  <a:pt x="36821" y="30163"/>
                </a:lnTo>
                <a:lnTo>
                  <a:pt x="37092" y="32609"/>
                </a:lnTo>
                <a:lnTo>
                  <a:pt x="36957" y="32745"/>
                </a:lnTo>
                <a:lnTo>
                  <a:pt x="36821" y="32880"/>
                </a:lnTo>
                <a:lnTo>
                  <a:pt x="36821" y="33696"/>
                </a:lnTo>
                <a:lnTo>
                  <a:pt x="36685" y="33832"/>
                </a:lnTo>
                <a:lnTo>
                  <a:pt x="36549" y="33967"/>
                </a:lnTo>
                <a:lnTo>
                  <a:pt x="36549" y="34239"/>
                </a:lnTo>
                <a:lnTo>
                  <a:pt x="36549" y="34511"/>
                </a:lnTo>
                <a:lnTo>
                  <a:pt x="36277" y="35054"/>
                </a:lnTo>
                <a:lnTo>
                  <a:pt x="35734" y="35598"/>
                </a:lnTo>
                <a:lnTo>
                  <a:pt x="35734" y="35870"/>
                </a:lnTo>
                <a:lnTo>
                  <a:pt x="34511" y="37092"/>
                </a:lnTo>
                <a:lnTo>
                  <a:pt x="34239" y="37092"/>
                </a:lnTo>
                <a:lnTo>
                  <a:pt x="33152" y="37908"/>
                </a:lnTo>
                <a:lnTo>
                  <a:pt x="32880" y="37908"/>
                </a:lnTo>
                <a:lnTo>
                  <a:pt x="32609" y="37908"/>
                </a:lnTo>
                <a:lnTo>
                  <a:pt x="32065" y="38179"/>
                </a:lnTo>
                <a:lnTo>
                  <a:pt x="31522" y="38451"/>
                </a:lnTo>
                <a:lnTo>
                  <a:pt x="29348" y="38451"/>
                </a:lnTo>
                <a:lnTo>
                  <a:pt x="29212" y="38315"/>
                </a:lnTo>
                <a:lnTo>
                  <a:pt x="29076" y="38179"/>
                </a:lnTo>
                <a:lnTo>
                  <a:pt x="28261" y="38179"/>
                </a:lnTo>
                <a:lnTo>
                  <a:pt x="26630" y="37364"/>
                </a:lnTo>
                <a:lnTo>
                  <a:pt x="24592" y="35326"/>
                </a:lnTo>
                <a:lnTo>
                  <a:pt x="24049" y="34239"/>
                </a:lnTo>
                <a:lnTo>
                  <a:pt x="24049" y="33967"/>
                </a:lnTo>
                <a:lnTo>
                  <a:pt x="24049" y="33696"/>
                </a:lnTo>
                <a:lnTo>
                  <a:pt x="23913" y="33560"/>
                </a:lnTo>
                <a:lnTo>
                  <a:pt x="23777" y="33424"/>
                </a:lnTo>
                <a:lnTo>
                  <a:pt x="23777" y="30707"/>
                </a:lnTo>
                <a:lnTo>
                  <a:pt x="23913" y="30571"/>
                </a:lnTo>
                <a:lnTo>
                  <a:pt x="24049" y="30435"/>
                </a:lnTo>
                <a:lnTo>
                  <a:pt x="24321" y="29076"/>
                </a:lnTo>
                <a:lnTo>
                  <a:pt x="24864" y="28533"/>
                </a:lnTo>
                <a:lnTo>
                  <a:pt x="24864" y="28261"/>
                </a:lnTo>
                <a:lnTo>
                  <a:pt x="26359" y="26766"/>
                </a:lnTo>
                <a:lnTo>
                  <a:pt x="27989" y="25951"/>
                </a:lnTo>
                <a:lnTo>
                  <a:pt x="28668" y="25815"/>
                </a:lnTo>
                <a:close/>
                <a:moveTo>
                  <a:pt x="67255" y="25815"/>
                </a:moveTo>
                <a:lnTo>
                  <a:pt x="67391" y="25679"/>
                </a:lnTo>
                <a:lnTo>
                  <a:pt x="70109" y="25679"/>
                </a:lnTo>
                <a:lnTo>
                  <a:pt x="70245" y="25815"/>
                </a:lnTo>
                <a:lnTo>
                  <a:pt x="70380" y="25951"/>
                </a:lnTo>
                <a:lnTo>
                  <a:pt x="71196" y="25951"/>
                </a:lnTo>
                <a:lnTo>
                  <a:pt x="72826" y="26766"/>
                </a:lnTo>
                <a:lnTo>
                  <a:pt x="74592" y="28533"/>
                </a:lnTo>
                <a:lnTo>
                  <a:pt x="75679" y="30707"/>
                </a:lnTo>
                <a:lnTo>
                  <a:pt x="75679" y="31522"/>
                </a:lnTo>
                <a:lnTo>
                  <a:pt x="75815" y="31658"/>
                </a:lnTo>
                <a:lnTo>
                  <a:pt x="75951" y="31793"/>
                </a:lnTo>
                <a:lnTo>
                  <a:pt x="75951" y="34239"/>
                </a:lnTo>
                <a:lnTo>
                  <a:pt x="76087" y="34375"/>
                </a:lnTo>
                <a:lnTo>
                  <a:pt x="76223" y="34511"/>
                </a:lnTo>
                <a:lnTo>
                  <a:pt x="76223" y="35326"/>
                </a:lnTo>
                <a:lnTo>
                  <a:pt x="76359" y="35462"/>
                </a:lnTo>
                <a:lnTo>
                  <a:pt x="76495" y="35598"/>
                </a:lnTo>
                <a:lnTo>
                  <a:pt x="76495" y="35870"/>
                </a:lnTo>
                <a:lnTo>
                  <a:pt x="76495" y="36141"/>
                </a:lnTo>
                <a:lnTo>
                  <a:pt x="77310" y="37772"/>
                </a:lnTo>
                <a:lnTo>
                  <a:pt x="78397" y="38859"/>
                </a:lnTo>
                <a:lnTo>
                  <a:pt x="77989" y="39810"/>
                </a:lnTo>
                <a:lnTo>
                  <a:pt x="77446" y="40082"/>
                </a:lnTo>
                <a:lnTo>
                  <a:pt x="76630" y="40082"/>
                </a:lnTo>
                <a:lnTo>
                  <a:pt x="76495" y="39402"/>
                </a:lnTo>
                <a:lnTo>
                  <a:pt x="76766" y="38859"/>
                </a:lnTo>
                <a:lnTo>
                  <a:pt x="75679" y="37500"/>
                </a:lnTo>
                <a:lnTo>
                  <a:pt x="75136" y="36141"/>
                </a:lnTo>
                <a:lnTo>
                  <a:pt x="75000" y="36005"/>
                </a:lnTo>
                <a:lnTo>
                  <a:pt x="74728" y="36005"/>
                </a:lnTo>
                <a:lnTo>
                  <a:pt x="73777" y="37228"/>
                </a:lnTo>
                <a:lnTo>
                  <a:pt x="73777" y="37500"/>
                </a:lnTo>
                <a:lnTo>
                  <a:pt x="72826" y="38451"/>
                </a:lnTo>
                <a:lnTo>
                  <a:pt x="71196" y="39266"/>
                </a:lnTo>
                <a:lnTo>
                  <a:pt x="70924" y="39266"/>
                </a:lnTo>
                <a:lnTo>
                  <a:pt x="70652" y="39266"/>
                </a:lnTo>
                <a:lnTo>
                  <a:pt x="70109" y="39538"/>
                </a:lnTo>
                <a:lnTo>
                  <a:pt x="67120" y="39538"/>
                </a:lnTo>
                <a:lnTo>
                  <a:pt x="66984" y="39402"/>
                </a:lnTo>
                <a:lnTo>
                  <a:pt x="66848" y="39266"/>
                </a:lnTo>
                <a:lnTo>
                  <a:pt x="66576" y="39266"/>
                </a:lnTo>
                <a:lnTo>
                  <a:pt x="66304" y="39266"/>
                </a:lnTo>
                <a:lnTo>
                  <a:pt x="65761" y="38995"/>
                </a:lnTo>
                <a:lnTo>
                  <a:pt x="63995" y="37500"/>
                </a:lnTo>
                <a:lnTo>
                  <a:pt x="63995" y="37228"/>
                </a:lnTo>
                <a:lnTo>
                  <a:pt x="63451" y="36685"/>
                </a:lnTo>
                <a:lnTo>
                  <a:pt x="63043" y="35734"/>
                </a:lnTo>
                <a:lnTo>
                  <a:pt x="62772" y="35734"/>
                </a:lnTo>
                <a:lnTo>
                  <a:pt x="62636" y="35870"/>
                </a:lnTo>
                <a:lnTo>
                  <a:pt x="62364" y="36413"/>
                </a:lnTo>
                <a:lnTo>
                  <a:pt x="62364" y="36685"/>
                </a:lnTo>
                <a:lnTo>
                  <a:pt x="62364" y="36957"/>
                </a:lnTo>
                <a:lnTo>
                  <a:pt x="61277" y="38587"/>
                </a:lnTo>
                <a:lnTo>
                  <a:pt x="61277" y="39674"/>
                </a:lnTo>
                <a:lnTo>
                  <a:pt x="61413" y="39810"/>
                </a:lnTo>
                <a:lnTo>
                  <a:pt x="61549" y="39946"/>
                </a:lnTo>
                <a:lnTo>
                  <a:pt x="61141" y="40353"/>
                </a:lnTo>
                <a:lnTo>
                  <a:pt x="60326" y="40082"/>
                </a:lnTo>
                <a:lnTo>
                  <a:pt x="59375" y="38859"/>
                </a:lnTo>
                <a:lnTo>
                  <a:pt x="60734" y="37228"/>
                </a:lnTo>
                <a:lnTo>
                  <a:pt x="61277" y="36141"/>
                </a:lnTo>
                <a:lnTo>
                  <a:pt x="61277" y="35870"/>
                </a:lnTo>
                <a:lnTo>
                  <a:pt x="61277" y="35598"/>
                </a:lnTo>
                <a:lnTo>
                  <a:pt x="61413" y="35462"/>
                </a:lnTo>
                <a:lnTo>
                  <a:pt x="61549" y="35326"/>
                </a:lnTo>
                <a:lnTo>
                  <a:pt x="61549" y="33967"/>
                </a:lnTo>
                <a:lnTo>
                  <a:pt x="61685" y="33832"/>
                </a:lnTo>
                <a:lnTo>
                  <a:pt x="61821" y="33696"/>
                </a:lnTo>
                <a:lnTo>
                  <a:pt x="61821" y="31250"/>
                </a:lnTo>
                <a:lnTo>
                  <a:pt x="61957" y="31114"/>
                </a:lnTo>
                <a:lnTo>
                  <a:pt x="62092" y="30978"/>
                </a:lnTo>
                <a:lnTo>
                  <a:pt x="62092" y="30707"/>
                </a:lnTo>
                <a:lnTo>
                  <a:pt x="62092" y="30435"/>
                </a:lnTo>
                <a:lnTo>
                  <a:pt x="63179" y="28261"/>
                </a:lnTo>
                <a:lnTo>
                  <a:pt x="64402" y="27038"/>
                </a:lnTo>
                <a:lnTo>
                  <a:pt x="64674" y="27038"/>
                </a:lnTo>
                <a:lnTo>
                  <a:pt x="65217" y="26495"/>
                </a:lnTo>
                <a:lnTo>
                  <a:pt x="67255" y="25815"/>
                </a:lnTo>
                <a:close/>
                <a:moveTo>
                  <a:pt x="29076" y="27038"/>
                </a:moveTo>
                <a:lnTo>
                  <a:pt x="26902" y="28125"/>
                </a:lnTo>
                <a:lnTo>
                  <a:pt x="25679" y="29620"/>
                </a:lnTo>
                <a:lnTo>
                  <a:pt x="25408" y="30163"/>
                </a:lnTo>
                <a:lnTo>
                  <a:pt x="25408" y="30435"/>
                </a:lnTo>
                <a:lnTo>
                  <a:pt x="25408" y="30707"/>
                </a:lnTo>
                <a:lnTo>
                  <a:pt x="25272" y="30842"/>
                </a:lnTo>
                <a:lnTo>
                  <a:pt x="25136" y="30978"/>
                </a:lnTo>
                <a:lnTo>
                  <a:pt x="25136" y="33152"/>
                </a:lnTo>
                <a:lnTo>
                  <a:pt x="25951" y="34783"/>
                </a:lnTo>
                <a:lnTo>
                  <a:pt x="27446" y="36277"/>
                </a:lnTo>
                <a:lnTo>
                  <a:pt x="28533" y="36821"/>
                </a:lnTo>
                <a:lnTo>
                  <a:pt x="28804" y="36821"/>
                </a:lnTo>
                <a:lnTo>
                  <a:pt x="29076" y="36821"/>
                </a:lnTo>
                <a:lnTo>
                  <a:pt x="29212" y="36957"/>
                </a:lnTo>
                <a:lnTo>
                  <a:pt x="29348" y="37092"/>
                </a:lnTo>
                <a:lnTo>
                  <a:pt x="31250" y="37092"/>
                </a:lnTo>
                <a:lnTo>
                  <a:pt x="31386" y="36957"/>
                </a:lnTo>
                <a:lnTo>
                  <a:pt x="33152" y="36277"/>
                </a:lnTo>
                <a:lnTo>
                  <a:pt x="34375" y="35326"/>
                </a:lnTo>
                <a:lnTo>
                  <a:pt x="35462" y="33152"/>
                </a:lnTo>
                <a:lnTo>
                  <a:pt x="35462" y="30978"/>
                </a:lnTo>
                <a:lnTo>
                  <a:pt x="34375" y="28804"/>
                </a:lnTo>
                <a:lnTo>
                  <a:pt x="32880" y="27582"/>
                </a:lnTo>
                <a:lnTo>
                  <a:pt x="32337" y="27310"/>
                </a:lnTo>
                <a:lnTo>
                  <a:pt x="32065" y="27310"/>
                </a:lnTo>
                <a:lnTo>
                  <a:pt x="31793" y="27310"/>
                </a:lnTo>
                <a:lnTo>
                  <a:pt x="31658" y="27174"/>
                </a:lnTo>
                <a:lnTo>
                  <a:pt x="31522" y="27038"/>
                </a:lnTo>
                <a:lnTo>
                  <a:pt x="29076" y="27038"/>
                </a:lnTo>
                <a:close/>
                <a:moveTo>
                  <a:pt x="67663" y="27038"/>
                </a:moveTo>
                <a:lnTo>
                  <a:pt x="67527" y="27174"/>
                </a:lnTo>
                <a:lnTo>
                  <a:pt x="67391" y="27310"/>
                </a:lnTo>
                <a:lnTo>
                  <a:pt x="67120" y="27310"/>
                </a:lnTo>
                <a:lnTo>
                  <a:pt x="66848" y="27310"/>
                </a:lnTo>
                <a:lnTo>
                  <a:pt x="65761" y="27853"/>
                </a:lnTo>
                <a:lnTo>
                  <a:pt x="63723" y="29891"/>
                </a:lnTo>
                <a:lnTo>
                  <a:pt x="63451" y="30435"/>
                </a:lnTo>
                <a:lnTo>
                  <a:pt x="63451" y="30707"/>
                </a:lnTo>
                <a:lnTo>
                  <a:pt x="63451" y="30978"/>
                </a:lnTo>
                <a:lnTo>
                  <a:pt x="63315" y="31114"/>
                </a:lnTo>
                <a:lnTo>
                  <a:pt x="63179" y="31250"/>
                </a:lnTo>
                <a:lnTo>
                  <a:pt x="63179" y="32609"/>
                </a:lnTo>
                <a:lnTo>
                  <a:pt x="63995" y="32880"/>
                </a:lnTo>
                <a:lnTo>
                  <a:pt x="63995" y="34511"/>
                </a:lnTo>
                <a:lnTo>
                  <a:pt x="64130" y="34647"/>
                </a:lnTo>
                <a:lnTo>
                  <a:pt x="64266" y="34783"/>
                </a:lnTo>
                <a:lnTo>
                  <a:pt x="64266" y="35054"/>
                </a:lnTo>
                <a:lnTo>
                  <a:pt x="64266" y="35326"/>
                </a:lnTo>
                <a:lnTo>
                  <a:pt x="64538" y="35870"/>
                </a:lnTo>
                <a:lnTo>
                  <a:pt x="66304" y="37636"/>
                </a:lnTo>
                <a:lnTo>
                  <a:pt x="67391" y="38179"/>
                </a:lnTo>
                <a:lnTo>
                  <a:pt x="68207" y="38179"/>
                </a:lnTo>
                <a:lnTo>
                  <a:pt x="68342" y="38315"/>
                </a:lnTo>
                <a:lnTo>
                  <a:pt x="68478" y="38451"/>
                </a:lnTo>
                <a:lnTo>
                  <a:pt x="69293" y="38451"/>
                </a:lnTo>
                <a:lnTo>
                  <a:pt x="69837" y="38179"/>
                </a:lnTo>
                <a:lnTo>
                  <a:pt x="70109" y="38179"/>
                </a:lnTo>
                <a:lnTo>
                  <a:pt x="70380" y="38179"/>
                </a:lnTo>
                <a:lnTo>
                  <a:pt x="71467" y="37364"/>
                </a:lnTo>
                <a:lnTo>
                  <a:pt x="71739" y="37364"/>
                </a:lnTo>
                <a:lnTo>
                  <a:pt x="73505" y="35598"/>
                </a:lnTo>
                <a:lnTo>
                  <a:pt x="73505" y="35326"/>
                </a:lnTo>
                <a:lnTo>
                  <a:pt x="73505" y="35054"/>
                </a:lnTo>
                <a:lnTo>
                  <a:pt x="73641" y="34918"/>
                </a:lnTo>
                <a:lnTo>
                  <a:pt x="73777" y="34783"/>
                </a:lnTo>
                <a:lnTo>
                  <a:pt x="73777" y="33152"/>
                </a:lnTo>
                <a:lnTo>
                  <a:pt x="74049" y="32609"/>
                </a:lnTo>
                <a:lnTo>
                  <a:pt x="74592" y="32337"/>
                </a:lnTo>
                <a:lnTo>
                  <a:pt x="74592" y="32065"/>
                </a:lnTo>
                <a:lnTo>
                  <a:pt x="74457" y="31929"/>
                </a:lnTo>
                <a:lnTo>
                  <a:pt x="74321" y="31793"/>
                </a:lnTo>
                <a:lnTo>
                  <a:pt x="74321" y="30978"/>
                </a:lnTo>
                <a:lnTo>
                  <a:pt x="73777" y="29891"/>
                </a:lnTo>
                <a:lnTo>
                  <a:pt x="72554" y="28397"/>
                </a:lnTo>
                <a:lnTo>
                  <a:pt x="69837" y="27038"/>
                </a:lnTo>
                <a:lnTo>
                  <a:pt x="67663" y="27038"/>
                </a:lnTo>
                <a:close/>
                <a:moveTo>
                  <a:pt x="27853" y="40489"/>
                </a:moveTo>
                <a:lnTo>
                  <a:pt x="27989" y="40353"/>
                </a:lnTo>
                <a:lnTo>
                  <a:pt x="32609" y="40353"/>
                </a:lnTo>
                <a:lnTo>
                  <a:pt x="32745" y="40489"/>
                </a:lnTo>
                <a:lnTo>
                  <a:pt x="32880" y="40625"/>
                </a:lnTo>
                <a:lnTo>
                  <a:pt x="33967" y="40625"/>
                </a:lnTo>
                <a:lnTo>
                  <a:pt x="34103" y="40761"/>
                </a:lnTo>
                <a:lnTo>
                  <a:pt x="34239" y="40897"/>
                </a:lnTo>
                <a:lnTo>
                  <a:pt x="34511" y="40897"/>
                </a:lnTo>
                <a:lnTo>
                  <a:pt x="34783" y="40897"/>
                </a:lnTo>
                <a:lnTo>
                  <a:pt x="36957" y="41984"/>
                </a:lnTo>
                <a:lnTo>
                  <a:pt x="37772" y="42799"/>
                </a:lnTo>
                <a:lnTo>
                  <a:pt x="38043" y="42799"/>
                </a:lnTo>
                <a:lnTo>
                  <a:pt x="39810" y="44837"/>
                </a:lnTo>
                <a:lnTo>
                  <a:pt x="40353" y="45924"/>
                </a:lnTo>
                <a:lnTo>
                  <a:pt x="40353" y="46196"/>
                </a:lnTo>
                <a:lnTo>
                  <a:pt x="40353" y="46467"/>
                </a:lnTo>
                <a:lnTo>
                  <a:pt x="40489" y="46603"/>
                </a:lnTo>
                <a:lnTo>
                  <a:pt x="40625" y="46739"/>
                </a:lnTo>
                <a:lnTo>
                  <a:pt x="40625" y="47826"/>
                </a:lnTo>
                <a:lnTo>
                  <a:pt x="40761" y="47962"/>
                </a:lnTo>
                <a:lnTo>
                  <a:pt x="40897" y="48098"/>
                </a:lnTo>
                <a:lnTo>
                  <a:pt x="40897" y="52174"/>
                </a:lnTo>
                <a:lnTo>
                  <a:pt x="39946" y="52310"/>
                </a:lnTo>
                <a:lnTo>
                  <a:pt x="39538" y="51902"/>
                </a:lnTo>
                <a:lnTo>
                  <a:pt x="39538" y="48913"/>
                </a:lnTo>
                <a:lnTo>
                  <a:pt x="39402" y="48777"/>
                </a:lnTo>
                <a:lnTo>
                  <a:pt x="39266" y="48641"/>
                </a:lnTo>
                <a:lnTo>
                  <a:pt x="39266" y="47554"/>
                </a:lnTo>
                <a:lnTo>
                  <a:pt x="39130" y="47418"/>
                </a:lnTo>
                <a:lnTo>
                  <a:pt x="38995" y="47283"/>
                </a:lnTo>
                <a:lnTo>
                  <a:pt x="38995" y="47011"/>
                </a:lnTo>
                <a:lnTo>
                  <a:pt x="38995" y="46739"/>
                </a:lnTo>
                <a:lnTo>
                  <a:pt x="38179" y="45109"/>
                </a:lnTo>
                <a:lnTo>
                  <a:pt x="36413" y="43342"/>
                </a:lnTo>
                <a:lnTo>
                  <a:pt x="36141" y="43342"/>
                </a:lnTo>
                <a:lnTo>
                  <a:pt x="35598" y="42799"/>
                </a:lnTo>
                <a:lnTo>
                  <a:pt x="34511" y="42255"/>
                </a:lnTo>
                <a:lnTo>
                  <a:pt x="33152" y="41984"/>
                </a:lnTo>
                <a:lnTo>
                  <a:pt x="33016" y="41848"/>
                </a:lnTo>
                <a:lnTo>
                  <a:pt x="32880" y="41712"/>
                </a:lnTo>
                <a:lnTo>
                  <a:pt x="27717" y="41712"/>
                </a:lnTo>
                <a:lnTo>
                  <a:pt x="27582" y="41848"/>
                </a:lnTo>
                <a:lnTo>
                  <a:pt x="27446" y="41984"/>
                </a:lnTo>
                <a:lnTo>
                  <a:pt x="26630" y="41984"/>
                </a:lnTo>
                <a:lnTo>
                  <a:pt x="26495" y="42120"/>
                </a:lnTo>
                <a:lnTo>
                  <a:pt x="26359" y="42255"/>
                </a:lnTo>
                <a:lnTo>
                  <a:pt x="26087" y="42255"/>
                </a:lnTo>
                <a:lnTo>
                  <a:pt x="25815" y="42255"/>
                </a:lnTo>
                <a:lnTo>
                  <a:pt x="24728" y="42799"/>
                </a:lnTo>
                <a:lnTo>
                  <a:pt x="23913" y="43614"/>
                </a:lnTo>
                <a:lnTo>
                  <a:pt x="23641" y="43614"/>
                </a:lnTo>
                <a:lnTo>
                  <a:pt x="22418" y="44837"/>
                </a:lnTo>
                <a:lnTo>
                  <a:pt x="22418" y="45109"/>
                </a:lnTo>
                <a:lnTo>
                  <a:pt x="21875" y="45652"/>
                </a:lnTo>
                <a:lnTo>
                  <a:pt x="21332" y="46739"/>
                </a:lnTo>
                <a:lnTo>
                  <a:pt x="21332" y="47011"/>
                </a:lnTo>
                <a:lnTo>
                  <a:pt x="21332" y="47283"/>
                </a:lnTo>
                <a:lnTo>
                  <a:pt x="21196" y="47418"/>
                </a:lnTo>
                <a:lnTo>
                  <a:pt x="21060" y="47554"/>
                </a:lnTo>
                <a:lnTo>
                  <a:pt x="21060" y="49457"/>
                </a:lnTo>
                <a:lnTo>
                  <a:pt x="20924" y="49592"/>
                </a:lnTo>
                <a:lnTo>
                  <a:pt x="20788" y="49728"/>
                </a:lnTo>
                <a:lnTo>
                  <a:pt x="20788" y="56793"/>
                </a:lnTo>
                <a:lnTo>
                  <a:pt x="20652" y="56929"/>
                </a:lnTo>
                <a:lnTo>
                  <a:pt x="20516" y="57065"/>
                </a:lnTo>
                <a:lnTo>
                  <a:pt x="20516" y="58967"/>
                </a:lnTo>
                <a:lnTo>
                  <a:pt x="20788" y="59511"/>
                </a:lnTo>
                <a:lnTo>
                  <a:pt x="21739" y="60190"/>
                </a:lnTo>
                <a:lnTo>
                  <a:pt x="23098" y="60190"/>
                </a:lnTo>
                <a:lnTo>
                  <a:pt x="23913" y="59103"/>
                </a:lnTo>
                <a:lnTo>
                  <a:pt x="24185" y="59103"/>
                </a:lnTo>
                <a:lnTo>
                  <a:pt x="24592" y="59783"/>
                </a:lnTo>
                <a:lnTo>
                  <a:pt x="24592" y="63315"/>
                </a:lnTo>
                <a:lnTo>
                  <a:pt x="24728" y="63451"/>
                </a:lnTo>
                <a:lnTo>
                  <a:pt x="24864" y="63587"/>
                </a:lnTo>
                <a:lnTo>
                  <a:pt x="24864" y="69837"/>
                </a:lnTo>
                <a:lnTo>
                  <a:pt x="25000" y="69973"/>
                </a:lnTo>
                <a:lnTo>
                  <a:pt x="25136" y="70109"/>
                </a:lnTo>
                <a:lnTo>
                  <a:pt x="25136" y="75543"/>
                </a:lnTo>
                <a:lnTo>
                  <a:pt x="25272" y="75679"/>
                </a:lnTo>
                <a:lnTo>
                  <a:pt x="25408" y="75815"/>
                </a:lnTo>
                <a:lnTo>
                  <a:pt x="25408" y="76630"/>
                </a:lnTo>
                <a:lnTo>
                  <a:pt x="25543" y="76766"/>
                </a:lnTo>
                <a:lnTo>
                  <a:pt x="29348" y="76766"/>
                </a:lnTo>
                <a:lnTo>
                  <a:pt x="29484" y="76630"/>
                </a:lnTo>
                <a:lnTo>
                  <a:pt x="29484" y="72826"/>
                </a:lnTo>
                <a:lnTo>
                  <a:pt x="29620" y="72690"/>
                </a:lnTo>
                <a:lnTo>
                  <a:pt x="29755" y="72554"/>
                </a:lnTo>
                <a:lnTo>
                  <a:pt x="29755" y="68478"/>
                </a:lnTo>
                <a:lnTo>
                  <a:pt x="30163" y="68071"/>
                </a:lnTo>
                <a:lnTo>
                  <a:pt x="30435" y="68071"/>
                </a:lnTo>
                <a:lnTo>
                  <a:pt x="30842" y="68478"/>
                </a:lnTo>
                <a:lnTo>
                  <a:pt x="30842" y="69293"/>
                </a:lnTo>
                <a:lnTo>
                  <a:pt x="30842" y="75815"/>
                </a:lnTo>
                <a:lnTo>
                  <a:pt x="31114" y="76359"/>
                </a:lnTo>
                <a:lnTo>
                  <a:pt x="31522" y="76766"/>
                </a:lnTo>
                <a:lnTo>
                  <a:pt x="35054" y="76766"/>
                </a:lnTo>
                <a:lnTo>
                  <a:pt x="35190" y="76630"/>
                </a:lnTo>
                <a:lnTo>
                  <a:pt x="35190" y="73913"/>
                </a:lnTo>
                <a:lnTo>
                  <a:pt x="35326" y="73777"/>
                </a:lnTo>
                <a:lnTo>
                  <a:pt x="35462" y="73641"/>
                </a:lnTo>
                <a:lnTo>
                  <a:pt x="35462" y="68478"/>
                </a:lnTo>
                <a:lnTo>
                  <a:pt x="35598" y="68342"/>
                </a:lnTo>
                <a:lnTo>
                  <a:pt x="35734" y="68207"/>
                </a:lnTo>
                <a:lnTo>
                  <a:pt x="35734" y="63587"/>
                </a:lnTo>
                <a:lnTo>
                  <a:pt x="35870" y="63451"/>
                </a:lnTo>
                <a:lnTo>
                  <a:pt x="36005" y="63315"/>
                </a:lnTo>
                <a:lnTo>
                  <a:pt x="36005" y="60326"/>
                </a:lnTo>
                <a:lnTo>
                  <a:pt x="36141" y="60190"/>
                </a:lnTo>
                <a:lnTo>
                  <a:pt x="37092" y="61141"/>
                </a:lnTo>
                <a:lnTo>
                  <a:pt x="37364" y="61685"/>
                </a:lnTo>
                <a:lnTo>
                  <a:pt x="37364" y="63587"/>
                </a:lnTo>
                <a:lnTo>
                  <a:pt x="37228" y="63723"/>
                </a:lnTo>
                <a:lnTo>
                  <a:pt x="37092" y="63859"/>
                </a:lnTo>
                <a:lnTo>
                  <a:pt x="37092" y="69565"/>
                </a:lnTo>
                <a:lnTo>
                  <a:pt x="36957" y="69701"/>
                </a:lnTo>
                <a:lnTo>
                  <a:pt x="36821" y="69837"/>
                </a:lnTo>
                <a:lnTo>
                  <a:pt x="36821" y="75272"/>
                </a:lnTo>
                <a:lnTo>
                  <a:pt x="36685" y="75408"/>
                </a:lnTo>
                <a:lnTo>
                  <a:pt x="36549" y="75543"/>
                </a:lnTo>
                <a:lnTo>
                  <a:pt x="36549" y="77717"/>
                </a:lnTo>
                <a:lnTo>
                  <a:pt x="35870" y="78125"/>
                </a:lnTo>
                <a:lnTo>
                  <a:pt x="30978" y="78125"/>
                </a:lnTo>
                <a:lnTo>
                  <a:pt x="30842" y="77989"/>
                </a:lnTo>
                <a:lnTo>
                  <a:pt x="30707" y="77853"/>
                </a:lnTo>
                <a:lnTo>
                  <a:pt x="29891" y="77853"/>
                </a:lnTo>
                <a:lnTo>
                  <a:pt x="29755" y="77989"/>
                </a:lnTo>
                <a:lnTo>
                  <a:pt x="29620" y="78125"/>
                </a:lnTo>
                <a:lnTo>
                  <a:pt x="24457" y="78125"/>
                </a:lnTo>
                <a:lnTo>
                  <a:pt x="24049" y="77717"/>
                </a:lnTo>
                <a:lnTo>
                  <a:pt x="24049" y="76359"/>
                </a:lnTo>
                <a:lnTo>
                  <a:pt x="23913" y="76223"/>
                </a:lnTo>
                <a:lnTo>
                  <a:pt x="23777" y="76087"/>
                </a:lnTo>
                <a:lnTo>
                  <a:pt x="23777" y="70109"/>
                </a:lnTo>
                <a:lnTo>
                  <a:pt x="23641" y="69973"/>
                </a:lnTo>
                <a:lnTo>
                  <a:pt x="23505" y="69837"/>
                </a:lnTo>
                <a:lnTo>
                  <a:pt x="23505" y="63587"/>
                </a:lnTo>
                <a:lnTo>
                  <a:pt x="23370" y="63451"/>
                </a:lnTo>
                <a:lnTo>
                  <a:pt x="23234" y="63315"/>
                </a:lnTo>
                <a:lnTo>
                  <a:pt x="23234" y="61685"/>
                </a:lnTo>
                <a:lnTo>
                  <a:pt x="23098" y="61549"/>
                </a:lnTo>
                <a:lnTo>
                  <a:pt x="21467" y="61549"/>
                </a:lnTo>
                <a:lnTo>
                  <a:pt x="20380" y="61005"/>
                </a:lnTo>
                <a:lnTo>
                  <a:pt x="19429" y="60054"/>
                </a:lnTo>
                <a:lnTo>
                  <a:pt x="19429" y="59783"/>
                </a:lnTo>
                <a:lnTo>
                  <a:pt x="19429" y="59511"/>
                </a:lnTo>
                <a:lnTo>
                  <a:pt x="19293" y="59375"/>
                </a:lnTo>
                <a:lnTo>
                  <a:pt x="19158" y="59239"/>
                </a:lnTo>
                <a:lnTo>
                  <a:pt x="19158" y="57065"/>
                </a:lnTo>
                <a:lnTo>
                  <a:pt x="19293" y="56929"/>
                </a:lnTo>
                <a:lnTo>
                  <a:pt x="19429" y="56793"/>
                </a:lnTo>
                <a:lnTo>
                  <a:pt x="19429" y="48913"/>
                </a:lnTo>
                <a:lnTo>
                  <a:pt x="19565" y="48777"/>
                </a:lnTo>
                <a:lnTo>
                  <a:pt x="19701" y="48641"/>
                </a:lnTo>
                <a:lnTo>
                  <a:pt x="19701" y="47283"/>
                </a:lnTo>
                <a:lnTo>
                  <a:pt x="19837" y="47147"/>
                </a:lnTo>
                <a:lnTo>
                  <a:pt x="19973" y="47011"/>
                </a:lnTo>
                <a:lnTo>
                  <a:pt x="20245" y="45652"/>
                </a:lnTo>
                <a:lnTo>
                  <a:pt x="21060" y="44565"/>
                </a:lnTo>
                <a:lnTo>
                  <a:pt x="21060" y="44293"/>
                </a:lnTo>
                <a:lnTo>
                  <a:pt x="23098" y="42255"/>
                </a:lnTo>
                <a:lnTo>
                  <a:pt x="25815" y="40897"/>
                </a:lnTo>
                <a:lnTo>
                  <a:pt x="27853" y="40489"/>
                </a:lnTo>
                <a:close/>
                <a:moveTo>
                  <a:pt x="67527" y="41576"/>
                </a:moveTo>
                <a:lnTo>
                  <a:pt x="67663" y="41440"/>
                </a:lnTo>
                <a:lnTo>
                  <a:pt x="70109" y="41440"/>
                </a:lnTo>
                <a:lnTo>
                  <a:pt x="70245" y="41576"/>
                </a:lnTo>
                <a:lnTo>
                  <a:pt x="70380" y="41712"/>
                </a:lnTo>
                <a:lnTo>
                  <a:pt x="71467" y="41712"/>
                </a:lnTo>
                <a:lnTo>
                  <a:pt x="71603" y="41848"/>
                </a:lnTo>
                <a:lnTo>
                  <a:pt x="71739" y="41984"/>
                </a:lnTo>
                <a:lnTo>
                  <a:pt x="73098" y="42255"/>
                </a:lnTo>
                <a:lnTo>
                  <a:pt x="74185" y="42799"/>
                </a:lnTo>
                <a:lnTo>
                  <a:pt x="74728" y="43342"/>
                </a:lnTo>
                <a:lnTo>
                  <a:pt x="75000" y="43342"/>
                </a:lnTo>
                <a:lnTo>
                  <a:pt x="77038" y="45380"/>
                </a:lnTo>
                <a:lnTo>
                  <a:pt x="78125" y="47554"/>
                </a:lnTo>
                <a:lnTo>
                  <a:pt x="78125" y="48370"/>
                </a:lnTo>
                <a:lnTo>
                  <a:pt x="78261" y="48505"/>
                </a:lnTo>
                <a:lnTo>
                  <a:pt x="78397" y="48641"/>
                </a:lnTo>
                <a:lnTo>
                  <a:pt x="78668" y="51087"/>
                </a:lnTo>
                <a:lnTo>
                  <a:pt x="78804" y="51223"/>
                </a:lnTo>
                <a:lnTo>
                  <a:pt x="78940" y="51359"/>
                </a:lnTo>
                <a:lnTo>
                  <a:pt x="78940" y="52174"/>
                </a:lnTo>
                <a:lnTo>
                  <a:pt x="79076" y="52310"/>
                </a:lnTo>
                <a:lnTo>
                  <a:pt x="79212" y="52446"/>
                </a:lnTo>
                <a:lnTo>
                  <a:pt x="79212" y="53261"/>
                </a:lnTo>
                <a:lnTo>
                  <a:pt x="79348" y="53397"/>
                </a:lnTo>
                <a:lnTo>
                  <a:pt x="79484" y="53533"/>
                </a:lnTo>
                <a:lnTo>
                  <a:pt x="79484" y="54348"/>
                </a:lnTo>
                <a:lnTo>
                  <a:pt x="79620" y="54484"/>
                </a:lnTo>
                <a:lnTo>
                  <a:pt x="79755" y="54620"/>
                </a:lnTo>
                <a:lnTo>
                  <a:pt x="79755" y="55435"/>
                </a:lnTo>
                <a:lnTo>
                  <a:pt x="79891" y="55571"/>
                </a:lnTo>
                <a:lnTo>
                  <a:pt x="80027" y="55707"/>
                </a:lnTo>
                <a:lnTo>
                  <a:pt x="80027" y="56793"/>
                </a:lnTo>
                <a:lnTo>
                  <a:pt x="80163" y="56929"/>
                </a:lnTo>
                <a:lnTo>
                  <a:pt x="80299" y="57065"/>
                </a:lnTo>
                <a:lnTo>
                  <a:pt x="80299" y="57880"/>
                </a:lnTo>
                <a:lnTo>
                  <a:pt x="80435" y="58016"/>
                </a:lnTo>
                <a:lnTo>
                  <a:pt x="80571" y="58152"/>
                </a:lnTo>
                <a:lnTo>
                  <a:pt x="80571" y="60326"/>
                </a:lnTo>
                <a:lnTo>
                  <a:pt x="79620" y="61277"/>
                </a:lnTo>
                <a:lnTo>
                  <a:pt x="79076" y="61549"/>
                </a:lnTo>
                <a:lnTo>
                  <a:pt x="78261" y="61549"/>
                </a:lnTo>
                <a:lnTo>
                  <a:pt x="77853" y="61957"/>
                </a:lnTo>
                <a:lnTo>
                  <a:pt x="77989" y="62092"/>
                </a:lnTo>
                <a:lnTo>
                  <a:pt x="78125" y="62228"/>
                </a:lnTo>
                <a:lnTo>
                  <a:pt x="78397" y="64130"/>
                </a:lnTo>
                <a:lnTo>
                  <a:pt x="78533" y="64266"/>
                </a:lnTo>
                <a:lnTo>
                  <a:pt x="78668" y="64402"/>
                </a:lnTo>
                <a:lnTo>
                  <a:pt x="78668" y="64674"/>
                </a:lnTo>
                <a:lnTo>
                  <a:pt x="78668" y="64946"/>
                </a:lnTo>
                <a:lnTo>
                  <a:pt x="79212" y="66033"/>
                </a:lnTo>
                <a:lnTo>
                  <a:pt x="79212" y="66848"/>
                </a:lnTo>
                <a:lnTo>
                  <a:pt x="79348" y="66984"/>
                </a:lnTo>
                <a:lnTo>
                  <a:pt x="79484" y="67120"/>
                </a:lnTo>
                <a:lnTo>
                  <a:pt x="79484" y="67935"/>
                </a:lnTo>
                <a:lnTo>
                  <a:pt x="79620" y="68071"/>
                </a:lnTo>
                <a:lnTo>
                  <a:pt x="79755" y="68207"/>
                </a:lnTo>
                <a:lnTo>
                  <a:pt x="79076" y="68886"/>
                </a:lnTo>
                <a:lnTo>
                  <a:pt x="75000" y="68886"/>
                </a:lnTo>
                <a:lnTo>
                  <a:pt x="74864" y="69022"/>
                </a:lnTo>
                <a:lnTo>
                  <a:pt x="74864" y="70652"/>
                </a:lnTo>
                <a:lnTo>
                  <a:pt x="74728" y="70788"/>
                </a:lnTo>
                <a:lnTo>
                  <a:pt x="74592" y="70924"/>
                </a:lnTo>
                <a:lnTo>
                  <a:pt x="74592" y="76087"/>
                </a:lnTo>
                <a:lnTo>
                  <a:pt x="74457" y="76223"/>
                </a:lnTo>
                <a:lnTo>
                  <a:pt x="74321" y="76359"/>
                </a:lnTo>
                <a:lnTo>
                  <a:pt x="74321" y="77717"/>
                </a:lnTo>
                <a:lnTo>
                  <a:pt x="73913" y="78125"/>
                </a:lnTo>
                <a:lnTo>
                  <a:pt x="69293" y="78125"/>
                </a:lnTo>
                <a:lnTo>
                  <a:pt x="69158" y="77989"/>
                </a:lnTo>
                <a:lnTo>
                  <a:pt x="69022" y="77853"/>
                </a:lnTo>
                <a:lnTo>
                  <a:pt x="68750" y="77853"/>
                </a:lnTo>
                <a:lnTo>
                  <a:pt x="68478" y="77853"/>
                </a:lnTo>
                <a:lnTo>
                  <a:pt x="68342" y="77989"/>
                </a:lnTo>
                <a:lnTo>
                  <a:pt x="68207" y="78125"/>
                </a:lnTo>
                <a:lnTo>
                  <a:pt x="63587" y="78125"/>
                </a:lnTo>
                <a:lnTo>
                  <a:pt x="63179" y="77717"/>
                </a:lnTo>
                <a:lnTo>
                  <a:pt x="63179" y="75543"/>
                </a:lnTo>
                <a:lnTo>
                  <a:pt x="63043" y="75408"/>
                </a:lnTo>
                <a:lnTo>
                  <a:pt x="62908" y="75272"/>
                </a:lnTo>
                <a:lnTo>
                  <a:pt x="62908" y="70109"/>
                </a:lnTo>
                <a:lnTo>
                  <a:pt x="62772" y="69973"/>
                </a:lnTo>
                <a:lnTo>
                  <a:pt x="62636" y="69837"/>
                </a:lnTo>
                <a:lnTo>
                  <a:pt x="62636" y="69022"/>
                </a:lnTo>
                <a:lnTo>
                  <a:pt x="62500" y="68886"/>
                </a:lnTo>
                <a:lnTo>
                  <a:pt x="58696" y="68886"/>
                </a:lnTo>
                <a:lnTo>
                  <a:pt x="58016" y="68207"/>
                </a:lnTo>
                <a:lnTo>
                  <a:pt x="58016" y="67935"/>
                </a:lnTo>
                <a:lnTo>
                  <a:pt x="58152" y="67799"/>
                </a:lnTo>
                <a:lnTo>
                  <a:pt x="58288" y="67663"/>
                </a:lnTo>
                <a:lnTo>
                  <a:pt x="58288" y="66848"/>
                </a:lnTo>
                <a:lnTo>
                  <a:pt x="58424" y="66712"/>
                </a:lnTo>
                <a:lnTo>
                  <a:pt x="58560" y="66576"/>
                </a:lnTo>
                <a:lnTo>
                  <a:pt x="58832" y="65217"/>
                </a:lnTo>
                <a:lnTo>
                  <a:pt x="60326" y="63723"/>
                </a:lnTo>
                <a:lnTo>
                  <a:pt x="60462" y="64674"/>
                </a:lnTo>
                <a:lnTo>
                  <a:pt x="60326" y="64810"/>
                </a:lnTo>
                <a:lnTo>
                  <a:pt x="60190" y="64946"/>
                </a:lnTo>
                <a:lnTo>
                  <a:pt x="60190" y="65761"/>
                </a:lnTo>
                <a:lnTo>
                  <a:pt x="59647" y="66848"/>
                </a:lnTo>
                <a:lnTo>
                  <a:pt x="59647" y="67120"/>
                </a:lnTo>
                <a:lnTo>
                  <a:pt x="59783" y="67255"/>
                </a:lnTo>
                <a:lnTo>
                  <a:pt x="63859" y="67255"/>
                </a:lnTo>
                <a:lnTo>
                  <a:pt x="63995" y="67391"/>
                </a:lnTo>
                <a:lnTo>
                  <a:pt x="64130" y="67527"/>
                </a:lnTo>
                <a:lnTo>
                  <a:pt x="65082" y="67663"/>
                </a:lnTo>
                <a:lnTo>
                  <a:pt x="65082" y="68478"/>
                </a:lnTo>
                <a:lnTo>
                  <a:pt x="64674" y="68886"/>
                </a:lnTo>
                <a:lnTo>
                  <a:pt x="63995" y="69022"/>
                </a:lnTo>
                <a:lnTo>
                  <a:pt x="63995" y="70924"/>
                </a:lnTo>
                <a:lnTo>
                  <a:pt x="64130" y="71060"/>
                </a:lnTo>
                <a:lnTo>
                  <a:pt x="64266" y="71196"/>
                </a:lnTo>
                <a:lnTo>
                  <a:pt x="64266" y="76359"/>
                </a:lnTo>
                <a:lnTo>
                  <a:pt x="64674" y="76766"/>
                </a:lnTo>
                <a:lnTo>
                  <a:pt x="64946" y="76766"/>
                </a:lnTo>
                <a:lnTo>
                  <a:pt x="65217" y="76766"/>
                </a:lnTo>
                <a:lnTo>
                  <a:pt x="67663" y="76766"/>
                </a:lnTo>
                <a:lnTo>
                  <a:pt x="68071" y="76359"/>
                </a:lnTo>
                <a:lnTo>
                  <a:pt x="68071" y="73913"/>
                </a:lnTo>
                <a:lnTo>
                  <a:pt x="68207" y="73777"/>
                </a:lnTo>
                <a:lnTo>
                  <a:pt x="68342" y="73641"/>
                </a:lnTo>
                <a:lnTo>
                  <a:pt x="68342" y="71467"/>
                </a:lnTo>
                <a:lnTo>
                  <a:pt x="68478" y="71332"/>
                </a:lnTo>
                <a:lnTo>
                  <a:pt x="69158" y="71467"/>
                </a:lnTo>
                <a:lnTo>
                  <a:pt x="69158" y="72554"/>
                </a:lnTo>
                <a:lnTo>
                  <a:pt x="69293" y="72690"/>
                </a:lnTo>
                <a:lnTo>
                  <a:pt x="69429" y="72826"/>
                </a:lnTo>
                <a:lnTo>
                  <a:pt x="69429" y="76359"/>
                </a:lnTo>
                <a:lnTo>
                  <a:pt x="69837" y="76766"/>
                </a:lnTo>
                <a:lnTo>
                  <a:pt x="72826" y="76766"/>
                </a:lnTo>
                <a:lnTo>
                  <a:pt x="73234" y="76359"/>
                </a:lnTo>
                <a:lnTo>
                  <a:pt x="73234" y="72554"/>
                </a:lnTo>
                <a:lnTo>
                  <a:pt x="73370" y="72418"/>
                </a:lnTo>
                <a:lnTo>
                  <a:pt x="73505" y="72283"/>
                </a:lnTo>
                <a:lnTo>
                  <a:pt x="73505" y="69022"/>
                </a:lnTo>
                <a:lnTo>
                  <a:pt x="72554" y="68614"/>
                </a:lnTo>
                <a:lnTo>
                  <a:pt x="72418" y="67935"/>
                </a:lnTo>
                <a:lnTo>
                  <a:pt x="72826" y="67527"/>
                </a:lnTo>
                <a:lnTo>
                  <a:pt x="77717" y="67527"/>
                </a:lnTo>
                <a:lnTo>
                  <a:pt x="78125" y="67120"/>
                </a:lnTo>
                <a:lnTo>
                  <a:pt x="77853" y="66576"/>
                </a:lnTo>
                <a:lnTo>
                  <a:pt x="77853" y="65761"/>
                </a:lnTo>
                <a:lnTo>
                  <a:pt x="77717" y="65625"/>
                </a:lnTo>
                <a:lnTo>
                  <a:pt x="77582" y="65489"/>
                </a:lnTo>
                <a:lnTo>
                  <a:pt x="77582" y="65217"/>
                </a:lnTo>
                <a:lnTo>
                  <a:pt x="77582" y="64946"/>
                </a:lnTo>
                <a:lnTo>
                  <a:pt x="77446" y="64810"/>
                </a:lnTo>
                <a:lnTo>
                  <a:pt x="77310" y="64674"/>
                </a:lnTo>
                <a:lnTo>
                  <a:pt x="77310" y="64402"/>
                </a:lnTo>
                <a:lnTo>
                  <a:pt x="77310" y="64130"/>
                </a:lnTo>
                <a:lnTo>
                  <a:pt x="77174" y="63995"/>
                </a:lnTo>
                <a:lnTo>
                  <a:pt x="77038" y="63859"/>
                </a:lnTo>
                <a:lnTo>
                  <a:pt x="77038" y="63587"/>
                </a:lnTo>
                <a:lnTo>
                  <a:pt x="77038" y="63315"/>
                </a:lnTo>
                <a:lnTo>
                  <a:pt x="76495" y="62228"/>
                </a:lnTo>
                <a:lnTo>
                  <a:pt x="76223" y="60326"/>
                </a:lnTo>
                <a:lnTo>
                  <a:pt x="77174" y="60190"/>
                </a:lnTo>
                <a:lnTo>
                  <a:pt x="77310" y="60326"/>
                </a:lnTo>
                <a:lnTo>
                  <a:pt x="77446" y="60462"/>
                </a:lnTo>
                <a:lnTo>
                  <a:pt x="78261" y="60462"/>
                </a:lnTo>
                <a:lnTo>
                  <a:pt x="79212" y="59783"/>
                </a:lnTo>
                <a:lnTo>
                  <a:pt x="79212" y="58152"/>
                </a:lnTo>
                <a:lnTo>
                  <a:pt x="79076" y="58016"/>
                </a:lnTo>
                <a:lnTo>
                  <a:pt x="78940" y="57880"/>
                </a:lnTo>
                <a:lnTo>
                  <a:pt x="78940" y="57065"/>
                </a:lnTo>
                <a:lnTo>
                  <a:pt x="78804" y="56929"/>
                </a:lnTo>
                <a:lnTo>
                  <a:pt x="78668" y="56793"/>
                </a:lnTo>
                <a:lnTo>
                  <a:pt x="78668" y="55978"/>
                </a:lnTo>
                <a:lnTo>
                  <a:pt x="78533" y="55842"/>
                </a:lnTo>
                <a:lnTo>
                  <a:pt x="78397" y="55707"/>
                </a:lnTo>
                <a:lnTo>
                  <a:pt x="78397" y="54620"/>
                </a:lnTo>
                <a:lnTo>
                  <a:pt x="78261" y="54484"/>
                </a:lnTo>
                <a:lnTo>
                  <a:pt x="78125" y="54348"/>
                </a:lnTo>
                <a:lnTo>
                  <a:pt x="78125" y="53533"/>
                </a:lnTo>
                <a:lnTo>
                  <a:pt x="77989" y="53397"/>
                </a:lnTo>
                <a:lnTo>
                  <a:pt x="77853" y="53261"/>
                </a:lnTo>
                <a:lnTo>
                  <a:pt x="77853" y="52446"/>
                </a:lnTo>
                <a:lnTo>
                  <a:pt x="77717" y="52310"/>
                </a:lnTo>
                <a:lnTo>
                  <a:pt x="77582" y="52174"/>
                </a:lnTo>
                <a:lnTo>
                  <a:pt x="77582" y="51087"/>
                </a:lnTo>
                <a:lnTo>
                  <a:pt x="77446" y="50951"/>
                </a:lnTo>
                <a:lnTo>
                  <a:pt x="77310" y="50815"/>
                </a:lnTo>
                <a:lnTo>
                  <a:pt x="77310" y="50000"/>
                </a:lnTo>
                <a:lnTo>
                  <a:pt x="77174" y="49864"/>
                </a:lnTo>
                <a:lnTo>
                  <a:pt x="77038" y="49728"/>
                </a:lnTo>
                <a:lnTo>
                  <a:pt x="77038" y="48641"/>
                </a:lnTo>
                <a:lnTo>
                  <a:pt x="76902" y="48505"/>
                </a:lnTo>
                <a:lnTo>
                  <a:pt x="76766" y="48370"/>
                </a:lnTo>
                <a:lnTo>
                  <a:pt x="76766" y="48098"/>
                </a:lnTo>
                <a:lnTo>
                  <a:pt x="76766" y="47826"/>
                </a:lnTo>
                <a:lnTo>
                  <a:pt x="75951" y="46196"/>
                </a:lnTo>
                <a:lnTo>
                  <a:pt x="73913" y="44158"/>
                </a:lnTo>
                <a:lnTo>
                  <a:pt x="72826" y="43614"/>
                </a:lnTo>
                <a:lnTo>
                  <a:pt x="72554" y="43614"/>
                </a:lnTo>
                <a:lnTo>
                  <a:pt x="72283" y="43614"/>
                </a:lnTo>
                <a:lnTo>
                  <a:pt x="71196" y="43071"/>
                </a:lnTo>
                <a:lnTo>
                  <a:pt x="69837" y="43071"/>
                </a:lnTo>
                <a:lnTo>
                  <a:pt x="69701" y="42935"/>
                </a:lnTo>
                <a:lnTo>
                  <a:pt x="69565" y="42799"/>
                </a:lnTo>
                <a:lnTo>
                  <a:pt x="67663" y="42799"/>
                </a:lnTo>
                <a:lnTo>
                  <a:pt x="67527" y="42935"/>
                </a:lnTo>
                <a:lnTo>
                  <a:pt x="67391" y="43071"/>
                </a:lnTo>
                <a:lnTo>
                  <a:pt x="66304" y="43071"/>
                </a:lnTo>
                <a:lnTo>
                  <a:pt x="66168" y="43207"/>
                </a:lnTo>
                <a:lnTo>
                  <a:pt x="66033" y="43342"/>
                </a:lnTo>
                <a:lnTo>
                  <a:pt x="65761" y="43342"/>
                </a:lnTo>
                <a:lnTo>
                  <a:pt x="65489" y="43342"/>
                </a:lnTo>
                <a:lnTo>
                  <a:pt x="63859" y="44158"/>
                </a:lnTo>
                <a:lnTo>
                  <a:pt x="62092" y="45652"/>
                </a:lnTo>
                <a:lnTo>
                  <a:pt x="62092" y="45924"/>
                </a:lnTo>
                <a:lnTo>
                  <a:pt x="61005" y="47283"/>
                </a:lnTo>
                <a:lnTo>
                  <a:pt x="61005" y="47554"/>
                </a:lnTo>
                <a:lnTo>
                  <a:pt x="61005" y="47826"/>
                </a:lnTo>
                <a:lnTo>
                  <a:pt x="60462" y="48913"/>
                </a:lnTo>
                <a:lnTo>
                  <a:pt x="60462" y="49728"/>
                </a:lnTo>
                <a:lnTo>
                  <a:pt x="60326" y="49864"/>
                </a:lnTo>
                <a:lnTo>
                  <a:pt x="60190" y="50000"/>
                </a:lnTo>
                <a:lnTo>
                  <a:pt x="60190" y="50815"/>
                </a:lnTo>
                <a:lnTo>
                  <a:pt x="60054" y="50951"/>
                </a:lnTo>
                <a:lnTo>
                  <a:pt x="59918" y="51087"/>
                </a:lnTo>
                <a:lnTo>
                  <a:pt x="59918" y="51902"/>
                </a:lnTo>
                <a:lnTo>
                  <a:pt x="59239" y="52310"/>
                </a:lnTo>
                <a:lnTo>
                  <a:pt x="58560" y="52174"/>
                </a:lnTo>
                <a:lnTo>
                  <a:pt x="58560" y="51902"/>
                </a:lnTo>
                <a:lnTo>
                  <a:pt x="58560" y="51630"/>
                </a:lnTo>
                <a:lnTo>
                  <a:pt x="58696" y="51495"/>
                </a:lnTo>
                <a:lnTo>
                  <a:pt x="58832" y="51359"/>
                </a:lnTo>
                <a:lnTo>
                  <a:pt x="58832" y="50272"/>
                </a:lnTo>
                <a:lnTo>
                  <a:pt x="58967" y="50136"/>
                </a:lnTo>
                <a:lnTo>
                  <a:pt x="59103" y="50000"/>
                </a:lnTo>
                <a:lnTo>
                  <a:pt x="59103" y="48913"/>
                </a:lnTo>
                <a:lnTo>
                  <a:pt x="59239" y="48777"/>
                </a:lnTo>
                <a:lnTo>
                  <a:pt x="59375" y="48641"/>
                </a:lnTo>
                <a:lnTo>
                  <a:pt x="59375" y="47826"/>
                </a:lnTo>
                <a:lnTo>
                  <a:pt x="60734" y="45109"/>
                </a:lnTo>
                <a:lnTo>
                  <a:pt x="62500" y="43342"/>
                </a:lnTo>
                <a:lnTo>
                  <a:pt x="62772" y="43342"/>
                </a:lnTo>
                <a:lnTo>
                  <a:pt x="63315" y="42799"/>
                </a:lnTo>
                <a:lnTo>
                  <a:pt x="64402" y="42255"/>
                </a:lnTo>
                <a:lnTo>
                  <a:pt x="64674" y="42255"/>
                </a:lnTo>
                <a:lnTo>
                  <a:pt x="64946" y="42255"/>
                </a:lnTo>
                <a:lnTo>
                  <a:pt x="65082" y="42120"/>
                </a:lnTo>
                <a:lnTo>
                  <a:pt x="65217" y="41984"/>
                </a:lnTo>
                <a:lnTo>
                  <a:pt x="66033" y="41984"/>
                </a:lnTo>
                <a:lnTo>
                  <a:pt x="66168" y="41848"/>
                </a:lnTo>
                <a:lnTo>
                  <a:pt x="66304" y="41712"/>
                </a:lnTo>
                <a:lnTo>
                  <a:pt x="67527" y="41576"/>
                </a:lnTo>
                <a:close/>
                <a:moveTo>
                  <a:pt x="48505" y="47826"/>
                </a:moveTo>
                <a:lnTo>
                  <a:pt x="48641" y="47690"/>
                </a:lnTo>
                <a:lnTo>
                  <a:pt x="50815" y="47690"/>
                </a:lnTo>
                <a:lnTo>
                  <a:pt x="50951" y="47826"/>
                </a:lnTo>
                <a:lnTo>
                  <a:pt x="51087" y="47962"/>
                </a:lnTo>
                <a:lnTo>
                  <a:pt x="51359" y="47962"/>
                </a:lnTo>
                <a:lnTo>
                  <a:pt x="51630" y="47962"/>
                </a:lnTo>
                <a:lnTo>
                  <a:pt x="52717" y="48505"/>
                </a:lnTo>
                <a:lnTo>
                  <a:pt x="54484" y="50272"/>
                </a:lnTo>
                <a:lnTo>
                  <a:pt x="54755" y="50815"/>
                </a:lnTo>
                <a:lnTo>
                  <a:pt x="54755" y="51087"/>
                </a:lnTo>
                <a:lnTo>
                  <a:pt x="54755" y="51359"/>
                </a:lnTo>
                <a:lnTo>
                  <a:pt x="54891" y="51495"/>
                </a:lnTo>
                <a:lnTo>
                  <a:pt x="55027" y="51630"/>
                </a:lnTo>
                <a:lnTo>
                  <a:pt x="55027" y="54076"/>
                </a:lnTo>
                <a:lnTo>
                  <a:pt x="54891" y="54212"/>
                </a:lnTo>
                <a:lnTo>
                  <a:pt x="54755" y="54348"/>
                </a:lnTo>
                <a:lnTo>
                  <a:pt x="54755" y="54620"/>
                </a:lnTo>
                <a:lnTo>
                  <a:pt x="54755" y="54891"/>
                </a:lnTo>
                <a:lnTo>
                  <a:pt x="54484" y="55435"/>
                </a:lnTo>
                <a:lnTo>
                  <a:pt x="52717" y="57201"/>
                </a:lnTo>
                <a:lnTo>
                  <a:pt x="50951" y="57880"/>
                </a:lnTo>
                <a:lnTo>
                  <a:pt x="50815" y="58016"/>
                </a:lnTo>
                <a:lnTo>
                  <a:pt x="48641" y="58016"/>
                </a:lnTo>
                <a:lnTo>
                  <a:pt x="48505" y="57880"/>
                </a:lnTo>
                <a:lnTo>
                  <a:pt x="48370" y="57745"/>
                </a:lnTo>
                <a:lnTo>
                  <a:pt x="48098" y="57745"/>
                </a:lnTo>
                <a:lnTo>
                  <a:pt x="47826" y="57745"/>
                </a:lnTo>
                <a:lnTo>
                  <a:pt x="47283" y="57473"/>
                </a:lnTo>
                <a:lnTo>
                  <a:pt x="45516" y="55978"/>
                </a:lnTo>
                <a:lnTo>
                  <a:pt x="44701" y="54348"/>
                </a:lnTo>
                <a:lnTo>
                  <a:pt x="44701" y="53261"/>
                </a:lnTo>
                <a:lnTo>
                  <a:pt x="44429" y="52717"/>
                </a:lnTo>
                <a:lnTo>
                  <a:pt x="44565" y="52582"/>
                </a:lnTo>
                <a:lnTo>
                  <a:pt x="44701" y="52446"/>
                </a:lnTo>
                <a:lnTo>
                  <a:pt x="44701" y="51359"/>
                </a:lnTo>
                <a:lnTo>
                  <a:pt x="44837" y="51223"/>
                </a:lnTo>
                <a:lnTo>
                  <a:pt x="44973" y="51087"/>
                </a:lnTo>
                <a:lnTo>
                  <a:pt x="44973" y="50815"/>
                </a:lnTo>
                <a:lnTo>
                  <a:pt x="44973" y="50543"/>
                </a:lnTo>
                <a:lnTo>
                  <a:pt x="46467" y="48777"/>
                </a:lnTo>
                <a:lnTo>
                  <a:pt x="46739" y="48777"/>
                </a:lnTo>
                <a:lnTo>
                  <a:pt x="47826" y="47962"/>
                </a:lnTo>
                <a:lnTo>
                  <a:pt x="48505" y="47826"/>
                </a:lnTo>
                <a:close/>
                <a:moveTo>
                  <a:pt x="48913" y="49049"/>
                </a:moveTo>
                <a:lnTo>
                  <a:pt x="47826" y="49592"/>
                </a:lnTo>
                <a:lnTo>
                  <a:pt x="46332" y="51087"/>
                </a:lnTo>
                <a:lnTo>
                  <a:pt x="46332" y="51359"/>
                </a:lnTo>
                <a:lnTo>
                  <a:pt x="46332" y="51630"/>
                </a:lnTo>
                <a:lnTo>
                  <a:pt x="46196" y="51766"/>
                </a:lnTo>
                <a:lnTo>
                  <a:pt x="46060" y="51902"/>
                </a:lnTo>
                <a:lnTo>
                  <a:pt x="46060" y="53804"/>
                </a:lnTo>
                <a:lnTo>
                  <a:pt x="46196" y="53940"/>
                </a:lnTo>
                <a:lnTo>
                  <a:pt x="46332" y="54076"/>
                </a:lnTo>
                <a:lnTo>
                  <a:pt x="46332" y="54348"/>
                </a:lnTo>
                <a:lnTo>
                  <a:pt x="46332" y="54620"/>
                </a:lnTo>
                <a:lnTo>
                  <a:pt x="47826" y="56114"/>
                </a:lnTo>
                <a:lnTo>
                  <a:pt x="48913" y="56658"/>
                </a:lnTo>
                <a:lnTo>
                  <a:pt x="50543" y="56658"/>
                </a:lnTo>
                <a:lnTo>
                  <a:pt x="50679" y="56522"/>
                </a:lnTo>
                <a:lnTo>
                  <a:pt x="51359" y="56386"/>
                </a:lnTo>
                <a:lnTo>
                  <a:pt x="53125" y="54891"/>
                </a:lnTo>
                <a:lnTo>
                  <a:pt x="53668" y="53804"/>
                </a:lnTo>
                <a:lnTo>
                  <a:pt x="53668" y="51902"/>
                </a:lnTo>
                <a:lnTo>
                  <a:pt x="52853" y="50815"/>
                </a:lnTo>
                <a:lnTo>
                  <a:pt x="52853" y="50543"/>
                </a:lnTo>
                <a:lnTo>
                  <a:pt x="51359" y="49321"/>
                </a:lnTo>
                <a:lnTo>
                  <a:pt x="51087" y="49321"/>
                </a:lnTo>
                <a:lnTo>
                  <a:pt x="50815" y="49321"/>
                </a:lnTo>
                <a:lnTo>
                  <a:pt x="50679" y="49185"/>
                </a:lnTo>
                <a:lnTo>
                  <a:pt x="50543" y="49049"/>
                </a:lnTo>
                <a:lnTo>
                  <a:pt x="48913" y="49049"/>
                </a:lnTo>
                <a:close/>
                <a:moveTo>
                  <a:pt x="38179" y="53533"/>
                </a:moveTo>
                <a:lnTo>
                  <a:pt x="38315" y="53397"/>
                </a:lnTo>
                <a:lnTo>
                  <a:pt x="40489" y="53397"/>
                </a:lnTo>
                <a:lnTo>
                  <a:pt x="42255" y="54891"/>
                </a:lnTo>
                <a:lnTo>
                  <a:pt x="42255" y="55163"/>
                </a:lnTo>
                <a:lnTo>
                  <a:pt x="43886" y="56793"/>
                </a:lnTo>
                <a:lnTo>
                  <a:pt x="43886" y="57065"/>
                </a:lnTo>
                <a:lnTo>
                  <a:pt x="44565" y="57745"/>
                </a:lnTo>
                <a:lnTo>
                  <a:pt x="46196" y="58560"/>
                </a:lnTo>
                <a:lnTo>
                  <a:pt x="46603" y="58967"/>
                </a:lnTo>
                <a:lnTo>
                  <a:pt x="46603" y="59239"/>
                </a:lnTo>
                <a:lnTo>
                  <a:pt x="47147" y="59511"/>
                </a:lnTo>
                <a:lnTo>
                  <a:pt x="47147" y="59783"/>
                </a:lnTo>
                <a:lnTo>
                  <a:pt x="47011" y="59918"/>
                </a:lnTo>
                <a:lnTo>
                  <a:pt x="46739" y="59918"/>
                </a:lnTo>
                <a:lnTo>
                  <a:pt x="46603" y="59783"/>
                </a:lnTo>
                <a:lnTo>
                  <a:pt x="46467" y="59647"/>
                </a:lnTo>
                <a:lnTo>
                  <a:pt x="45109" y="59647"/>
                </a:lnTo>
                <a:lnTo>
                  <a:pt x="44022" y="59103"/>
                </a:lnTo>
                <a:lnTo>
                  <a:pt x="39946" y="54755"/>
                </a:lnTo>
                <a:lnTo>
                  <a:pt x="38859" y="54755"/>
                </a:lnTo>
                <a:lnTo>
                  <a:pt x="37908" y="55707"/>
                </a:lnTo>
                <a:lnTo>
                  <a:pt x="37908" y="55978"/>
                </a:lnTo>
                <a:lnTo>
                  <a:pt x="37908" y="56250"/>
                </a:lnTo>
                <a:lnTo>
                  <a:pt x="38451" y="57337"/>
                </a:lnTo>
                <a:lnTo>
                  <a:pt x="38995" y="57880"/>
                </a:lnTo>
                <a:lnTo>
                  <a:pt x="39538" y="58967"/>
                </a:lnTo>
                <a:lnTo>
                  <a:pt x="41168" y="60598"/>
                </a:lnTo>
                <a:lnTo>
                  <a:pt x="41168" y="60870"/>
                </a:lnTo>
                <a:lnTo>
                  <a:pt x="41576" y="61277"/>
                </a:lnTo>
                <a:lnTo>
                  <a:pt x="41848" y="61277"/>
                </a:lnTo>
                <a:lnTo>
                  <a:pt x="42935" y="62364"/>
                </a:lnTo>
                <a:lnTo>
                  <a:pt x="44565" y="63179"/>
                </a:lnTo>
                <a:lnTo>
                  <a:pt x="45245" y="63859"/>
                </a:lnTo>
                <a:lnTo>
                  <a:pt x="45245" y="68478"/>
                </a:lnTo>
                <a:lnTo>
                  <a:pt x="45380" y="68614"/>
                </a:lnTo>
                <a:lnTo>
                  <a:pt x="45516" y="68750"/>
                </a:lnTo>
                <a:lnTo>
                  <a:pt x="45516" y="76359"/>
                </a:lnTo>
                <a:lnTo>
                  <a:pt x="45924" y="76766"/>
                </a:lnTo>
                <a:lnTo>
                  <a:pt x="48641" y="76766"/>
                </a:lnTo>
                <a:lnTo>
                  <a:pt x="49049" y="76087"/>
                </a:lnTo>
                <a:lnTo>
                  <a:pt x="49049" y="75815"/>
                </a:lnTo>
                <a:lnTo>
                  <a:pt x="49049" y="75543"/>
                </a:lnTo>
                <a:lnTo>
                  <a:pt x="49457" y="75136"/>
                </a:lnTo>
                <a:lnTo>
                  <a:pt x="49728" y="75136"/>
                </a:lnTo>
                <a:lnTo>
                  <a:pt x="50000" y="75136"/>
                </a:lnTo>
                <a:lnTo>
                  <a:pt x="50408" y="75543"/>
                </a:lnTo>
                <a:lnTo>
                  <a:pt x="50408" y="75815"/>
                </a:lnTo>
                <a:lnTo>
                  <a:pt x="50408" y="76087"/>
                </a:lnTo>
                <a:lnTo>
                  <a:pt x="50815" y="76766"/>
                </a:lnTo>
                <a:lnTo>
                  <a:pt x="53804" y="76766"/>
                </a:lnTo>
                <a:lnTo>
                  <a:pt x="53940" y="76630"/>
                </a:lnTo>
                <a:lnTo>
                  <a:pt x="53940" y="71467"/>
                </a:lnTo>
                <a:lnTo>
                  <a:pt x="54076" y="71332"/>
                </a:lnTo>
                <a:lnTo>
                  <a:pt x="54212" y="71196"/>
                </a:lnTo>
                <a:lnTo>
                  <a:pt x="54212" y="66848"/>
                </a:lnTo>
                <a:lnTo>
                  <a:pt x="54348" y="66712"/>
                </a:lnTo>
                <a:lnTo>
                  <a:pt x="54484" y="66576"/>
                </a:lnTo>
                <a:lnTo>
                  <a:pt x="54484" y="66304"/>
                </a:lnTo>
                <a:lnTo>
                  <a:pt x="54484" y="66033"/>
                </a:lnTo>
                <a:lnTo>
                  <a:pt x="54348" y="65897"/>
                </a:lnTo>
                <a:lnTo>
                  <a:pt x="54212" y="65761"/>
                </a:lnTo>
                <a:lnTo>
                  <a:pt x="54348" y="65625"/>
                </a:lnTo>
                <a:lnTo>
                  <a:pt x="54484" y="65489"/>
                </a:lnTo>
                <a:lnTo>
                  <a:pt x="54484" y="63587"/>
                </a:lnTo>
                <a:lnTo>
                  <a:pt x="55978" y="62908"/>
                </a:lnTo>
                <a:lnTo>
                  <a:pt x="56793" y="62092"/>
                </a:lnTo>
                <a:lnTo>
                  <a:pt x="57065" y="62092"/>
                </a:lnTo>
                <a:lnTo>
                  <a:pt x="59103" y="60054"/>
                </a:lnTo>
                <a:lnTo>
                  <a:pt x="59103" y="59783"/>
                </a:lnTo>
                <a:lnTo>
                  <a:pt x="60462" y="58424"/>
                </a:lnTo>
                <a:lnTo>
                  <a:pt x="60462" y="58152"/>
                </a:lnTo>
                <a:lnTo>
                  <a:pt x="61005" y="57609"/>
                </a:lnTo>
                <a:lnTo>
                  <a:pt x="61821" y="55978"/>
                </a:lnTo>
                <a:lnTo>
                  <a:pt x="60870" y="54755"/>
                </a:lnTo>
                <a:lnTo>
                  <a:pt x="59783" y="54755"/>
                </a:lnTo>
                <a:lnTo>
                  <a:pt x="58967" y="55571"/>
                </a:lnTo>
                <a:lnTo>
                  <a:pt x="55435" y="59103"/>
                </a:lnTo>
                <a:lnTo>
                  <a:pt x="54348" y="59647"/>
                </a:lnTo>
                <a:lnTo>
                  <a:pt x="52717" y="59647"/>
                </a:lnTo>
                <a:lnTo>
                  <a:pt x="52582" y="59511"/>
                </a:lnTo>
                <a:lnTo>
                  <a:pt x="53261" y="58560"/>
                </a:lnTo>
                <a:lnTo>
                  <a:pt x="54620" y="58016"/>
                </a:lnTo>
                <a:lnTo>
                  <a:pt x="57201" y="55435"/>
                </a:lnTo>
                <a:lnTo>
                  <a:pt x="57201" y="55163"/>
                </a:lnTo>
                <a:lnTo>
                  <a:pt x="58424" y="53940"/>
                </a:lnTo>
                <a:lnTo>
                  <a:pt x="59511" y="53397"/>
                </a:lnTo>
                <a:lnTo>
                  <a:pt x="61413" y="53397"/>
                </a:lnTo>
                <a:lnTo>
                  <a:pt x="61957" y="53668"/>
                </a:lnTo>
                <a:lnTo>
                  <a:pt x="62636" y="54348"/>
                </a:lnTo>
                <a:lnTo>
                  <a:pt x="63179" y="55435"/>
                </a:lnTo>
                <a:lnTo>
                  <a:pt x="63179" y="56250"/>
                </a:lnTo>
                <a:lnTo>
                  <a:pt x="62364" y="57880"/>
                </a:lnTo>
                <a:lnTo>
                  <a:pt x="61821" y="58424"/>
                </a:lnTo>
                <a:lnTo>
                  <a:pt x="61549" y="59239"/>
                </a:lnTo>
                <a:lnTo>
                  <a:pt x="61005" y="59783"/>
                </a:lnTo>
                <a:lnTo>
                  <a:pt x="61005" y="60054"/>
                </a:lnTo>
                <a:lnTo>
                  <a:pt x="58967" y="62364"/>
                </a:lnTo>
                <a:lnTo>
                  <a:pt x="58696" y="62364"/>
                </a:lnTo>
                <a:lnTo>
                  <a:pt x="57880" y="63179"/>
                </a:lnTo>
                <a:lnTo>
                  <a:pt x="57609" y="63179"/>
                </a:lnTo>
                <a:lnTo>
                  <a:pt x="57065" y="63723"/>
                </a:lnTo>
                <a:lnTo>
                  <a:pt x="56793" y="63723"/>
                </a:lnTo>
                <a:lnTo>
                  <a:pt x="56250" y="64266"/>
                </a:lnTo>
                <a:lnTo>
                  <a:pt x="55978" y="64266"/>
                </a:lnTo>
                <a:lnTo>
                  <a:pt x="55842" y="64402"/>
                </a:lnTo>
                <a:lnTo>
                  <a:pt x="55842" y="65489"/>
                </a:lnTo>
                <a:lnTo>
                  <a:pt x="55707" y="65625"/>
                </a:lnTo>
                <a:lnTo>
                  <a:pt x="55571" y="65761"/>
                </a:lnTo>
                <a:lnTo>
                  <a:pt x="55571" y="71196"/>
                </a:lnTo>
                <a:lnTo>
                  <a:pt x="55435" y="71332"/>
                </a:lnTo>
                <a:lnTo>
                  <a:pt x="55299" y="71467"/>
                </a:lnTo>
                <a:lnTo>
                  <a:pt x="55299" y="77446"/>
                </a:lnTo>
                <a:lnTo>
                  <a:pt x="54620" y="78125"/>
                </a:lnTo>
                <a:lnTo>
                  <a:pt x="50272" y="78125"/>
                </a:lnTo>
                <a:lnTo>
                  <a:pt x="50136" y="77989"/>
                </a:lnTo>
                <a:lnTo>
                  <a:pt x="50000" y="77853"/>
                </a:lnTo>
                <a:lnTo>
                  <a:pt x="49728" y="77853"/>
                </a:lnTo>
                <a:lnTo>
                  <a:pt x="49457" y="77853"/>
                </a:lnTo>
                <a:lnTo>
                  <a:pt x="49321" y="77989"/>
                </a:lnTo>
                <a:lnTo>
                  <a:pt x="49185" y="78125"/>
                </a:lnTo>
                <a:lnTo>
                  <a:pt x="44837" y="78125"/>
                </a:lnTo>
                <a:lnTo>
                  <a:pt x="44429" y="77717"/>
                </a:lnTo>
                <a:lnTo>
                  <a:pt x="44429" y="76630"/>
                </a:lnTo>
                <a:lnTo>
                  <a:pt x="44293" y="76495"/>
                </a:lnTo>
                <a:lnTo>
                  <a:pt x="44158" y="76359"/>
                </a:lnTo>
                <a:lnTo>
                  <a:pt x="44158" y="70924"/>
                </a:lnTo>
                <a:lnTo>
                  <a:pt x="44022" y="70788"/>
                </a:lnTo>
                <a:lnTo>
                  <a:pt x="43886" y="70652"/>
                </a:lnTo>
                <a:lnTo>
                  <a:pt x="43886" y="64674"/>
                </a:lnTo>
                <a:lnTo>
                  <a:pt x="43207" y="63995"/>
                </a:lnTo>
                <a:lnTo>
                  <a:pt x="42935" y="63995"/>
                </a:lnTo>
                <a:lnTo>
                  <a:pt x="41304" y="62636"/>
                </a:lnTo>
                <a:lnTo>
                  <a:pt x="41033" y="62636"/>
                </a:lnTo>
                <a:lnTo>
                  <a:pt x="38995" y="60598"/>
                </a:lnTo>
                <a:lnTo>
                  <a:pt x="38451" y="59511"/>
                </a:lnTo>
                <a:lnTo>
                  <a:pt x="37092" y="57880"/>
                </a:lnTo>
                <a:lnTo>
                  <a:pt x="36549" y="56793"/>
                </a:lnTo>
                <a:lnTo>
                  <a:pt x="36549" y="55163"/>
                </a:lnTo>
                <a:lnTo>
                  <a:pt x="36821" y="54620"/>
                </a:lnTo>
                <a:lnTo>
                  <a:pt x="37772" y="53668"/>
                </a:lnTo>
                <a:lnTo>
                  <a:pt x="38043" y="53668"/>
                </a:lnTo>
                <a:lnTo>
                  <a:pt x="38179" y="53533"/>
                </a:lnTo>
                <a:close/>
              </a:path>
            </a:pathLst>
          </a:custGeom>
          <a:solidFill>
            <a:srgbClr val="FFFFFF"/>
          </a:solidFill>
          <a:ln>
            <a:noFill/>
          </a:ln>
        </p:spPr>
        <p:txBody>
          <a:bodyPr/>
          <a:p/>
        </p:txBody>
      </p:sp>
      <p:sp>
        <p:nvSpPr>
          <p:cNvPr id="9" name="Text 6"/>
          <p:cNvSpPr/>
          <p:nvPr/>
        </p:nvSpPr>
        <p:spPr>
          <a:xfrm>
            <a:off x="777240" y="4727448"/>
            <a:ext cx="2514600" cy="795528"/>
          </a:xfrm>
          <a:prstGeom prst="rect">
            <a:avLst/>
          </a:prstGeom>
          <a:noFill/>
          <a:ln/>
        </p:spPr>
        <p:txBody>
          <a:bodyPr wrap="square" lIns="0" tIns="0" rIns="0" bIns="0" rtlCol="0" anchor="ctr"/>
          <a:lstStyle/>
          <a:p>
            <a:pPr indent="0" marL="0">
              <a:buNone/>
            </a:pPr>
            <a:r>
              <a:rPr lang="en-US" sz="7800" b="1" dirty="0">
                <a:solidFill>
                  <a:srgbClr val="1D4ED8"/>
                </a:solidFill>
                <a:latin typeface="Aptos" pitchFamily="34" charset="0"/>
                <a:ea typeface="Segoe UI" pitchFamily="34" charset="-122"/>
                <a:cs typeface="Segoe UI" pitchFamily="34" charset="-120"/>
              </a:rPr>
              <a:t>600</a:t>
            </a:r>
            <a:endParaRPr lang="en-US" sz="7800" dirty="0"/>
          </a:p>
        </p:txBody>
      </p:sp>
      <p:sp>
        <p:nvSpPr>
          <p:cNvPr id="10" name="Text 7"/>
          <p:cNvSpPr/>
          <p:nvPr/>
        </p:nvSpPr>
        <p:spPr>
          <a:xfrm>
            <a:off x="1271016" y="5650992"/>
            <a:ext cx="1563624" cy="374904"/>
          </a:xfrm>
          <a:prstGeom prst="rect">
            <a:avLst/>
          </a:prstGeom>
          <a:noFill/>
          <a:ln/>
        </p:spPr>
        <p:txBody>
          <a:bodyPr wrap="square" lIns="0" tIns="0" rIns="0" bIns="0" rtlCol="0" anchor="ctr"/>
          <a:lstStyle/>
          <a:p>
            <a:pPr indent="0" marL="0">
              <a:buNone/>
            </a:pPr>
            <a:r>
              <a:rPr lang="en-US" sz="2700" dirty="0">
                <a:solidFill>
                  <a:srgbClr val="17324D"/>
                </a:solidFill>
                <a:latin typeface="Aptos" pitchFamily="34" charset="0"/>
                <a:ea typeface="Segoe UI" pitchFamily="34" charset="-122"/>
                <a:cs typeface="Segoe UI" pitchFamily="34" charset="-120"/>
              </a:rPr>
              <a:t>clients</a:t>
            </a:r>
            <a:endParaRPr lang="en-US" sz="2700" dirty="0"/>
          </a:p>
        </p:txBody>
      </p:sp>
      <p:sp>
        <p:nvSpPr>
          <p:cNvPr id="11" name="Shape 8"/>
          <p:cNvSpPr/>
          <p:nvPr/>
        </p:nvSpPr>
        <p:spPr>
          <a:xfrm>
            <a:off x="3547872" y="1709928"/>
            <a:ext cx="0" cy="4572000"/>
          </a:xfrm>
          <a:prstGeom prst="line">
            <a:avLst/>
          </a:prstGeom>
          <a:noFill/>
          <a:ln w="11430">
            <a:solidFill>
              <a:srgbClr val="D1D5DB"/>
            </a:solidFill>
            <a:prstDash val="solid"/>
          </a:ln>
        </p:spPr>
        <p:txBody>
          <a:bodyPr/>
          <a:p/>
        </p:txBody>
      </p:sp>
      <p:sp>
        <p:nvSpPr>
          <p:cNvPr id="12" name="Shape 9"/>
          <p:cNvSpPr/>
          <p:nvPr/>
        </p:nvSpPr>
        <p:spPr>
          <a:xfrm>
            <a:off x="3776472" y="1728216"/>
            <a:ext cx="4050792" cy="1325880"/>
          </a:xfrm>
          <a:prstGeom prst="roundRect">
            <a:avLst>
              <a:gd name="adj" fmla="val 9655"/>
            </a:avLst>
          </a:prstGeom>
          <a:solidFill>
            <a:srgbClr val="F0FDFA"/>
          </a:solidFill>
          <a:ln w="12700">
            <a:solidFill>
              <a:srgbClr val="F0FDFA">
                <a:alpha val="0"/>
              </a:srgbClr>
            </a:solidFill>
            <a:prstDash val="solid"/>
          </a:ln>
        </p:spPr>
        <p:txBody>
          <a:bodyPr/>
          <a:p/>
        </p:txBody>
      </p:sp>
      <p:sp>
        <p:nvSpPr>
          <p:cNvPr id="13" name="Shape 10"/>
          <p:cNvSpPr/>
          <p:nvPr/>
        </p:nvSpPr>
        <p:spPr>
          <a:xfrm>
            <a:off x="3977640" y="1865376"/>
            <a:ext cx="923544" cy="923544"/>
          </a:xfrm>
          <a:prstGeom prst="ellipse">
            <a:avLst/>
          </a:prstGeom>
          <a:solidFill>
            <a:srgbClr val="1D4ED8"/>
          </a:solidFill>
          <a:ln w="12700">
            <a:solidFill>
              <a:srgbClr val="1D4ED8">
                <a:alpha val="0"/>
              </a:srgbClr>
            </a:solidFill>
            <a:prstDash val="solid"/>
          </a:ln>
        </p:spPr>
        <p:txBody>
          <a:bodyPr/>
          <a:p/>
        </p:txBody>
      </p:sp>
      <p:sp>
        <p:nvSpPr>
          <p:cNvPr id="14" name="VECTOR_person_41"/>
          <p:cNvSpPr/>
          <p:nvPr/>
        </p:nvSpPr>
        <p:spPr>
          <a:xfrm>
            <a:off x="3977640" y="1865376"/>
            <a:ext cx="923544" cy="923544"/>
          </a:xfrm>
          <a:custGeom>
            <a:avLst/>
            <a:gdLst/>
            <a:ahLst/>
            <a:cxnLst/>
            <a:rect l="0" t="0" r="r" b="b"/>
            <a:pathLst>
              <a:path w="100000" h="100000" fill="norm" stroke="false" extrusionOk="false">
                <a:moveTo>
                  <a:pt x="46538" y="18462"/>
                </a:moveTo>
                <a:lnTo>
                  <a:pt x="46923" y="18077"/>
                </a:lnTo>
                <a:lnTo>
                  <a:pt x="51538" y="18077"/>
                </a:lnTo>
                <a:lnTo>
                  <a:pt x="51923" y="18462"/>
                </a:lnTo>
                <a:lnTo>
                  <a:pt x="52308" y="18846"/>
                </a:lnTo>
                <a:lnTo>
                  <a:pt x="53077" y="18846"/>
                </a:lnTo>
                <a:lnTo>
                  <a:pt x="53846" y="18846"/>
                </a:lnTo>
                <a:lnTo>
                  <a:pt x="56923" y="20385"/>
                </a:lnTo>
                <a:lnTo>
                  <a:pt x="59615" y="23077"/>
                </a:lnTo>
                <a:lnTo>
                  <a:pt x="61154" y="26154"/>
                </a:lnTo>
                <a:lnTo>
                  <a:pt x="61154" y="28462"/>
                </a:lnTo>
                <a:lnTo>
                  <a:pt x="61538" y="28846"/>
                </a:lnTo>
                <a:lnTo>
                  <a:pt x="61923" y="29231"/>
                </a:lnTo>
                <a:lnTo>
                  <a:pt x="61923" y="33846"/>
                </a:lnTo>
                <a:lnTo>
                  <a:pt x="61538" y="34231"/>
                </a:lnTo>
                <a:lnTo>
                  <a:pt x="61154" y="34615"/>
                </a:lnTo>
                <a:lnTo>
                  <a:pt x="61154" y="35385"/>
                </a:lnTo>
                <a:lnTo>
                  <a:pt x="61154" y="36154"/>
                </a:lnTo>
                <a:lnTo>
                  <a:pt x="59615" y="39231"/>
                </a:lnTo>
                <a:lnTo>
                  <a:pt x="55385" y="42692"/>
                </a:lnTo>
                <a:lnTo>
                  <a:pt x="53846" y="43462"/>
                </a:lnTo>
                <a:lnTo>
                  <a:pt x="51538" y="43462"/>
                </a:lnTo>
                <a:lnTo>
                  <a:pt x="51154" y="43846"/>
                </a:lnTo>
                <a:lnTo>
                  <a:pt x="50769" y="44231"/>
                </a:lnTo>
                <a:lnTo>
                  <a:pt x="46923" y="44231"/>
                </a:lnTo>
                <a:lnTo>
                  <a:pt x="46538" y="43846"/>
                </a:lnTo>
                <a:lnTo>
                  <a:pt x="46154" y="43462"/>
                </a:lnTo>
                <a:lnTo>
                  <a:pt x="45385" y="43462"/>
                </a:lnTo>
                <a:lnTo>
                  <a:pt x="44615" y="43462"/>
                </a:lnTo>
                <a:lnTo>
                  <a:pt x="41538" y="41923"/>
                </a:lnTo>
                <a:lnTo>
                  <a:pt x="38077" y="38462"/>
                </a:lnTo>
                <a:lnTo>
                  <a:pt x="37308" y="36923"/>
                </a:lnTo>
                <a:lnTo>
                  <a:pt x="37308" y="36154"/>
                </a:lnTo>
                <a:lnTo>
                  <a:pt x="37308" y="35385"/>
                </a:lnTo>
                <a:lnTo>
                  <a:pt x="36923" y="35000"/>
                </a:lnTo>
                <a:lnTo>
                  <a:pt x="36538" y="34615"/>
                </a:lnTo>
                <a:lnTo>
                  <a:pt x="36538" y="27692"/>
                </a:lnTo>
                <a:lnTo>
                  <a:pt x="36923" y="27308"/>
                </a:lnTo>
                <a:lnTo>
                  <a:pt x="37308" y="26923"/>
                </a:lnTo>
                <a:lnTo>
                  <a:pt x="37308" y="26154"/>
                </a:lnTo>
                <a:lnTo>
                  <a:pt x="37308" y="25385"/>
                </a:lnTo>
                <a:lnTo>
                  <a:pt x="38077" y="23846"/>
                </a:lnTo>
                <a:lnTo>
                  <a:pt x="42308" y="19615"/>
                </a:lnTo>
                <a:lnTo>
                  <a:pt x="43077" y="19615"/>
                </a:lnTo>
                <a:lnTo>
                  <a:pt x="43846" y="19615"/>
                </a:lnTo>
                <a:lnTo>
                  <a:pt x="44231" y="19231"/>
                </a:lnTo>
                <a:lnTo>
                  <a:pt x="44615" y="18846"/>
                </a:lnTo>
                <a:lnTo>
                  <a:pt x="46538" y="18462"/>
                </a:lnTo>
                <a:close/>
                <a:moveTo>
                  <a:pt x="46154" y="21154"/>
                </a:moveTo>
                <a:lnTo>
                  <a:pt x="43077" y="23462"/>
                </a:lnTo>
                <a:lnTo>
                  <a:pt x="42308" y="23462"/>
                </a:lnTo>
                <a:lnTo>
                  <a:pt x="41923" y="23846"/>
                </a:lnTo>
                <a:lnTo>
                  <a:pt x="41923" y="24615"/>
                </a:lnTo>
                <a:lnTo>
                  <a:pt x="40385" y="26154"/>
                </a:lnTo>
                <a:lnTo>
                  <a:pt x="39615" y="27692"/>
                </a:lnTo>
                <a:lnTo>
                  <a:pt x="39615" y="28462"/>
                </a:lnTo>
                <a:lnTo>
                  <a:pt x="39615" y="29231"/>
                </a:lnTo>
                <a:lnTo>
                  <a:pt x="39231" y="29615"/>
                </a:lnTo>
                <a:lnTo>
                  <a:pt x="38846" y="30000"/>
                </a:lnTo>
                <a:lnTo>
                  <a:pt x="38846" y="32308"/>
                </a:lnTo>
                <a:lnTo>
                  <a:pt x="39231" y="32692"/>
                </a:lnTo>
                <a:lnTo>
                  <a:pt x="39615" y="33077"/>
                </a:lnTo>
                <a:lnTo>
                  <a:pt x="39615" y="33846"/>
                </a:lnTo>
                <a:lnTo>
                  <a:pt x="39615" y="34615"/>
                </a:lnTo>
                <a:lnTo>
                  <a:pt x="40385" y="36154"/>
                </a:lnTo>
                <a:lnTo>
                  <a:pt x="44615" y="40385"/>
                </a:lnTo>
                <a:lnTo>
                  <a:pt x="45385" y="40385"/>
                </a:lnTo>
                <a:lnTo>
                  <a:pt x="46154" y="40385"/>
                </a:lnTo>
                <a:lnTo>
                  <a:pt x="46538" y="40769"/>
                </a:lnTo>
                <a:lnTo>
                  <a:pt x="46923" y="41154"/>
                </a:lnTo>
                <a:lnTo>
                  <a:pt x="51538" y="41154"/>
                </a:lnTo>
                <a:lnTo>
                  <a:pt x="51923" y="40769"/>
                </a:lnTo>
                <a:lnTo>
                  <a:pt x="54615" y="39615"/>
                </a:lnTo>
                <a:lnTo>
                  <a:pt x="58077" y="36154"/>
                </a:lnTo>
                <a:lnTo>
                  <a:pt x="58846" y="34615"/>
                </a:lnTo>
                <a:lnTo>
                  <a:pt x="58846" y="32308"/>
                </a:lnTo>
                <a:lnTo>
                  <a:pt x="59231" y="31923"/>
                </a:lnTo>
                <a:lnTo>
                  <a:pt x="59615" y="31538"/>
                </a:lnTo>
                <a:lnTo>
                  <a:pt x="59615" y="30769"/>
                </a:lnTo>
                <a:lnTo>
                  <a:pt x="59615" y="30000"/>
                </a:lnTo>
                <a:lnTo>
                  <a:pt x="59231" y="29615"/>
                </a:lnTo>
                <a:lnTo>
                  <a:pt x="58846" y="29231"/>
                </a:lnTo>
                <a:lnTo>
                  <a:pt x="58846" y="28462"/>
                </a:lnTo>
                <a:lnTo>
                  <a:pt x="58846" y="27692"/>
                </a:lnTo>
                <a:lnTo>
                  <a:pt x="58077" y="26154"/>
                </a:lnTo>
                <a:lnTo>
                  <a:pt x="54615" y="22692"/>
                </a:lnTo>
                <a:lnTo>
                  <a:pt x="51538" y="21154"/>
                </a:lnTo>
                <a:lnTo>
                  <a:pt x="46154" y="21154"/>
                </a:lnTo>
                <a:close/>
                <a:moveTo>
                  <a:pt x="45000" y="48462"/>
                </a:moveTo>
                <a:lnTo>
                  <a:pt x="45385" y="48077"/>
                </a:lnTo>
                <a:lnTo>
                  <a:pt x="53077" y="48077"/>
                </a:lnTo>
                <a:lnTo>
                  <a:pt x="53462" y="48462"/>
                </a:lnTo>
                <a:lnTo>
                  <a:pt x="53846" y="48846"/>
                </a:lnTo>
                <a:lnTo>
                  <a:pt x="57692" y="49615"/>
                </a:lnTo>
                <a:lnTo>
                  <a:pt x="60769" y="51923"/>
                </a:lnTo>
                <a:lnTo>
                  <a:pt x="61538" y="51923"/>
                </a:lnTo>
                <a:lnTo>
                  <a:pt x="63077" y="53462"/>
                </a:lnTo>
                <a:lnTo>
                  <a:pt x="63846" y="53462"/>
                </a:lnTo>
                <a:lnTo>
                  <a:pt x="65769" y="55385"/>
                </a:lnTo>
                <a:lnTo>
                  <a:pt x="65769" y="56154"/>
                </a:lnTo>
                <a:lnTo>
                  <a:pt x="68846" y="60000"/>
                </a:lnTo>
                <a:lnTo>
                  <a:pt x="68846" y="60769"/>
                </a:lnTo>
                <a:lnTo>
                  <a:pt x="68846" y="61538"/>
                </a:lnTo>
                <a:lnTo>
                  <a:pt x="70385" y="64615"/>
                </a:lnTo>
                <a:lnTo>
                  <a:pt x="70385" y="70000"/>
                </a:lnTo>
                <a:lnTo>
                  <a:pt x="68462" y="70385"/>
                </a:lnTo>
                <a:lnTo>
                  <a:pt x="68077" y="70000"/>
                </a:lnTo>
                <a:lnTo>
                  <a:pt x="68077" y="66154"/>
                </a:lnTo>
                <a:lnTo>
                  <a:pt x="67692" y="65769"/>
                </a:lnTo>
                <a:lnTo>
                  <a:pt x="67308" y="65385"/>
                </a:lnTo>
                <a:lnTo>
                  <a:pt x="67308" y="64615"/>
                </a:lnTo>
                <a:lnTo>
                  <a:pt x="67308" y="63846"/>
                </a:lnTo>
                <a:lnTo>
                  <a:pt x="65000" y="59231"/>
                </a:lnTo>
                <a:lnTo>
                  <a:pt x="60000" y="54231"/>
                </a:lnTo>
                <a:lnTo>
                  <a:pt x="55385" y="51923"/>
                </a:lnTo>
                <a:lnTo>
                  <a:pt x="53462" y="51538"/>
                </a:lnTo>
                <a:lnTo>
                  <a:pt x="53077" y="51154"/>
                </a:lnTo>
                <a:lnTo>
                  <a:pt x="44615" y="51154"/>
                </a:lnTo>
                <a:lnTo>
                  <a:pt x="44231" y="51538"/>
                </a:lnTo>
                <a:lnTo>
                  <a:pt x="43846" y="51923"/>
                </a:lnTo>
                <a:lnTo>
                  <a:pt x="43077" y="51923"/>
                </a:lnTo>
                <a:lnTo>
                  <a:pt x="42308" y="51923"/>
                </a:lnTo>
                <a:lnTo>
                  <a:pt x="39231" y="53462"/>
                </a:lnTo>
                <a:lnTo>
                  <a:pt x="36923" y="55769"/>
                </a:lnTo>
                <a:lnTo>
                  <a:pt x="36154" y="55769"/>
                </a:lnTo>
                <a:lnTo>
                  <a:pt x="31923" y="61538"/>
                </a:lnTo>
                <a:lnTo>
                  <a:pt x="31923" y="62308"/>
                </a:lnTo>
                <a:lnTo>
                  <a:pt x="31923" y="63077"/>
                </a:lnTo>
                <a:lnTo>
                  <a:pt x="31538" y="63462"/>
                </a:lnTo>
                <a:lnTo>
                  <a:pt x="31154" y="63846"/>
                </a:lnTo>
                <a:lnTo>
                  <a:pt x="31154" y="66154"/>
                </a:lnTo>
                <a:lnTo>
                  <a:pt x="30769" y="66538"/>
                </a:lnTo>
                <a:lnTo>
                  <a:pt x="30385" y="66923"/>
                </a:lnTo>
                <a:lnTo>
                  <a:pt x="30385" y="70000"/>
                </a:lnTo>
                <a:lnTo>
                  <a:pt x="28462" y="70385"/>
                </a:lnTo>
                <a:lnTo>
                  <a:pt x="28077" y="70000"/>
                </a:lnTo>
                <a:lnTo>
                  <a:pt x="28077" y="64615"/>
                </a:lnTo>
                <a:lnTo>
                  <a:pt x="28462" y="64231"/>
                </a:lnTo>
                <a:lnTo>
                  <a:pt x="28846" y="63846"/>
                </a:lnTo>
                <a:lnTo>
                  <a:pt x="29615" y="60000"/>
                </a:lnTo>
                <a:lnTo>
                  <a:pt x="31923" y="56923"/>
                </a:lnTo>
                <a:lnTo>
                  <a:pt x="31923" y="56154"/>
                </a:lnTo>
                <a:lnTo>
                  <a:pt x="35385" y="52692"/>
                </a:lnTo>
                <a:lnTo>
                  <a:pt x="36154" y="52692"/>
                </a:lnTo>
                <a:lnTo>
                  <a:pt x="37692" y="51154"/>
                </a:lnTo>
                <a:lnTo>
                  <a:pt x="42308" y="48846"/>
                </a:lnTo>
                <a:lnTo>
                  <a:pt x="45000" y="48462"/>
                </a:lnTo>
                <a:close/>
              </a:path>
            </a:pathLst>
          </a:custGeom>
          <a:solidFill>
            <a:srgbClr val="FFFFFF"/>
          </a:solidFill>
          <a:ln>
            <a:noFill/>
          </a:ln>
        </p:spPr>
        <p:txBody>
          <a:bodyPr/>
          <a:p/>
        </p:txBody>
      </p:sp>
      <p:sp>
        <p:nvSpPr>
          <p:cNvPr id="15" name="Text 12"/>
          <p:cNvSpPr/>
          <p:nvPr/>
        </p:nvSpPr>
        <p:spPr>
          <a:xfrm>
            <a:off x="5193792" y="1874520"/>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37 ans</a:t>
            </a:r>
            <a:endParaRPr lang="en-US" sz="4400" dirty="0"/>
          </a:p>
        </p:txBody>
      </p:sp>
      <p:sp>
        <p:nvSpPr>
          <p:cNvPr id="16" name="Text 13"/>
          <p:cNvSpPr/>
          <p:nvPr/>
        </p:nvSpPr>
        <p:spPr>
          <a:xfrm>
            <a:off x="5202936" y="2478024"/>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Âge moyen</a:t>
            </a:r>
            <a:endParaRPr lang="en-US" sz="1400" dirty="0"/>
          </a:p>
        </p:txBody>
      </p:sp>
      <p:sp>
        <p:nvSpPr>
          <p:cNvPr id="17" name="Text 14"/>
          <p:cNvSpPr/>
          <p:nvPr/>
        </p:nvSpPr>
        <p:spPr>
          <a:xfrm>
            <a:off x="5221224" y="2788920"/>
            <a:ext cx="2350008" cy="182880"/>
          </a:xfrm>
          <a:prstGeom prst="rect">
            <a:avLst/>
          </a:prstGeom>
          <a:noFill/>
          <a:ln/>
        </p:spPr>
        <p:txBody>
          <a:bodyPr wrap="square" lIns="0" tIns="0" rIns="0" bIns="0" rtlCol="0" anchor="ctr"/>
          <a:lstStyle/>
          <a:p>
            <a:pPr indent="0" marL="0">
              <a:buNone/>
            </a:pPr>
            <a:r>
              <a:rPr lang="en-US" sz="1100" b="1" dirty="0">
                <a:solidFill>
                  <a:srgbClr val="1D4ED8"/>
                </a:solidFill>
                <a:latin typeface="Aptos" pitchFamily="34" charset="0"/>
                <a:ea typeface="Segoe UI" pitchFamily="34" charset="-122"/>
                <a:cs typeface="Segoe UI" pitchFamily="34" charset="-120"/>
              </a:rPr>
              <a:t>Les plus jeunes</a:t>
            </a:r>
            <a:endParaRPr lang="en-US" sz="1100" dirty="0"/>
          </a:p>
        </p:txBody>
      </p:sp>
      <p:sp>
        <p:nvSpPr>
          <p:cNvPr id="18" name="Shape 15"/>
          <p:cNvSpPr/>
          <p:nvPr/>
        </p:nvSpPr>
        <p:spPr>
          <a:xfrm>
            <a:off x="7973568" y="1728216"/>
            <a:ext cx="4050792" cy="1325880"/>
          </a:xfrm>
          <a:prstGeom prst="roundRect">
            <a:avLst>
              <a:gd name="adj" fmla="val 9655"/>
            </a:avLst>
          </a:prstGeom>
          <a:solidFill>
            <a:srgbClr val="EFF6FF"/>
          </a:solidFill>
          <a:ln w="12700">
            <a:solidFill>
              <a:srgbClr val="EFF6FF">
                <a:alpha val="0"/>
              </a:srgbClr>
            </a:solidFill>
            <a:prstDash val="solid"/>
          </a:ln>
        </p:spPr>
        <p:txBody>
          <a:bodyPr/>
          <a:p/>
        </p:txBody>
      </p:sp>
      <p:sp>
        <p:nvSpPr>
          <p:cNvPr id="19" name="Shape 16"/>
          <p:cNvSpPr/>
          <p:nvPr/>
        </p:nvSpPr>
        <p:spPr>
          <a:xfrm>
            <a:off x="8174736" y="1865376"/>
            <a:ext cx="923544" cy="923544"/>
          </a:xfrm>
          <a:prstGeom prst="ellipse">
            <a:avLst/>
          </a:prstGeom>
          <a:solidFill>
            <a:srgbClr val="1D4ED8"/>
          </a:solidFill>
          <a:ln w="12700">
            <a:solidFill>
              <a:srgbClr val="1D4ED8">
                <a:alpha val="0"/>
              </a:srgbClr>
            </a:solidFill>
            <a:prstDash val="solid"/>
          </a:ln>
        </p:spPr>
        <p:txBody>
          <a:bodyPr/>
          <a:p/>
        </p:txBody>
      </p:sp>
      <p:sp>
        <p:nvSpPr>
          <p:cNvPr id="20" name="VECTOR_database_42"/>
          <p:cNvSpPr/>
          <p:nvPr/>
        </p:nvSpPr>
        <p:spPr>
          <a:xfrm>
            <a:off x="8174736" y="1865376"/>
            <a:ext cx="923544" cy="923544"/>
          </a:xfrm>
          <a:custGeom>
            <a:avLst/>
            <a:gdLst/>
            <a:ahLst/>
            <a:cxnLst/>
            <a:rect l="0" t="0" r="r" b="b"/>
            <a:pathLst>
              <a:path w="100000" h="100000" fill="norm" stroke="false" extrusionOk="false">
                <a:moveTo>
                  <a:pt x="41154" y="22308"/>
                </a:moveTo>
                <a:lnTo>
                  <a:pt x="41538" y="21923"/>
                </a:lnTo>
                <a:lnTo>
                  <a:pt x="53846" y="21923"/>
                </a:lnTo>
                <a:lnTo>
                  <a:pt x="54231" y="22308"/>
                </a:lnTo>
                <a:lnTo>
                  <a:pt x="54615" y="22692"/>
                </a:lnTo>
                <a:lnTo>
                  <a:pt x="58462" y="22692"/>
                </a:lnTo>
                <a:lnTo>
                  <a:pt x="58846" y="23077"/>
                </a:lnTo>
                <a:lnTo>
                  <a:pt x="59231" y="23462"/>
                </a:lnTo>
                <a:lnTo>
                  <a:pt x="60000" y="23462"/>
                </a:lnTo>
                <a:lnTo>
                  <a:pt x="60769" y="23462"/>
                </a:lnTo>
                <a:lnTo>
                  <a:pt x="62308" y="24231"/>
                </a:lnTo>
                <a:lnTo>
                  <a:pt x="65769" y="27692"/>
                </a:lnTo>
                <a:lnTo>
                  <a:pt x="65769" y="63077"/>
                </a:lnTo>
                <a:lnTo>
                  <a:pt x="63077" y="65769"/>
                </a:lnTo>
                <a:lnTo>
                  <a:pt x="60000" y="67308"/>
                </a:lnTo>
                <a:lnTo>
                  <a:pt x="52308" y="68846"/>
                </a:lnTo>
                <a:lnTo>
                  <a:pt x="40769" y="68846"/>
                </a:lnTo>
                <a:lnTo>
                  <a:pt x="40385" y="68462"/>
                </a:lnTo>
                <a:lnTo>
                  <a:pt x="40000" y="68077"/>
                </a:lnTo>
                <a:lnTo>
                  <a:pt x="36923" y="68077"/>
                </a:lnTo>
                <a:lnTo>
                  <a:pt x="36538" y="67692"/>
                </a:lnTo>
                <a:lnTo>
                  <a:pt x="36154" y="67308"/>
                </a:lnTo>
                <a:lnTo>
                  <a:pt x="35385" y="67308"/>
                </a:lnTo>
                <a:lnTo>
                  <a:pt x="34615" y="67308"/>
                </a:lnTo>
                <a:lnTo>
                  <a:pt x="31538" y="65769"/>
                </a:lnTo>
                <a:lnTo>
                  <a:pt x="28846" y="63077"/>
                </a:lnTo>
                <a:lnTo>
                  <a:pt x="28846" y="55385"/>
                </a:lnTo>
                <a:lnTo>
                  <a:pt x="29231" y="55000"/>
                </a:lnTo>
                <a:lnTo>
                  <a:pt x="29615" y="54615"/>
                </a:lnTo>
                <a:lnTo>
                  <a:pt x="28846" y="53077"/>
                </a:lnTo>
                <a:lnTo>
                  <a:pt x="28846" y="46923"/>
                </a:lnTo>
                <a:lnTo>
                  <a:pt x="29231" y="46538"/>
                </a:lnTo>
                <a:lnTo>
                  <a:pt x="29615" y="46154"/>
                </a:lnTo>
                <a:lnTo>
                  <a:pt x="29615" y="43846"/>
                </a:lnTo>
                <a:lnTo>
                  <a:pt x="29231" y="43462"/>
                </a:lnTo>
                <a:lnTo>
                  <a:pt x="28846" y="43077"/>
                </a:lnTo>
                <a:lnTo>
                  <a:pt x="28846" y="28462"/>
                </a:lnTo>
                <a:lnTo>
                  <a:pt x="31538" y="25000"/>
                </a:lnTo>
                <a:lnTo>
                  <a:pt x="34615" y="23462"/>
                </a:lnTo>
                <a:lnTo>
                  <a:pt x="35385" y="23462"/>
                </a:lnTo>
                <a:lnTo>
                  <a:pt x="36154" y="23462"/>
                </a:lnTo>
                <a:lnTo>
                  <a:pt x="36538" y="23077"/>
                </a:lnTo>
                <a:lnTo>
                  <a:pt x="36923" y="22692"/>
                </a:lnTo>
                <a:lnTo>
                  <a:pt x="40769" y="22692"/>
                </a:lnTo>
                <a:lnTo>
                  <a:pt x="41154" y="22308"/>
                </a:lnTo>
                <a:close/>
                <a:moveTo>
                  <a:pt x="40769" y="24231"/>
                </a:moveTo>
                <a:lnTo>
                  <a:pt x="40385" y="24615"/>
                </a:lnTo>
                <a:lnTo>
                  <a:pt x="40000" y="25000"/>
                </a:lnTo>
                <a:lnTo>
                  <a:pt x="37692" y="25000"/>
                </a:lnTo>
                <a:lnTo>
                  <a:pt x="37308" y="25385"/>
                </a:lnTo>
                <a:lnTo>
                  <a:pt x="36923" y="25769"/>
                </a:lnTo>
                <a:lnTo>
                  <a:pt x="36154" y="25769"/>
                </a:lnTo>
                <a:lnTo>
                  <a:pt x="35385" y="25769"/>
                </a:lnTo>
                <a:lnTo>
                  <a:pt x="33846" y="26538"/>
                </a:lnTo>
                <a:lnTo>
                  <a:pt x="31154" y="29231"/>
                </a:lnTo>
                <a:lnTo>
                  <a:pt x="31154" y="30000"/>
                </a:lnTo>
                <a:lnTo>
                  <a:pt x="31154" y="30769"/>
                </a:lnTo>
                <a:lnTo>
                  <a:pt x="33846" y="33462"/>
                </a:lnTo>
                <a:lnTo>
                  <a:pt x="35385" y="34231"/>
                </a:lnTo>
                <a:lnTo>
                  <a:pt x="36154" y="34231"/>
                </a:lnTo>
                <a:lnTo>
                  <a:pt x="36923" y="34231"/>
                </a:lnTo>
                <a:lnTo>
                  <a:pt x="37308" y="34615"/>
                </a:lnTo>
                <a:lnTo>
                  <a:pt x="37692" y="35000"/>
                </a:lnTo>
                <a:lnTo>
                  <a:pt x="40000" y="35000"/>
                </a:lnTo>
                <a:lnTo>
                  <a:pt x="40385" y="35385"/>
                </a:lnTo>
                <a:lnTo>
                  <a:pt x="40769" y="35769"/>
                </a:lnTo>
                <a:lnTo>
                  <a:pt x="53077" y="35769"/>
                </a:lnTo>
                <a:lnTo>
                  <a:pt x="53462" y="35385"/>
                </a:lnTo>
                <a:lnTo>
                  <a:pt x="56923" y="35000"/>
                </a:lnTo>
                <a:lnTo>
                  <a:pt x="57308" y="34615"/>
                </a:lnTo>
                <a:lnTo>
                  <a:pt x="57692" y="34231"/>
                </a:lnTo>
                <a:lnTo>
                  <a:pt x="58462" y="34231"/>
                </a:lnTo>
                <a:lnTo>
                  <a:pt x="59231" y="34231"/>
                </a:lnTo>
                <a:lnTo>
                  <a:pt x="62308" y="32692"/>
                </a:lnTo>
                <a:lnTo>
                  <a:pt x="63462" y="31538"/>
                </a:lnTo>
                <a:lnTo>
                  <a:pt x="63462" y="28462"/>
                </a:lnTo>
                <a:lnTo>
                  <a:pt x="62308" y="27308"/>
                </a:lnTo>
                <a:lnTo>
                  <a:pt x="59231" y="25769"/>
                </a:lnTo>
                <a:lnTo>
                  <a:pt x="58462" y="25769"/>
                </a:lnTo>
                <a:lnTo>
                  <a:pt x="57692" y="25769"/>
                </a:lnTo>
                <a:lnTo>
                  <a:pt x="57308" y="25385"/>
                </a:lnTo>
                <a:lnTo>
                  <a:pt x="56923" y="25000"/>
                </a:lnTo>
                <a:lnTo>
                  <a:pt x="54615" y="25000"/>
                </a:lnTo>
                <a:lnTo>
                  <a:pt x="54231" y="24615"/>
                </a:lnTo>
                <a:lnTo>
                  <a:pt x="53846" y="24231"/>
                </a:lnTo>
                <a:lnTo>
                  <a:pt x="40769" y="24231"/>
                </a:lnTo>
                <a:close/>
                <a:moveTo>
                  <a:pt x="31538" y="35000"/>
                </a:moveTo>
                <a:lnTo>
                  <a:pt x="31154" y="35385"/>
                </a:lnTo>
                <a:lnTo>
                  <a:pt x="31154" y="41538"/>
                </a:lnTo>
                <a:lnTo>
                  <a:pt x="34615" y="44231"/>
                </a:lnTo>
                <a:lnTo>
                  <a:pt x="35385" y="44231"/>
                </a:lnTo>
                <a:lnTo>
                  <a:pt x="36154" y="44231"/>
                </a:lnTo>
                <a:lnTo>
                  <a:pt x="36538" y="44615"/>
                </a:lnTo>
                <a:lnTo>
                  <a:pt x="36923" y="45000"/>
                </a:lnTo>
                <a:lnTo>
                  <a:pt x="40000" y="45000"/>
                </a:lnTo>
                <a:lnTo>
                  <a:pt x="40385" y="45385"/>
                </a:lnTo>
                <a:lnTo>
                  <a:pt x="40769" y="45769"/>
                </a:lnTo>
                <a:lnTo>
                  <a:pt x="53846" y="45769"/>
                </a:lnTo>
                <a:lnTo>
                  <a:pt x="54231" y="45385"/>
                </a:lnTo>
                <a:lnTo>
                  <a:pt x="54615" y="45000"/>
                </a:lnTo>
                <a:lnTo>
                  <a:pt x="56923" y="45000"/>
                </a:lnTo>
                <a:lnTo>
                  <a:pt x="57308" y="44615"/>
                </a:lnTo>
                <a:lnTo>
                  <a:pt x="57692" y="44231"/>
                </a:lnTo>
                <a:lnTo>
                  <a:pt x="58462" y="44231"/>
                </a:lnTo>
                <a:lnTo>
                  <a:pt x="59231" y="44231"/>
                </a:lnTo>
                <a:lnTo>
                  <a:pt x="62308" y="42692"/>
                </a:lnTo>
                <a:lnTo>
                  <a:pt x="63462" y="41538"/>
                </a:lnTo>
                <a:lnTo>
                  <a:pt x="63462" y="40769"/>
                </a:lnTo>
                <a:lnTo>
                  <a:pt x="63462" y="40000"/>
                </a:lnTo>
                <a:lnTo>
                  <a:pt x="63462" y="35385"/>
                </a:lnTo>
                <a:lnTo>
                  <a:pt x="63077" y="35000"/>
                </a:lnTo>
                <a:lnTo>
                  <a:pt x="61538" y="35769"/>
                </a:lnTo>
                <a:lnTo>
                  <a:pt x="60769" y="35769"/>
                </a:lnTo>
                <a:lnTo>
                  <a:pt x="60000" y="35769"/>
                </a:lnTo>
                <a:lnTo>
                  <a:pt x="59615" y="36154"/>
                </a:lnTo>
                <a:lnTo>
                  <a:pt x="59231" y="36538"/>
                </a:lnTo>
                <a:lnTo>
                  <a:pt x="58462" y="36538"/>
                </a:lnTo>
                <a:lnTo>
                  <a:pt x="57692" y="36538"/>
                </a:lnTo>
                <a:lnTo>
                  <a:pt x="57308" y="36923"/>
                </a:lnTo>
                <a:lnTo>
                  <a:pt x="56923" y="37308"/>
                </a:lnTo>
                <a:lnTo>
                  <a:pt x="56154" y="37308"/>
                </a:lnTo>
                <a:lnTo>
                  <a:pt x="55385" y="37308"/>
                </a:lnTo>
                <a:lnTo>
                  <a:pt x="55000" y="37692"/>
                </a:lnTo>
                <a:lnTo>
                  <a:pt x="54615" y="38077"/>
                </a:lnTo>
                <a:lnTo>
                  <a:pt x="49231" y="38077"/>
                </a:lnTo>
                <a:lnTo>
                  <a:pt x="47308" y="39231"/>
                </a:lnTo>
                <a:lnTo>
                  <a:pt x="46923" y="41154"/>
                </a:lnTo>
                <a:lnTo>
                  <a:pt x="46538" y="39231"/>
                </a:lnTo>
                <a:lnTo>
                  <a:pt x="45385" y="38077"/>
                </a:lnTo>
                <a:lnTo>
                  <a:pt x="40000" y="38077"/>
                </a:lnTo>
                <a:lnTo>
                  <a:pt x="39615" y="37692"/>
                </a:lnTo>
                <a:lnTo>
                  <a:pt x="39231" y="37308"/>
                </a:lnTo>
                <a:lnTo>
                  <a:pt x="36923" y="37308"/>
                </a:lnTo>
                <a:lnTo>
                  <a:pt x="36538" y="36923"/>
                </a:lnTo>
                <a:lnTo>
                  <a:pt x="36154" y="36538"/>
                </a:lnTo>
                <a:lnTo>
                  <a:pt x="35385" y="36538"/>
                </a:lnTo>
                <a:lnTo>
                  <a:pt x="34615" y="36538"/>
                </a:lnTo>
                <a:lnTo>
                  <a:pt x="31538" y="35000"/>
                </a:lnTo>
                <a:close/>
                <a:moveTo>
                  <a:pt x="32308" y="45000"/>
                </a:moveTo>
                <a:lnTo>
                  <a:pt x="31154" y="46154"/>
                </a:lnTo>
                <a:lnTo>
                  <a:pt x="31154" y="51538"/>
                </a:lnTo>
                <a:lnTo>
                  <a:pt x="32308" y="52692"/>
                </a:lnTo>
                <a:lnTo>
                  <a:pt x="35385" y="54231"/>
                </a:lnTo>
                <a:lnTo>
                  <a:pt x="36154" y="54231"/>
                </a:lnTo>
                <a:lnTo>
                  <a:pt x="36923" y="54231"/>
                </a:lnTo>
                <a:lnTo>
                  <a:pt x="40000" y="55769"/>
                </a:lnTo>
                <a:lnTo>
                  <a:pt x="54615" y="55769"/>
                </a:lnTo>
                <a:lnTo>
                  <a:pt x="55000" y="55385"/>
                </a:lnTo>
                <a:lnTo>
                  <a:pt x="55385" y="55000"/>
                </a:lnTo>
                <a:lnTo>
                  <a:pt x="58462" y="55000"/>
                </a:lnTo>
                <a:lnTo>
                  <a:pt x="62308" y="52692"/>
                </a:lnTo>
                <a:lnTo>
                  <a:pt x="63077" y="52692"/>
                </a:lnTo>
                <a:lnTo>
                  <a:pt x="63462" y="52308"/>
                </a:lnTo>
                <a:lnTo>
                  <a:pt x="63462" y="45385"/>
                </a:lnTo>
                <a:lnTo>
                  <a:pt x="63077" y="45000"/>
                </a:lnTo>
                <a:lnTo>
                  <a:pt x="60000" y="46538"/>
                </a:lnTo>
                <a:lnTo>
                  <a:pt x="56154" y="47308"/>
                </a:lnTo>
                <a:lnTo>
                  <a:pt x="55769" y="47692"/>
                </a:lnTo>
                <a:lnTo>
                  <a:pt x="55385" y="48077"/>
                </a:lnTo>
                <a:lnTo>
                  <a:pt x="39231" y="48077"/>
                </a:lnTo>
                <a:lnTo>
                  <a:pt x="38846" y="47692"/>
                </a:lnTo>
                <a:lnTo>
                  <a:pt x="38462" y="47308"/>
                </a:lnTo>
                <a:lnTo>
                  <a:pt x="37692" y="47308"/>
                </a:lnTo>
                <a:lnTo>
                  <a:pt x="36923" y="47308"/>
                </a:lnTo>
                <a:lnTo>
                  <a:pt x="32308" y="45000"/>
                </a:lnTo>
                <a:close/>
                <a:moveTo>
                  <a:pt x="62308" y="55000"/>
                </a:moveTo>
                <a:lnTo>
                  <a:pt x="60769" y="56538"/>
                </a:lnTo>
                <a:lnTo>
                  <a:pt x="60000" y="56538"/>
                </a:lnTo>
                <a:lnTo>
                  <a:pt x="59231" y="56538"/>
                </a:lnTo>
                <a:lnTo>
                  <a:pt x="58846" y="56923"/>
                </a:lnTo>
                <a:lnTo>
                  <a:pt x="58462" y="57308"/>
                </a:lnTo>
                <a:lnTo>
                  <a:pt x="56154" y="57308"/>
                </a:lnTo>
                <a:lnTo>
                  <a:pt x="53077" y="58846"/>
                </a:lnTo>
                <a:lnTo>
                  <a:pt x="52692" y="58462"/>
                </a:lnTo>
                <a:lnTo>
                  <a:pt x="52308" y="58077"/>
                </a:lnTo>
                <a:lnTo>
                  <a:pt x="50000" y="58077"/>
                </a:lnTo>
                <a:lnTo>
                  <a:pt x="48462" y="58846"/>
                </a:lnTo>
                <a:lnTo>
                  <a:pt x="47692" y="60385"/>
                </a:lnTo>
                <a:lnTo>
                  <a:pt x="45385" y="58077"/>
                </a:lnTo>
                <a:lnTo>
                  <a:pt x="40000" y="58077"/>
                </a:lnTo>
                <a:lnTo>
                  <a:pt x="39615" y="57692"/>
                </a:lnTo>
                <a:lnTo>
                  <a:pt x="39231" y="57308"/>
                </a:lnTo>
                <a:lnTo>
                  <a:pt x="36154" y="57308"/>
                </a:lnTo>
                <a:lnTo>
                  <a:pt x="35769" y="56923"/>
                </a:lnTo>
                <a:lnTo>
                  <a:pt x="35385" y="56538"/>
                </a:lnTo>
                <a:lnTo>
                  <a:pt x="31538" y="55769"/>
                </a:lnTo>
                <a:lnTo>
                  <a:pt x="31154" y="56154"/>
                </a:lnTo>
                <a:lnTo>
                  <a:pt x="31154" y="61538"/>
                </a:lnTo>
                <a:lnTo>
                  <a:pt x="31538" y="61923"/>
                </a:lnTo>
                <a:lnTo>
                  <a:pt x="33846" y="64231"/>
                </a:lnTo>
                <a:lnTo>
                  <a:pt x="35385" y="65000"/>
                </a:lnTo>
                <a:lnTo>
                  <a:pt x="37692" y="65000"/>
                </a:lnTo>
                <a:lnTo>
                  <a:pt x="38077" y="65385"/>
                </a:lnTo>
                <a:lnTo>
                  <a:pt x="38462" y="65769"/>
                </a:lnTo>
                <a:lnTo>
                  <a:pt x="43077" y="65769"/>
                </a:lnTo>
                <a:lnTo>
                  <a:pt x="43462" y="66154"/>
                </a:lnTo>
                <a:lnTo>
                  <a:pt x="43846" y="66538"/>
                </a:lnTo>
                <a:lnTo>
                  <a:pt x="51538" y="66538"/>
                </a:lnTo>
                <a:lnTo>
                  <a:pt x="51923" y="66154"/>
                </a:lnTo>
                <a:lnTo>
                  <a:pt x="52308" y="65769"/>
                </a:lnTo>
                <a:lnTo>
                  <a:pt x="56923" y="65769"/>
                </a:lnTo>
                <a:lnTo>
                  <a:pt x="57308" y="65385"/>
                </a:lnTo>
                <a:lnTo>
                  <a:pt x="57692" y="65000"/>
                </a:lnTo>
                <a:lnTo>
                  <a:pt x="58462" y="65000"/>
                </a:lnTo>
                <a:lnTo>
                  <a:pt x="59231" y="65000"/>
                </a:lnTo>
                <a:lnTo>
                  <a:pt x="62308" y="63462"/>
                </a:lnTo>
                <a:lnTo>
                  <a:pt x="63462" y="62308"/>
                </a:lnTo>
                <a:lnTo>
                  <a:pt x="63462" y="55385"/>
                </a:lnTo>
                <a:lnTo>
                  <a:pt x="63077" y="55000"/>
                </a:lnTo>
                <a:lnTo>
                  <a:pt x="62308" y="55000"/>
                </a:lnTo>
                <a:close/>
              </a:path>
            </a:pathLst>
          </a:custGeom>
          <a:solidFill>
            <a:srgbClr val="FFFFFF"/>
          </a:solidFill>
          <a:ln>
            <a:noFill/>
          </a:ln>
        </p:spPr>
        <p:txBody>
          <a:bodyPr/>
          <a:p/>
        </p:txBody>
      </p:sp>
      <p:sp>
        <p:nvSpPr>
          <p:cNvPr id="21" name="Text 18"/>
          <p:cNvSpPr/>
          <p:nvPr/>
        </p:nvSpPr>
        <p:spPr>
          <a:xfrm>
            <a:off x="9390888" y="1874520"/>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31 k</a:t>
            </a:r>
            <a:endParaRPr lang="en-US" sz="4400" dirty="0"/>
          </a:p>
        </p:txBody>
      </p:sp>
      <p:sp>
        <p:nvSpPr>
          <p:cNvPr id="22" name="Text 19"/>
          <p:cNvSpPr/>
          <p:nvPr/>
        </p:nvSpPr>
        <p:spPr>
          <a:xfrm>
            <a:off x="9400032" y="2478024"/>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Revenu moyen</a:t>
            </a:r>
            <a:endParaRPr lang="en-US" sz="1400" dirty="0"/>
          </a:p>
        </p:txBody>
      </p:sp>
      <p:sp>
        <p:nvSpPr>
          <p:cNvPr id="23" name="Text 20"/>
          <p:cNvSpPr/>
          <p:nvPr/>
        </p:nvSpPr>
        <p:spPr>
          <a:xfrm>
            <a:off x="9418320" y="2788920"/>
            <a:ext cx="2350008" cy="182880"/>
          </a:xfrm>
          <a:prstGeom prst="rect">
            <a:avLst/>
          </a:prstGeom>
          <a:noFill/>
          <a:ln/>
        </p:spPr>
        <p:txBody>
          <a:bodyPr wrap="square" lIns="0" tIns="0" rIns="0" bIns="0" rtlCol="0" anchor="ctr"/>
          <a:lstStyle/>
          <a:p>
            <a:pPr indent="0" marL="0">
              <a:buNone/>
            </a:pPr>
            <a:r>
              <a:rPr lang="en-US" sz="1100" b="1" dirty="0">
                <a:solidFill>
                  <a:srgbClr val="1D4ED8"/>
                </a:solidFill>
                <a:latin typeface="Aptos" pitchFamily="34" charset="0"/>
                <a:ea typeface="Segoe UI" pitchFamily="34" charset="-122"/>
                <a:cs typeface="Segoe UI" pitchFamily="34" charset="-120"/>
              </a:rPr>
              <a:t>Revenu le plus faible</a:t>
            </a:r>
            <a:endParaRPr lang="en-US" sz="1100" dirty="0"/>
          </a:p>
        </p:txBody>
      </p:sp>
      <p:sp>
        <p:nvSpPr>
          <p:cNvPr id="24" name="Shape 21"/>
          <p:cNvSpPr/>
          <p:nvPr/>
        </p:nvSpPr>
        <p:spPr>
          <a:xfrm>
            <a:off x="3776472" y="3172968"/>
            <a:ext cx="4050792" cy="1325880"/>
          </a:xfrm>
          <a:prstGeom prst="roundRect">
            <a:avLst>
              <a:gd name="adj" fmla="val 9655"/>
            </a:avLst>
          </a:prstGeom>
          <a:solidFill>
            <a:srgbClr val="F3F4F6"/>
          </a:solidFill>
          <a:ln w="12700">
            <a:solidFill>
              <a:srgbClr val="F3F4F6">
                <a:alpha val="0"/>
              </a:srgbClr>
            </a:solidFill>
            <a:prstDash val="solid"/>
          </a:ln>
        </p:spPr>
        <p:txBody>
          <a:bodyPr/>
          <a:p/>
        </p:txBody>
      </p:sp>
      <p:sp>
        <p:nvSpPr>
          <p:cNvPr id="25" name="Shape 22"/>
          <p:cNvSpPr/>
          <p:nvPr/>
        </p:nvSpPr>
        <p:spPr>
          <a:xfrm>
            <a:off x="3977640" y="3310128"/>
            <a:ext cx="923544" cy="923544"/>
          </a:xfrm>
          <a:prstGeom prst="ellipse">
            <a:avLst/>
          </a:prstGeom>
          <a:solidFill>
            <a:srgbClr val="1D4ED8"/>
          </a:solidFill>
          <a:ln w="12700">
            <a:solidFill>
              <a:srgbClr val="6D28D9">
                <a:alpha val="0"/>
              </a:srgbClr>
            </a:solidFill>
            <a:prstDash val="solid"/>
          </a:ln>
        </p:spPr>
        <p:txBody>
          <a:bodyPr/>
          <a:p/>
        </p:txBody>
      </p:sp>
      <p:sp>
        <p:nvSpPr>
          <p:cNvPr id="26" name="VECTOR_bag2_43"/>
          <p:cNvSpPr/>
          <p:nvPr/>
        </p:nvSpPr>
        <p:spPr>
          <a:xfrm>
            <a:off x="3977640" y="3310128"/>
            <a:ext cx="923544" cy="923544"/>
          </a:xfrm>
          <a:custGeom>
            <a:avLst/>
            <a:gdLst/>
            <a:ahLst/>
            <a:cxnLst/>
            <a:rect l="0" t="0" r="r" b="b"/>
            <a:pathLst>
              <a:path w="100000" h="100000" fill="norm" stroke="false" extrusionOk="false">
                <a:moveTo>
                  <a:pt x="45000" y="24615"/>
                </a:moveTo>
                <a:lnTo>
                  <a:pt x="45385" y="24231"/>
                </a:lnTo>
                <a:lnTo>
                  <a:pt x="51538" y="24231"/>
                </a:lnTo>
                <a:lnTo>
                  <a:pt x="54615" y="25769"/>
                </a:lnTo>
                <a:lnTo>
                  <a:pt x="57308" y="28462"/>
                </a:lnTo>
                <a:lnTo>
                  <a:pt x="58846" y="31538"/>
                </a:lnTo>
                <a:lnTo>
                  <a:pt x="58846" y="37692"/>
                </a:lnTo>
                <a:lnTo>
                  <a:pt x="59231" y="38077"/>
                </a:lnTo>
                <a:lnTo>
                  <a:pt x="66154" y="38077"/>
                </a:lnTo>
                <a:lnTo>
                  <a:pt x="68077" y="40000"/>
                </a:lnTo>
                <a:lnTo>
                  <a:pt x="68077" y="44615"/>
                </a:lnTo>
                <a:lnTo>
                  <a:pt x="68462" y="45000"/>
                </a:lnTo>
                <a:lnTo>
                  <a:pt x="68846" y="45385"/>
                </a:lnTo>
                <a:lnTo>
                  <a:pt x="68846" y="51538"/>
                </a:lnTo>
                <a:lnTo>
                  <a:pt x="69231" y="51923"/>
                </a:lnTo>
                <a:lnTo>
                  <a:pt x="69615" y="52308"/>
                </a:lnTo>
                <a:lnTo>
                  <a:pt x="69615" y="57692"/>
                </a:lnTo>
                <a:lnTo>
                  <a:pt x="70000" y="58077"/>
                </a:lnTo>
                <a:lnTo>
                  <a:pt x="70385" y="58462"/>
                </a:lnTo>
                <a:lnTo>
                  <a:pt x="70385" y="63846"/>
                </a:lnTo>
                <a:lnTo>
                  <a:pt x="70769" y="64231"/>
                </a:lnTo>
                <a:lnTo>
                  <a:pt x="71154" y="64615"/>
                </a:lnTo>
                <a:lnTo>
                  <a:pt x="71154" y="70769"/>
                </a:lnTo>
                <a:lnTo>
                  <a:pt x="71538" y="71154"/>
                </a:lnTo>
                <a:lnTo>
                  <a:pt x="71923" y="71538"/>
                </a:lnTo>
                <a:lnTo>
                  <a:pt x="71923" y="76923"/>
                </a:lnTo>
                <a:lnTo>
                  <a:pt x="70000" y="78077"/>
                </a:lnTo>
                <a:lnTo>
                  <a:pt x="52308" y="78077"/>
                </a:lnTo>
                <a:lnTo>
                  <a:pt x="26923" y="78077"/>
                </a:lnTo>
                <a:lnTo>
                  <a:pt x="25000" y="76154"/>
                </a:lnTo>
                <a:lnTo>
                  <a:pt x="25000" y="73846"/>
                </a:lnTo>
                <a:lnTo>
                  <a:pt x="25385" y="73462"/>
                </a:lnTo>
                <a:lnTo>
                  <a:pt x="25769" y="73077"/>
                </a:lnTo>
                <a:lnTo>
                  <a:pt x="25769" y="67692"/>
                </a:lnTo>
                <a:lnTo>
                  <a:pt x="26154" y="67308"/>
                </a:lnTo>
                <a:lnTo>
                  <a:pt x="26538" y="66923"/>
                </a:lnTo>
                <a:lnTo>
                  <a:pt x="26538" y="62308"/>
                </a:lnTo>
                <a:lnTo>
                  <a:pt x="26923" y="61923"/>
                </a:lnTo>
                <a:lnTo>
                  <a:pt x="27308" y="61538"/>
                </a:lnTo>
                <a:lnTo>
                  <a:pt x="27308" y="56154"/>
                </a:lnTo>
                <a:lnTo>
                  <a:pt x="27692" y="55769"/>
                </a:lnTo>
                <a:lnTo>
                  <a:pt x="28077" y="55385"/>
                </a:lnTo>
                <a:lnTo>
                  <a:pt x="28077" y="49231"/>
                </a:lnTo>
                <a:lnTo>
                  <a:pt x="28462" y="48846"/>
                </a:lnTo>
                <a:lnTo>
                  <a:pt x="28846" y="48462"/>
                </a:lnTo>
                <a:lnTo>
                  <a:pt x="28846" y="43846"/>
                </a:lnTo>
                <a:lnTo>
                  <a:pt x="29231" y="43462"/>
                </a:lnTo>
                <a:lnTo>
                  <a:pt x="29615" y="43077"/>
                </a:lnTo>
                <a:lnTo>
                  <a:pt x="29615" y="39231"/>
                </a:lnTo>
                <a:lnTo>
                  <a:pt x="30769" y="38077"/>
                </a:lnTo>
                <a:lnTo>
                  <a:pt x="37692" y="38077"/>
                </a:lnTo>
                <a:lnTo>
                  <a:pt x="38077" y="37692"/>
                </a:lnTo>
                <a:lnTo>
                  <a:pt x="38077" y="32308"/>
                </a:lnTo>
                <a:lnTo>
                  <a:pt x="38462" y="31923"/>
                </a:lnTo>
                <a:lnTo>
                  <a:pt x="38846" y="31538"/>
                </a:lnTo>
                <a:lnTo>
                  <a:pt x="38846" y="30769"/>
                </a:lnTo>
                <a:lnTo>
                  <a:pt x="38846" y="30000"/>
                </a:lnTo>
                <a:lnTo>
                  <a:pt x="39615" y="28462"/>
                </a:lnTo>
                <a:lnTo>
                  <a:pt x="42308" y="25769"/>
                </a:lnTo>
                <a:lnTo>
                  <a:pt x="45000" y="24615"/>
                </a:lnTo>
                <a:close/>
                <a:moveTo>
                  <a:pt x="46154" y="26538"/>
                </a:moveTo>
                <a:lnTo>
                  <a:pt x="44615" y="27308"/>
                </a:lnTo>
                <a:lnTo>
                  <a:pt x="41923" y="30000"/>
                </a:lnTo>
                <a:lnTo>
                  <a:pt x="41154" y="31538"/>
                </a:lnTo>
                <a:lnTo>
                  <a:pt x="41154" y="37692"/>
                </a:lnTo>
                <a:lnTo>
                  <a:pt x="41538" y="38077"/>
                </a:lnTo>
                <a:lnTo>
                  <a:pt x="51538" y="38077"/>
                </a:lnTo>
                <a:lnTo>
                  <a:pt x="56154" y="38077"/>
                </a:lnTo>
                <a:lnTo>
                  <a:pt x="56538" y="37692"/>
                </a:lnTo>
                <a:lnTo>
                  <a:pt x="56538" y="33077"/>
                </a:lnTo>
                <a:lnTo>
                  <a:pt x="56154" y="32692"/>
                </a:lnTo>
                <a:lnTo>
                  <a:pt x="55769" y="32308"/>
                </a:lnTo>
                <a:lnTo>
                  <a:pt x="55769" y="31538"/>
                </a:lnTo>
                <a:lnTo>
                  <a:pt x="55769" y="30769"/>
                </a:lnTo>
                <a:lnTo>
                  <a:pt x="52308" y="27308"/>
                </a:lnTo>
                <a:lnTo>
                  <a:pt x="51538" y="27308"/>
                </a:lnTo>
                <a:lnTo>
                  <a:pt x="50769" y="27308"/>
                </a:lnTo>
                <a:lnTo>
                  <a:pt x="50385" y="26923"/>
                </a:lnTo>
                <a:lnTo>
                  <a:pt x="50000" y="26538"/>
                </a:lnTo>
                <a:lnTo>
                  <a:pt x="46154" y="26538"/>
                </a:lnTo>
                <a:close/>
                <a:moveTo>
                  <a:pt x="33077" y="41154"/>
                </a:moveTo>
                <a:lnTo>
                  <a:pt x="31923" y="42308"/>
                </a:lnTo>
                <a:lnTo>
                  <a:pt x="31923" y="45385"/>
                </a:lnTo>
                <a:lnTo>
                  <a:pt x="31538" y="45769"/>
                </a:lnTo>
                <a:lnTo>
                  <a:pt x="31154" y="46154"/>
                </a:lnTo>
                <a:lnTo>
                  <a:pt x="31154" y="51538"/>
                </a:lnTo>
                <a:lnTo>
                  <a:pt x="30769" y="51923"/>
                </a:lnTo>
                <a:lnTo>
                  <a:pt x="30385" y="52308"/>
                </a:lnTo>
                <a:lnTo>
                  <a:pt x="30385" y="56923"/>
                </a:lnTo>
                <a:lnTo>
                  <a:pt x="30000" y="57308"/>
                </a:lnTo>
                <a:lnTo>
                  <a:pt x="29615" y="57692"/>
                </a:lnTo>
                <a:lnTo>
                  <a:pt x="29615" y="63077"/>
                </a:lnTo>
                <a:lnTo>
                  <a:pt x="29231" y="63462"/>
                </a:lnTo>
                <a:lnTo>
                  <a:pt x="28846" y="63846"/>
                </a:lnTo>
                <a:lnTo>
                  <a:pt x="28846" y="69231"/>
                </a:lnTo>
                <a:lnTo>
                  <a:pt x="28462" y="69615"/>
                </a:lnTo>
                <a:lnTo>
                  <a:pt x="28077" y="70000"/>
                </a:lnTo>
                <a:lnTo>
                  <a:pt x="28077" y="74615"/>
                </a:lnTo>
                <a:lnTo>
                  <a:pt x="29231" y="75769"/>
                </a:lnTo>
                <a:lnTo>
                  <a:pt x="63077" y="75769"/>
                </a:lnTo>
                <a:lnTo>
                  <a:pt x="63462" y="75385"/>
                </a:lnTo>
                <a:lnTo>
                  <a:pt x="63846" y="75000"/>
                </a:lnTo>
                <a:lnTo>
                  <a:pt x="66923" y="75000"/>
                </a:lnTo>
                <a:lnTo>
                  <a:pt x="67308" y="75385"/>
                </a:lnTo>
                <a:lnTo>
                  <a:pt x="67692" y="75769"/>
                </a:lnTo>
                <a:lnTo>
                  <a:pt x="68846" y="74615"/>
                </a:lnTo>
                <a:lnTo>
                  <a:pt x="68846" y="73846"/>
                </a:lnTo>
                <a:lnTo>
                  <a:pt x="68846" y="68462"/>
                </a:lnTo>
                <a:lnTo>
                  <a:pt x="68462" y="68077"/>
                </a:lnTo>
                <a:lnTo>
                  <a:pt x="68077" y="67692"/>
                </a:lnTo>
                <a:lnTo>
                  <a:pt x="68077" y="61538"/>
                </a:lnTo>
                <a:lnTo>
                  <a:pt x="67692" y="61154"/>
                </a:lnTo>
                <a:lnTo>
                  <a:pt x="67308" y="60769"/>
                </a:lnTo>
                <a:lnTo>
                  <a:pt x="67308" y="55385"/>
                </a:lnTo>
                <a:lnTo>
                  <a:pt x="66923" y="55000"/>
                </a:lnTo>
                <a:lnTo>
                  <a:pt x="66538" y="54615"/>
                </a:lnTo>
                <a:lnTo>
                  <a:pt x="66538" y="49231"/>
                </a:lnTo>
                <a:lnTo>
                  <a:pt x="66154" y="48846"/>
                </a:lnTo>
                <a:lnTo>
                  <a:pt x="65769" y="48462"/>
                </a:lnTo>
                <a:lnTo>
                  <a:pt x="65769" y="43077"/>
                </a:lnTo>
                <a:lnTo>
                  <a:pt x="64615" y="41154"/>
                </a:lnTo>
                <a:lnTo>
                  <a:pt x="59231" y="41154"/>
                </a:lnTo>
                <a:lnTo>
                  <a:pt x="58846" y="43846"/>
                </a:lnTo>
                <a:lnTo>
                  <a:pt x="57692" y="45000"/>
                </a:lnTo>
                <a:lnTo>
                  <a:pt x="56538" y="43846"/>
                </a:lnTo>
                <a:lnTo>
                  <a:pt x="56154" y="41154"/>
                </a:lnTo>
                <a:lnTo>
                  <a:pt x="41538" y="41154"/>
                </a:lnTo>
                <a:lnTo>
                  <a:pt x="41154" y="43846"/>
                </a:lnTo>
                <a:lnTo>
                  <a:pt x="40000" y="45000"/>
                </a:lnTo>
                <a:lnTo>
                  <a:pt x="39231" y="45000"/>
                </a:lnTo>
                <a:lnTo>
                  <a:pt x="38077" y="43846"/>
                </a:lnTo>
                <a:lnTo>
                  <a:pt x="37692" y="41154"/>
                </a:lnTo>
                <a:lnTo>
                  <a:pt x="33077" y="41154"/>
                </a:lnTo>
                <a:close/>
              </a:path>
            </a:pathLst>
          </a:custGeom>
          <a:solidFill>
            <a:srgbClr val="FFFFFF"/>
          </a:solidFill>
          <a:ln>
            <a:noFill/>
          </a:ln>
        </p:spPr>
        <p:txBody>
          <a:bodyPr/>
          <a:p/>
        </p:txBody>
      </p:sp>
      <p:sp>
        <p:nvSpPr>
          <p:cNvPr id="27" name="Text 24"/>
          <p:cNvSpPr/>
          <p:nvPr/>
        </p:nvSpPr>
        <p:spPr>
          <a:xfrm>
            <a:off x="5193792" y="3319272"/>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130</a:t>
            </a:r>
            <a:endParaRPr lang="en-US" sz="4400" dirty="0"/>
          </a:p>
        </p:txBody>
      </p:sp>
      <p:sp>
        <p:nvSpPr>
          <p:cNvPr id="28" name="Text 25"/>
          <p:cNvSpPr/>
          <p:nvPr/>
        </p:nvSpPr>
        <p:spPr>
          <a:xfrm>
            <a:off x="5202936" y="3922776"/>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Dépense moyenne (Spent)</a:t>
            </a:r>
            <a:endParaRPr lang="en-US" sz="1400" dirty="0"/>
          </a:p>
        </p:txBody>
      </p:sp>
      <p:sp>
        <p:nvSpPr>
          <p:cNvPr id="29" name="Shape 26"/>
          <p:cNvSpPr/>
          <p:nvPr/>
        </p:nvSpPr>
        <p:spPr>
          <a:xfrm>
            <a:off x="7973568" y="3172968"/>
            <a:ext cx="4050792" cy="1325880"/>
          </a:xfrm>
          <a:prstGeom prst="roundRect">
            <a:avLst>
              <a:gd name="adj" fmla="val 9655"/>
            </a:avLst>
          </a:prstGeom>
          <a:solidFill>
            <a:srgbClr val="F0FDFA"/>
          </a:solidFill>
          <a:ln w="12700">
            <a:solidFill>
              <a:srgbClr val="F0FDFA">
                <a:alpha val="0"/>
              </a:srgbClr>
            </a:solidFill>
            <a:prstDash val="solid"/>
          </a:ln>
        </p:spPr>
        <p:txBody>
          <a:bodyPr/>
          <a:p/>
        </p:txBody>
      </p:sp>
      <p:sp>
        <p:nvSpPr>
          <p:cNvPr id="30" name="Shape 27"/>
          <p:cNvSpPr/>
          <p:nvPr/>
        </p:nvSpPr>
        <p:spPr>
          <a:xfrm>
            <a:off x="8174736" y="3310128"/>
            <a:ext cx="923544" cy="923544"/>
          </a:xfrm>
          <a:prstGeom prst="ellipse">
            <a:avLst/>
          </a:prstGeom>
          <a:solidFill>
            <a:srgbClr val="1D4ED8"/>
          </a:solidFill>
          <a:ln w="12700">
            <a:solidFill>
              <a:srgbClr val="1D4ED8">
                <a:alpha val="0"/>
              </a:srgbClr>
            </a:solidFill>
            <a:prstDash val="solid"/>
          </a:ln>
        </p:spPr>
        <p:txBody>
          <a:bodyPr/>
          <a:p/>
        </p:txBody>
      </p:sp>
      <p:sp>
        <p:nvSpPr>
          <p:cNvPr id="31" name="VECTOR_pram_44"/>
          <p:cNvSpPr/>
          <p:nvPr/>
        </p:nvSpPr>
        <p:spPr>
          <a:xfrm>
            <a:off x="8174736" y="3310128"/>
            <a:ext cx="923544" cy="923544"/>
          </a:xfrm>
          <a:custGeom>
            <a:avLst/>
            <a:gdLst/>
            <a:ahLst/>
            <a:cxnLst/>
            <a:rect l="0" t="0" r="r" b="b"/>
            <a:pathLst>
              <a:path w="100000" h="100000" fill="norm" stroke="false" extrusionOk="false">
                <a:moveTo>
                  <a:pt x="49615" y="24615"/>
                </a:moveTo>
                <a:lnTo>
                  <a:pt x="50000" y="24231"/>
                </a:lnTo>
                <a:lnTo>
                  <a:pt x="53846" y="24231"/>
                </a:lnTo>
                <a:lnTo>
                  <a:pt x="54231" y="24615"/>
                </a:lnTo>
                <a:lnTo>
                  <a:pt x="54615" y="25000"/>
                </a:lnTo>
                <a:lnTo>
                  <a:pt x="56923" y="25000"/>
                </a:lnTo>
                <a:lnTo>
                  <a:pt x="64615" y="28846"/>
                </a:lnTo>
                <a:lnTo>
                  <a:pt x="68846" y="33077"/>
                </a:lnTo>
                <a:lnTo>
                  <a:pt x="68846" y="33846"/>
                </a:lnTo>
                <a:lnTo>
                  <a:pt x="71154" y="36923"/>
                </a:lnTo>
                <a:lnTo>
                  <a:pt x="71154" y="37692"/>
                </a:lnTo>
                <a:lnTo>
                  <a:pt x="71154" y="38462"/>
                </a:lnTo>
                <a:lnTo>
                  <a:pt x="72692" y="41538"/>
                </a:lnTo>
                <a:lnTo>
                  <a:pt x="72692" y="45385"/>
                </a:lnTo>
                <a:lnTo>
                  <a:pt x="73077" y="45769"/>
                </a:lnTo>
                <a:lnTo>
                  <a:pt x="73462" y="46154"/>
                </a:lnTo>
                <a:lnTo>
                  <a:pt x="73462" y="46923"/>
                </a:lnTo>
                <a:lnTo>
                  <a:pt x="73462" y="47692"/>
                </a:lnTo>
                <a:lnTo>
                  <a:pt x="73077" y="48077"/>
                </a:lnTo>
                <a:lnTo>
                  <a:pt x="72692" y="48462"/>
                </a:lnTo>
                <a:lnTo>
                  <a:pt x="72692" y="50769"/>
                </a:lnTo>
                <a:lnTo>
                  <a:pt x="72308" y="51154"/>
                </a:lnTo>
                <a:lnTo>
                  <a:pt x="71923" y="51538"/>
                </a:lnTo>
                <a:lnTo>
                  <a:pt x="71923" y="52308"/>
                </a:lnTo>
                <a:lnTo>
                  <a:pt x="71923" y="53077"/>
                </a:lnTo>
                <a:lnTo>
                  <a:pt x="71538" y="53462"/>
                </a:lnTo>
                <a:lnTo>
                  <a:pt x="71154" y="53846"/>
                </a:lnTo>
                <a:lnTo>
                  <a:pt x="71154" y="54615"/>
                </a:lnTo>
                <a:lnTo>
                  <a:pt x="71154" y="55385"/>
                </a:lnTo>
                <a:lnTo>
                  <a:pt x="69615" y="58462"/>
                </a:lnTo>
                <a:lnTo>
                  <a:pt x="65385" y="62692"/>
                </a:lnTo>
                <a:lnTo>
                  <a:pt x="63077" y="63462"/>
                </a:lnTo>
                <a:lnTo>
                  <a:pt x="61538" y="65000"/>
                </a:lnTo>
                <a:lnTo>
                  <a:pt x="60769" y="65000"/>
                </a:lnTo>
                <a:lnTo>
                  <a:pt x="60385" y="65385"/>
                </a:lnTo>
                <a:lnTo>
                  <a:pt x="62308" y="66538"/>
                </a:lnTo>
                <a:lnTo>
                  <a:pt x="63077" y="66538"/>
                </a:lnTo>
                <a:lnTo>
                  <a:pt x="63846" y="66538"/>
                </a:lnTo>
                <a:lnTo>
                  <a:pt x="65385" y="67308"/>
                </a:lnTo>
                <a:lnTo>
                  <a:pt x="68077" y="70000"/>
                </a:lnTo>
                <a:lnTo>
                  <a:pt x="68077" y="75385"/>
                </a:lnTo>
                <a:lnTo>
                  <a:pt x="65385" y="78846"/>
                </a:lnTo>
                <a:lnTo>
                  <a:pt x="63846" y="79615"/>
                </a:lnTo>
                <a:lnTo>
                  <a:pt x="59231" y="79615"/>
                </a:lnTo>
                <a:lnTo>
                  <a:pt x="57692" y="78846"/>
                </a:lnTo>
                <a:lnTo>
                  <a:pt x="55000" y="76154"/>
                </a:lnTo>
                <a:lnTo>
                  <a:pt x="54231" y="72308"/>
                </a:lnTo>
                <a:lnTo>
                  <a:pt x="54615" y="71923"/>
                </a:lnTo>
                <a:lnTo>
                  <a:pt x="55000" y="71538"/>
                </a:lnTo>
                <a:lnTo>
                  <a:pt x="55000" y="70769"/>
                </a:lnTo>
                <a:lnTo>
                  <a:pt x="55000" y="70000"/>
                </a:lnTo>
                <a:lnTo>
                  <a:pt x="55769" y="68462"/>
                </a:lnTo>
                <a:lnTo>
                  <a:pt x="57308" y="66923"/>
                </a:lnTo>
                <a:lnTo>
                  <a:pt x="56923" y="66538"/>
                </a:lnTo>
                <a:lnTo>
                  <a:pt x="40769" y="66538"/>
                </a:lnTo>
                <a:lnTo>
                  <a:pt x="40385" y="66923"/>
                </a:lnTo>
                <a:lnTo>
                  <a:pt x="40385" y="67692"/>
                </a:lnTo>
                <a:lnTo>
                  <a:pt x="41923" y="69231"/>
                </a:lnTo>
                <a:lnTo>
                  <a:pt x="41923" y="70000"/>
                </a:lnTo>
                <a:lnTo>
                  <a:pt x="42308" y="70385"/>
                </a:lnTo>
                <a:lnTo>
                  <a:pt x="42692" y="70769"/>
                </a:lnTo>
                <a:lnTo>
                  <a:pt x="42692" y="76154"/>
                </a:lnTo>
                <a:lnTo>
                  <a:pt x="40000" y="78846"/>
                </a:lnTo>
                <a:lnTo>
                  <a:pt x="38462" y="79615"/>
                </a:lnTo>
                <a:lnTo>
                  <a:pt x="33846" y="79615"/>
                </a:lnTo>
                <a:lnTo>
                  <a:pt x="30385" y="76923"/>
                </a:lnTo>
                <a:lnTo>
                  <a:pt x="29615" y="75385"/>
                </a:lnTo>
                <a:lnTo>
                  <a:pt x="29615" y="70769"/>
                </a:lnTo>
                <a:lnTo>
                  <a:pt x="30385" y="69231"/>
                </a:lnTo>
                <a:lnTo>
                  <a:pt x="32308" y="67308"/>
                </a:lnTo>
                <a:lnTo>
                  <a:pt x="33846" y="66538"/>
                </a:lnTo>
                <a:lnTo>
                  <a:pt x="37692" y="66538"/>
                </a:lnTo>
                <a:lnTo>
                  <a:pt x="38077" y="66154"/>
                </a:lnTo>
                <a:lnTo>
                  <a:pt x="38077" y="65385"/>
                </a:lnTo>
                <a:lnTo>
                  <a:pt x="35385" y="64231"/>
                </a:lnTo>
                <a:lnTo>
                  <a:pt x="33846" y="62692"/>
                </a:lnTo>
                <a:lnTo>
                  <a:pt x="33077" y="62692"/>
                </a:lnTo>
                <a:lnTo>
                  <a:pt x="29615" y="59231"/>
                </a:lnTo>
                <a:lnTo>
                  <a:pt x="27308" y="54615"/>
                </a:lnTo>
                <a:lnTo>
                  <a:pt x="27308" y="53846"/>
                </a:lnTo>
                <a:lnTo>
                  <a:pt x="27308" y="53077"/>
                </a:lnTo>
                <a:lnTo>
                  <a:pt x="26923" y="52692"/>
                </a:lnTo>
                <a:lnTo>
                  <a:pt x="26538" y="52308"/>
                </a:lnTo>
                <a:lnTo>
                  <a:pt x="26538" y="50000"/>
                </a:lnTo>
                <a:lnTo>
                  <a:pt x="26154" y="49615"/>
                </a:lnTo>
                <a:lnTo>
                  <a:pt x="25769" y="49231"/>
                </a:lnTo>
                <a:lnTo>
                  <a:pt x="25769" y="43846"/>
                </a:lnTo>
                <a:lnTo>
                  <a:pt x="25385" y="43462"/>
                </a:lnTo>
                <a:lnTo>
                  <a:pt x="25000" y="43077"/>
                </a:lnTo>
                <a:lnTo>
                  <a:pt x="25000" y="42308"/>
                </a:lnTo>
                <a:lnTo>
                  <a:pt x="25000" y="41538"/>
                </a:lnTo>
                <a:lnTo>
                  <a:pt x="20769" y="39615"/>
                </a:lnTo>
                <a:lnTo>
                  <a:pt x="19615" y="38462"/>
                </a:lnTo>
                <a:lnTo>
                  <a:pt x="20769" y="37308"/>
                </a:lnTo>
                <a:lnTo>
                  <a:pt x="24615" y="38077"/>
                </a:lnTo>
                <a:lnTo>
                  <a:pt x="27308" y="40769"/>
                </a:lnTo>
                <a:lnTo>
                  <a:pt x="27308" y="44615"/>
                </a:lnTo>
                <a:lnTo>
                  <a:pt x="28462" y="45769"/>
                </a:lnTo>
                <a:lnTo>
                  <a:pt x="47692" y="45769"/>
                </a:lnTo>
                <a:lnTo>
                  <a:pt x="48846" y="44615"/>
                </a:lnTo>
                <a:lnTo>
                  <a:pt x="48846" y="25385"/>
                </a:lnTo>
                <a:lnTo>
                  <a:pt x="49231" y="25000"/>
                </a:lnTo>
                <a:lnTo>
                  <a:pt x="49615" y="24615"/>
                </a:lnTo>
                <a:close/>
                <a:moveTo>
                  <a:pt x="52308" y="26538"/>
                </a:moveTo>
                <a:lnTo>
                  <a:pt x="51154" y="27692"/>
                </a:lnTo>
                <a:lnTo>
                  <a:pt x="51154" y="45385"/>
                </a:lnTo>
                <a:lnTo>
                  <a:pt x="51538" y="45769"/>
                </a:lnTo>
                <a:lnTo>
                  <a:pt x="69231" y="45769"/>
                </a:lnTo>
                <a:lnTo>
                  <a:pt x="70000" y="45769"/>
                </a:lnTo>
                <a:lnTo>
                  <a:pt x="70385" y="45385"/>
                </a:lnTo>
                <a:lnTo>
                  <a:pt x="70385" y="41538"/>
                </a:lnTo>
                <a:lnTo>
                  <a:pt x="70000" y="41154"/>
                </a:lnTo>
                <a:lnTo>
                  <a:pt x="69615" y="40769"/>
                </a:lnTo>
                <a:lnTo>
                  <a:pt x="69615" y="40000"/>
                </a:lnTo>
                <a:lnTo>
                  <a:pt x="69615" y="39231"/>
                </a:lnTo>
                <a:lnTo>
                  <a:pt x="68077" y="36154"/>
                </a:lnTo>
                <a:lnTo>
                  <a:pt x="61538" y="29615"/>
                </a:lnTo>
                <a:lnTo>
                  <a:pt x="56923" y="27308"/>
                </a:lnTo>
                <a:lnTo>
                  <a:pt x="53846" y="27308"/>
                </a:lnTo>
                <a:lnTo>
                  <a:pt x="52308" y="26538"/>
                </a:lnTo>
                <a:close/>
                <a:moveTo>
                  <a:pt x="29231" y="48077"/>
                </a:moveTo>
                <a:lnTo>
                  <a:pt x="28846" y="51538"/>
                </a:lnTo>
                <a:lnTo>
                  <a:pt x="29231" y="51923"/>
                </a:lnTo>
                <a:lnTo>
                  <a:pt x="29615" y="52308"/>
                </a:lnTo>
                <a:lnTo>
                  <a:pt x="30385" y="56154"/>
                </a:lnTo>
                <a:lnTo>
                  <a:pt x="31923" y="57692"/>
                </a:lnTo>
                <a:lnTo>
                  <a:pt x="31923" y="58462"/>
                </a:lnTo>
                <a:lnTo>
                  <a:pt x="35385" y="61154"/>
                </a:lnTo>
                <a:lnTo>
                  <a:pt x="41538" y="64231"/>
                </a:lnTo>
                <a:lnTo>
                  <a:pt x="44615" y="64231"/>
                </a:lnTo>
                <a:lnTo>
                  <a:pt x="45000" y="64615"/>
                </a:lnTo>
                <a:lnTo>
                  <a:pt x="45385" y="65000"/>
                </a:lnTo>
                <a:lnTo>
                  <a:pt x="53846" y="65000"/>
                </a:lnTo>
                <a:lnTo>
                  <a:pt x="54231" y="64615"/>
                </a:lnTo>
                <a:lnTo>
                  <a:pt x="54615" y="64231"/>
                </a:lnTo>
                <a:lnTo>
                  <a:pt x="57692" y="64231"/>
                </a:lnTo>
                <a:lnTo>
                  <a:pt x="59231" y="62692"/>
                </a:lnTo>
                <a:lnTo>
                  <a:pt x="64615" y="60385"/>
                </a:lnTo>
                <a:lnTo>
                  <a:pt x="66154" y="58846"/>
                </a:lnTo>
                <a:lnTo>
                  <a:pt x="67308" y="57692"/>
                </a:lnTo>
                <a:lnTo>
                  <a:pt x="68846" y="54615"/>
                </a:lnTo>
                <a:lnTo>
                  <a:pt x="68846" y="53846"/>
                </a:lnTo>
                <a:lnTo>
                  <a:pt x="68846" y="53077"/>
                </a:lnTo>
                <a:lnTo>
                  <a:pt x="70385" y="50000"/>
                </a:lnTo>
                <a:lnTo>
                  <a:pt x="70000" y="48077"/>
                </a:lnTo>
                <a:lnTo>
                  <a:pt x="50769" y="48077"/>
                </a:lnTo>
                <a:lnTo>
                  <a:pt x="49231" y="50385"/>
                </a:lnTo>
                <a:lnTo>
                  <a:pt x="47692" y="48077"/>
                </a:lnTo>
                <a:lnTo>
                  <a:pt x="29231" y="48077"/>
                </a:lnTo>
                <a:close/>
                <a:moveTo>
                  <a:pt x="36154" y="68077"/>
                </a:moveTo>
                <a:lnTo>
                  <a:pt x="34615" y="68846"/>
                </a:lnTo>
                <a:lnTo>
                  <a:pt x="31923" y="71538"/>
                </a:lnTo>
                <a:lnTo>
                  <a:pt x="31923" y="74615"/>
                </a:lnTo>
                <a:lnTo>
                  <a:pt x="33077" y="76538"/>
                </a:lnTo>
                <a:lnTo>
                  <a:pt x="34615" y="77308"/>
                </a:lnTo>
                <a:lnTo>
                  <a:pt x="36923" y="77308"/>
                </a:lnTo>
                <a:lnTo>
                  <a:pt x="37692" y="77308"/>
                </a:lnTo>
                <a:lnTo>
                  <a:pt x="38462" y="77308"/>
                </a:lnTo>
                <a:lnTo>
                  <a:pt x="40385" y="75385"/>
                </a:lnTo>
                <a:lnTo>
                  <a:pt x="41154" y="73077"/>
                </a:lnTo>
                <a:lnTo>
                  <a:pt x="40769" y="72692"/>
                </a:lnTo>
                <a:lnTo>
                  <a:pt x="40385" y="72308"/>
                </a:lnTo>
                <a:lnTo>
                  <a:pt x="40385" y="71538"/>
                </a:lnTo>
                <a:lnTo>
                  <a:pt x="40385" y="70769"/>
                </a:lnTo>
                <a:lnTo>
                  <a:pt x="38462" y="68846"/>
                </a:lnTo>
                <a:lnTo>
                  <a:pt x="37692" y="68846"/>
                </a:lnTo>
                <a:lnTo>
                  <a:pt x="36923" y="68846"/>
                </a:lnTo>
                <a:lnTo>
                  <a:pt x="36538" y="68462"/>
                </a:lnTo>
                <a:lnTo>
                  <a:pt x="36154" y="68077"/>
                </a:lnTo>
                <a:close/>
                <a:moveTo>
                  <a:pt x="61538" y="68077"/>
                </a:moveTo>
                <a:lnTo>
                  <a:pt x="61154" y="68462"/>
                </a:lnTo>
                <a:lnTo>
                  <a:pt x="60769" y="68846"/>
                </a:lnTo>
                <a:lnTo>
                  <a:pt x="60000" y="68846"/>
                </a:lnTo>
                <a:lnTo>
                  <a:pt x="59231" y="68846"/>
                </a:lnTo>
                <a:lnTo>
                  <a:pt x="57308" y="70769"/>
                </a:lnTo>
                <a:lnTo>
                  <a:pt x="57308" y="74615"/>
                </a:lnTo>
                <a:lnTo>
                  <a:pt x="58077" y="76154"/>
                </a:lnTo>
                <a:lnTo>
                  <a:pt x="60000" y="77308"/>
                </a:lnTo>
                <a:lnTo>
                  <a:pt x="60769" y="77308"/>
                </a:lnTo>
                <a:lnTo>
                  <a:pt x="61538" y="77308"/>
                </a:lnTo>
                <a:lnTo>
                  <a:pt x="62308" y="77308"/>
                </a:lnTo>
                <a:lnTo>
                  <a:pt x="63077" y="77308"/>
                </a:lnTo>
                <a:lnTo>
                  <a:pt x="65769" y="74615"/>
                </a:lnTo>
                <a:lnTo>
                  <a:pt x="65769" y="71538"/>
                </a:lnTo>
                <a:lnTo>
                  <a:pt x="65000" y="70000"/>
                </a:lnTo>
                <a:lnTo>
                  <a:pt x="61538" y="68077"/>
                </a:lnTo>
                <a:close/>
              </a:path>
            </a:pathLst>
          </a:custGeom>
          <a:solidFill>
            <a:srgbClr val="FFFFFF"/>
          </a:solidFill>
          <a:ln>
            <a:noFill/>
          </a:ln>
        </p:spPr>
        <p:txBody>
          <a:bodyPr/>
          <a:p/>
        </p:txBody>
      </p:sp>
      <p:sp>
        <p:nvSpPr>
          <p:cNvPr id="32" name="Text 29"/>
          <p:cNvSpPr/>
          <p:nvPr/>
        </p:nvSpPr>
        <p:spPr>
          <a:xfrm>
            <a:off x="9390888" y="3319272"/>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73 %</a:t>
            </a:r>
            <a:endParaRPr lang="en-US" sz="4400" dirty="0"/>
          </a:p>
        </p:txBody>
      </p:sp>
      <p:sp>
        <p:nvSpPr>
          <p:cNvPr id="33" name="Text 30"/>
          <p:cNvSpPr/>
          <p:nvPr/>
        </p:nvSpPr>
        <p:spPr>
          <a:xfrm>
            <a:off x="9400032" y="3922776"/>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Parents</a:t>
            </a:r>
            <a:endParaRPr lang="en-US" sz="1400" dirty="0"/>
          </a:p>
        </p:txBody>
      </p:sp>
      <p:sp>
        <p:nvSpPr>
          <p:cNvPr id="34" name="Shape 31"/>
          <p:cNvSpPr/>
          <p:nvPr/>
        </p:nvSpPr>
        <p:spPr>
          <a:xfrm>
            <a:off x="3776472" y="4617720"/>
            <a:ext cx="3904488" cy="1691640"/>
          </a:xfrm>
          <a:prstGeom prst="roundRect">
            <a:avLst>
              <a:gd name="adj" fmla="val 7568"/>
            </a:avLst>
          </a:prstGeom>
          <a:solidFill>
            <a:srgbClr val="EFF6FF"/>
          </a:solidFill>
          <a:ln w="12700">
            <a:solidFill>
              <a:srgbClr val="EFF6FF">
                <a:alpha val="0"/>
              </a:srgbClr>
            </a:solidFill>
            <a:prstDash val="solid"/>
          </a:ln>
        </p:spPr>
        <p:txBody>
          <a:bodyPr/>
          <a:p/>
        </p:txBody>
      </p:sp>
      <p:sp>
        <p:nvSpPr>
          <p:cNvPr id="35" name="Shape 32"/>
          <p:cNvSpPr/>
          <p:nvPr/>
        </p:nvSpPr>
        <p:spPr>
          <a:xfrm>
            <a:off x="3922776" y="4818888"/>
            <a:ext cx="914400" cy="914400"/>
          </a:xfrm>
          <a:prstGeom prst="ellipse">
            <a:avLst/>
          </a:prstGeom>
          <a:solidFill>
            <a:srgbClr val="1D4ED8"/>
          </a:solidFill>
          <a:ln w="12700">
            <a:solidFill>
              <a:srgbClr val="1D4ED8">
                <a:alpha val="0"/>
              </a:srgbClr>
            </a:solidFill>
            <a:prstDash val="solid"/>
          </a:ln>
        </p:spPr>
        <p:txBody>
          <a:bodyPr/>
          <a:p/>
        </p:txBody>
      </p:sp>
      <p:sp>
        <p:nvSpPr>
          <p:cNvPr id="36" name="Shape 33"/>
          <p:cNvSpPr/>
          <p:nvPr/>
        </p:nvSpPr>
        <p:spPr>
          <a:xfrm flipV="1">
            <a:off x="4105656" y="5001768"/>
            <a:ext cx="274320" cy="228600"/>
          </a:xfrm>
          <a:prstGeom prst="line">
            <a:avLst/>
          </a:prstGeom>
          <a:noFill/>
          <a:ln w="22860">
            <a:solidFill>
              <a:srgbClr val="FFFFFF"/>
            </a:solidFill>
            <a:prstDash val="solid"/>
          </a:ln>
        </p:spPr>
        <p:txBody>
          <a:bodyPr/>
          <a:p/>
        </p:txBody>
      </p:sp>
      <p:sp>
        <p:nvSpPr>
          <p:cNvPr id="37" name="Shape 34"/>
          <p:cNvSpPr/>
          <p:nvPr/>
        </p:nvSpPr>
        <p:spPr>
          <a:xfrm>
            <a:off x="4379976" y="5001768"/>
            <a:ext cx="274320" cy="228600"/>
          </a:xfrm>
          <a:prstGeom prst="line">
            <a:avLst/>
          </a:prstGeom>
          <a:noFill/>
          <a:ln w="22860">
            <a:solidFill>
              <a:srgbClr val="FFFFFF"/>
            </a:solidFill>
            <a:prstDash val="solid"/>
          </a:ln>
        </p:spPr>
        <p:txBody>
          <a:bodyPr/>
          <a:p/>
        </p:txBody>
      </p:sp>
      <p:sp>
        <p:nvSpPr>
          <p:cNvPr id="38" name="Shape 35"/>
          <p:cNvSpPr/>
          <p:nvPr/>
        </p:nvSpPr>
        <p:spPr>
          <a:xfrm>
            <a:off x="4178808" y="5184648"/>
            <a:ext cx="0" cy="347472"/>
          </a:xfrm>
          <a:prstGeom prst="line">
            <a:avLst/>
          </a:prstGeom>
          <a:noFill/>
          <a:ln w="22860">
            <a:solidFill>
              <a:srgbClr val="FFFFFF"/>
            </a:solidFill>
            <a:prstDash val="solid"/>
          </a:ln>
        </p:spPr>
        <p:txBody>
          <a:bodyPr/>
          <a:p/>
        </p:txBody>
      </p:sp>
      <p:sp>
        <p:nvSpPr>
          <p:cNvPr id="39" name="Shape 36"/>
          <p:cNvSpPr/>
          <p:nvPr/>
        </p:nvSpPr>
        <p:spPr>
          <a:xfrm>
            <a:off x="4581144" y="5184648"/>
            <a:ext cx="0" cy="347472"/>
          </a:xfrm>
          <a:prstGeom prst="line">
            <a:avLst/>
          </a:prstGeom>
          <a:noFill/>
          <a:ln w="22860">
            <a:solidFill>
              <a:srgbClr val="FFFFFF"/>
            </a:solidFill>
            <a:prstDash val="solid"/>
          </a:ln>
        </p:spPr>
        <p:txBody>
          <a:bodyPr/>
          <a:p/>
        </p:txBody>
      </p:sp>
      <p:sp>
        <p:nvSpPr>
          <p:cNvPr id="40" name="Shape 37"/>
          <p:cNvSpPr/>
          <p:nvPr/>
        </p:nvSpPr>
        <p:spPr>
          <a:xfrm>
            <a:off x="4178808" y="5532120"/>
            <a:ext cx="402336" cy="0"/>
          </a:xfrm>
          <a:prstGeom prst="line">
            <a:avLst/>
          </a:prstGeom>
          <a:noFill/>
          <a:ln w="22860">
            <a:solidFill>
              <a:srgbClr val="FFFFFF"/>
            </a:solidFill>
            <a:prstDash val="solid"/>
          </a:ln>
        </p:spPr>
        <p:txBody>
          <a:bodyPr/>
          <a:p/>
        </p:txBody>
      </p:sp>
      <p:sp>
        <p:nvSpPr>
          <p:cNvPr id="41" name="Shape 38"/>
          <p:cNvSpPr/>
          <p:nvPr/>
        </p:nvSpPr>
        <p:spPr>
          <a:xfrm>
            <a:off x="4315968" y="5321808"/>
            <a:ext cx="128016" cy="210312"/>
          </a:xfrm>
          <a:prstGeom prst="rect">
            <a:avLst/>
          </a:prstGeom>
          <a:solidFill>
            <a:srgbClr val="FFFFFF">
              <a:alpha val="0"/>
            </a:srgbClr>
          </a:solidFill>
          <a:ln w="22860">
            <a:solidFill>
              <a:srgbClr val="FFFFFF"/>
            </a:solidFill>
            <a:prstDash val="solid"/>
          </a:ln>
        </p:spPr>
        <p:txBody>
          <a:bodyPr/>
          <a:p/>
        </p:txBody>
      </p:sp>
      <p:sp>
        <p:nvSpPr>
          <p:cNvPr id="42" name="Text 39"/>
          <p:cNvSpPr/>
          <p:nvPr/>
        </p:nvSpPr>
        <p:spPr>
          <a:xfrm>
            <a:off x="4946904" y="4828032"/>
            <a:ext cx="2551176" cy="320040"/>
          </a:xfrm>
          <a:prstGeom prst="rect">
            <a:avLst/>
          </a:prstGeom>
          <a:noFill/>
          <a:ln/>
        </p:spPr>
        <p:txBody>
          <a:bodyPr wrap="square" lIns="0" tIns="0" rIns="0" bIns="0" rtlCol="0" anchor="ctr"/>
          <a:lstStyle/>
          <a:p>
            <a:pPr indent="0" marL="0">
              <a:buNone/>
            </a:pPr>
            <a:r>
              <a:rPr lang="en-US" sz="2100" b="1" dirty="0">
                <a:solidFill>
                  <a:srgbClr val="17324D"/>
                </a:solidFill>
                <a:latin typeface="Aptos" pitchFamily="34" charset="0"/>
                <a:ea typeface="Segoe UI" pitchFamily="34" charset="-122"/>
                <a:cs typeface="Segoe UI" pitchFamily="34" charset="-120"/>
              </a:rPr>
              <a:t>Profil du foyer</a:t>
            </a:r>
            <a:endParaRPr lang="en-US" sz="2100" dirty="0"/>
          </a:p>
        </p:txBody>
      </p:sp>
      <p:sp>
        <p:nvSpPr>
          <p:cNvPr id="43" name="Text 40"/>
          <p:cNvSpPr/>
          <p:nvPr/>
        </p:nvSpPr>
        <p:spPr>
          <a:xfrm>
            <a:off x="4946904" y="5340096"/>
            <a:ext cx="2496312" cy="850392"/>
          </a:xfrm>
          <a:prstGeom prst="rect">
            <a:avLst/>
          </a:prstGeom>
          <a:noFill/>
          <a:ln/>
        </p:spPr>
        <p:txBody>
          <a:bodyPr wrap="square" lIns="0" tIns="0" rIns="0" bIns="0" rtlCol="0" anchor="t"/>
          <a:lstStyle/>
          <a:p>
            <a:pPr indent="0" marL="0">
              <a:buNone/>
            </a:pPr>
            <a:r>
              <a:rPr lang="en-US" sz="1400" dirty="0">
                <a:solidFill>
                  <a:srgbClr val="334155"/>
                </a:solidFill>
                <a:latin typeface="Aptos" pitchFamily="34" charset="0"/>
                <a:ea typeface="Segoe UI" pitchFamily="34" charset="-122"/>
                <a:cs typeface="Segoe UI" pitchFamily="34" charset="-120"/>
              </a:rPr>
              <a:t>Presque toujours de jeunes</a:t>
            </a:r>
            <a:endParaRPr lang="en-US" sz="1400" dirty="0"/>
          </a:p>
          <a:p>
            <a:pPr indent="0" marL="0">
              <a:buNone/>
            </a:pPr>
            <a:r>
              <a:rPr lang="en-US" sz="1400" dirty="0">
                <a:solidFill>
                  <a:srgbClr val="334155"/>
                </a:solidFill>
                <a:latin typeface="Aptos" pitchFamily="34" charset="0"/>
                <a:ea typeface="Segoe UI" pitchFamily="34" charset="-122"/>
                <a:cs typeface="Segoe UI" pitchFamily="34" charset="-120"/>
              </a:rPr>
              <a:t>enfants, sans adolescents.</a:t>
            </a:r>
            <a:endParaRPr lang="en-US" sz="1400" dirty="0"/>
          </a:p>
          <a:p>
            <a:pPr indent="0" marL="0">
              <a:buNone/>
            </a:pPr>
            <a:r>
              <a:rPr lang="en-US" sz="1400" dirty="0">
                <a:solidFill>
                  <a:srgbClr val="334155"/>
                </a:solidFill>
                <a:latin typeface="Aptos" pitchFamily="34" charset="0"/>
                <a:ea typeface="Segoe UI" pitchFamily="34" charset="-122"/>
                <a:cs typeface="Segoe UI" pitchFamily="34" charset="-120"/>
              </a:rPr>
              <a:t>Foyers de 1 à 3 personnes.</a:t>
            </a:r>
            <a:endParaRPr lang="en-US" sz="1400" dirty="0"/>
          </a:p>
        </p:txBody>
      </p:sp>
      <p:sp>
        <p:nvSpPr>
          <p:cNvPr id="44" name="Shape 41"/>
          <p:cNvSpPr/>
          <p:nvPr/>
        </p:nvSpPr>
        <p:spPr>
          <a:xfrm>
            <a:off x="7790688" y="4617720"/>
            <a:ext cx="4123944" cy="1691640"/>
          </a:xfrm>
          <a:prstGeom prst="roundRect">
            <a:avLst>
              <a:gd name="adj" fmla="val 7568"/>
            </a:avLst>
          </a:prstGeom>
          <a:solidFill>
            <a:srgbClr val="F3F4F6"/>
          </a:solidFill>
          <a:ln w="12700">
            <a:solidFill>
              <a:srgbClr val="F3F4F6">
                <a:alpha val="0"/>
              </a:srgbClr>
            </a:solidFill>
            <a:prstDash val="solid"/>
          </a:ln>
        </p:spPr>
        <p:txBody>
          <a:bodyPr/>
          <a:p/>
        </p:txBody>
      </p:sp>
      <p:sp>
        <p:nvSpPr>
          <p:cNvPr id="45" name="Shape 42"/>
          <p:cNvSpPr/>
          <p:nvPr/>
        </p:nvSpPr>
        <p:spPr>
          <a:xfrm>
            <a:off x="7882128" y="4800600"/>
            <a:ext cx="1005840" cy="1005840"/>
          </a:xfrm>
          <a:prstGeom prst="ellipse">
            <a:avLst/>
          </a:prstGeom>
          <a:solidFill>
            <a:srgbClr val="1D4ED8"/>
          </a:solidFill>
          <a:ln w="12700">
            <a:solidFill>
              <a:srgbClr val="6D28D9">
                <a:alpha val="0"/>
              </a:srgbClr>
            </a:solidFill>
            <a:prstDash val="solid"/>
          </a:ln>
        </p:spPr>
        <p:txBody>
          <a:bodyPr/>
          <a:p/>
        </p:txBody>
      </p:sp>
      <p:sp>
        <p:nvSpPr>
          <p:cNvPr id="46" name="Shape 43"/>
          <p:cNvSpPr/>
          <p:nvPr/>
        </p:nvSpPr>
        <p:spPr>
          <a:xfrm>
            <a:off x="7982712" y="5102352"/>
            <a:ext cx="352044" cy="341986"/>
          </a:xfrm>
          <a:prstGeom prst="roundRect">
            <a:avLst>
              <a:gd name="adj" fmla="val 10695"/>
            </a:avLst>
          </a:prstGeom>
          <a:solidFill>
            <a:srgbClr val="FFFFFF">
              <a:alpha val="0"/>
            </a:srgbClr>
          </a:solidFill>
          <a:ln w="17780">
            <a:solidFill>
              <a:srgbClr val="FFFFFF"/>
            </a:solidFill>
            <a:prstDash val="solid"/>
          </a:ln>
        </p:spPr>
        <p:txBody>
          <a:bodyPr/>
          <a:p/>
        </p:txBody>
      </p:sp>
      <p:sp>
        <p:nvSpPr>
          <p:cNvPr id="47" name="Shape 44"/>
          <p:cNvSpPr/>
          <p:nvPr/>
        </p:nvSpPr>
        <p:spPr>
          <a:xfrm>
            <a:off x="7982712" y="5172761"/>
            <a:ext cx="352044" cy="0"/>
          </a:xfrm>
          <a:prstGeom prst="line">
            <a:avLst/>
          </a:prstGeom>
          <a:noFill/>
          <a:ln w="17780">
            <a:solidFill>
              <a:srgbClr val="FFFFFF"/>
            </a:solidFill>
            <a:prstDash val="solid"/>
          </a:ln>
        </p:spPr>
        <p:txBody>
          <a:bodyPr/>
          <a:p/>
        </p:txBody>
      </p:sp>
      <p:sp>
        <p:nvSpPr>
          <p:cNvPr id="48" name="Shape 45"/>
          <p:cNvSpPr/>
          <p:nvPr/>
        </p:nvSpPr>
        <p:spPr>
          <a:xfrm>
            <a:off x="8033004" y="5133533"/>
            <a:ext cx="14082" cy="14082"/>
          </a:xfrm>
          <a:prstGeom prst="ellipse">
            <a:avLst/>
          </a:prstGeom>
          <a:solidFill>
            <a:srgbClr val="FFFFFF"/>
          </a:solidFill>
          <a:ln w="12700">
            <a:solidFill>
              <a:srgbClr val="FFFFFF">
                <a:alpha val="0"/>
              </a:srgbClr>
            </a:solidFill>
            <a:prstDash val="solid"/>
          </a:ln>
        </p:spPr>
        <p:txBody>
          <a:bodyPr/>
          <a:p/>
        </p:txBody>
      </p:sp>
      <p:sp>
        <p:nvSpPr>
          <p:cNvPr id="49" name="Shape 46"/>
          <p:cNvSpPr/>
          <p:nvPr/>
        </p:nvSpPr>
        <p:spPr>
          <a:xfrm>
            <a:off x="8083296" y="5133533"/>
            <a:ext cx="14082" cy="14082"/>
          </a:xfrm>
          <a:prstGeom prst="ellipse">
            <a:avLst/>
          </a:prstGeom>
          <a:solidFill>
            <a:srgbClr val="FFFFFF"/>
          </a:solidFill>
          <a:ln w="12700">
            <a:solidFill>
              <a:srgbClr val="FFFFFF">
                <a:alpha val="0"/>
              </a:srgbClr>
            </a:solidFill>
            <a:prstDash val="solid"/>
          </a:ln>
        </p:spPr>
        <p:txBody>
          <a:bodyPr/>
          <a:p/>
        </p:txBody>
      </p:sp>
      <p:sp>
        <p:nvSpPr>
          <p:cNvPr id="50" name="Shape 47"/>
          <p:cNvSpPr/>
          <p:nvPr/>
        </p:nvSpPr>
        <p:spPr>
          <a:xfrm>
            <a:off x="8133588" y="5133533"/>
            <a:ext cx="14082" cy="14082"/>
          </a:xfrm>
          <a:prstGeom prst="ellipse">
            <a:avLst/>
          </a:prstGeom>
          <a:solidFill>
            <a:srgbClr val="FFFFFF"/>
          </a:solidFill>
          <a:ln w="12700">
            <a:solidFill>
              <a:srgbClr val="FFFFFF">
                <a:alpha val="0"/>
              </a:srgbClr>
            </a:solidFill>
            <a:prstDash val="solid"/>
          </a:ln>
        </p:spPr>
        <p:txBody>
          <a:bodyPr/>
          <a:p/>
        </p:txBody>
      </p:sp>
      <p:sp>
        <p:nvSpPr>
          <p:cNvPr id="51" name="Shape 48"/>
          <p:cNvSpPr/>
          <p:nvPr/>
        </p:nvSpPr>
        <p:spPr>
          <a:xfrm>
            <a:off x="8385048" y="5273345"/>
            <a:ext cx="90526" cy="0"/>
          </a:xfrm>
          <a:prstGeom prst="line">
            <a:avLst/>
          </a:prstGeom>
          <a:noFill/>
          <a:ln w="17780">
            <a:solidFill>
              <a:srgbClr val="FFFFFF"/>
            </a:solidFill>
            <a:prstDash val="solid"/>
          </a:ln>
        </p:spPr>
        <p:txBody>
          <a:bodyPr/>
          <a:p/>
        </p:txBody>
      </p:sp>
      <p:sp>
        <p:nvSpPr>
          <p:cNvPr id="52" name="Shape 49"/>
          <p:cNvSpPr/>
          <p:nvPr/>
        </p:nvSpPr>
        <p:spPr>
          <a:xfrm>
            <a:off x="8455457" y="5253228"/>
            <a:ext cx="20117" cy="20117"/>
          </a:xfrm>
          <a:prstGeom prst="line">
            <a:avLst/>
          </a:prstGeom>
          <a:noFill/>
          <a:ln w="17780">
            <a:solidFill>
              <a:srgbClr val="FFFFFF"/>
            </a:solidFill>
            <a:prstDash val="solid"/>
          </a:ln>
        </p:spPr>
        <p:txBody>
          <a:bodyPr/>
          <a:p/>
        </p:txBody>
      </p:sp>
      <p:sp>
        <p:nvSpPr>
          <p:cNvPr id="53" name="Shape 50"/>
          <p:cNvSpPr/>
          <p:nvPr/>
        </p:nvSpPr>
        <p:spPr>
          <a:xfrm flipV="1">
            <a:off x="8455457" y="5273345"/>
            <a:ext cx="20117" cy="20117"/>
          </a:xfrm>
          <a:prstGeom prst="line">
            <a:avLst/>
          </a:prstGeom>
          <a:noFill/>
          <a:ln w="17780">
            <a:solidFill>
              <a:srgbClr val="FFFFFF"/>
            </a:solidFill>
            <a:prstDash val="solid"/>
          </a:ln>
        </p:spPr>
        <p:txBody>
          <a:bodyPr/>
          <a:p/>
        </p:txBody>
      </p:sp>
      <p:sp>
        <p:nvSpPr>
          <p:cNvPr id="54" name="Shape 51"/>
          <p:cNvSpPr/>
          <p:nvPr/>
        </p:nvSpPr>
        <p:spPr>
          <a:xfrm>
            <a:off x="8545982" y="5243170"/>
            <a:ext cx="281635" cy="0"/>
          </a:xfrm>
          <a:prstGeom prst="line">
            <a:avLst/>
          </a:prstGeom>
          <a:noFill/>
          <a:ln w="17780">
            <a:solidFill>
              <a:srgbClr val="FFFFFF"/>
            </a:solidFill>
            <a:prstDash val="solid"/>
          </a:ln>
        </p:spPr>
        <p:txBody>
          <a:bodyPr/>
          <a:p/>
        </p:txBody>
      </p:sp>
      <p:sp>
        <p:nvSpPr>
          <p:cNvPr id="55" name="Shape 52"/>
          <p:cNvSpPr/>
          <p:nvPr/>
        </p:nvSpPr>
        <p:spPr>
          <a:xfrm flipH="1">
            <a:off x="8777326" y="5243170"/>
            <a:ext cx="50292" cy="231343"/>
          </a:xfrm>
          <a:prstGeom prst="line">
            <a:avLst/>
          </a:prstGeom>
          <a:noFill/>
          <a:ln w="17780">
            <a:solidFill>
              <a:srgbClr val="FFFFFF"/>
            </a:solidFill>
            <a:prstDash val="solid"/>
          </a:ln>
        </p:spPr>
        <p:txBody>
          <a:bodyPr/>
          <a:p/>
        </p:txBody>
      </p:sp>
      <p:sp>
        <p:nvSpPr>
          <p:cNvPr id="56" name="Shape 53"/>
          <p:cNvSpPr/>
          <p:nvPr/>
        </p:nvSpPr>
        <p:spPr>
          <a:xfrm flipH="1">
            <a:off x="8596274" y="5474513"/>
            <a:ext cx="181051" cy="0"/>
          </a:xfrm>
          <a:prstGeom prst="line">
            <a:avLst/>
          </a:prstGeom>
          <a:noFill/>
          <a:ln w="17780">
            <a:solidFill>
              <a:srgbClr val="FFFFFF"/>
            </a:solidFill>
            <a:prstDash val="solid"/>
          </a:ln>
        </p:spPr>
        <p:txBody>
          <a:bodyPr/>
          <a:p/>
        </p:txBody>
      </p:sp>
      <p:sp>
        <p:nvSpPr>
          <p:cNvPr id="57" name="Shape 54"/>
          <p:cNvSpPr/>
          <p:nvPr/>
        </p:nvSpPr>
        <p:spPr>
          <a:xfrm flipH="1" flipV="1">
            <a:off x="8545982" y="5243170"/>
            <a:ext cx="50292" cy="231343"/>
          </a:xfrm>
          <a:prstGeom prst="line">
            <a:avLst/>
          </a:prstGeom>
          <a:noFill/>
          <a:ln w="17780">
            <a:solidFill>
              <a:srgbClr val="FFFFFF"/>
            </a:solidFill>
            <a:prstDash val="solid"/>
          </a:ln>
        </p:spPr>
        <p:txBody>
          <a:bodyPr/>
          <a:p/>
        </p:txBody>
      </p:sp>
      <p:sp>
        <p:nvSpPr>
          <p:cNvPr id="58" name="Shape 55"/>
          <p:cNvSpPr/>
          <p:nvPr/>
        </p:nvSpPr>
        <p:spPr>
          <a:xfrm flipV="1">
            <a:off x="8596274" y="5132527"/>
            <a:ext cx="60350" cy="100584"/>
          </a:xfrm>
          <a:prstGeom prst="line">
            <a:avLst/>
          </a:prstGeom>
          <a:noFill/>
          <a:ln w="17780">
            <a:solidFill>
              <a:srgbClr val="FFFFFF"/>
            </a:solidFill>
            <a:prstDash val="solid"/>
          </a:ln>
        </p:spPr>
        <p:txBody>
          <a:bodyPr/>
          <a:p/>
        </p:txBody>
      </p:sp>
      <p:sp>
        <p:nvSpPr>
          <p:cNvPr id="59" name="Shape 56"/>
          <p:cNvSpPr/>
          <p:nvPr/>
        </p:nvSpPr>
        <p:spPr>
          <a:xfrm flipH="1" flipV="1">
            <a:off x="8716975" y="5132527"/>
            <a:ext cx="60350" cy="100584"/>
          </a:xfrm>
          <a:prstGeom prst="line">
            <a:avLst/>
          </a:prstGeom>
          <a:noFill/>
          <a:ln w="17780">
            <a:solidFill>
              <a:srgbClr val="FFFFFF"/>
            </a:solidFill>
            <a:prstDash val="solid"/>
          </a:ln>
        </p:spPr>
        <p:txBody>
          <a:bodyPr/>
          <a:p/>
        </p:txBody>
      </p:sp>
      <p:sp>
        <p:nvSpPr>
          <p:cNvPr id="60" name="Shape 57"/>
          <p:cNvSpPr/>
          <p:nvPr/>
        </p:nvSpPr>
        <p:spPr>
          <a:xfrm>
            <a:off x="8636508" y="5283403"/>
            <a:ext cx="0" cy="140818"/>
          </a:xfrm>
          <a:prstGeom prst="line">
            <a:avLst/>
          </a:prstGeom>
          <a:noFill/>
          <a:ln w="17780">
            <a:solidFill>
              <a:srgbClr val="FFFFFF"/>
            </a:solidFill>
            <a:prstDash val="solid"/>
          </a:ln>
        </p:spPr>
        <p:txBody>
          <a:bodyPr/>
          <a:p/>
        </p:txBody>
      </p:sp>
      <p:sp>
        <p:nvSpPr>
          <p:cNvPr id="61" name="Shape 58"/>
          <p:cNvSpPr/>
          <p:nvPr/>
        </p:nvSpPr>
        <p:spPr>
          <a:xfrm>
            <a:off x="8696858" y="5283403"/>
            <a:ext cx="0" cy="140818"/>
          </a:xfrm>
          <a:prstGeom prst="line">
            <a:avLst/>
          </a:prstGeom>
          <a:noFill/>
          <a:ln w="17780">
            <a:solidFill>
              <a:srgbClr val="FFFFFF"/>
            </a:solidFill>
            <a:prstDash val="solid"/>
          </a:ln>
        </p:spPr>
        <p:txBody>
          <a:bodyPr/>
          <a:p/>
        </p:txBody>
      </p:sp>
      <p:sp>
        <p:nvSpPr>
          <p:cNvPr id="62" name="Shape 59"/>
          <p:cNvSpPr/>
          <p:nvPr/>
        </p:nvSpPr>
        <p:spPr>
          <a:xfrm>
            <a:off x="8757209" y="5283403"/>
            <a:ext cx="0" cy="140818"/>
          </a:xfrm>
          <a:prstGeom prst="line">
            <a:avLst/>
          </a:prstGeom>
          <a:noFill/>
          <a:ln w="17780">
            <a:solidFill>
              <a:srgbClr val="FFFFFF"/>
            </a:solidFill>
            <a:prstDash val="solid"/>
          </a:ln>
        </p:spPr>
        <p:txBody>
          <a:bodyPr/>
          <a:p/>
        </p:txBody>
      </p:sp>
      <p:sp>
        <p:nvSpPr>
          <p:cNvPr id="63" name="Text 60"/>
          <p:cNvSpPr/>
          <p:nvPr/>
        </p:nvSpPr>
        <p:spPr>
          <a:xfrm>
            <a:off x="9208008" y="4846320"/>
            <a:ext cx="2523744" cy="338328"/>
          </a:xfrm>
          <a:prstGeom prst="rect">
            <a:avLst/>
          </a:prstGeom>
          <a:noFill/>
          <a:ln/>
        </p:spPr>
        <p:txBody>
          <a:bodyPr wrap="square" lIns="0" tIns="0" rIns="0" bIns="0" rtlCol="0" anchor="ctr"/>
          <a:lstStyle/>
          <a:p>
            <a:pPr indent="0" marL="0">
              <a:buNone/>
            </a:pPr>
            <a:r>
              <a:rPr lang="en-US" sz="1640" b="1" dirty="0">
                <a:solidFill>
                  <a:srgbClr val="17324D"/>
                </a:solidFill>
                <a:latin typeface="Aptos" pitchFamily="34" charset="0"/>
                <a:ea typeface="Segoe UI" pitchFamily="34" charset="-122"/>
                <a:cs typeface="Segoe UI" pitchFamily="34" charset="-120"/>
              </a:rPr>
              <a:t>Comportement digital</a:t>
            </a:r>
            <a:endParaRPr lang="en-US" sz="1640" dirty="0"/>
          </a:p>
        </p:txBody>
      </p:sp>
      <p:sp>
        <p:nvSpPr>
          <p:cNvPr id="64" name="Text 61"/>
          <p:cNvSpPr/>
          <p:nvPr/>
        </p:nvSpPr>
        <p:spPr>
          <a:xfrm>
            <a:off x="9208008" y="5340096"/>
            <a:ext cx="2514600" cy="905256"/>
          </a:xfrm>
          <a:prstGeom prst="rect">
            <a:avLst/>
          </a:prstGeom>
          <a:noFill/>
          <a:ln/>
        </p:spPr>
        <p:txBody>
          <a:bodyPr wrap="square" lIns="0" tIns="0" rIns="0" bIns="0" rtlCol="0" anchor="t"/>
          <a:lstStyle/>
          <a:p>
            <a:pPr indent="0" marL="0">
              <a:buNone/>
            </a:pPr>
            <a:r>
              <a:rPr lang="en-US" sz="1350" dirty="0">
                <a:solidFill>
                  <a:srgbClr val="334155"/>
                </a:solidFill>
                <a:latin typeface="Aptos" pitchFamily="34" charset="0"/>
                <a:ea typeface="Segoe UI" pitchFamily="34" charset="-122"/>
                <a:cs typeface="Segoe UI" pitchFamily="34" charset="-120"/>
              </a:rPr>
              <a:t>Visites fréquentes du site web,</a:t>
            </a:r>
            <a:endParaRPr lang="en-US" sz="1350" dirty="0"/>
          </a:p>
          <a:p>
            <a:pPr indent="0" marL="0">
              <a:buNone/>
            </a:pPr>
            <a:r>
              <a:rPr lang="en-US" sz="1350" dirty="0">
                <a:solidFill>
                  <a:srgbClr val="334155"/>
                </a:solidFill>
                <a:latin typeface="Aptos" pitchFamily="34" charset="0"/>
                <a:ea typeface="Segoe UI" pitchFamily="34" charset="-122"/>
                <a:cs typeface="Segoe UI" pitchFamily="34" charset="-120"/>
              </a:rPr>
              <a:t>mais peu d’achats.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201168"/>
            <a:ext cx="11301984" cy="1024128"/>
          </a:xfrm>
          <a:prstGeom prst="rect">
            <a:avLst/>
          </a:prstGeom>
          <a:noFill/>
          <a:ln/>
        </p:spPr>
        <p:txBody>
          <a:bodyPr wrap="square" lIns="0" tIns="0" rIns="0" bIns="0" rtlCol="0" anchor="ctr"/>
          <a:lstStyle/>
          <a:p>
            <a:pPr indent="0" marL="0">
              <a:buNone/>
            </a:pPr>
            <a:r>
              <a:rPr lang="en-US" sz="3400" b="1" dirty="0">
                <a:solidFill>
                  <a:srgbClr val="2563EB"/>
                </a:solidFill>
                <a:latin typeface="Aptos" pitchFamily="34" charset="0"/>
                <a:ea typeface="Segoe UI" pitchFamily="34" charset="-122"/>
                <a:cs typeface="Segoe UI" pitchFamily="34" charset="-120"/>
              </a:rPr>
              <a:t>11. Cluster 1 : Foyers avec enfants</a:t>
            </a:r>
            <a:endParaRPr lang="en-US" sz="3600" dirty="0"/>
          </a:p>
          <a:p>
            <a:pPr indent="0" marL="0">
              <a:buNone/>
            </a:pPr>
            <a:r>
              <a:rPr lang="en-US" sz="3400" b="1" dirty="0">
                <a:solidFill>
                  <a:srgbClr val="2563EB"/>
                </a:solidFill>
                <a:latin typeface="Aptos" pitchFamily="34" charset="0"/>
                <a:ea typeface="Segoe UI" pitchFamily="34" charset="-122"/>
                <a:cs typeface="Segoe UI" pitchFamily="34" charset="-120"/>
              </a:rPr>
              <a:t>et faibles dépenses</a:t>
            </a:r>
          </a:p>
        </p:txBody>
      </p:sp>
      <p:sp>
        <p:nvSpPr>
          <p:cNvPr id="3" name="Text 1"/>
          <p:cNvSpPr/>
          <p:nvPr/>
        </p:nvSpPr>
        <p:spPr>
          <a:xfrm>
            <a:off x="457200" y="1307592"/>
            <a:ext cx="11228832" cy="283464"/>
          </a:xfrm>
          <a:prstGeom prst="rect">
            <a:avLst/>
          </a:prstGeom>
          <a:noFill/>
          <a:ln/>
        </p:spPr>
        <p:txBody>
          <a:bodyPr wrap="square" lIns="0" tIns="0" rIns="0" bIns="0" rtlCol="0" anchor="ctr"/>
          <a:lstStyle/>
          <a:p>
            <a:pPr indent="0" marL="0">
              <a:buNone/>
            </a:pPr>
            <a:r>
              <a:rPr lang="en-US" sz="1500" dirty="0">
                <a:solidFill>
                  <a:srgbClr val="17324D"/>
                </a:solidFill>
                <a:latin typeface="Aptos" pitchFamily="34" charset="0"/>
                <a:ea typeface="Segoe UI" pitchFamily="34" charset="-122"/>
                <a:cs typeface="Segoe UI" pitchFamily="34" charset="-120"/>
              </a:rPr>
              <a:t>Les plus grands foyers affichent les dépenses et la réponse à la dernière campagne les plus faibles.</a:t>
            </a:r>
            <a:endParaRPr lang="en-US" sz="150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Montants : unités du jeu de données · Âges en 2014 · Projet collectif ENSEA</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11</a:t>
            </a:r>
            <a:endParaRPr lang="en-US" sz="1000" dirty="0"/>
          </a:p>
        </p:txBody>
      </p:sp>
      <p:sp>
        <p:nvSpPr>
          <p:cNvPr id="7" name="Shape 4"/>
          <p:cNvSpPr/>
          <p:nvPr/>
        </p:nvSpPr>
        <p:spPr>
          <a:xfrm>
            <a:off x="457200" y="1865376"/>
            <a:ext cx="2715768" cy="2715768"/>
          </a:xfrm>
          <a:prstGeom prst="ellipse">
            <a:avLst/>
          </a:prstGeom>
          <a:solidFill>
            <a:srgbClr val="0F766E"/>
          </a:solidFill>
          <a:ln w="12700">
            <a:solidFill>
              <a:srgbClr val="0F766E">
                <a:alpha val="0"/>
              </a:srgbClr>
            </a:solidFill>
            <a:prstDash val="solid"/>
          </a:ln>
        </p:spPr>
        <p:txBody>
          <a:bodyPr/>
          <a:p/>
        </p:txBody>
      </p:sp>
      <p:sp>
        <p:nvSpPr>
          <p:cNvPr id="8" name="VECTOR_hero_family_45"/>
          <p:cNvSpPr/>
          <p:nvPr/>
        </p:nvSpPr>
        <p:spPr>
          <a:xfrm>
            <a:off x="457200" y="1865376"/>
            <a:ext cx="2715768" cy="2715768"/>
          </a:xfrm>
          <a:custGeom>
            <a:avLst/>
            <a:gdLst/>
            <a:ahLst/>
            <a:cxnLst/>
            <a:rect l="0" t="0" r="r" b="b"/>
            <a:pathLst>
              <a:path w="100000" h="100000" fill="norm" stroke="false" extrusionOk="false">
                <a:moveTo>
                  <a:pt x="28668" y="25815"/>
                </a:moveTo>
                <a:lnTo>
                  <a:pt x="28804" y="25679"/>
                </a:lnTo>
                <a:lnTo>
                  <a:pt x="32065" y="25679"/>
                </a:lnTo>
                <a:lnTo>
                  <a:pt x="32880" y="26223"/>
                </a:lnTo>
                <a:lnTo>
                  <a:pt x="33152" y="26223"/>
                </a:lnTo>
                <a:lnTo>
                  <a:pt x="33424" y="26223"/>
                </a:lnTo>
                <a:lnTo>
                  <a:pt x="33967" y="26495"/>
                </a:lnTo>
                <a:lnTo>
                  <a:pt x="36005" y="28533"/>
                </a:lnTo>
                <a:lnTo>
                  <a:pt x="36821" y="30163"/>
                </a:lnTo>
                <a:lnTo>
                  <a:pt x="37092" y="32609"/>
                </a:lnTo>
                <a:lnTo>
                  <a:pt x="36957" y="32745"/>
                </a:lnTo>
                <a:lnTo>
                  <a:pt x="36821" y="32880"/>
                </a:lnTo>
                <a:lnTo>
                  <a:pt x="36821" y="33696"/>
                </a:lnTo>
                <a:lnTo>
                  <a:pt x="36685" y="33832"/>
                </a:lnTo>
                <a:lnTo>
                  <a:pt x="36549" y="33967"/>
                </a:lnTo>
                <a:lnTo>
                  <a:pt x="36549" y="34239"/>
                </a:lnTo>
                <a:lnTo>
                  <a:pt x="36549" y="34511"/>
                </a:lnTo>
                <a:lnTo>
                  <a:pt x="36277" y="35054"/>
                </a:lnTo>
                <a:lnTo>
                  <a:pt x="35734" y="35598"/>
                </a:lnTo>
                <a:lnTo>
                  <a:pt x="35734" y="35870"/>
                </a:lnTo>
                <a:lnTo>
                  <a:pt x="34511" y="37092"/>
                </a:lnTo>
                <a:lnTo>
                  <a:pt x="34239" y="37092"/>
                </a:lnTo>
                <a:lnTo>
                  <a:pt x="33152" y="37908"/>
                </a:lnTo>
                <a:lnTo>
                  <a:pt x="32880" y="37908"/>
                </a:lnTo>
                <a:lnTo>
                  <a:pt x="32609" y="37908"/>
                </a:lnTo>
                <a:lnTo>
                  <a:pt x="32065" y="38179"/>
                </a:lnTo>
                <a:lnTo>
                  <a:pt x="31522" y="38451"/>
                </a:lnTo>
                <a:lnTo>
                  <a:pt x="29348" y="38451"/>
                </a:lnTo>
                <a:lnTo>
                  <a:pt x="29212" y="38315"/>
                </a:lnTo>
                <a:lnTo>
                  <a:pt x="29076" y="38179"/>
                </a:lnTo>
                <a:lnTo>
                  <a:pt x="28261" y="38179"/>
                </a:lnTo>
                <a:lnTo>
                  <a:pt x="26630" y="37364"/>
                </a:lnTo>
                <a:lnTo>
                  <a:pt x="24592" y="35326"/>
                </a:lnTo>
                <a:lnTo>
                  <a:pt x="24049" y="34239"/>
                </a:lnTo>
                <a:lnTo>
                  <a:pt x="24049" y="33967"/>
                </a:lnTo>
                <a:lnTo>
                  <a:pt x="24049" y="33696"/>
                </a:lnTo>
                <a:lnTo>
                  <a:pt x="23913" y="33560"/>
                </a:lnTo>
                <a:lnTo>
                  <a:pt x="23777" y="33424"/>
                </a:lnTo>
                <a:lnTo>
                  <a:pt x="23777" y="30707"/>
                </a:lnTo>
                <a:lnTo>
                  <a:pt x="23913" y="30571"/>
                </a:lnTo>
                <a:lnTo>
                  <a:pt x="24049" y="30435"/>
                </a:lnTo>
                <a:lnTo>
                  <a:pt x="24321" y="29076"/>
                </a:lnTo>
                <a:lnTo>
                  <a:pt x="24864" y="28533"/>
                </a:lnTo>
                <a:lnTo>
                  <a:pt x="24864" y="28261"/>
                </a:lnTo>
                <a:lnTo>
                  <a:pt x="26359" y="26766"/>
                </a:lnTo>
                <a:lnTo>
                  <a:pt x="27989" y="25951"/>
                </a:lnTo>
                <a:lnTo>
                  <a:pt x="28668" y="25815"/>
                </a:lnTo>
                <a:close/>
                <a:moveTo>
                  <a:pt x="67255" y="25815"/>
                </a:moveTo>
                <a:lnTo>
                  <a:pt x="67391" y="25679"/>
                </a:lnTo>
                <a:lnTo>
                  <a:pt x="70109" y="25679"/>
                </a:lnTo>
                <a:lnTo>
                  <a:pt x="70245" y="25815"/>
                </a:lnTo>
                <a:lnTo>
                  <a:pt x="70380" y="25951"/>
                </a:lnTo>
                <a:lnTo>
                  <a:pt x="71196" y="25951"/>
                </a:lnTo>
                <a:lnTo>
                  <a:pt x="72826" y="26766"/>
                </a:lnTo>
                <a:lnTo>
                  <a:pt x="74592" y="28533"/>
                </a:lnTo>
                <a:lnTo>
                  <a:pt x="75679" y="30707"/>
                </a:lnTo>
                <a:lnTo>
                  <a:pt x="75679" y="31522"/>
                </a:lnTo>
                <a:lnTo>
                  <a:pt x="75815" y="31658"/>
                </a:lnTo>
                <a:lnTo>
                  <a:pt x="75951" y="31793"/>
                </a:lnTo>
                <a:lnTo>
                  <a:pt x="75951" y="34239"/>
                </a:lnTo>
                <a:lnTo>
                  <a:pt x="76087" y="34375"/>
                </a:lnTo>
                <a:lnTo>
                  <a:pt x="76223" y="34511"/>
                </a:lnTo>
                <a:lnTo>
                  <a:pt x="76223" y="35326"/>
                </a:lnTo>
                <a:lnTo>
                  <a:pt x="76359" y="35462"/>
                </a:lnTo>
                <a:lnTo>
                  <a:pt x="76495" y="35598"/>
                </a:lnTo>
                <a:lnTo>
                  <a:pt x="76495" y="35870"/>
                </a:lnTo>
                <a:lnTo>
                  <a:pt x="76495" y="36141"/>
                </a:lnTo>
                <a:lnTo>
                  <a:pt x="77310" y="37772"/>
                </a:lnTo>
                <a:lnTo>
                  <a:pt x="78397" y="38859"/>
                </a:lnTo>
                <a:lnTo>
                  <a:pt x="77989" y="39810"/>
                </a:lnTo>
                <a:lnTo>
                  <a:pt x="77446" y="40082"/>
                </a:lnTo>
                <a:lnTo>
                  <a:pt x="76630" y="40082"/>
                </a:lnTo>
                <a:lnTo>
                  <a:pt x="76495" y="39402"/>
                </a:lnTo>
                <a:lnTo>
                  <a:pt x="76766" y="38859"/>
                </a:lnTo>
                <a:lnTo>
                  <a:pt x="75679" y="37500"/>
                </a:lnTo>
                <a:lnTo>
                  <a:pt x="75136" y="36141"/>
                </a:lnTo>
                <a:lnTo>
                  <a:pt x="75000" y="36005"/>
                </a:lnTo>
                <a:lnTo>
                  <a:pt x="74728" y="36005"/>
                </a:lnTo>
                <a:lnTo>
                  <a:pt x="73777" y="37228"/>
                </a:lnTo>
                <a:lnTo>
                  <a:pt x="73777" y="37500"/>
                </a:lnTo>
                <a:lnTo>
                  <a:pt x="72826" y="38451"/>
                </a:lnTo>
                <a:lnTo>
                  <a:pt x="71196" y="39266"/>
                </a:lnTo>
                <a:lnTo>
                  <a:pt x="70924" y="39266"/>
                </a:lnTo>
                <a:lnTo>
                  <a:pt x="70652" y="39266"/>
                </a:lnTo>
                <a:lnTo>
                  <a:pt x="70109" y="39538"/>
                </a:lnTo>
                <a:lnTo>
                  <a:pt x="67120" y="39538"/>
                </a:lnTo>
                <a:lnTo>
                  <a:pt x="66984" y="39402"/>
                </a:lnTo>
                <a:lnTo>
                  <a:pt x="66848" y="39266"/>
                </a:lnTo>
                <a:lnTo>
                  <a:pt x="66576" y="39266"/>
                </a:lnTo>
                <a:lnTo>
                  <a:pt x="66304" y="39266"/>
                </a:lnTo>
                <a:lnTo>
                  <a:pt x="65761" y="38995"/>
                </a:lnTo>
                <a:lnTo>
                  <a:pt x="63995" y="37500"/>
                </a:lnTo>
                <a:lnTo>
                  <a:pt x="63995" y="37228"/>
                </a:lnTo>
                <a:lnTo>
                  <a:pt x="63451" y="36685"/>
                </a:lnTo>
                <a:lnTo>
                  <a:pt x="63043" y="35734"/>
                </a:lnTo>
                <a:lnTo>
                  <a:pt x="62772" y="35734"/>
                </a:lnTo>
                <a:lnTo>
                  <a:pt x="62636" y="35870"/>
                </a:lnTo>
                <a:lnTo>
                  <a:pt x="62364" y="36413"/>
                </a:lnTo>
                <a:lnTo>
                  <a:pt x="62364" y="36685"/>
                </a:lnTo>
                <a:lnTo>
                  <a:pt x="62364" y="36957"/>
                </a:lnTo>
                <a:lnTo>
                  <a:pt x="61277" y="38587"/>
                </a:lnTo>
                <a:lnTo>
                  <a:pt x="61277" y="39674"/>
                </a:lnTo>
                <a:lnTo>
                  <a:pt x="61413" y="39810"/>
                </a:lnTo>
                <a:lnTo>
                  <a:pt x="61549" y="39946"/>
                </a:lnTo>
                <a:lnTo>
                  <a:pt x="61141" y="40353"/>
                </a:lnTo>
                <a:lnTo>
                  <a:pt x="60326" y="40082"/>
                </a:lnTo>
                <a:lnTo>
                  <a:pt x="59375" y="38859"/>
                </a:lnTo>
                <a:lnTo>
                  <a:pt x="60734" y="37228"/>
                </a:lnTo>
                <a:lnTo>
                  <a:pt x="61277" y="36141"/>
                </a:lnTo>
                <a:lnTo>
                  <a:pt x="61277" y="35870"/>
                </a:lnTo>
                <a:lnTo>
                  <a:pt x="61277" y="35598"/>
                </a:lnTo>
                <a:lnTo>
                  <a:pt x="61413" y="35462"/>
                </a:lnTo>
                <a:lnTo>
                  <a:pt x="61549" y="35326"/>
                </a:lnTo>
                <a:lnTo>
                  <a:pt x="61549" y="33967"/>
                </a:lnTo>
                <a:lnTo>
                  <a:pt x="61685" y="33832"/>
                </a:lnTo>
                <a:lnTo>
                  <a:pt x="61821" y="33696"/>
                </a:lnTo>
                <a:lnTo>
                  <a:pt x="61821" y="31250"/>
                </a:lnTo>
                <a:lnTo>
                  <a:pt x="61957" y="31114"/>
                </a:lnTo>
                <a:lnTo>
                  <a:pt x="62092" y="30978"/>
                </a:lnTo>
                <a:lnTo>
                  <a:pt x="62092" y="30707"/>
                </a:lnTo>
                <a:lnTo>
                  <a:pt x="62092" y="30435"/>
                </a:lnTo>
                <a:lnTo>
                  <a:pt x="63179" y="28261"/>
                </a:lnTo>
                <a:lnTo>
                  <a:pt x="64402" y="27038"/>
                </a:lnTo>
                <a:lnTo>
                  <a:pt x="64674" y="27038"/>
                </a:lnTo>
                <a:lnTo>
                  <a:pt x="65217" y="26495"/>
                </a:lnTo>
                <a:lnTo>
                  <a:pt x="67255" y="25815"/>
                </a:lnTo>
                <a:close/>
                <a:moveTo>
                  <a:pt x="29076" y="27038"/>
                </a:moveTo>
                <a:lnTo>
                  <a:pt x="26902" y="28125"/>
                </a:lnTo>
                <a:lnTo>
                  <a:pt x="25679" y="29620"/>
                </a:lnTo>
                <a:lnTo>
                  <a:pt x="25408" y="30163"/>
                </a:lnTo>
                <a:lnTo>
                  <a:pt x="25408" y="30435"/>
                </a:lnTo>
                <a:lnTo>
                  <a:pt x="25408" y="30707"/>
                </a:lnTo>
                <a:lnTo>
                  <a:pt x="25272" y="30842"/>
                </a:lnTo>
                <a:lnTo>
                  <a:pt x="25136" y="30978"/>
                </a:lnTo>
                <a:lnTo>
                  <a:pt x="25136" y="33152"/>
                </a:lnTo>
                <a:lnTo>
                  <a:pt x="25951" y="34783"/>
                </a:lnTo>
                <a:lnTo>
                  <a:pt x="27446" y="36277"/>
                </a:lnTo>
                <a:lnTo>
                  <a:pt x="28533" y="36821"/>
                </a:lnTo>
                <a:lnTo>
                  <a:pt x="28804" y="36821"/>
                </a:lnTo>
                <a:lnTo>
                  <a:pt x="29076" y="36821"/>
                </a:lnTo>
                <a:lnTo>
                  <a:pt x="29212" y="36957"/>
                </a:lnTo>
                <a:lnTo>
                  <a:pt x="29348" y="37092"/>
                </a:lnTo>
                <a:lnTo>
                  <a:pt x="31250" y="37092"/>
                </a:lnTo>
                <a:lnTo>
                  <a:pt x="31386" y="36957"/>
                </a:lnTo>
                <a:lnTo>
                  <a:pt x="33152" y="36277"/>
                </a:lnTo>
                <a:lnTo>
                  <a:pt x="34375" y="35326"/>
                </a:lnTo>
                <a:lnTo>
                  <a:pt x="35462" y="33152"/>
                </a:lnTo>
                <a:lnTo>
                  <a:pt x="35462" y="30978"/>
                </a:lnTo>
                <a:lnTo>
                  <a:pt x="34375" y="28804"/>
                </a:lnTo>
                <a:lnTo>
                  <a:pt x="32880" y="27582"/>
                </a:lnTo>
                <a:lnTo>
                  <a:pt x="32337" y="27310"/>
                </a:lnTo>
                <a:lnTo>
                  <a:pt x="32065" y="27310"/>
                </a:lnTo>
                <a:lnTo>
                  <a:pt x="31793" y="27310"/>
                </a:lnTo>
                <a:lnTo>
                  <a:pt x="31658" y="27174"/>
                </a:lnTo>
                <a:lnTo>
                  <a:pt x="31522" y="27038"/>
                </a:lnTo>
                <a:lnTo>
                  <a:pt x="29076" y="27038"/>
                </a:lnTo>
                <a:close/>
                <a:moveTo>
                  <a:pt x="67663" y="27038"/>
                </a:moveTo>
                <a:lnTo>
                  <a:pt x="67527" y="27174"/>
                </a:lnTo>
                <a:lnTo>
                  <a:pt x="67391" y="27310"/>
                </a:lnTo>
                <a:lnTo>
                  <a:pt x="67120" y="27310"/>
                </a:lnTo>
                <a:lnTo>
                  <a:pt x="66848" y="27310"/>
                </a:lnTo>
                <a:lnTo>
                  <a:pt x="65761" y="27853"/>
                </a:lnTo>
                <a:lnTo>
                  <a:pt x="63723" y="29891"/>
                </a:lnTo>
                <a:lnTo>
                  <a:pt x="63451" y="30435"/>
                </a:lnTo>
                <a:lnTo>
                  <a:pt x="63451" y="30707"/>
                </a:lnTo>
                <a:lnTo>
                  <a:pt x="63451" y="30978"/>
                </a:lnTo>
                <a:lnTo>
                  <a:pt x="63315" y="31114"/>
                </a:lnTo>
                <a:lnTo>
                  <a:pt x="63179" y="31250"/>
                </a:lnTo>
                <a:lnTo>
                  <a:pt x="63179" y="32609"/>
                </a:lnTo>
                <a:lnTo>
                  <a:pt x="63995" y="32880"/>
                </a:lnTo>
                <a:lnTo>
                  <a:pt x="63995" y="34511"/>
                </a:lnTo>
                <a:lnTo>
                  <a:pt x="64130" y="34647"/>
                </a:lnTo>
                <a:lnTo>
                  <a:pt x="64266" y="34783"/>
                </a:lnTo>
                <a:lnTo>
                  <a:pt x="64266" y="35054"/>
                </a:lnTo>
                <a:lnTo>
                  <a:pt x="64266" y="35326"/>
                </a:lnTo>
                <a:lnTo>
                  <a:pt x="64538" y="35870"/>
                </a:lnTo>
                <a:lnTo>
                  <a:pt x="66304" y="37636"/>
                </a:lnTo>
                <a:lnTo>
                  <a:pt x="67391" y="38179"/>
                </a:lnTo>
                <a:lnTo>
                  <a:pt x="68207" y="38179"/>
                </a:lnTo>
                <a:lnTo>
                  <a:pt x="68342" y="38315"/>
                </a:lnTo>
                <a:lnTo>
                  <a:pt x="68478" y="38451"/>
                </a:lnTo>
                <a:lnTo>
                  <a:pt x="69293" y="38451"/>
                </a:lnTo>
                <a:lnTo>
                  <a:pt x="69837" y="38179"/>
                </a:lnTo>
                <a:lnTo>
                  <a:pt x="70109" y="38179"/>
                </a:lnTo>
                <a:lnTo>
                  <a:pt x="70380" y="38179"/>
                </a:lnTo>
                <a:lnTo>
                  <a:pt x="71467" y="37364"/>
                </a:lnTo>
                <a:lnTo>
                  <a:pt x="71739" y="37364"/>
                </a:lnTo>
                <a:lnTo>
                  <a:pt x="73505" y="35598"/>
                </a:lnTo>
                <a:lnTo>
                  <a:pt x="73505" y="35326"/>
                </a:lnTo>
                <a:lnTo>
                  <a:pt x="73505" y="35054"/>
                </a:lnTo>
                <a:lnTo>
                  <a:pt x="73641" y="34918"/>
                </a:lnTo>
                <a:lnTo>
                  <a:pt x="73777" y="34783"/>
                </a:lnTo>
                <a:lnTo>
                  <a:pt x="73777" y="33152"/>
                </a:lnTo>
                <a:lnTo>
                  <a:pt x="74049" y="32609"/>
                </a:lnTo>
                <a:lnTo>
                  <a:pt x="74592" y="32337"/>
                </a:lnTo>
                <a:lnTo>
                  <a:pt x="74592" y="32065"/>
                </a:lnTo>
                <a:lnTo>
                  <a:pt x="74457" y="31929"/>
                </a:lnTo>
                <a:lnTo>
                  <a:pt x="74321" y="31793"/>
                </a:lnTo>
                <a:lnTo>
                  <a:pt x="74321" y="30978"/>
                </a:lnTo>
                <a:lnTo>
                  <a:pt x="73777" y="29891"/>
                </a:lnTo>
                <a:lnTo>
                  <a:pt x="72554" y="28397"/>
                </a:lnTo>
                <a:lnTo>
                  <a:pt x="69837" y="27038"/>
                </a:lnTo>
                <a:lnTo>
                  <a:pt x="67663" y="27038"/>
                </a:lnTo>
                <a:close/>
                <a:moveTo>
                  <a:pt x="27853" y="40489"/>
                </a:moveTo>
                <a:lnTo>
                  <a:pt x="27989" y="40353"/>
                </a:lnTo>
                <a:lnTo>
                  <a:pt x="32609" y="40353"/>
                </a:lnTo>
                <a:lnTo>
                  <a:pt x="32745" y="40489"/>
                </a:lnTo>
                <a:lnTo>
                  <a:pt x="32880" y="40625"/>
                </a:lnTo>
                <a:lnTo>
                  <a:pt x="33967" y="40625"/>
                </a:lnTo>
                <a:lnTo>
                  <a:pt x="34103" y="40761"/>
                </a:lnTo>
                <a:lnTo>
                  <a:pt x="34239" y="40897"/>
                </a:lnTo>
                <a:lnTo>
                  <a:pt x="34511" y="40897"/>
                </a:lnTo>
                <a:lnTo>
                  <a:pt x="34783" y="40897"/>
                </a:lnTo>
                <a:lnTo>
                  <a:pt x="36957" y="41984"/>
                </a:lnTo>
                <a:lnTo>
                  <a:pt x="37772" y="42799"/>
                </a:lnTo>
                <a:lnTo>
                  <a:pt x="38043" y="42799"/>
                </a:lnTo>
                <a:lnTo>
                  <a:pt x="39810" y="44837"/>
                </a:lnTo>
                <a:lnTo>
                  <a:pt x="40353" y="45924"/>
                </a:lnTo>
                <a:lnTo>
                  <a:pt x="40353" y="46196"/>
                </a:lnTo>
                <a:lnTo>
                  <a:pt x="40353" y="46467"/>
                </a:lnTo>
                <a:lnTo>
                  <a:pt x="40489" y="46603"/>
                </a:lnTo>
                <a:lnTo>
                  <a:pt x="40625" y="46739"/>
                </a:lnTo>
                <a:lnTo>
                  <a:pt x="40625" y="47826"/>
                </a:lnTo>
                <a:lnTo>
                  <a:pt x="40761" y="47962"/>
                </a:lnTo>
                <a:lnTo>
                  <a:pt x="40897" y="48098"/>
                </a:lnTo>
                <a:lnTo>
                  <a:pt x="40897" y="52174"/>
                </a:lnTo>
                <a:lnTo>
                  <a:pt x="39946" y="52310"/>
                </a:lnTo>
                <a:lnTo>
                  <a:pt x="39538" y="51902"/>
                </a:lnTo>
                <a:lnTo>
                  <a:pt x="39538" y="48913"/>
                </a:lnTo>
                <a:lnTo>
                  <a:pt x="39402" y="48777"/>
                </a:lnTo>
                <a:lnTo>
                  <a:pt x="39266" y="48641"/>
                </a:lnTo>
                <a:lnTo>
                  <a:pt x="39266" y="47554"/>
                </a:lnTo>
                <a:lnTo>
                  <a:pt x="39130" y="47418"/>
                </a:lnTo>
                <a:lnTo>
                  <a:pt x="38995" y="47283"/>
                </a:lnTo>
                <a:lnTo>
                  <a:pt x="38995" y="47011"/>
                </a:lnTo>
                <a:lnTo>
                  <a:pt x="38995" y="46739"/>
                </a:lnTo>
                <a:lnTo>
                  <a:pt x="38179" y="45109"/>
                </a:lnTo>
                <a:lnTo>
                  <a:pt x="36413" y="43342"/>
                </a:lnTo>
                <a:lnTo>
                  <a:pt x="36141" y="43342"/>
                </a:lnTo>
                <a:lnTo>
                  <a:pt x="35598" y="42799"/>
                </a:lnTo>
                <a:lnTo>
                  <a:pt x="34511" y="42255"/>
                </a:lnTo>
                <a:lnTo>
                  <a:pt x="33152" y="41984"/>
                </a:lnTo>
                <a:lnTo>
                  <a:pt x="33016" y="41848"/>
                </a:lnTo>
                <a:lnTo>
                  <a:pt x="32880" y="41712"/>
                </a:lnTo>
                <a:lnTo>
                  <a:pt x="27717" y="41712"/>
                </a:lnTo>
                <a:lnTo>
                  <a:pt x="27582" y="41848"/>
                </a:lnTo>
                <a:lnTo>
                  <a:pt x="27446" y="41984"/>
                </a:lnTo>
                <a:lnTo>
                  <a:pt x="26630" y="41984"/>
                </a:lnTo>
                <a:lnTo>
                  <a:pt x="26495" y="42120"/>
                </a:lnTo>
                <a:lnTo>
                  <a:pt x="26359" y="42255"/>
                </a:lnTo>
                <a:lnTo>
                  <a:pt x="26087" y="42255"/>
                </a:lnTo>
                <a:lnTo>
                  <a:pt x="25815" y="42255"/>
                </a:lnTo>
                <a:lnTo>
                  <a:pt x="24728" y="42799"/>
                </a:lnTo>
                <a:lnTo>
                  <a:pt x="23913" y="43614"/>
                </a:lnTo>
                <a:lnTo>
                  <a:pt x="23641" y="43614"/>
                </a:lnTo>
                <a:lnTo>
                  <a:pt x="22418" y="44837"/>
                </a:lnTo>
                <a:lnTo>
                  <a:pt x="22418" y="45109"/>
                </a:lnTo>
                <a:lnTo>
                  <a:pt x="21875" y="45652"/>
                </a:lnTo>
                <a:lnTo>
                  <a:pt x="21332" y="46739"/>
                </a:lnTo>
                <a:lnTo>
                  <a:pt x="21332" y="47011"/>
                </a:lnTo>
                <a:lnTo>
                  <a:pt x="21332" y="47283"/>
                </a:lnTo>
                <a:lnTo>
                  <a:pt x="21196" y="47418"/>
                </a:lnTo>
                <a:lnTo>
                  <a:pt x="21060" y="47554"/>
                </a:lnTo>
                <a:lnTo>
                  <a:pt x="21060" y="49457"/>
                </a:lnTo>
                <a:lnTo>
                  <a:pt x="20924" y="49592"/>
                </a:lnTo>
                <a:lnTo>
                  <a:pt x="20788" y="49728"/>
                </a:lnTo>
                <a:lnTo>
                  <a:pt x="20788" y="56793"/>
                </a:lnTo>
                <a:lnTo>
                  <a:pt x="20652" y="56929"/>
                </a:lnTo>
                <a:lnTo>
                  <a:pt x="20516" y="57065"/>
                </a:lnTo>
                <a:lnTo>
                  <a:pt x="20516" y="58967"/>
                </a:lnTo>
                <a:lnTo>
                  <a:pt x="20788" y="59511"/>
                </a:lnTo>
                <a:lnTo>
                  <a:pt x="21739" y="60190"/>
                </a:lnTo>
                <a:lnTo>
                  <a:pt x="23098" y="60190"/>
                </a:lnTo>
                <a:lnTo>
                  <a:pt x="23913" y="59103"/>
                </a:lnTo>
                <a:lnTo>
                  <a:pt x="24185" y="59103"/>
                </a:lnTo>
                <a:lnTo>
                  <a:pt x="24592" y="59783"/>
                </a:lnTo>
                <a:lnTo>
                  <a:pt x="24592" y="63315"/>
                </a:lnTo>
                <a:lnTo>
                  <a:pt x="24728" y="63451"/>
                </a:lnTo>
                <a:lnTo>
                  <a:pt x="24864" y="63587"/>
                </a:lnTo>
                <a:lnTo>
                  <a:pt x="24864" y="69837"/>
                </a:lnTo>
                <a:lnTo>
                  <a:pt x="25000" y="69973"/>
                </a:lnTo>
                <a:lnTo>
                  <a:pt x="25136" y="70109"/>
                </a:lnTo>
                <a:lnTo>
                  <a:pt x="25136" y="75543"/>
                </a:lnTo>
                <a:lnTo>
                  <a:pt x="25272" y="75679"/>
                </a:lnTo>
                <a:lnTo>
                  <a:pt x="25408" y="75815"/>
                </a:lnTo>
                <a:lnTo>
                  <a:pt x="25408" y="76630"/>
                </a:lnTo>
                <a:lnTo>
                  <a:pt x="25543" y="76766"/>
                </a:lnTo>
                <a:lnTo>
                  <a:pt x="29348" y="76766"/>
                </a:lnTo>
                <a:lnTo>
                  <a:pt x="29484" y="76630"/>
                </a:lnTo>
                <a:lnTo>
                  <a:pt x="29484" y="72826"/>
                </a:lnTo>
                <a:lnTo>
                  <a:pt x="29620" y="72690"/>
                </a:lnTo>
                <a:lnTo>
                  <a:pt x="29755" y="72554"/>
                </a:lnTo>
                <a:lnTo>
                  <a:pt x="29755" y="68478"/>
                </a:lnTo>
                <a:lnTo>
                  <a:pt x="30163" y="68071"/>
                </a:lnTo>
                <a:lnTo>
                  <a:pt x="30435" y="68071"/>
                </a:lnTo>
                <a:lnTo>
                  <a:pt x="30842" y="68478"/>
                </a:lnTo>
                <a:lnTo>
                  <a:pt x="30842" y="69293"/>
                </a:lnTo>
                <a:lnTo>
                  <a:pt x="30842" y="75815"/>
                </a:lnTo>
                <a:lnTo>
                  <a:pt x="31114" y="76359"/>
                </a:lnTo>
                <a:lnTo>
                  <a:pt x="31522" y="76766"/>
                </a:lnTo>
                <a:lnTo>
                  <a:pt x="35054" y="76766"/>
                </a:lnTo>
                <a:lnTo>
                  <a:pt x="35190" y="76630"/>
                </a:lnTo>
                <a:lnTo>
                  <a:pt x="35190" y="73913"/>
                </a:lnTo>
                <a:lnTo>
                  <a:pt x="35326" y="73777"/>
                </a:lnTo>
                <a:lnTo>
                  <a:pt x="35462" y="73641"/>
                </a:lnTo>
                <a:lnTo>
                  <a:pt x="35462" y="68478"/>
                </a:lnTo>
                <a:lnTo>
                  <a:pt x="35598" y="68342"/>
                </a:lnTo>
                <a:lnTo>
                  <a:pt x="35734" y="68207"/>
                </a:lnTo>
                <a:lnTo>
                  <a:pt x="35734" y="63587"/>
                </a:lnTo>
                <a:lnTo>
                  <a:pt x="35870" y="63451"/>
                </a:lnTo>
                <a:lnTo>
                  <a:pt x="36005" y="63315"/>
                </a:lnTo>
                <a:lnTo>
                  <a:pt x="36005" y="60326"/>
                </a:lnTo>
                <a:lnTo>
                  <a:pt x="36141" y="60190"/>
                </a:lnTo>
                <a:lnTo>
                  <a:pt x="37092" y="61141"/>
                </a:lnTo>
                <a:lnTo>
                  <a:pt x="37364" y="61685"/>
                </a:lnTo>
                <a:lnTo>
                  <a:pt x="37364" y="63587"/>
                </a:lnTo>
                <a:lnTo>
                  <a:pt x="37228" y="63723"/>
                </a:lnTo>
                <a:lnTo>
                  <a:pt x="37092" y="63859"/>
                </a:lnTo>
                <a:lnTo>
                  <a:pt x="37092" y="69565"/>
                </a:lnTo>
                <a:lnTo>
                  <a:pt x="36957" y="69701"/>
                </a:lnTo>
                <a:lnTo>
                  <a:pt x="36821" y="69837"/>
                </a:lnTo>
                <a:lnTo>
                  <a:pt x="36821" y="75272"/>
                </a:lnTo>
                <a:lnTo>
                  <a:pt x="36685" y="75408"/>
                </a:lnTo>
                <a:lnTo>
                  <a:pt x="36549" y="75543"/>
                </a:lnTo>
                <a:lnTo>
                  <a:pt x="36549" y="77717"/>
                </a:lnTo>
                <a:lnTo>
                  <a:pt x="35870" y="78125"/>
                </a:lnTo>
                <a:lnTo>
                  <a:pt x="30978" y="78125"/>
                </a:lnTo>
                <a:lnTo>
                  <a:pt x="30842" y="77989"/>
                </a:lnTo>
                <a:lnTo>
                  <a:pt x="30707" y="77853"/>
                </a:lnTo>
                <a:lnTo>
                  <a:pt x="29891" y="77853"/>
                </a:lnTo>
                <a:lnTo>
                  <a:pt x="29755" y="77989"/>
                </a:lnTo>
                <a:lnTo>
                  <a:pt x="29620" y="78125"/>
                </a:lnTo>
                <a:lnTo>
                  <a:pt x="24457" y="78125"/>
                </a:lnTo>
                <a:lnTo>
                  <a:pt x="24049" y="77717"/>
                </a:lnTo>
                <a:lnTo>
                  <a:pt x="24049" y="76359"/>
                </a:lnTo>
                <a:lnTo>
                  <a:pt x="23913" y="76223"/>
                </a:lnTo>
                <a:lnTo>
                  <a:pt x="23777" y="76087"/>
                </a:lnTo>
                <a:lnTo>
                  <a:pt x="23777" y="70109"/>
                </a:lnTo>
                <a:lnTo>
                  <a:pt x="23641" y="69973"/>
                </a:lnTo>
                <a:lnTo>
                  <a:pt x="23505" y="69837"/>
                </a:lnTo>
                <a:lnTo>
                  <a:pt x="23505" y="63587"/>
                </a:lnTo>
                <a:lnTo>
                  <a:pt x="23370" y="63451"/>
                </a:lnTo>
                <a:lnTo>
                  <a:pt x="23234" y="63315"/>
                </a:lnTo>
                <a:lnTo>
                  <a:pt x="23234" y="61685"/>
                </a:lnTo>
                <a:lnTo>
                  <a:pt x="23098" y="61549"/>
                </a:lnTo>
                <a:lnTo>
                  <a:pt x="21467" y="61549"/>
                </a:lnTo>
                <a:lnTo>
                  <a:pt x="20380" y="61005"/>
                </a:lnTo>
                <a:lnTo>
                  <a:pt x="19429" y="60054"/>
                </a:lnTo>
                <a:lnTo>
                  <a:pt x="19429" y="59783"/>
                </a:lnTo>
                <a:lnTo>
                  <a:pt x="19429" y="59511"/>
                </a:lnTo>
                <a:lnTo>
                  <a:pt x="19293" y="59375"/>
                </a:lnTo>
                <a:lnTo>
                  <a:pt x="19158" y="59239"/>
                </a:lnTo>
                <a:lnTo>
                  <a:pt x="19158" y="57065"/>
                </a:lnTo>
                <a:lnTo>
                  <a:pt x="19293" y="56929"/>
                </a:lnTo>
                <a:lnTo>
                  <a:pt x="19429" y="56793"/>
                </a:lnTo>
                <a:lnTo>
                  <a:pt x="19429" y="48913"/>
                </a:lnTo>
                <a:lnTo>
                  <a:pt x="19565" y="48777"/>
                </a:lnTo>
                <a:lnTo>
                  <a:pt x="19701" y="48641"/>
                </a:lnTo>
                <a:lnTo>
                  <a:pt x="19701" y="47283"/>
                </a:lnTo>
                <a:lnTo>
                  <a:pt x="19837" y="47147"/>
                </a:lnTo>
                <a:lnTo>
                  <a:pt x="19973" y="47011"/>
                </a:lnTo>
                <a:lnTo>
                  <a:pt x="20245" y="45652"/>
                </a:lnTo>
                <a:lnTo>
                  <a:pt x="21060" y="44565"/>
                </a:lnTo>
                <a:lnTo>
                  <a:pt x="21060" y="44293"/>
                </a:lnTo>
                <a:lnTo>
                  <a:pt x="23098" y="42255"/>
                </a:lnTo>
                <a:lnTo>
                  <a:pt x="25815" y="40897"/>
                </a:lnTo>
                <a:lnTo>
                  <a:pt x="27853" y="40489"/>
                </a:lnTo>
                <a:close/>
                <a:moveTo>
                  <a:pt x="67527" y="41576"/>
                </a:moveTo>
                <a:lnTo>
                  <a:pt x="67663" y="41440"/>
                </a:lnTo>
                <a:lnTo>
                  <a:pt x="70109" y="41440"/>
                </a:lnTo>
                <a:lnTo>
                  <a:pt x="70245" y="41576"/>
                </a:lnTo>
                <a:lnTo>
                  <a:pt x="70380" y="41712"/>
                </a:lnTo>
                <a:lnTo>
                  <a:pt x="71467" y="41712"/>
                </a:lnTo>
                <a:lnTo>
                  <a:pt x="71603" y="41848"/>
                </a:lnTo>
                <a:lnTo>
                  <a:pt x="71739" y="41984"/>
                </a:lnTo>
                <a:lnTo>
                  <a:pt x="73098" y="42255"/>
                </a:lnTo>
                <a:lnTo>
                  <a:pt x="74185" y="42799"/>
                </a:lnTo>
                <a:lnTo>
                  <a:pt x="74728" y="43342"/>
                </a:lnTo>
                <a:lnTo>
                  <a:pt x="75000" y="43342"/>
                </a:lnTo>
                <a:lnTo>
                  <a:pt x="77038" y="45380"/>
                </a:lnTo>
                <a:lnTo>
                  <a:pt x="78125" y="47554"/>
                </a:lnTo>
                <a:lnTo>
                  <a:pt x="78125" y="48370"/>
                </a:lnTo>
                <a:lnTo>
                  <a:pt x="78261" y="48505"/>
                </a:lnTo>
                <a:lnTo>
                  <a:pt x="78397" y="48641"/>
                </a:lnTo>
                <a:lnTo>
                  <a:pt x="78668" y="51087"/>
                </a:lnTo>
                <a:lnTo>
                  <a:pt x="78804" y="51223"/>
                </a:lnTo>
                <a:lnTo>
                  <a:pt x="78940" y="51359"/>
                </a:lnTo>
                <a:lnTo>
                  <a:pt x="78940" y="52174"/>
                </a:lnTo>
                <a:lnTo>
                  <a:pt x="79076" y="52310"/>
                </a:lnTo>
                <a:lnTo>
                  <a:pt x="79212" y="52446"/>
                </a:lnTo>
                <a:lnTo>
                  <a:pt x="79212" y="53261"/>
                </a:lnTo>
                <a:lnTo>
                  <a:pt x="79348" y="53397"/>
                </a:lnTo>
                <a:lnTo>
                  <a:pt x="79484" y="53533"/>
                </a:lnTo>
                <a:lnTo>
                  <a:pt x="79484" y="54348"/>
                </a:lnTo>
                <a:lnTo>
                  <a:pt x="79620" y="54484"/>
                </a:lnTo>
                <a:lnTo>
                  <a:pt x="79755" y="54620"/>
                </a:lnTo>
                <a:lnTo>
                  <a:pt x="79755" y="55435"/>
                </a:lnTo>
                <a:lnTo>
                  <a:pt x="79891" y="55571"/>
                </a:lnTo>
                <a:lnTo>
                  <a:pt x="80027" y="55707"/>
                </a:lnTo>
                <a:lnTo>
                  <a:pt x="80027" y="56793"/>
                </a:lnTo>
                <a:lnTo>
                  <a:pt x="80163" y="56929"/>
                </a:lnTo>
                <a:lnTo>
                  <a:pt x="80299" y="57065"/>
                </a:lnTo>
                <a:lnTo>
                  <a:pt x="80299" y="57880"/>
                </a:lnTo>
                <a:lnTo>
                  <a:pt x="80435" y="58016"/>
                </a:lnTo>
                <a:lnTo>
                  <a:pt x="80571" y="58152"/>
                </a:lnTo>
                <a:lnTo>
                  <a:pt x="80571" y="60326"/>
                </a:lnTo>
                <a:lnTo>
                  <a:pt x="79620" y="61277"/>
                </a:lnTo>
                <a:lnTo>
                  <a:pt x="79076" y="61549"/>
                </a:lnTo>
                <a:lnTo>
                  <a:pt x="78261" y="61549"/>
                </a:lnTo>
                <a:lnTo>
                  <a:pt x="77853" y="61957"/>
                </a:lnTo>
                <a:lnTo>
                  <a:pt x="77989" y="62092"/>
                </a:lnTo>
                <a:lnTo>
                  <a:pt x="78125" y="62228"/>
                </a:lnTo>
                <a:lnTo>
                  <a:pt x="78397" y="64130"/>
                </a:lnTo>
                <a:lnTo>
                  <a:pt x="78533" y="64266"/>
                </a:lnTo>
                <a:lnTo>
                  <a:pt x="78668" y="64402"/>
                </a:lnTo>
                <a:lnTo>
                  <a:pt x="78668" y="64674"/>
                </a:lnTo>
                <a:lnTo>
                  <a:pt x="78668" y="64946"/>
                </a:lnTo>
                <a:lnTo>
                  <a:pt x="79212" y="66033"/>
                </a:lnTo>
                <a:lnTo>
                  <a:pt x="79212" y="66848"/>
                </a:lnTo>
                <a:lnTo>
                  <a:pt x="79348" y="66984"/>
                </a:lnTo>
                <a:lnTo>
                  <a:pt x="79484" y="67120"/>
                </a:lnTo>
                <a:lnTo>
                  <a:pt x="79484" y="67935"/>
                </a:lnTo>
                <a:lnTo>
                  <a:pt x="79620" y="68071"/>
                </a:lnTo>
                <a:lnTo>
                  <a:pt x="79755" y="68207"/>
                </a:lnTo>
                <a:lnTo>
                  <a:pt x="79076" y="68886"/>
                </a:lnTo>
                <a:lnTo>
                  <a:pt x="75000" y="68886"/>
                </a:lnTo>
                <a:lnTo>
                  <a:pt x="74864" y="69022"/>
                </a:lnTo>
                <a:lnTo>
                  <a:pt x="74864" y="70652"/>
                </a:lnTo>
                <a:lnTo>
                  <a:pt x="74728" y="70788"/>
                </a:lnTo>
                <a:lnTo>
                  <a:pt x="74592" y="70924"/>
                </a:lnTo>
                <a:lnTo>
                  <a:pt x="74592" y="76087"/>
                </a:lnTo>
                <a:lnTo>
                  <a:pt x="74457" y="76223"/>
                </a:lnTo>
                <a:lnTo>
                  <a:pt x="74321" y="76359"/>
                </a:lnTo>
                <a:lnTo>
                  <a:pt x="74321" y="77717"/>
                </a:lnTo>
                <a:lnTo>
                  <a:pt x="73913" y="78125"/>
                </a:lnTo>
                <a:lnTo>
                  <a:pt x="69293" y="78125"/>
                </a:lnTo>
                <a:lnTo>
                  <a:pt x="69158" y="77989"/>
                </a:lnTo>
                <a:lnTo>
                  <a:pt x="69022" y="77853"/>
                </a:lnTo>
                <a:lnTo>
                  <a:pt x="68750" y="77853"/>
                </a:lnTo>
                <a:lnTo>
                  <a:pt x="68478" y="77853"/>
                </a:lnTo>
                <a:lnTo>
                  <a:pt x="68342" y="77989"/>
                </a:lnTo>
                <a:lnTo>
                  <a:pt x="68207" y="78125"/>
                </a:lnTo>
                <a:lnTo>
                  <a:pt x="63587" y="78125"/>
                </a:lnTo>
                <a:lnTo>
                  <a:pt x="63179" y="77717"/>
                </a:lnTo>
                <a:lnTo>
                  <a:pt x="63179" y="75543"/>
                </a:lnTo>
                <a:lnTo>
                  <a:pt x="63043" y="75408"/>
                </a:lnTo>
                <a:lnTo>
                  <a:pt x="62908" y="75272"/>
                </a:lnTo>
                <a:lnTo>
                  <a:pt x="62908" y="70109"/>
                </a:lnTo>
                <a:lnTo>
                  <a:pt x="62772" y="69973"/>
                </a:lnTo>
                <a:lnTo>
                  <a:pt x="62636" y="69837"/>
                </a:lnTo>
                <a:lnTo>
                  <a:pt x="62636" y="69022"/>
                </a:lnTo>
                <a:lnTo>
                  <a:pt x="62500" y="68886"/>
                </a:lnTo>
                <a:lnTo>
                  <a:pt x="58696" y="68886"/>
                </a:lnTo>
                <a:lnTo>
                  <a:pt x="58016" y="68207"/>
                </a:lnTo>
                <a:lnTo>
                  <a:pt x="58016" y="67935"/>
                </a:lnTo>
                <a:lnTo>
                  <a:pt x="58152" y="67799"/>
                </a:lnTo>
                <a:lnTo>
                  <a:pt x="58288" y="67663"/>
                </a:lnTo>
                <a:lnTo>
                  <a:pt x="58288" y="66848"/>
                </a:lnTo>
                <a:lnTo>
                  <a:pt x="58424" y="66712"/>
                </a:lnTo>
                <a:lnTo>
                  <a:pt x="58560" y="66576"/>
                </a:lnTo>
                <a:lnTo>
                  <a:pt x="58832" y="65217"/>
                </a:lnTo>
                <a:lnTo>
                  <a:pt x="60326" y="63723"/>
                </a:lnTo>
                <a:lnTo>
                  <a:pt x="60462" y="64674"/>
                </a:lnTo>
                <a:lnTo>
                  <a:pt x="60326" y="64810"/>
                </a:lnTo>
                <a:lnTo>
                  <a:pt x="60190" y="64946"/>
                </a:lnTo>
                <a:lnTo>
                  <a:pt x="60190" y="65761"/>
                </a:lnTo>
                <a:lnTo>
                  <a:pt x="59647" y="66848"/>
                </a:lnTo>
                <a:lnTo>
                  <a:pt x="59647" y="67120"/>
                </a:lnTo>
                <a:lnTo>
                  <a:pt x="59783" y="67255"/>
                </a:lnTo>
                <a:lnTo>
                  <a:pt x="63859" y="67255"/>
                </a:lnTo>
                <a:lnTo>
                  <a:pt x="63995" y="67391"/>
                </a:lnTo>
                <a:lnTo>
                  <a:pt x="64130" y="67527"/>
                </a:lnTo>
                <a:lnTo>
                  <a:pt x="65082" y="67663"/>
                </a:lnTo>
                <a:lnTo>
                  <a:pt x="65082" y="68478"/>
                </a:lnTo>
                <a:lnTo>
                  <a:pt x="64674" y="68886"/>
                </a:lnTo>
                <a:lnTo>
                  <a:pt x="63995" y="69022"/>
                </a:lnTo>
                <a:lnTo>
                  <a:pt x="63995" y="70924"/>
                </a:lnTo>
                <a:lnTo>
                  <a:pt x="64130" y="71060"/>
                </a:lnTo>
                <a:lnTo>
                  <a:pt x="64266" y="71196"/>
                </a:lnTo>
                <a:lnTo>
                  <a:pt x="64266" y="76359"/>
                </a:lnTo>
                <a:lnTo>
                  <a:pt x="64674" y="76766"/>
                </a:lnTo>
                <a:lnTo>
                  <a:pt x="64946" y="76766"/>
                </a:lnTo>
                <a:lnTo>
                  <a:pt x="65217" y="76766"/>
                </a:lnTo>
                <a:lnTo>
                  <a:pt x="67663" y="76766"/>
                </a:lnTo>
                <a:lnTo>
                  <a:pt x="68071" y="76359"/>
                </a:lnTo>
                <a:lnTo>
                  <a:pt x="68071" y="73913"/>
                </a:lnTo>
                <a:lnTo>
                  <a:pt x="68207" y="73777"/>
                </a:lnTo>
                <a:lnTo>
                  <a:pt x="68342" y="73641"/>
                </a:lnTo>
                <a:lnTo>
                  <a:pt x="68342" y="71467"/>
                </a:lnTo>
                <a:lnTo>
                  <a:pt x="68478" y="71332"/>
                </a:lnTo>
                <a:lnTo>
                  <a:pt x="69158" y="71467"/>
                </a:lnTo>
                <a:lnTo>
                  <a:pt x="69158" y="72554"/>
                </a:lnTo>
                <a:lnTo>
                  <a:pt x="69293" y="72690"/>
                </a:lnTo>
                <a:lnTo>
                  <a:pt x="69429" y="72826"/>
                </a:lnTo>
                <a:lnTo>
                  <a:pt x="69429" y="76359"/>
                </a:lnTo>
                <a:lnTo>
                  <a:pt x="69837" y="76766"/>
                </a:lnTo>
                <a:lnTo>
                  <a:pt x="72826" y="76766"/>
                </a:lnTo>
                <a:lnTo>
                  <a:pt x="73234" y="76359"/>
                </a:lnTo>
                <a:lnTo>
                  <a:pt x="73234" y="72554"/>
                </a:lnTo>
                <a:lnTo>
                  <a:pt x="73370" y="72418"/>
                </a:lnTo>
                <a:lnTo>
                  <a:pt x="73505" y="72283"/>
                </a:lnTo>
                <a:lnTo>
                  <a:pt x="73505" y="69022"/>
                </a:lnTo>
                <a:lnTo>
                  <a:pt x="72554" y="68614"/>
                </a:lnTo>
                <a:lnTo>
                  <a:pt x="72418" y="67935"/>
                </a:lnTo>
                <a:lnTo>
                  <a:pt x="72826" y="67527"/>
                </a:lnTo>
                <a:lnTo>
                  <a:pt x="77717" y="67527"/>
                </a:lnTo>
                <a:lnTo>
                  <a:pt x="78125" y="67120"/>
                </a:lnTo>
                <a:lnTo>
                  <a:pt x="77853" y="66576"/>
                </a:lnTo>
                <a:lnTo>
                  <a:pt x="77853" y="65761"/>
                </a:lnTo>
                <a:lnTo>
                  <a:pt x="77717" y="65625"/>
                </a:lnTo>
                <a:lnTo>
                  <a:pt x="77582" y="65489"/>
                </a:lnTo>
                <a:lnTo>
                  <a:pt x="77582" y="65217"/>
                </a:lnTo>
                <a:lnTo>
                  <a:pt x="77582" y="64946"/>
                </a:lnTo>
                <a:lnTo>
                  <a:pt x="77446" y="64810"/>
                </a:lnTo>
                <a:lnTo>
                  <a:pt x="77310" y="64674"/>
                </a:lnTo>
                <a:lnTo>
                  <a:pt x="77310" y="64402"/>
                </a:lnTo>
                <a:lnTo>
                  <a:pt x="77310" y="64130"/>
                </a:lnTo>
                <a:lnTo>
                  <a:pt x="77174" y="63995"/>
                </a:lnTo>
                <a:lnTo>
                  <a:pt x="77038" y="63859"/>
                </a:lnTo>
                <a:lnTo>
                  <a:pt x="77038" y="63587"/>
                </a:lnTo>
                <a:lnTo>
                  <a:pt x="77038" y="63315"/>
                </a:lnTo>
                <a:lnTo>
                  <a:pt x="76495" y="62228"/>
                </a:lnTo>
                <a:lnTo>
                  <a:pt x="76223" y="60326"/>
                </a:lnTo>
                <a:lnTo>
                  <a:pt x="77174" y="60190"/>
                </a:lnTo>
                <a:lnTo>
                  <a:pt x="77310" y="60326"/>
                </a:lnTo>
                <a:lnTo>
                  <a:pt x="77446" y="60462"/>
                </a:lnTo>
                <a:lnTo>
                  <a:pt x="78261" y="60462"/>
                </a:lnTo>
                <a:lnTo>
                  <a:pt x="79212" y="59783"/>
                </a:lnTo>
                <a:lnTo>
                  <a:pt x="79212" y="58152"/>
                </a:lnTo>
                <a:lnTo>
                  <a:pt x="79076" y="58016"/>
                </a:lnTo>
                <a:lnTo>
                  <a:pt x="78940" y="57880"/>
                </a:lnTo>
                <a:lnTo>
                  <a:pt x="78940" y="57065"/>
                </a:lnTo>
                <a:lnTo>
                  <a:pt x="78804" y="56929"/>
                </a:lnTo>
                <a:lnTo>
                  <a:pt x="78668" y="56793"/>
                </a:lnTo>
                <a:lnTo>
                  <a:pt x="78668" y="55978"/>
                </a:lnTo>
                <a:lnTo>
                  <a:pt x="78533" y="55842"/>
                </a:lnTo>
                <a:lnTo>
                  <a:pt x="78397" y="55707"/>
                </a:lnTo>
                <a:lnTo>
                  <a:pt x="78397" y="54620"/>
                </a:lnTo>
                <a:lnTo>
                  <a:pt x="78261" y="54484"/>
                </a:lnTo>
                <a:lnTo>
                  <a:pt x="78125" y="54348"/>
                </a:lnTo>
                <a:lnTo>
                  <a:pt x="78125" y="53533"/>
                </a:lnTo>
                <a:lnTo>
                  <a:pt x="77989" y="53397"/>
                </a:lnTo>
                <a:lnTo>
                  <a:pt x="77853" y="53261"/>
                </a:lnTo>
                <a:lnTo>
                  <a:pt x="77853" y="52446"/>
                </a:lnTo>
                <a:lnTo>
                  <a:pt x="77717" y="52310"/>
                </a:lnTo>
                <a:lnTo>
                  <a:pt x="77582" y="52174"/>
                </a:lnTo>
                <a:lnTo>
                  <a:pt x="77582" y="51087"/>
                </a:lnTo>
                <a:lnTo>
                  <a:pt x="77446" y="50951"/>
                </a:lnTo>
                <a:lnTo>
                  <a:pt x="77310" y="50815"/>
                </a:lnTo>
                <a:lnTo>
                  <a:pt x="77310" y="50000"/>
                </a:lnTo>
                <a:lnTo>
                  <a:pt x="77174" y="49864"/>
                </a:lnTo>
                <a:lnTo>
                  <a:pt x="77038" y="49728"/>
                </a:lnTo>
                <a:lnTo>
                  <a:pt x="77038" y="48641"/>
                </a:lnTo>
                <a:lnTo>
                  <a:pt x="76902" y="48505"/>
                </a:lnTo>
                <a:lnTo>
                  <a:pt x="76766" y="48370"/>
                </a:lnTo>
                <a:lnTo>
                  <a:pt x="76766" y="48098"/>
                </a:lnTo>
                <a:lnTo>
                  <a:pt x="76766" y="47826"/>
                </a:lnTo>
                <a:lnTo>
                  <a:pt x="75951" y="46196"/>
                </a:lnTo>
                <a:lnTo>
                  <a:pt x="73913" y="44158"/>
                </a:lnTo>
                <a:lnTo>
                  <a:pt x="72826" y="43614"/>
                </a:lnTo>
                <a:lnTo>
                  <a:pt x="72554" y="43614"/>
                </a:lnTo>
                <a:lnTo>
                  <a:pt x="72283" y="43614"/>
                </a:lnTo>
                <a:lnTo>
                  <a:pt x="71196" y="43071"/>
                </a:lnTo>
                <a:lnTo>
                  <a:pt x="69837" y="43071"/>
                </a:lnTo>
                <a:lnTo>
                  <a:pt x="69701" y="42935"/>
                </a:lnTo>
                <a:lnTo>
                  <a:pt x="69565" y="42799"/>
                </a:lnTo>
                <a:lnTo>
                  <a:pt x="67663" y="42799"/>
                </a:lnTo>
                <a:lnTo>
                  <a:pt x="67527" y="42935"/>
                </a:lnTo>
                <a:lnTo>
                  <a:pt x="67391" y="43071"/>
                </a:lnTo>
                <a:lnTo>
                  <a:pt x="66304" y="43071"/>
                </a:lnTo>
                <a:lnTo>
                  <a:pt x="66168" y="43207"/>
                </a:lnTo>
                <a:lnTo>
                  <a:pt x="66033" y="43342"/>
                </a:lnTo>
                <a:lnTo>
                  <a:pt x="65761" y="43342"/>
                </a:lnTo>
                <a:lnTo>
                  <a:pt x="65489" y="43342"/>
                </a:lnTo>
                <a:lnTo>
                  <a:pt x="63859" y="44158"/>
                </a:lnTo>
                <a:lnTo>
                  <a:pt x="62092" y="45652"/>
                </a:lnTo>
                <a:lnTo>
                  <a:pt x="62092" y="45924"/>
                </a:lnTo>
                <a:lnTo>
                  <a:pt x="61005" y="47283"/>
                </a:lnTo>
                <a:lnTo>
                  <a:pt x="61005" y="47554"/>
                </a:lnTo>
                <a:lnTo>
                  <a:pt x="61005" y="47826"/>
                </a:lnTo>
                <a:lnTo>
                  <a:pt x="60462" y="48913"/>
                </a:lnTo>
                <a:lnTo>
                  <a:pt x="60462" y="49728"/>
                </a:lnTo>
                <a:lnTo>
                  <a:pt x="60326" y="49864"/>
                </a:lnTo>
                <a:lnTo>
                  <a:pt x="60190" y="50000"/>
                </a:lnTo>
                <a:lnTo>
                  <a:pt x="60190" y="50815"/>
                </a:lnTo>
                <a:lnTo>
                  <a:pt x="60054" y="50951"/>
                </a:lnTo>
                <a:lnTo>
                  <a:pt x="59918" y="51087"/>
                </a:lnTo>
                <a:lnTo>
                  <a:pt x="59918" y="51902"/>
                </a:lnTo>
                <a:lnTo>
                  <a:pt x="59239" y="52310"/>
                </a:lnTo>
                <a:lnTo>
                  <a:pt x="58560" y="52174"/>
                </a:lnTo>
                <a:lnTo>
                  <a:pt x="58560" y="51902"/>
                </a:lnTo>
                <a:lnTo>
                  <a:pt x="58560" y="51630"/>
                </a:lnTo>
                <a:lnTo>
                  <a:pt x="58696" y="51495"/>
                </a:lnTo>
                <a:lnTo>
                  <a:pt x="58832" y="51359"/>
                </a:lnTo>
                <a:lnTo>
                  <a:pt x="58832" y="50272"/>
                </a:lnTo>
                <a:lnTo>
                  <a:pt x="58967" y="50136"/>
                </a:lnTo>
                <a:lnTo>
                  <a:pt x="59103" y="50000"/>
                </a:lnTo>
                <a:lnTo>
                  <a:pt x="59103" y="48913"/>
                </a:lnTo>
                <a:lnTo>
                  <a:pt x="59239" y="48777"/>
                </a:lnTo>
                <a:lnTo>
                  <a:pt x="59375" y="48641"/>
                </a:lnTo>
                <a:lnTo>
                  <a:pt x="59375" y="47826"/>
                </a:lnTo>
                <a:lnTo>
                  <a:pt x="60734" y="45109"/>
                </a:lnTo>
                <a:lnTo>
                  <a:pt x="62500" y="43342"/>
                </a:lnTo>
                <a:lnTo>
                  <a:pt x="62772" y="43342"/>
                </a:lnTo>
                <a:lnTo>
                  <a:pt x="63315" y="42799"/>
                </a:lnTo>
                <a:lnTo>
                  <a:pt x="64402" y="42255"/>
                </a:lnTo>
                <a:lnTo>
                  <a:pt x="64674" y="42255"/>
                </a:lnTo>
                <a:lnTo>
                  <a:pt x="64946" y="42255"/>
                </a:lnTo>
                <a:lnTo>
                  <a:pt x="65082" y="42120"/>
                </a:lnTo>
                <a:lnTo>
                  <a:pt x="65217" y="41984"/>
                </a:lnTo>
                <a:lnTo>
                  <a:pt x="66033" y="41984"/>
                </a:lnTo>
                <a:lnTo>
                  <a:pt x="66168" y="41848"/>
                </a:lnTo>
                <a:lnTo>
                  <a:pt x="66304" y="41712"/>
                </a:lnTo>
                <a:lnTo>
                  <a:pt x="67527" y="41576"/>
                </a:lnTo>
                <a:close/>
                <a:moveTo>
                  <a:pt x="48505" y="47826"/>
                </a:moveTo>
                <a:lnTo>
                  <a:pt x="48641" y="47690"/>
                </a:lnTo>
                <a:lnTo>
                  <a:pt x="50815" y="47690"/>
                </a:lnTo>
                <a:lnTo>
                  <a:pt x="50951" y="47826"/>
                </a:lnTo>
                <a:lnTo>
                  <a:pt x="51087" y="47962"/>
                </a:lnTo>
                <a:lnTo>
                  <a:pt x="51359" y="47962"/>
                </a:lnTo>
                <a:lnTo>
                  <a:pt x="51630" y="47962"/>
                </a:lnTo>
                <a:lnTo>
                  <a:pt x="52717" y="48505"/>
                </a:lnTo>
                <a:lnTo>
                  <a:pt x="54484" y="50272"/>
                </a:lnTo>
                <a:lnTo>
                  <a:pt x="54755" y="50815"/>
                </a:lnTo>
                <a:lnTo>
                  <a:pt x="54755" y="51087"/>
                </a:lnTo>
                <a:lnTo>
                  <a:pt x="54755" y="51359"/>
                </a:lnTo>
                <a:lnTo>
                  <a:pt x="54891" y="51495"/>
                </a:lnTo>
                <a:lnTo>
                  <a:pt x="55027" y="51630"/>
                </a:lnTo>
                <a:lnTo>
                  <a:pt x="55027" y="54076"/>
                </a:lnTo>
                <a:lnTo>
                  <a:pt x="54891" y="54212"/>
                </a:lnTo>
                <a:lnTo>
                  <a:pt x="54755" y="54348"/>
                </a:lnTo>
                <a:lnTo>
                  <a:pt x="54755" y="54620"/>
                </a:lnTo>
                <a:lnTo>
                  <a:pt x="54755" y="54891"/>
                </a:lnTo>
                <a:lnTo>
                  <a:pt x="54484" y="55435"/>
                </a:lnTo>
                <a:lnTo>
                  <a:pt x="52717" y="57201"/>
                </a:lnTo>
                <a:lnTo>
                  <a:pt x="50951" y="57880"/>
                </a:lnTo>
                <a:lnTo>
                  <a:pt x="50815" y="58016"/>
                </a:lnTo>
                <a:lnTo>
                  <a:pt x="48641" y="58016"/>
                </a:lnTo>
                <a:lnTo>
                  <a:pt x="48505" y="57880"/>
                </a:lnTo>
                <a:lnTo>
                  <a:pt x="48370" y="57745"/>
                </a:lnTo>
                <a:lnTo>
                  <a:pt x="48098" y="57745"/>
                </a:lnTo>
                <a:lnTo>
                  <a:pt x="47826" y="57745"/>
                </a:lnTo>
                <a:lnTo>
                  <a:pt x="47283" y="57473"/>
                </a:lnTo>
                <a:lnTo>
                  <a:pt x="45516" y="55978"/>
                </a:lnTo>
                <a:lnTo>
                  <a:pt x="44701" y="54348"/>
                </a:lnTo>
                <a:lnTo>
                  <a:pt x="44701" y="53261"/>
                </a:lnTo>
                <a:lnTo>
                  <a:pt x="44429" y="52717"/>
                </a:lnTo>
                <a:lnTo>
                  <a:pt x="44565" y="52582"/>
                </a:lnTo>
                <a:lnTo>
                  <a:pt x="44701" y="52446"/>
                </a:lnTo>
                <a:lnTo>
                  <a:pt x="44701" y="51359"/>
                </a:lnTo>
                <a:lnTo>
                  <a:pt x="44837" y="51223"/>
                </a:lnTo>
                <a:lnTo>
                  <a:pt x="44973" y="51087"/>
                </a:lnTo>
                <a:lnTo>
                  <a:pt x="44973" y="50815"/>
                </a:lnTo>
                <a:lnTo>
                  <a:pt x="44973" y="50543"/>
                </a:lnTo>
                <a:lnTo>
                  <a:pt x="46467" y="48777"/>
                </a:lnTo>
                <a:lnTo>
                  <a:pt x="46739" y="48777"/>
                </a:lnTo>
                <a:lnTo>
                  <a:pt x="47826" y="47962"/>
                </a:lnTo>
                <a:lnTo>
                  <a:pt x="48505" y="47826"/>
                </a:lnTo>
                <a:close/>
                <a:moveTo>
                  <a:pt x="48913" y="49049"/>
                </a:moveTo>
                <a:lnTo>
                  <a:pt x="47826" y="49592"/>
                </a:lnTo>
                <a:lnTo>
                  <a:pt x="46332" y="51087"/>
                </a:lnTo>
                <a:lnTo>
                  <a:pt x="46332" y="51359"/>
                </a:lnTo>
                <a:lnTo>
                  <a:pt x="46332" y="51630"/>
                </a:lnTo>
                <a:lnTo>
                  <a:pt x="46196" y="51766"/>
                </a:lnTo>
                <a:lnTo>
                  <a:pt x="46060" y="51902"/>
                </a:lnTo>
                <a:lnTo>
                  <a:pt x="46060" y="53804"/>
                </a:lnTo>
                <a:lnTo>
                  <a:pt x="46196" y="53940"/>
                </a:lnTo>
                <a:lnTo>
                  <a:pt x="46332" y="54076"/>
                </a:lnTo>
                <a:lnTo>
                  <a:pt x="46332" y="54348"/>
                </a:lnTo>
                <a:lnTo>
                  <a:pt x="46332" y="54620"/>
                </a:lnTo>
                <a:lnTo>
                  <a:pt x="47826" y="56114"/>
                </a:lnTo>
                <a:lnTo>
                  <a:pt x="48913" y="56658"/>
                </a:lnTo>
                <a:lnTo>
                  <a:pt x="50543" y="56658"/>
                </a:lnTo>
                <a:lnTo>
                  <a:pt x="50679" y="56522"/>
                </a:lnTo>
                <a:lnTo>
                  <a:pt x="51359" y="56386"/>
                </a:lnTo>
                <a:lnTo>
                  <a:pt x="53125" y="54891"/>
                </a:lnTo>
                <a:lnTo>
                  <a:pt x="53668" y="53804"/>
                </a:lnTo>
                <a:lnTo>
                  <a:pt x="53668" y="51902"/>
                </a:lnTo>
                <a:lnTo>
                  <a:pt x="52853" y="50815"/>
                </a:lnTo>
                <a:lnTo>
                  <a:pt x="52853" y="50543"/>
                </a:lnTo>
                <a:lnTo>
                  <a:pt x="51359" y="49321"/>
                </a:lnTo>
                <a:lnTo>
                  <a:pt x="51087" y="49321"/>
                </a:lnTo>
                <a:lnTo>
                  <a:pt x="50815" y="49321"/>
                </a:lnTo>
                <a:lnTo>
                  <a:pt x="50679" y="49185"/>
                </a:lnTo>
                <a:lnTo>
                  <a:pt x="50543" y="49049"/>
                </a:lnTo>
                <a:lnTo>
                  <a:pt x="48913" y="49049"/>
                </a:lnTo>
                <a:close/>
                <a:moveTo>
                  <a:pt x="38179" y="53533"/>
                </a:moveTo>
                <a:lnTo>
                  <a:pt x="38315" y="53397"/>
                </a:lnTo>
                <a:lnTo>
                  <a:pt x="40489" y="53397"/>
                </a:lnTo>
                <a:lnTo>
                  <a:pt x="42255" y="54891"/>
                </a:lnTo>
                <a:lnTo>
                  <a:pt x="42255" y="55163"/>
                </a:lnTo>
                <a:lnTo>
                  <a:pt x="43886" y="56793"/>
                </a:lnTo>
                <a:lnTo>
                  <a:pt x="43886" y="57065"/>
                </a:lnTo>
                <a:lnTo>
                  <a:pt x="44565" y="57745"/>
                </a:lnTo>
                <a:lnTo>
                  <a:pt x="46196" y="58560"/>
                </a:lnTo>
                <a:lnTo>
                  <a:pt x="46603" y="58967"/>
                </a:lnTo>
                <a:lnTo>
                  <a:pt x="46603" y="59239"/>
                </a:lnTo>
                <a:lnTo>
                  <a:pt x="47147" y="59511"/>
                </a:lnTo>
                <a:lnTo>
                  <a:pt x="47147" y="59783"/>
                </a:lnTo>
                <a:lnTo>
                  <a:pt x="47011" y="59918"/>
                </a:lnTo>
                <a:lnTo>
                  <a:pt x="46739" y="59918"/>
                </a:lnTo>
                <a:lnTo>
                  <a:pt x="46603" y="59783"/>
                </a:lnTo>
                <a:lnTo>
                  <a:pt x="46467" y="59647"/>
                </a:lnTo>
                <a:lnTo>
                  <a:pt x="45109" y="59647"/>
                </a:lnTo>
                <a:lnTo>
                  <a:pt x="44022" y="59103"/>
                </a:lnTo>
                <a:lnTo>
                  <a:pt x="39946" y="54755"/>
                </a:lnTo>
                <a:lnTo>
                  <a:pt x="38859" y="54755"/>
                </a:lnTo>
                <a:lnTo>
                  <a:pt x="37908" y="55707"/>
                </a:lnTo>
                <a:lnTo>
                  <a:pt x="37908" y="55978"/>
                </a:lnTo>
                <a:lnTo>
                  <a:pt x="37908" y="56250"/>
                </a:lnTo>
                <a:lnTo>
                  <a:pt x="38451" y="57337"/>
                </a:lnTo>
                <a:lnTo>
                  <a:pt x="38995" y="57880"/>
                </a:lnTo>
                <a:lnTo>
                  <a:pt x="39538" y="58967"/>
                </a:lnTo>
                <a:lnTo>
                  <a:pt x="41168" y="60598"/>
                </a:lnTo>
                <a:lnTo>
                  <a:pt x="41168" y="60870"/>
                </a:lnTo>
                <a:lnTo>
                  <a:pt x="41576" y="61277"/>
                </a:lnTo>
                <a:lnTo>
                  <a:pt x="41848" y="61277"/>
                </a:lnTo>
                <a:lnTo>
                  <a:pt x="42935" y="62364"/>
                </a:lnTo>
                <a:lnTo>
                  <a:pt x="44565" y="63179"/>
                </a:lnTo>
                <a:lnTo>
                  <a:pt x="45245" y="63859"/>
                </a:lnTo>
                <a:lnTo>
                  <a:pt x="45245" y="68478"/>
                </a:lnTo>
                <a:lnTo>
                  <a:pt x="45380" y="68614"/>
                </a:lnTo>
                <a:lnTo>
                  <a:pt x="45516" y="68750"/>
                </a:lnTo>
                <a:lnTo>
                  <a:pt x="45516" y="76359"/>
                </a:lnTo>
                <a:lnTo>
                  <a:pt x="45924" y="76766"/>
                </a:lnTo>
                <a:lnTo>
                  <a:pt x="48641" y="76766"/>
                </a:lnTo>
                <a:lnTo>
                  <a:pt x="49049" y="76087"/>
                </a:lnTo>
                <a:lnTo>
                  <a:pt x="49049" y="75815"/>
                </a:lnTo>
                <a:lnTo>
                  <a:pt x="49049" y="75543"/>
                </a:lnTo>
                <a:lnTo>
                  <a:pt x="49457" y="75136"/>
                </a:lnTo>
                <a:lnTo>
                  <a:pt x="49728" y="75136"/>
                </a:lnTo>
                <a:lnTo>
                  <a:pt x="50000" y="75136"/>
                </a:lnTo>
                <a:lnTo>
                  <a:pt x="50408" y="75543"/>
                </a:lnTo>
                <a:lnTo>
                  <a:pt x="50408" y="75815"/>
                </a:lnTo>
                <a:lnTo>
                  <a:pt x="50408" y="76087"/>
                </a:lnTo>
                <a:lnTo>
                  <a:pt x="50815" y="76766"/>
                </a:lnTo>
                <a:lnTo>
                  <a:pt x="53804" y="76766"/>
                </a:lnTo>
                <a:lnTo>
                  <a:pt x="53940" y="76630"/>
                </a:lnTo>
                <a:lnTo>
                  <a:pt x="53940" y="71467"/>
                </a:lnTo>
                <a:lnTo>
                  <a:pt x="54076" y="71332"/>
                </a:lnTo>
                <a:lnTo>
                  <a:pt x="54212" y="71196"/>
                </a:lnTo>
                <a:lnTo>
                  <a:pt x="54212" y="66848"/>
                </a:lnTo>
                <a:lnTo>
                  <a:pt x="54348" y="66712"/>
                </a:lnTo>
                <a:lnTo>
                  <a:pt x="54484" y="66576"/>
                </a:lnTo>
                <a:lnTo>
                  <a:pt x="54484" y="66304"/>
                </a:lnTo>
                <a:lnTo>
                  <a:pt x="54484" y="66033"/>
                </a:lnTo>
                <a:lnTo>
                  <a:pt x="54348" y="65897"/>
                </a:lnTo>
                <a:lnTo>
                  <a:pt x="54212" y="65761"/>
                </a:lnTo>
                <a:lnTo>
                  <a:pt x="54348" y="65625"/>
                </a:lnTo>
                <a:lnTo>
                  <a:pt x="54484" y="65489"/>
                </a:lnTo>
                <a:lnTo>
                  <a:pt x="54484" y="63587"/>
                </a:lnTo>
                <a:lnTo>
                  <a:pt x="55978" y="62908"/>
                </a:lnTo>
                <a:lnTo>
                  <a:pt x="56793" y="62092"/>
                </a:lnTo>
                <a:lnTo>
                  <a:pt x="57065" y="62092"/>
                </a:lnTo>
                <a:lnTo>
                  <a:pt x="59103" y="60054"/>
                </a:lnTo>
                <a:lnTo>
                  <a:pt x="59103" y="59783"/>
                </a:lnTo>
                <a:lnTo>
                  <a:pt x="60462" y="58424"/>
                </a:lnTo>
                <a:lnTo>
                  <a:pt x="60462" y="58152"/>
                </a:lnTo>
                <a:lnTo>
                  <a:pt x="61005" y="57609"/>
                </a:lnTo>
                <a:lnTo>
                  <a:pt x="61821" y="55978"/>
                </a:lnTo>
                <a:lnTo>
                  <a:pt x="60870" y="54755"/>
                </a:lnTo>
                <a:lnTo>
                  <a:pt x="59783" y="54755"/>
                </a:lnTo>
                <a:lnTo>
                  <a:pt x="58967" y="55571"/>
                </a:lnTo>
                <a:lnTo>
                  <a:pt x="55435" y="59103"/>
                </a:lnTo>
                <a:lnTo>
                  <a:pt x="54348" y="59647"/>
                </a:lnTo>
                <a:lnTo>
                  <a:pt x="52717" y="59647"/>
                </a:lnTo>
                <a:lnTo>
                  <a:pt x="52582" y="59511"/>
                </a:lnTo>
                <a:lnTo>
                  <a:pt x="53261" y="58560"/>
                </a:lnTo>
                <a:lnTo>
                  <a:pt x="54620" y="58016"/>
                </a:lnTo>
                <a:lnTo>
                  <a:pt x="57201" y="55435"/>
                </a:lnTo>
                <a:lnTo>
                  <a:pt x="57201" y="55163"/>
                </a:lnTo>
                <a:lnTo>
                  <a:pt x="58424" y="53940"/>
                </a:lnTo>
                <a:lnTo>
                  <a:pt x="59511" y="53397"/>
                </a:lnTo>
                <a:lnTo>
                  <a:pt x="61413" y="53397"/>
                </a:lnTo>
                <a:lnTo>
                  <a:pt x="61957" y="53668"/>
                </a:lnTo>
                <a:lnTo>
                  <a:pt x="62636" y="54348"/>
                </a:lnTo>
                <a:lnTo>
                  <a:pt x="63179" y="55435"/>
                </a:lnTo>
                <a:lnTo>
                  <a:pt x="63179" y="56250"/>
                </a:lnTo>
                <a:lnTo>
                  <a:pt x="62364" y="57880"/>
                </a:lnTo>
                <a:lnTo>
                  <a:pt x="61821" y="58424"/>
                </a:lnTo>
                <a:lnTo>
                  <a:pt x="61549" y="59239"/>
                </a:lnTo>
                <a:lnTo>
                  <a:pt x="61005" y="59783"/>
                </a:lnTo>
                <a:lnTo>
                  <a:pt x="61005" y="60054"/>
                </a:lnTo>
                <a:lnTo>
                  <a:pt x="58967" y="62364"/>
                </a:lnTo>
                <a:lnTo>
                  <a:pt x="58696" y="62364"/>
                </a:lnTo>
                <a:lnTo>
                  <a:pt x="57880" y="63179"/>
                </a:lnTo>
                <a:lnTo>
                  <a:pt x="57609" y="63179"/>
                </a:lnTo>
                <a:lnTo>
                  <a:pt x="57065" y="63723"/>
                </a:lnTo>
                <a:lnTo>
                  <a:pt x="56793" y="63723"/>
                </a:lnTo>
                <a:lnTo>
                  <a:pt x="56250" y="64266"/>
                </a:lnTo>
                <a:lnTo>
                  <a:pt x="55978" y="64266"/>
                </a:lnTo>
                <a:lnTo>
                  <a:pt x="55842" y="64402"/>
                </a:lnTo>
                <a:lnTo>
                  <a:pt x="55842" y="65489"/>
                </a:lnTo>
                <a:lnTo>
                  <a:pt x="55707" y="65625"/>
                </a:lnTo>
                <a:lnTo>
                  <a:pt x="55571" y="65761"/>
                </a:lnTo>
                <a:lnTo>
                  <a:pt x="55571" y="71196"/>
                </a:lnTo>
                <a:lnTo>
                  <a:pt x="55435" y="71332"/>
                </a:lnTo>
                <a:lnTo>
                  <a:pt x="55299" y="71467"/>
                </a:lnTo>
                <a:lnTo>
                  <a:pt x="55299" y="77446"/>
                </a:lnTo>
                <a:lnTo>
                  <a:pt x="54620" y="78125"/>
                </a:lnTo>
                <a:lnTo>
                  <a:pt x="50272" y="78125"/>
                </a:lnTo>
                <a:lnTo>
                  <a:pt x="50136" y="77989"/>
                </a:lnTo>
                <a:lnTo>
                  <a:pt x="50000" y="77853"/>
                </a:lnTo>
                <a:lnTo>
                  <a:pt x="49728" y="77853"/>
                </a:lnTo>
                <a:lnTo>
                  <a:pt x="49457" y="77853"/>
                </a:lnTo>
                <a:lnTo>
                  <a:pt x="49321" y="77989"/>
                </a:lnTo>
                <a:lnTo>
                  <a:pt x="49185" y="78125"/>
                </a:lnTo>
                <a:lnTo>
                  <a:pt x="44837" y="78125"/>
                </a:lnTo>
                <a:lnTo>
                  <a:pt x="44429" y="77717"/>
                </a:lnTo>
                <a:lnTo>
                  <a:pt x="44429" y="76630"/>
                </a:lnTo>
                <a:lnTo>
                  <a:pt x="44293" y="76495"/>
                </a:lnTo>
                <a:lnTo>
                  <a:pt x="44158" y="76359"/>
                </a:lnTo>
                <a:lnTo>
                  <a:pt x="44158" y="70924"/>
                </a:lnTo>
                <a:lnTo>
                  <a:pt x="44022" y="70788"/>
                </a:lnTo>
                <a:lnTo>
                  <a:pt x="43886" y="70652"/>
                </a:lnTo>
                <a:lnTo>
                  <a:pt x="43886" y="64674"/>
                </a:lnTo>
                <a:lnTo>
                  <a:pt x="43207" y="63995"/>
                </a:lnTo>
                <a:lnTo>
                  <a:pt x="42935" y="63995"/>
                </a:lnTo>
                <a:lnTo>
                  <a:pt x="41304" y="62636"/>
                </a:lnTo>
                <a:lnTo>
                  <a:pt x="41033" y="62636"/>
                </a:lnTo>
                <a:lnTo>
                  <a:pt x="38995" y="60598"/>
                </a:lnTo>
                <a:lnTo>
                  <a:pt x="38451" y="59511"/>
                </a:lnTo>
                <a:lnTo>
                  <a:pt x="37092" y="57880"/>
                </a:lnTo>
                <a:lnTo>
                  <a:pt x="36549" y="56793"/>
                </a:lnTo>
                <a:lnTo>
                  <a:pt x="36549" y="55163"/>
                </a:lnTo>
                <a:lnTo>
                  <a:pt x="36821" y="54620"/>
                </a:lnTo>
                <a:lnTo>
                  <a:pt x="37772" y="53668"/>
                </a:lnTo>
                <a:lnTo>
                  <a:pt x="38043" y="53668"/>
                </a:lnTo>
                <a:lnTo>
                  <a:pt x="38179" y="53533"/>
                </a:lnTo>
                <a:close/>
              </a:path>
            </a:pathLst>
          </a:custGeom>
          <a:solidFill>
            <a:srgbClr val="FFFFFF"/>
          </a:solidFill>
          <a:ln>
            <a:noFill/>
          </a:ln>
        </p:spPr>
        <p:txBody>
          <a:bodyPr/>
          <a:p/>
        </p:txBody>
      </p:sp>
      <p:sp>
        <p:nvSpPr>
          <p:cNvPr id="9" name="Text 6"/>
          <p:cNvSpPr/>
          <p:nvPr/>
        </p:nvSpPr>
        <p:spPr>
          <a:xfrm>
            <a:off x="777240" y="4727448"/>
            <a:ext cx="2514600" cy="795528"/>
          </a:xfrm>
          <a:prstGeom prst="rect">
            <a:avLst/>
          </a:prstGeom>
          <a:noFill/>
          <a:ln/>
        </p:spPr>
        <p:txBody>
          <a:bodyPr wrap="square" lIns="0" tIns="0" rIns="0" bIns="0" rtlCol="0" anchor="ctr"/>
          <a:lstStyle/>
          <a:p>
            <a:pPr indent="0" marL="0">
              <a:buNone/>
            </a:pPr>
            <a:r>
              <a:rPr lang="en-US" sz="7800" b="1" dirty="0">
                <a:solidFill>
                  <a:srgbClr val="0F766E"/>
                </a:solidFill>
                <a:latin typeface="Aptos" pitchFamily="34" charset="0"/>
                <a:ea typeface="Segoe UI" pitchFamily="34" charset="-122"/>
                <a:cs typeface="Segoe UI" pitchFamily="34" charset="-120"/>
              </a:rPr>
              <a:t>509</a:t>
            </a:r>
            <a:endParaRPr lang="en-US" sz="7800" dirty="0"/>
          </a:p>
        </p:txBody>
      </p:sp>
      <p:sp>
        <p:nvSpPr>
          <p:cNvPr id="10" name="Text 7"/>
          <p:cNvSpPr/>
          <p:nvPr/>
        </p:nvSpPr>
        <p:spPr>
          <a:xfrm>
            <a:off x="1271016" y="5650992"/>
            <a:ext cx="1563624" cy="374904"/>
          </a:xfrm>
          <a:prstGeom prst="rect">
            <a:avLst/>
          </a:prstGeom>
          <a:noFill/>
          <a:ln/>
        </p:spPr>
        <p:txBody>
          <a:bodyPr wrap="square" lIns="0" tIns="0" rIns="0" bIns="0" rtlCol="0" anchor="ctr"/>
          <a:lstStyle/>
          <a:p>
            <a:pPr indent="0" marL="0">
              <a:buNone/>
            </a:pPr>
            <a:r>
              <a:rPr lang="en-US" sz="2700" dirty="0">
                <a:solidFill>
                  <a:srgbClr val="17324D"/>
                </a:solidFill>
                <a:latin typeface="Aptos" pitchFamily="34" charset="0"/>
                <a:ea typeface="Segoe UI" pitchFamily="34" charset="-122"/>
                <a:cs typeface="Segoe UI" pitchFamily="34" charset="-120"/>
              </a:rPr>
              <a:t>clients</a:t>
            </a:r>
            <a:endParaRPr lang="en-US" sz="2700" dirty="0"/>
          </a:p>
        </p:txBody>
      </p:sp>
      <p:sp>
        <p:nvSpPr>
          <p:cNvPr id="11" name="Shape 8"/>
          <p:cNvSpPr/>
          <p:nvPr/>
        </p:nvSpPr>
        <p:spPr>
          <a:xfrm>
            <a:off x="3547872" y="1709928"/>
            <a:ext cx="0" cy="4572000"/>
          </a:xfrm>
          <a:prstGeom prst="line">
            <a:avLst/>
          </a:prstGeom>
          <a:noFill/>
          <a:ln w="11430">
            <a:solidFill>
              <a:srgbClr val="D1D5DB"/>
            </a:solidFill>
            <a:prstDash val="solid"/>
          </a:ln>
        </p:spPr>
        <p:txBody>
          <a:bodyPr/>
          <a:p/>
        </p:txBody>
      </p:sp>
      <p:sp>
        <p:nvSpPr>
          <p:cNvPr id="12" name="Shape 9"/>
          <p:cNvSpPr/>
          <p:nvPr/>
        </p:nvSpPr>
        <p:spPr>
          <a:xfrm>
            <a:off x="3776472" y="1728216"/>
            <a:ext cx="4050792" cy="1325880"/>
          </a:xfrm>
          <a:prstGeom prst="roundRect">
            <a:avLst>
              <a:gd name="adj" fmla="val 9655"/>
            </a:avLst>
          </a:prstGeom>
          <a:solidFill>
            <a:srgbClr val="F0FDFA"/>
          </a:solidFill>
          <a:ln w="12700">
            <a:solidFill>
              <a:srgbClr val="F0FDFA">
                <a:alpha val="0"/>
              </a:srgbClr>
            </a:solidFill>
            <a:prstDash val="solid"/>
          </a:ln>
        </p:spPr>
        <p:txBody>
          <a:bodyPr/>
          <a:p/>
        </p:txBody>
      </p:sp>
      <p:sp>
        <p:nvSpPr>
          <p:cNvPr id="13" name="Shape 10"/>
          <p:cNvSpPr/>
          <p:nvPr/>
        </p:nvSpPr>
        <p:spPr>
          <a:xfrm>
            <a:off x="3977640" y="1865376"/>
            <a:ext cx="923544" cy="923544"/>
          </a:xfrm>
          <a:prstGeom prst="ellipse">
            <a:avLst/>
          </a:prstGeom>
          <a:solidFill>
            <a:srgbClr val="0F766E"/>
          </a:solidFill>
          <a:ln w="12700">
            <a:solidFill>
              <a:srgbClr val="0F766E">
                <a:alpha val="0"/>
              </a:srgbClr>
            </a:solidFill>
            <a:prstDash val="solid"/>
          </a:ln>
        </p:spPr>
        <p:txBody>
          <a:bodyPr/>
          <a:p/>
        </p:txBody>
      </p:sp>
      <p:sp>
        <p:nvSpPr>
          <p:cNvPr id="14" name="VECTOR_person_46"/>
          <p:cNvSpPr/>
          <p:nvPr/>
        </p:nvSpPr>
        <p:spPr>
          <a:xfrm>
            <a:off x="3977640" y="1865376"/>
            <a:ext cx="923544" cy="923544"/>
          </a:xfrm>
          <a:custGeom>
            <a:avLst/>
            <a:gdLst/>
            <a:ahLst/>
            <a:cxnLst/>
            <a:rect l="0" t="0" r="r" b="b"/>
            <a:pathLst>
              <a:path w="100000" h="100000" fill="norm" stroke="false" extrusionOk="false">
                <a:moveTo>
                  <a:pt x="46538" y="18462"/>
                </a:moveTo>
                <a:lnTo>
                  <a:pt x="46923" y="18077"/>
                </a:lnTo>
                <a:lnTo>
                  <a:pt x="51538" y="18077"/>
                </a:lnTo>
                <a:lnTo>
                  <a:pt x="51923" y="18462"/>
                </a:lnTo>
                <a:lnTo>
                  <a:pt x="52308" y="18846"/>
                </a:lnTo>
                <a:lnTo>
                  <a:pt x="53077" y="18846"/>
                </a:lnTo>
                <a:lnTo>
                  <a:pt x="53846" y="18846"/>
                </a:lnTo>
                <a:lnTo>
                  <a:pt x="56923" y="20385"/>
                </a:lnTo>
                <a:lnTo>
                  <a:pt x="59615" y="23077"/>
                </a:lnTo>
                <a:lnTo>
                  <a:pt x="61154" y="26154"/>
                </a:lnTo>
                <a:lnTo>
                  <a:pt x="61154" y="28462"/>
                </a:lnTo>
                <a:lnTo>
                  <a:pt x="61538" y="28846"/>
                </a:lnTo>
                <a:lnTo>
                  <a:pt x="61923" y="29231"/>
                </a:lnTo>
                <a:lnTo>
                  <a:pt x="61923" y="33846"/>
                </a:lnTo>
                <a:lnTo>
                  <a:pt x="61538" y="34231"/>
                </a:lnTo>
                <a:lnTo>
                  <a:pt x="61154" y="34615"/>
                </a:lnTo>
                <a:lnTo>
                  <a:pt x="61154" y="35385"/>
                </a:lnTo>
                <a:lnTo>
                  <a:pt x="61154" y="36154"/>
                </a:lnTo>
                <a:lnTo>
                  <a:pt x="59615" y="39231"/>
                </a:lnTo>
                <a:lnTo>
                  <a:pt x="55385" y="42692"/>
                </a:lnTo>
                <a:lnTo>
                  <a:pt x="53846" y="43462"/>
                </a:lnTo>
                <a:lnTo>
                  <a:pt x="51538" y="43462"/>
                </a:lnTo>
                <a:lnTo>
                  <a:pt x="51154" y="43846"/>
                </a:lnTo>
                <a:lnTo>
                  <a:pt x="50769" y="44231"/>
                </a:lnTo>
                <a:lnTo>
                  <a:pt x="46923" y="44231"/>
                </a:lnTo>
                <a:lnTo>
                  <a:pt x="46538" y="43846"/>
                </a:lnTo>
                <a:lnTo>
                  <a:pt x="46154" y="43462"/>
                </a:lnTo>
                <a:lnTo>
                  <a:pt x="45385" y="43462"/>
                </a:lnTo>
                <a:lnTo>
                  <a:pt x="44615" y="43462"/>
                </a:lnTo>
                <a:lnTo>
                  <a:pt x="41538" y="41923"/>
                </a:lnTo>
                <a:lnTo>
                  <a:pt x="38077" y="38462"/>
                </a:lnTo>
                <a:lnTo>
                  <a:pt x="37308" y="36923"/>
                </a:lnTo>
                <a:lnTo>
                  <a:pt x="37308" y="36154"/>
                </a:lnTo>
                <a:lnTo>
                  <a:pt x="37308" y="35385"/>
                </a:lnTo>
                <a:lnTo>
                  <a:pt x="36923" y="35000"/>
                </a:lnTo>
                <a:lnTo>
                  <a:pt x="36538" y="34615"/>
                </a:lnTo>
                <a:lnTo>
                  <a:pt x="36538" y="27692"/>
                </a:lnTo>
                <a:lnTo>
                  <a:pt x="36923" y="27308"/>
                </a:lnTo>
                <a:lnTo>
                  <a:pt x="37308" y="26923"/>
                </a:lnTo>
                <a:lnTo>
                  <a:pt x="37308" y="26154"/>
                </a:lnTo>
                <a:lnTo>
                  <a:pt x="37308" y="25385"/>
                </a:lnTo>
                <a:lnTo>
                  <a:pt x="38077" y="23846"/>
                </a:lnTo>
                <a:lnTo>
                  <a:pt x="42308" y="19615"/>
                </a:lnTo>
                <a:lnTo>
                  <a:pt x="43077" y="19615"/>
                </a:lnTo>
                <a:lnTo>
                  <a:pt x="43846" y="19615"/>
                </a:lnTo>
                <a:lnTo>
                  <a:pt x="44231" y="19231"/>
                </a:lnTo>
                <a:lnTo>
                  <a:pt x="44615" y="18846"/>
                </a:lnTo>
                <a:lnTo>
                  <a:pt x="46538" y="18462"/>
                </a:lnTo>
                <a:close/>
                <a:moveTo>
                  <a:pt x="46154" y="21154"/>
                </a:moveTo>
                <a:lnTo>
                  <a:pt x="43077" y="23462"/>
                </a:lnTo>
                <a:lnTo>
                  <a:pt x="42308" y="23462"/>
                </a:lnTo>
                <a:lnTo>
                  <a:pt x="41923" y="23846"/>
                </a:lnTo>
                <a:lnTo>
                  <a:pt x="41923" y="24615"/>
                </a:lnTo>
                <a:lnTo>
                  <a:pt x="40385" y="26154"/>
                </a:lnTo>
                <a:lnTo>
                  <a:pt x="39615" y="27692"/>
                </a:lnTo>
                <a:lnTo>
                  <a:pt x="39615" y="28462"/>
                </a:lnTo>
                <a:lnTo>
                  <a:pt x="39615" y="29231"/>
                </a:lnTo>
                <a:lnTo>
                  <a:pt x="39231" y="29615"/>
                </a:lnTo>
                <a:lnTo>
                  <a:pt x="38846" y="30000"/>
                </a:lnTo>
                <a:lnTo>
                  <a:pt x="38846" y="32308"/>
                </a:lnTo>
                <a:lnTo>
                  <a:pt x="39231" y="32692"/>
                </a:lnTo>
                <a:lnTo>
                  <a:pt x="39615" y="33077"/>
                </a:lnTo>
                <a:lnTo>
                  <a:pt x="39615" y="33846"/>
                </a:lnTo>
                <a:lnTo>
                  <a:pt x="39615" y="34615"/>
                </a:lnTo>
                <a:lnTo>
                  <a:pt x="40385" y="36154"/>
                </a:lnTo>
                <a:lnTo>
                  <a:pt x="44615" y="40385"/>
                </a:lnTo>
                <a:lnTo>
                  <a:pt x="45385" y="40385"/>
                </a:lnTo>
                <a:lnTo>
                  <a:pt x="46154" y="40385"/>
                </a:lnTo>
                <a:lnTo>
                  <a:pt x="46538" y="40769"/>
                </a:lnTo>
                <a:lnTo>
                  <a:pt x="46923" y="41154"/>
                </a:lnTo>
                <a:lnTo>
                  <a:pt x="51538" y="41154"/>
                </a:lnTo>
                <a:lnTo>
                  <a:pt x="51923" y="40769"/>
                </a:lnTo>
                <a:lnTo>
                  <a:pt x="54615" y="39615"/>
                </a:lnTo>
                <a:lnTo>
                  <a:pt x="58077" y="36154"/>
                </a:lnTo>
                <a:lnTo>
                  <a:pt x="58846" y="34615"/>
                </a:lnTo>
                <a:lnTo>
                  <a:pt x="58846" y="32308"/>
                </a:lnTo>
                <a:lnTo>
                  <a:pt x="59231" y="31923"/>
                </a:lnTo>
                <a:lnTo>
                  <a:pt x="59615" y="31538"/>
                </a:lnTo>
                <a:lnTo>
                  <a:pt x="59615" y="30769"/>
                </a:lnTo>
                <a:lnTo>
                  <a:pt x="59615" y="30000"/>
                </a:lnTo>
                <a:lnTo>
                  <a:pt x="59231" y="29615"/>
                </a:lnTo>
                <a:lnTo>
                  <a:pt x="58846" y="29231"/>
                </a:lnTo>
                <a:lnTo>
                  <a:pt x="58846" y="28462"/>
                </a:lnTo>
                <a:lnTo>
                  <a:pt x="58846" y="27692"/>
                </a:lnTo>
                <a:lnTo>
                  <a:pt x="58077" y="26154"/>
                </a:lnTo>
                <a:lnTo>
                  <a:pt x="54615" y="22692"/>
                </a:lnTo>
                <a:lnTo>
                  <a:pt x="51538" y="21154"/>
                </a:lnTo>
                <a:lnTo>
                  <a:pt x="46154" y="21154"/>
                </a:lnTo>
                <a:close/>
                <a:moveTo>
                  <a:pt x="45000" y="48462"/>
                </a:moveTo>
                <a:lnTo>
                  <a:pt x="45385" y="48077"/>
                </a:lnTo>
                <a:lnTo>
                  <a:pt x="53077" y="48077"/>
                </a:lnTo>
                <a:lnTo>
                  <a:pt x="53462" y="48462"/>
                </a:lnTo>
                <a:lnTo>
                  <a:pt x="53846" y="48846"/>
                </a:lnTo>
                <a:lnTo>
                  <a:pt x="57692" y="49615"/>
                </a:lnTo>
                <a:lnTo>
                  <a:pt x="60769" y="51923"/>
                </a:lnTo>
                <a:lnTo>
                  <a:pt x="61538" y="51923"/>
                </a:lnTo>
                <a:lnTo>
                  <a:pt x="63077" y="53462"/>
                </a:lnTo>
                <a:lnTo>
                  <a:pt x="63846" y="53462"/>
                </a:lnTo>
                <a:lnTo>
                  <a:pt x="65769" y="55385"/>
                </a:lnTo>
                <a:lnTo>
                  <a:pt x="65769" y="56154"/>
                </a:lnTo>
                <a:lnTo>
                  <a:pt x="68846" y="60000"/>
                </a:lnTo>
                <a:lnTo>
                  <a:pt x="68846" y="60769"/>
                </a:lnTo>
                <a:lnTo>
                  <a:pt x="68846" y="61538"/>
                </a:lnTo>
                <a:lnTo>
                  <a:pt x="70385" y="64615"/>
                </a:lnTo>
                <a:lnTo>
                  <a:pt x="70385" y="70000"/>
                </a:lnTo>
                <a:lnTo>
                  <a:pt x="68462" y="70385"/>
                </a:lnTo>
                <a:lnTo>
                  <a:pt x="68077" y="70000"/>
                </a:lnTo>
                <a:lnTo>
                  <a:pt x="68077" y="66154"/>
                </a:lnTo>
                <a:lnTo>
                  <a:pt x="67692" y="65769"/>
                </a:lnTo>
                <a:lnTo>
                  <a:pt x="67308" y="65385"/>
                </a:lnTo>
                <a:lnTo>
                  <a:pt x="67308" y="64615"/>
                </a:lnTo>
                <a:lnTo>
                  <a:pt x="67308" y="63846"/>
                </a:lnTo>
                <a:lnTo>
                  <a:pt x="65000" y="59231"/>
                </a:lnTo>
                <a:lnTo>
                  <a:pt x="60000" y="54231"/>
                </a:lnTo>
                <a:lnTo>
                  <a:pt x="55385" y="51923"/>
                </a:lnTo>
                <a:lnTo>
                  <a:pt x="53462" y="51538"/>
                </a:lnTo>
                <a:lnTo>
                  <a:pt x="53077" y="51154"/>
                </a:lnTo>
                <a:lnTo>
                  <a:pt x="44615" y="51154"/>
                </a:lnTo>
                <a:lnTo>
                  <a:pt x="44231" y="51538"/>
                </a:lnTo>
                <a:lnTo>
                  <a:pt x="43846" y="51923"/>
                </a:lnTo>
                <a:lnTo>
                  <a:pt x="43077" y="51923"/>
                </a:lnTo>
                <a:lnTo>
                  <a:pt x="42308" y="51923"/>
                </a:lnTo>
                <a:lnTo>
                  <a:pt x="39231" y="53462"/>
                </a:lnTo>
                <a:lnTo>
                  <a:pt x="36923" y="55769"/>
                </a:lnTo>
                <a:lnTo>
                  <a:pt x="36154" y="55769"/>
                </a:lnTo>
                <a:lnTo>
                  <a:pt x="31923" y="61538"/>
                </a:lnTo>
                <a:lnTo>
                  <a:pt x="31923" y="62308"/>
                </a:lnTo>
                <a:lnTo>
                  <a:pt x="31923" y="63077"/>
                </a:lnTo>
                <a:lnTo>
                  <a:pt x="31538" y="63462"/>
                </a:lnTo>
                <a:lnTo>
                  <a:pt x="31154" y="63846"/>
                </a:lnTo>
                <a:lnTo>
                  <a:pt x="31154" y="66154"/>
                </a:lnTo>
                <a:lnTo>
                  <a:pt x="30769" y="66538"/>
                </a:lnTo>
                <a:lnTo>
                  <a:pt x="30385" y="66923"/>
                </a:lnTo>
                <a:lnTo>
                  <a:pt x="30385" y="70000"/>
                </a:lnTo>
                <a:lnTo>
                  <a:pt x="28462" y="70385"/>
                </a:lnTo>
                <a:lnTo>
                  <a:pt x="28077" y="70000"/>
                </a:lnTo>
                <a:lnTo>
                  <a:pt x="28077" y="64615"/>
                </a:lnTo>
                <a:lnTo>
                  <a:pt x="28462" y="64231"/>
                </a:lnTo>
                <a:lnTo>
                  <a:pt x="28846" y="63846"/>
                </a:lnTo>
                <a:lnTo>
                  <a:pt x="29615" y="60000"/>
                </a:lnTo>
                <a:lnTo>
                  <a:pt x="31923" y="56923"/>
                </a:lnTo>
                <a:lnTo>
                  <a:pt x="31923" y="56154"/>
                </a:lnTo>
                <a:lnTo>
                  <a:pt x="35385" y="52692"/>
                </a:lnTo>
                <a:lnTo>
                  <a:pt x="36154" y="52692"/>
                </a:lnTo>
                <a:lnTo>
                  <a:pt x="37692" y="51154"/>
                </a:lnTo>
                <a:lnTo>
                  <a:pt x="42308" y="48846"/>
                </a:lnTo>
                <a:lnTo>
                  <a:pt x="45000" y="48462"/>
                </a:lnTo>
                <a:close/>
              </a:path>
            </a:pathLst>
          </a:custGeom>
          <a:solidFill>
            <a:srgbClr val="FFFFFF"/>
          </a:solidFill>
          <a:ln>
            <a:noFill/>
          </a:ln>
        </p:spPr>
        <p:txBody>
          <a:bodyPr/>
          <a:p/>
        </p:txBody>
      </p:sp>
      <p:sp>
        <p:nvSpPr>
          <p:cNvPr id="15" name="Text 12"/>
          <p:cNvSpPr/>
          <p:nvPr/>
        </p:nvSpPr>
        <p:spPr>
          <a:xfrm>
            <a:off x="5193792" y="1874520"/>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49 ans</a:t>
            </a:r>
            <a:endParaRPr lang="en-US" sz="4400" dirty="0"/>
          </a:p>
        </p:txBody>
      </p:sp>
      <p:sp>
        <p:nvSpPr>
          <p:cNvPr id="16" name="Text 13"/>
          <p:cNvSpPr/>
          <p:nvPr/>
        </p:nvSpPr>
        <p:spPr>
          <a:xfrm>
            <a:off x="5202936" y="2478024"/>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Âge moyen</a:t>
            </a:r>
            <a:endParaRPr lang="en-US" sz="1400" dirty="0"/>
          </a:p>
        </p:txBody>
      </p:sp>
      <p:sp>
        <p:nvSpPr>
          <p:cNvPr id="17" name="Text 14"/>
          <p:cNvSpPr/>
          <p:nvPr/>
        </p:nvSpPr>
        <p:spPr>
          <a:xfrm>
            <a:off x="5221224" y="2788920"/>
            <a:ext cx="2350008" cy="182880"/>
          </a:xfrm>
          <a:prstGeom prst="rect">
            <a:avLst/>
          </a:prstGeom>
          <a:noFill/>
          <a:ln/>
        </p:spPr>
        <p:txBody>
          <a:bodyPr wrap="square" lIns="0" tIns="0" rIns="0" bIns="0" rtlCol="0" anchor="ctr"/>
          <a:lstStyle/>
          <a:p>
            <a:pPr indent="0" marL="0">
              <a:buNone/>
            </a:pPr>
            <a:r>
              <a:rPr lang="en-US" sz="1100" b="1" dirty="0">
                <a:solidFill>
                  <a:srgbClr val="0F766E"/>
                </a:solidFill>
                <a:latin typeface="Aptos" pitchFamily="34" charset="0"/>
                <a:ea typeface="Segoe UI" pitchFamily="34" charset="-122"/>
                <a:cs typeface="Segoe UI" pitchFamily="34" charset="-120"/>
              </a:rPr>
              <a:t>Les plus âgés</a:t>
            </a:r>
            <a:endParaRPr lang="en-US" sz="1100" dirty="0"/>
          </a:p>
        </p:txBody>
      </p:sp>
      <p:sp>
        <p:nvSpPr>
          <p:cNvPr id="18" name="Shape 15"/>
          <p:cNvSpPr/>
          <p:nvPr/>
        </p:nvSpPr>
        <p:spPr>
          <a:xfrm>
            <a:off x="7973568" y="1728216"/>
            <a:ext cx="4050792" cy="1325880"/>
          </a:xfrm>
          <a:prstGeom prst="roundRect">
            <a:avLst>
              <a:gd name="adj" fmla="val 9655"/>
            </a:avLst>
          </a:prstGeom>
          <a:solidFill>
            <a:srgbClr val="EFF6FF"/>
          </a:solidFill>
          <a:ln w="12700">
            <a:solidFill>
              <a:srgbClr val="EFF6FF">
                <a:alpha val="0"/>
              </a:srgbClr>
            </a:solidFill>
            <a:prstDash val="solid"/>
          </a:ln>
        </p:spPr>
        <p:txBody>
          <a:bodyPr/>
          <a:p/>
        </p:txBody>
      </p:sp>
      <p:sp>
        <p:nvSpPr>
          <p:cNvPr id="19" name="Shape 16"/>
          <p:cNvSpPr/>
          <p:nvPr/>
        </p:nvSpPr>
        <p:spPr>
          <a:xfrm>
            <a:off x="8174736" y="1865376"/>
            <a:ext cx="923544" cy="923544"/>
          </a:xfrm>
          <a:prstGeom prst="ellipse">
            <a:avLst/>
          </a:prstGeom>
          <a:solidFill>
            <a:srgbClr val="0F766E"/>
          </a:solidFill>
          <a:ln w="12700">
            <a:solidFill>
              <a:srgbClr val="0F766E">
                <a:alpha val="0"/>
              </a:srgbClr>
            </a:solidFill>
            <a:prstDash val="solid"/>
          </a:ln>
        </p:spPr>
        <p:txBody>
          <a:bodyPr/>
          <a:p/>
        </p:txBody>
      </p:sp>
      <p:sp>
        <p:nvSpPr>
          <p:cNvPr id="20" name="VECTOR_database_47"/>
          <p:cNvSpPr/>
          <p:nvPr/>
        </p:nvSpPr>
        <p:spPr>
          <a:xfrm>
            <a:off x="8174736" y="1865376"/>
            <a:ext cx="923544" cy="923544"/>
          </a:xfrm>
          <a:custGeom>
            <a:avLst/>
            <a:gdLst/>
            <a:ahLst/>
            <a:cxnLst/>
            <a:rect l="0" t="0" r="r" b="b"/>
            <a:pathLst>
              <a:path w="100000" h="100000" fill="norm" stroke="false" extrusionOk="false">
                <a:moveTo>
                  <a:pt x="41154" y="22308"/>
                </a:moveTo>
                <a:lnTo>
                  <a:pt x="41538" y="21923"/>
                </a:lnTo>
                <a:lnTo>
                  <a:pt x="53846" y="21923"/>
                </a:lnTo>
                <a:lnTo>
                  <a:pt x="54231" y="22308"/>
                </a:lnTo>
                <a:lnTo>
                  <a:pt x="54615" y="22692"/>
                </a:lnTo>
                <a:lnTo>
                  <a:pt x="58462" y="22692"/>
                </a:lnTo>
                <a:lnTo>
                  <a:pt x="58846" y="23077"/>
                </a:lnTo>
                <a:lnTo>
                  <a:pt x="59231" y="23462"/>
                </a:lnTo>
                <a:lnTo>
                  <a:pt x="60000" y="23462"/>
                </a:lnTo>
                <a:lnTo>
                  <a:pt x="60769" y="23462"/>
                </a:lnTo>
                <a:lnTo>
                  <a:pt x="62308" y="24231"/>
                </a:lnTo>
                <a:lnTo>
                  <a:pt x="65769" y="27692"/>
                </a:lnTo>
                <a:lnTo>
                  <a:pt x="65769" y="63077"/>
                </a:lnTo>
                <a:lnTo>
                  <a:pt x="63077" y="65769"/>
                </a:lnTo>
                <a:lnTo>
                  <a:pt x="60000" y="67308"/>
                </a:lnTo>
                <a:lnTo>
                  <a:pt x="52308" y="68846"/>
                </a:lnTo>
                <a:lnTo>
                  <a:pt x="40769" y="68846"/>
                </a:lnTo>
                <a:lnTo>
                  <a:pt x="40385" y="68462"/>
                </a:lnTo>
                <a:lnTo>
                  <a:pt x="40000" y="68077"/>
                </a:lnTo>
                <a:lnTo>
                  <a:pt x="36923" y="68077"/>
                </a:lnTo>
                <a:lnTo>
                  <a:pt x="36538" y="67692"/>
                </a:lnTo>
                <a:lnTo>
                  <a:pt x="36154" y="67308"/>
                </a:lnTo>
                <a:lnTo>
                  <a:pt x="35385" y="67308"/>
                </a:lnTo>
                <a:lnTo>
                  <a:pt x="34615" y="67308"/>
                </a:lnTo>
                <a:lnTo>
                  <a:pt x="31538" y="65769"/>
                </a:lnTo>
                <a:lnTo>
                  <a:pt x="28846" y="63077"/>
                </a:lnTo>
                <a:lnTo>
                  <a:pt x="28846" y="55385"/>
                </a:lnTo>
                <a:lnTo>
                  <a:pt x="29231" y="55000"/>
                </a:lnTo>
                <a:lnTo>
                  <a:pt x="29615" y="54615"/>
                </a:lnTo>
                <a:lnTo>
                  <a:pt x="28846" y="53077"/>
                </a:lnTo>
                <a:lnTo>
                  <a:pt x="28846" y="46923"/>
                </a:lnTo>
                <a:lnTo>
                  <a:pt x="29231" y="46538"/>
                </a:lnTo>
                <a:lnTo>
                  <a:pt x="29615" y="46154"/>
                </a:lnTo>
                <a:lnTo>
                  <a:pt x="29615" y="43846"/>
                </a:lnTo>
                <a:lnTo>
                  <a:pt x="29231" y="43462"/>
                </a:lnTo>
                <a:lnTo>
                  <a:pt x="28846" y="43077"/>
                </a:lnTo>
                <a:lnTo>
                  <a:pt x="28846" y="28462"/>
                </a:lnTo>
                <a:lnTo>
                  <a:pt x="31538" y="25000"/>
                </a:lnTo>
                <a:lnTo>
                  <a:pt x="34615" y="23462"/>
                </a:lnTo>
                <a:lnTo>
                  <a:pt x="35385" y="23462"/>
                </a:lnTo>
                <a:lnTo>
                  <a:pt x="36154" y="23462"/>
                </a:lnTo>
                <a:lnTo>
                  <a:pt x="36538" y="23077"/>
                </a:lnTo>
                <a:lnTo>
                  <a:pt x="36923" y="22692"/>
                </a:lnTo>
                <a:lnTo>
                  <a:pt x="40769" y="22692"/>
                </a:lnTo>
                <a:lnTo>
                  <a:pt x="41154" y="22308"/>
                </a:lnTo>
                <a:close/>
                <a:moveTo>
                  <a:pt x="40769" y="24231"/>
                </a:moveTo>
                <a:lnTo>
                  <a:pt x="40385" y="24615"/>
                </a:lnTo>
                <a:lnTo>
                  <a:pt x="40000" y="25000"/>
                </a:lnTo>
                <a:lnTo>
                  <a:pt x="37692" y="25000"/>
                </a:lnTo>
                <a:lnTo>
                  <a:pt x="37308" y="25385"/>
                </a:lnTo>
                <a:lnTo>
                  <a:pt x="36923" y="25769"/>
                </a:lnTo>
                <a:lnTo>
                  <a:pt x="36154" y="25769"/>
                </a:lnTo>
                <a:lnTo>
                  <a:pt x="35385" y="25769"/>
                </a:lnTo>
                <a:lnTo>
                  <a:pt x="33846" y="26538"/>
                </a:lnTo>
                <a:lnTo>
                  <a:pt x="31154" y="29231"/>
                </a:lnTo>
                <a:lnTo>
                  <a:pt x="31154" y="30000"/>
                </a:lnTo>
                <a:lnTo>
                  <a:pt x="31154" y="30769"/>
                </a:lnTo>
                <a:lnTo>
                  <a:pt x="33846" y="33462"/>
                </a:lnTo>
                <a:lnTo>
                  <a:pt x="35385" y="34231"/>
                </a:lnTo>
                <a:lnTo>
                  <a:pt x="36154" y="34231"/>
                </a:lnTo>
                <a:lnTo>
                  <a:pt x="36923" y="34231"/>
                </a:lnTo>
                <a:lnTo>
                  <a:pt x="37308" y="34615"/>
                </a:lnTo>
                <a:lnTo>
                  <a:pt x="37692" y="35000"/>
                </a:lnTo>
                <a:lnTo>
                  <a:pt x="40000" y="35000"/>
                </a:lnTo>
                <a:lnTo>
                  <a:pt x="40385" y="35385"/>
                </a:lnTo>
                <a:lnTo>
                  <a:pt x="40769" y="35769"/>
                </a:lnTo>
                <a:lnTo>
                  <a:pt x="53077" y="35769"/>
                </a:lnTo>
                <a:lnTo>
                  <a:pt x="53462" y="35385"/>
                </a:lnTo>
                <a:lnTo>
                  <a:pt x="56923" y="35000"/>
                </a:lnTo>
                <a:lnTo>
                  <a:pt x="57308" y="34615"/>
                </a:lnTo>
                <a:lnTo>
                  <a:pt x="57692" y="34231"/>
                </a:lnTo>
                <a:lnTo>
                  <a:pt x="58462" y="34231"/>
                </a:lnTo>
                <a:lnTo>
                  <a:pt x="59231" y="34231"/>
                </a:lnTo>
                <a:lnTo>
                  <a:pt x="62308" y="32692"/>
                </a:lnTo>
                <a:lnTo>
                  <a:pt x="63462" y="31538"/>
                </a:lnTo>
                <a:lnTo>
                  <a:pt x="63462" y="28462"/>
                </a:lnTo>
                <a:lnTo>
                  <a:pt x="62308" y="27308"/>
                </a:lnTo>
                <a:lnTo>
                  <a:pt x="59231" y="25769"/>
                </a:lnTo>
                <a:lnTo>
                  <a:pt x="58462" y="25769"/>
                </a:lnTo>
                <a:lnTo>
                  <a:pt x="57692" y="25769"/>
                </a:lnTo>
                <a:lnTo>
                  <a:pt x="57308" y="25385"/>
                </a:lnTo>
                <a:lnTo>
                  <a:pt x="56923" y="25000"/>
                </a:lnTo>
                <a:lnTo>
                  <a:pt x="54615" y="25000"/>
                </a:lnTo>
                <a:lnTo>
                  <a:pt x="54231" y="24615"/>
                </a:lnTo>
                <a:lnTo>
                  <a:pt x="53846" y="24231"/>
                </a:lnTo>
                <a:lnTo>
                  <a:pt x="40769" y="24231"/>
                </a:lnTo>
                <a:close/>
                <a:moveTo>
                  <a:pt x="31538" y="35000"/>
                </a:moveTo>
                <a:lnTo>
                  <a:pt x="31154" y="35385"/>
                </a:lnTo>
                <a:lnTo>
                  <a:pt x="31154" y="41538"/>
                </a:lnTo>
                <a:lnTo>
                  <a:pt x="34615" y="44231"/>
                </a:lnTo>
                <a:lnTo>
                  <a:pt x="35385" y="44231"/>
                </a:lnTo>
                <a:lnTo>
                  <a:pt x="36154" y="44231"/>
                </a:lnTo>
                <a:lnTo>
                  <a:pt x="36538" y="44615"/>
                </a:lnTo>
                <a:lnTo>
                  <a:pt x="36923" y="45000"/>
                </a:lnTo>
                <a:lnTo>
                  <a:pt x="40000" y="45000"/>
                </a:lnTo>
                <a:lnTo>
                  <a:pt x="40385" y="45385"/>
                </a:lnTo>
                <a:lnTo>
                  <a:pt x="40769" y="45769"/>
                </a:lnTo>
                <a:lnTo>
                  <a:pt x="53846" y="45769"/>
                </a:lnTo>
                <a:lnTo>
                  <a:pt x="54231" y="45385"/>
                </a:lnTo>
                <a:lnTo>
                  <a:pt x="54615" y="45000"/>
                </a:lnTo>
                <a:lnTo>
                  <a:pt x="56923" y="45000"/>
                </a:lnTo>
                <a:lnTo>
                  <a:pt x="57308" y="44615"/>
                </a:lnTo>
                <a:lnTo>
                  <a:pt x="57692" y="44231"/>
                </a:lnTo>
                <a:lnTo>
                  <a:pt x="58462" y="44231"/>
                </a:lnTo>
                <a:lnTo>
                  <a:pt x="59231" y="44231"/>
                </a:lnTo>
                <a:lnTo>
                  <a:pt x="62308" y="42692"/>
                </a:lnTo>
                <a:lnTo>
                  <a:pt x="63462" y="41538"/>
                </a:lnTo>
                <a:lnTo>
                  <a:pt x="63462" y="40769"/>
                </a:lnTo>
                <a:lnTo>
                  <a:pt x="63462" y="40000"/>
                </a:lnTo>
                <a:lnTo>
                  <a:pt x="63462" y="35385"/>
                </a:lnTo>
                <a:lnTo>
                  <a:pt x="63077" y="35000"/>
                </a:lnTo>
                <a:lnTo>
                  <a:pt x="61538" y="35769"/>
                </a:lnTo>
                <a:lnTo>
                  <a:pt x="60769" y="35769"/>
                </a:lnTo>
                <a:lnTo>
                  <a:pt x="60000" y="35769"/>
                </a:lnTo>
                <a:lnTo>
                  <a:pt x="59615" y="36154"/>
                </a:lnTo>
                <a:lnTo>
                  <a:pt x="59231" y="36538"/>
                </a:lnTo>
                <a:lnTo>
                  <a:pt x="58462" y="36538"/>
                </a:lnTo>
                <a:lnTo>
                  <a:pt x="57692" y="36538"/>
                </a:lnTo>
                <a:lnTo>
                  <a:pt x="57308" y="36923"/>
                </a:lnTo>
                <a:lnTo>
                  <a:pt x="56923" y="37308"/>
                </a:lnTo>
                <a:lnTo>
                  <a:pt x="56154" y="37308"/>
                </a:lnTo>
                <a:lnTo>
                  <a:pt x="55385" y="37308"/>
                </a:lnTo>
                <a:lnTo>
                  <a:pt x="55000" y="37692"/>
                </a:lnTo>
                <a:lnTo>
                  <a:pt x="54615" y="38077"/>
                </a:lnTo>
                <a:lnTo>
                  <a:pt x="49231" y="38077"/>
                </a:lnTo>
                <a:lnTo>
                  <a:pt x="47308" y="39231"/>
                </a:lnTo>
                <a:lnTo>
                  <a:pt x="46923" y="41154"/>
                </a:lnTo>
                <a:lnTo>
                  <a:pt x="46538" y="39231"/>
                </a:lnTo>
                <a:lnTo>
                  <a:pt x="45385" y="38077"/>
                </a:lnTo>
                <a:lnTo>
                  <a:pt x="40000" y="38077"/>
                </a:lnTo>
                <a:lnTo>
                  <a:pt x="39615" y="37692"/>
                </a:lnTo>
                <a:lnTo>
                  <a:pt x="39231" y="37308"/>
                </a:lnTo>
                <a:lnTo>
                  <a:pt x="36923" y="37308"/>
                </a:lnTo>
                <a:lnTo>
                  <a:pt x="36538" y="36923"/>
                </a:lnTo>
                <a:lnTo>
                  <a:pt x="36154" y="36538"/>
                </a:lnTo>
                <a:lnTo>
                  <a:pt x="35385" y="36538"/>
                </a:lnTo>
                <a:lnTo>
                  <a:pt x="34615" y="36538"/>
                </a:lnTo>
                <a:lnTo>
                  <a:pt x="31538" y="35000"/>
                </a:lnTo>
                <a:close/>
                <a:moveTo>
                  <a:pt x="32308" y="45000"/>
                </a:moveTo>
                <a:lnTo>
                  <a:pt x="31154" y="46154"/>
                </a:lnTo>
                <a:lnTo>
                  <a:pt x="31154" y="51538"/>
                </a:lnTo>
                <a:lnTo>
                  <a:pt x="32308" y="52692"/>
                </a:lnTo>
                <a:lnTo>
                  <a:pt x="35385" y="54231"/>
                </a:lnTo>
                <a:lnTo>
                  <a:pt x="36154" y="54231"/>
                </a:lnTo>
                <a:lnTo>
                  <a:pt x="36923" y="54231"/>
                </a:lnTo>
                <a:lnTo>
                  <a:pt x="40000" y="55769"/>
                </a:lnTo>
                <a:lnTo>
                  <a:pt x="54615" y="55769"/>
                </a:lnTo>
                <a:lnTo>
                  <a:pt x="55000" y="55385"/>
                </a:lnTo>
                <a:lnTo>
                  <a:pt x="55385" y="55000"/>
                </a:lnTo>
                <a:lnTo>
                  <a:pt x="58462" y="55000"/>
                </a:lnTo>
                <a:lnTo>
                  <a:pt x="62308" y="52692"/>
                </a:lnTo>
                <a:lnTo>
                  <a:pt x="63077" y="52692"/>
                </a:lnTo>
                <a:lnTo>
                  <a:pt x="63462" y="52308"/>
                </a:lnTo>
                <a:lnTo>
                  <a:pt x="63462" y="45385"/>
                </a:lnTo>
                <a:lnTo>
                  <a:pt x="63077" y="45000"/>
                </a:lnTo>
                <a:lnTo>
                  <a:pt x="60000" y="46538"/>
                </a:lnTo>
                <a:lnTo>
                  <a:pt x="56154" y="47308"/>
                </a:lnTo>
                <a:lnTo>
                  <a:pt x="55769" y="47692"/>
                </a:lnTo>
                <a:lnTo>
                  <a:pt x="55385" y="48077"/>
                </a:lnTo>
                <a:lnTo>
                  <a:pt x="39231" y="48077"/>
                </a:lnTo>
                <a:lnTo>
                  <a:pt x="38846" y="47692"/>
                </a:lnTo>
                <a:lnTo>
                  <a:pt x="38462" y="47308"/>
                </a:lnTo>
                <a:lnTo>
                  <a:pt x="37692" y="47308"/>
                </a:lnTo>
                <a:lnTo>
                  <a:pt x="36923" y="47308"/>
                </a:lnTo>
                <a:lnTo>
                  <a:pt x="32308" y="45000"/>
                </a:lnTo>
                <a:close/>
                <a:moveTo>
                  <a:pt x="62308" y="55000"/>
                </a:moveTo>
                <a:lnTo>
                  <a:pt x="60769" y="56538"/>
                </a:lnTo>
                <a:lnTo>
                  <a:pt x="60000" y="56538"/>
                </a:lnTo>
                <a:lnTo>
                  <a:pt x="59231" y="56538"/>
                </a:lnTo>
                <a:lnTo>
                  <a:pt x="58846" y="56923"/>
                </a:lnTo>
                <a:lnTo>
                  <a:pt x="58462" y="57308"/>
                </a:lnTo>
                <a:lnTo>
                  <a:pt x="56154" y="57308"/>
                </a:lnTo>
                <a:lnTo>
                  <a:pt x="53077" y="58846"/>
                </a:lnTo>
                <a:lnTo>
                  <a:pt x="52692" y="58462"/>
                </a:lnTo>
                <a:lnTo>
                  <a:pt x="52308" y="58077"/>
                </a:lnTo>
                <a:lnTo>
                  <a:pt x="50000" y="58077"/>
                </a:lnTo>
                <a:lnTo>
                  <a:pt x="48462" y="58846"/>
                </a:lnTo>
                <a:lnTo>
                  <a:pt x="47692" y="60385"/>
                </a:lnTo>
                <a:lnTo>
                  <a:pt x="45385" y="58077"/>
                </a:lnTo>
                <a:lnTo>
                  <a:pt x="40000" y="58077"/>
                </a:lnTo>
                <a:lnTo>
                  <a:pt x="39615" y="57692"/>
                </a:lnTo>
                <a:lnTo>
                  <a:pt x="39231" y="57308"/>
                </a:lnTo>
                <a:lnTo>
                  <a:pt x="36154" y="57308"/>
                </a:lnTo>
                <a:lnTo>
                  <a:pt x="35769" y="56923"/>
                </a:lnTo>
                <a:lnTo>
                  <a:pt x="35385" y="56538"/>
                </a:lnTo>
                <a:lnTo>
                  <a:pt x="31538" y="55769"/>
                </a:lnTo>
                <a:lnTo>
                  <a:pt x="31154" y="56154"/>
                </a:lnTo>
                <a:lnTo>
                  <a:pt x="31154" y="61538"/>
                </a:lnTo>
                <a:lnTo>
                  <a:pt x="31538" y="61923"/>
                </a:lnTo>
                <a:lnTo>
                  <a:pt x="33846" y="64231"/>
                </a:lnTo>
                <a:lnTo>
                  <a:pt x="35385" y="65000"/>
                </a:lnTo>
                <a:lnTo>
                  <a:pt x="37692" y="65000"/>
                </a:lnTo>
                <a:lnTo>
                  <a:pt x="38077" y="65385"/>
                </a:lnTo>
                <a:lnTo>
                  <a:pt x="38462" y="65769"/>
                </a:lnTo>
                <a:lnTo>
                  <a:pt x="43077" y="65769"/>
                </a:lnTo>
                <a:lnTo>
                  <a:pt x="43462" y="66154"/>
                </a:lnTo>
                <a:lnTo>
                  <a:pt x="43846" y="66538"/>
                </a:lnTo>
                <a:lnTo>
                  <a:pt x="51538" y="66538"/>
                </a:lnTo>
                <a:lnTo>
                  <a:pt x="51923" y="66154"/>
                </a:lnTo>
                <a:lnTo>
                  <a:pt x="52308" y="65769"/>
                </a:lnTo>
                <a:lnTo>
                  <a:pt x="56923" y="65769"/>
                </a:lnTo>
                <a:lnTo>
                  <a:pt x="57308" y="65385"/>
                </a:lnTo>
                <a:lnTo>
                  <a:pt x="57692" y="65000"/>
                </a:lnTo>
                <a:lnTo>
                  <a:pt x="58462" y="65000"/>
                </a:lnTo>
                <a:lnTo>
                  <a:pt x="59231" y="65000"/>
                </a:lnTo>
                <a:lnTo>
                  <a:pt x="62308" y="63462"/>
                </a:lnTo>
                <a:lnTo>
                  <a:pt x="63462" y="62308"/>
                </a:lnTo>
                <a:lnTo>
                  <a:pt x="63462" y="55385"/>
                </a:lnTo>
                <a:lnTo>
                  <a:pt x="63077" y="55000"/>
                </a:lnTo>
                <a:lnTo>
                  <a:pt x="62308" y="55000"/>
                </a:lnTo>
                <a:close/>
              </a:path>
            </a:pathLst>
          </a:custGeom>
          <a:solidFill>
            <a:srgbClr val="FFFFFF"/>
          </a:solidFill>
          <a:ln>
            <a:noFill/>
          </a:ln>
        </p:spPr>
        <p:txBody>
          <a:bodyPr/>
          <a:p/>
        </p:txBody>
      </p:sp>
      <p:sp>
        <p:nvSpPr>
          <p:cNvPr id="21" name="Text 18"/>
          <p:cNvSpPr/>
          <p:nvPr/>
        </p:nvSpPr>
        <p:spPr>
          <a:xfrm>
            <a:off x="9390888" y="1874520"/>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43 k</a:t>
            </a:r>
            <a:endParaRPr lang="en-US" sz="4400" dirty="0"/>
          </a:p>
        </p:txBody>
      </p:sp>
      <p:sp>
        <p:nvSpPr>
          <p:cNvPr id="22" name="Text 19"/>
          <p:cNvSpPr/>
          <p:nvPr/>
        </p:nvSpPr>
        <p:spPr>
          <a:xfrm>
            <a:off x="9400032" y="2478024"/>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Revenu moyen</a:t>
            </a:r>
            <a:endParaRPr lang="en-US" sz="1400" dirty="0"/>
          </a:p>
        </p:txBody>
      </p:sp>
      <p:sp>
        <p:nvSpPr>
          <p:cNvPr id="23" name="Shape 20"/>
          <p:cNvSpPr/>
          <p:nvPr/>
        </p:nvSpPr>
        <p:spPr>
          <a:xfrm>
            <a:off x="3776472" y="3172968"/>
            <a:ext cx="4050792" cy="1325880"/>
          </a:xfrm>
          <a:prstGeom prst="roundRect">
            <a:avLst>
              <a:gd name="adj" fmla="val 9655"/>
            </a:avLst>
          </a:prstGeom>
          <a:solidFill>
            <a:srgbClr val="F3F4F6"/>
          </a:solidFill>
          <a:ln w="12700">
            <a:solidFill>
              <a:srgbClr val="F3F4F6">
                <a:alpha val="0"/>
              </a:srgbClr>
            </a:solidFill>
            <a:prstDash val="solid"/>
          </a:ln>
        </p:spPr>
        <p:txBody>
          <a:bodyPr/>
          <a:p/>
        </p:txBody>
      </p:sp>
      <p:sp>
        <p:nvSpPr>
          <p:cNvPr id="24" name="Shape 21"/>
          <p:cNvSpPr/>
          <p:nvPr/>
        </p:nvSpPr>
        <p:spPr>
          <a:xfrm>
            <a:off x="3977640" y="3310128"/>
            <a:ext cx="923544" cy="923544"/>
          </a:xfrm>
          <a:prstGeom prst="ellipse">
            <a:avLst/>
          </a:prstGeom>
          <a:solidFill>
            <a:srgbClr val="0F766E"/>
          </a:solidFill>
          <a:ln w="12700">
            <a:solidFill>
              <a:srgbClr val="6D28D9">
                <a:alpha val="0"/>
              </a:srgbClr>
            </a:solidFill>
            <a:prstDash val="solid"/>
          </a:ln>
        </p:spPr>
        <p:txBody>
          <a:bodyPr/>
          <a:p/>
        </p:txBody>
      </p:sp>
      <p:sp>
        <p:nvSpPr>
          <p:cNvPr id="25" name="VECTOR_bag2_48"/>
          <p:cNvSpPr/>
          <p:nvPr/>
        </p:nvSpPr>
        <p:spPr>
          <a:xfrm>
            <a:off x="3977640" y="3310128"/>
            <a:ext cx="923544" cy="923544"/>
          </a:xfrm>
          <a:custGeom>
            <a:avLst/>
            <a:gdLst/>
            <a:ahLst/>
            <a:cxnLst/>
            <a:rect l="0" t="0" r="r" b="b"/>
            <a:pathLst>
              <a:path w="100000" h="100000" fill="norm" stroke="false" extrusionOk="false">
                <a:moveTo>
                  <a:pt x="45000" y="24615"/>
                </a:moveTo>
                <a:lnTo>
                  <a:pt x="45385" y="24231"/>
                </a:lnTo>
                <a:lnTo>
                  <a:pt x="51538" y="24231"/>
                </a:lnTo>
                <a:lnTo>
                  <a:pt x="54615" y="25769"/>
                </a:lnTo>
                <a:lnTo>
                  <a:pt x="57308" y="28462"/>
                </a:lnTo>
                <a:lnTo>
                  <a:pt x="58846" y="31538"/>
                </a:lnTo>
                <a:lnTo>
                  <a:pt x="58846" y="37692"/>
                </a:lnTo>
                <a:lnTo>
                  <a:pt x="59231" y="38077"/>
                </a:lnTo>
                <a:lnTo>
                  <a:pt x="66154" y="38077"/>
                </a:lnTo>
                <a:lnTo>
                  <a:pt x="68077" y="40000"/>
                </a:lnTo>
                <a:lnTo>
                  <a:pt x="68077" y="44615"/>
                </a:lnTo>
                <a:lnTo>
                  <a:pt x="68462" y="45000"/>
                </a:lnTo>
                <a:lnTo>
                  <a:pt x="68846" y="45385"/>
                </a:lnTo>
                <a:lnTo>
                  <a:pt x="68846" y="51538"/>
                </a:lnTo>
                <a:lnTo>
                  <a:pt x="69231" y="51923"/>
                </a:lnTo>
                <a:lnTo>
                  <a:pt x="69615" y="52308"/>
                </a:lnTo>
                <a:lnTo>
                  <a:pt x="69615" y="57692"/>
                </a:lnTo>
                <a:lnTo>
                  <a:pt x="70000" y="58077"/>
                </a:lnTo>
                <a:lnTo>
                  <a:pt x="70385" y="58462"/>
                </a:lnTo>
                <a:lnTo>
                  <a:pt x="70385" y="63846"/>
                </a:lnTo>
                <a:lnTo>
                  <a:pt x="70769" y="64231"/>
                </a:lnTo>
                <a:lnTo>
                  <a:pt x="71154" y="64615"/>
                </a:lnTo>
                <a:lnTo>
                  <a:pt x="71154" y="70769"/>
                </a:lnTo>
                <a:lnTo>
                  <a:pt x="71538" y="71154"/>
                </a:lnTo>
                <a:lnTo>
                  <a:pt x="71923" y="71538"/>
                </a:lnTo>
                <a:lnTo>
                  <a:pt x="71923" y="76923"/>
                </a:lnTo>
                <a:lnTo>
                  <a:pt x="70000" y="78077"/>
                </a:lnTo>
                <a:lnTo>
                  <a:pt x="52308" y="78077"/>
                </a:lnTo>
                <a:lnTo>
                  <a:pt x="26923" y="78077"/>
                </a:lnTo>
                <a:lnTo>
                  <a:pt x="25000" y="76154"/>
                </a:lnTo>
                <a:lnTo>
                  <a:pt x="25000" y="73846"/>
                </a:lnTo>
                <a:lnTo>
                  <a:pt x="25385" y="73462"/>
                </a:lnTo>
                <a:lnTo>
                  <a:pt x="25769" y="73077"/>
                </a:lnTo>
                <a:lnTo>
                  <a:pt x="25769" y="67692"/>
                </a:lnTo>
                <a:lnTo>
                  <a:pt x="26154" y="67308"/>
                </a:lnTo>
                <a:lnTo>
                  <a:pt x="26538" y="66923"/>
                </a:lnTo>
                <a:lnTo>
                  <a:pt x="26538" y="62308"/>
                </a:lnTo>
                <a:lnTo>
                  <a:pt x="26923" y="61923"/>
                </a:lnTo>
                <a:lnTo>
                  <a:pt x="27308" y="61538"/>
                </a:lnTo>
                <a:lnTo>
                  <a:pt x="27308" y="56154"/>
                </a:lnTo>
                <a:lnTo>
                  <a:pt x="27692" y="55769"/>
                </a:lnTo>
                <a:lnTo>
                  <a:pt x="28077" y="55385"/>
                </a:lnTo>
                <a:lnTo>
                  <a:pt x="28077" y="49231"/>
                </a:lnTo>
                <a:lnTo>
                  <a:pt x="28462" y="48846"/>
                </a:lnTo>
                <a:lnTo>
                  <a:pt x="28846" y="48462"/>
                </a:lnTo>
                <a:lnTo>
                  <a:pt x="28846" y="43846"/>
                </a:lnTo>
                <a:lnTo>
                  <a:pt x="29231" y="43462"/>
                </a:lnTo>
                <a:lnTo>
                  <a:pt x="29615" y="43077"/>
                </a:lnTo>
                <a:lnTo>
                  <a:pt x="29615" y="39231"/>
                </a:lnTo>
                <a:lnTo>
                  <a:pt x="30769" y="38077"/>
                </a:lnTo>
                <a:lnTo>
                  <a:pt x="37692" y="38077"/>
                </a:lnTo>
                <a:lnTo>
                  <a:pt x="38077" y="37692"/>
                </a:lnTo>
                <a:lnTo>
                  <a:pt x="38077" y="32308"/>
                </a:lnTo>
                <a:lnTo>
                  <a:pt x="38462" y="31923"/>
                </a:lnTo>
                <a:lnTo>
                  <a:pt x="38846" y="31538"/>
                </a:lnTo>
                <a:lnTo>
                  <a:pt x="38846" y="30769"/>
                </a:lnTo>
                <a:lnTo>
                  <a:pt x="38846" y="30000"/>
                </a:lnTo>
                <a:lnTo>
                  <a:pt x="39615" y="28462"/>
                </a:lnTo>
                <a:lnTo>
                  <a:pt x="42308" y="25769"/>
                </a:lnTo>
                <a:lnTo>
                  <a:pt x="45000" y="24615"/>
                </a:lnTo>
                <a:close/>
                <a:moveTo>
                  <a:pt x="46154" y="26538"/>
                </a:moveTo>
                <a:lnTo>
                  <a:pt x="44615" y="27308"/>
                </a:lnTo>
                <a:lnTo>
                  <a:pt x="41923" y="30000"/>
                </a:lnTo>
                <a:lnTo>
                  <a:pt x="41154" y="31538"/>
                </a:lnTo>
                <a:lnTo>
                  <a:pt x="41154" y="37692"/>
                </a:lnTo>
                <a:lnTo>
                  <a:pt x="41538" y="38077"/>
                </a:lnTo>
                <a:lnTo>
                  <a:pt x="51538" y="38077"/>
                </a:lnTo>
                <a:lnTo>
                  <a:pt x="56154" y="38077"/>
                </a:lnTo>
                <a:lnTo>
                  <a:pt x="56538" y="37692"/>
                </a:lnTo>
                <a:lnTo>
                  <a:pt x="56538" y="33077"/>
                </a:lnTo>
                <a:lnTo>
                  <a:pt x="56154" y="32692"/>
                </a:lnTo>
                <a:lnTo>
                  <a:pt x="55769" y="32308"/>
                </a:lnTo>
                <a:lnTo>
                  <a:pt x="55769" y="31538"/>
                </a:lnTo>
                <a:lnTo>
                  <a:pt x="55769" y="30769"/>
                </a:lnTo>
                <a:lnTo>
                  <a:pt x="52308" y="27308"/>
                </a:lnTo>
                <a:lnTo>
                  <a:pt x="51538" y="27308"/>
                </a:lnTo>
                <a:lnTo>
                  <a:pt x="50769" y="27308"/>
                </a:lnTo>
                <a:lnTo>
                  <a:pt x="50385" y="26923"/>
                </a:lnTo>
                <a:lnTo>
                  <a:pt x="50000" y="26538"/>
                </a:lnTo>
                <a:lnTo>
                  <a:pt x="46154" y="26538"/>
                </a:lnTo>
                <a:close/>
                <a:moveTo>
                  <a:pt x="33077" y="41154"/>
                </a:moveTo>
                <a:lnTo>
                  <a:pt x="31923" y="42308"/>
                </a:lnTo>
                <a:lnTo>
                  <a:pt x="31923" y="45385"/>
                </a:lnTo>
                <a:lnTo>
                  <a:pt x="31538" y="45769"/>
                </a:lnTo>
                <a:lnTo>
                  <a:pt x="31154" y="46154"/>
                </a:lnTo>
                <a:lnTo>
                  <a:pt x="31154" y="51538"/>
                </a:lnTo>
                <a:lnTo>
                  <a:pt x="30769" y="51923"/>
                </a:lnTo>
                <a:lnTo>
                  <a:pt x="30385" y="52308"/>
                </a:lnTo>
                <a:lnTo>
                  <a:pt x="30385" y="56923"/>
                </a:lnTo>
                <a:lnTo>
                  <a:pt x="30000" y="57308"/>
                </a:lnTo>
                <a:lnTo>
                  <a:pt x="29615" y="57692"/>
                </a:lnTo>
                <a:lnTo>
                  <a:pt x="29615" y="63077"/>
                </a:lnTo>
                <a:lnTo>
                  <a:pt x="29231" y="63462"/>
                </a:lnTo>
                <a:lnTo>
                  <a:pt x="28846" y="63846"/>
                </a:lnTo>
                <a:lnTo>
                  <a:pt x="28846" y="69231"/>
                </a:lnTo>
                <a:lnTo>
                  <a:pt x="28462" y="69615"/>
                </a:lnTo>
                <a:lnTo>
                  <a:pt x="28077" y="70000"/>
                </a:lnTo>
                <a:lnTo>
                  <a:pt x="28077" y="74615"/>
                </a:lnTo>
                <a:lnTo>
                  <a:pt x="29231" y="75769"/>
                </a:lnTo>
                <a:lnTo>
                  <a:pt x="63077" y="75769"/>
                </a:lnTo>
                <a:lnTo>
                  <a:pt x="63462" y="75385"/>
                </a:lnTo>
                <a:lnTo>
                  <a:pt x="63846" y="75000"/>
                </a:lnTo>
                <a:lnTo>
                  <a:pt x="66923" y="75000"/>
                </a:lnTo>
                <a:lnTo>
                  <a:pt x="67308" y="75385"/>
                </a:lnTo>
                <a:lnTo>
                  <a:pt x="67692" y="75769"/>
                </a:lnTo>
                <a:lnTo>
                  <a:pt x="68846" y="74615"/>
                </a:lnTo>
                <a:lnTo>
                  <a:pt x="68846" y="73846"/>
                </a:lnTo>
                <a:lnTo>
                  <a:pt x="68846" y="68462"/>
                </a:lnTo>
                <a:lnTo>
                  <a:pt x="68462" y="68077"/>
                </a:lnTo>
                <a:lnTo>
                  <a:pt x="68077" y="67692"/>
                </a:lnTo>
                <a:lnTo>
                  <a:pt x="68077" y="61538"/>
                </a:lnTo>
                <a:lnTo>
                  <a:pt x="67692" y="61154"/>
                </a:lnTo>
                <a:lnTo>
                  <a:pt x="67308" y="60769"/>
                </a:lnTo>
                <a:lnTo>
                  <a:pt x="67308" y="55385"/>
                </a:lnTo>
                <a:lnTo>
                  <a:pt x="66923" y="55000"/>
                </a:lnTo>
                <a:lnTo>
                  <a:pt x="66538" y="54615"/>
                </a:lnTo>
                <a:lnTo>
                  <a:pt x="66538" y="49231"/>
                </a:lnTo>
                <a:lnTo>
                  <a:pt x="66154" y="48846"/>
                </a:lnTo>
                <a:lnTo>
                  <a:pt x="65769" y="48462"/>
                </a:lnTo>
                <a:lnTo>
                  <a:pt x="65769" y="43077"/>
                </a:lnTo>
                <a:lnTo>
                  <a:pt x="64615" y="41154"/>
                </a:lnTo>
                <a:lnTo>
                  <a:pt x="59231" y="41154"/>
                </a:lnTo>
                <a:lnTo>
                  <a:pt x="58846" y="43846"/>
                </a:lnTo>
                <a:lnTo>
                  <a:pt x="57692" y="45000"/>
                </a:lnTo>
                <a:lnTo>
                  <a:pt x="56538" y="43846"/>
                </a:lnTo>
                <a:lnTo>
                  <a:pt x="56154" y="41154"/>
                </a:lnTo>
                <a:lnTo>
                  <a:pt x="41538" y="41154"/>
                </a:lnTo>
                <a:lnTo>
                  <a:pt x="41154" y="43846"/>
                </a:lnTo>
                <a:lnTo>
                  <a:pt x="40000" y="45000"/>
                </a:lnTo>
                <a:lnTo>
                  <a:pt x="39231" y="45000"/>
                </a:lnTo>
                <a:lnTo>
                  <a:pt x="38077" y="43846"/>
                </a:lnTo>
                <a:lnTo>
                  <a:pt x="37692" y="41154"/>
                </a:lnTo>
                <a:lnTo>
                  <a:pt x="33077" y="41154"/>
                </a:lnTo>
                <a:close/>
              </a:path>
            </a:pathLst>
          </a:custGeom>
          <a:solidFill>
            <a:srgbClr val="FFFFFF"/>
          </a:solidFill>
          <a:ln>
            <a:noFill/>
          </a:ln>
        </p:spPr>
        <p:txBody>
          <a:bodyPr/>
          <a:p/>
        </p:txBody>
      </p:sp>
      <p:sp>
        <p:nvSpPr>
          <p:cNvPr id="26" name="Text 23"/>
          <p:cNvSpPr/>
          <p:nvPr/>
        </p:nvSpPr>
        <p:spPr>
          <a:xfrm>
            <a:off x="5193792" y="3319272"/>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127</a:t>
            </a:r>
            <a:endParaRPr lang="en-US" sz="4400" dirty="0"/>
          </a:p>
        </p:txBody>
      </p:sp>
      <p:sp>
        <p:nvSpPr>
          <p:cNvPr id="27" name="Text 24"/>
          <p:cNvSpPr/>
          <p:nvPr/>
        </p:nvSpPr>
        <p:spPr>
          <a:xfrm>
            <a:off x="5202936" y="3922776"/>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Dépense moyenne (Spent)</a:t>
            </a:r>
            <a:endParaRPr lang="en-US" sz="1400" dirty="0"/>
          </a:p>
        </p:txBody>
      </p:sp>
      <p:sp>
        <p:nvSpPr>
          <p:cNvPr id="28" name="Text 25"/>
          <p:cNvSpPr/>
          <p:nvPr/>
        </p:nvSpPr>
        <p:spPr>
          <a:xfrm>
            <a:off x="5221224" y="4233672"/>
            <a:ext cx="2350008" cy="182880"/>
          </a:xfrm>
          <a:prstGeom prst="rect">
            <a:avLst/>
          </a:prstGeom>
          <a:noFill/>
          <a:ln/>
        </p:spPr>
        <p:txBody>
          <a:bodyPr wrap="square" lIns="0" tIns="0" rIns="0" bIns="0" rtlCol="0" anchor="ctr"/>
          <a:lstStyle/>
          <a:p>
            <a:pPr indent="0" marL="0">
              <a:buNone/>
            </a:pPr>
            <a:r>
              <a:rPr lang="en-US" sz="1100" b="1" dirty="0">
                <a:solidFill>
                  <a:srgbClr val="0F766E"/>
                </a:solidFill>
                <a:latin typeface="Aptos" pitchFamily="34" charset="0"/>
                <a:ea typeface="Segoe UI" pitchFamily="34" charset="-122"/>
                <a:cs typeface="Segoe UI" pitchFamily="34" charset="-120"/>
              </a:rPr>
              <a:t>Dépense la plus faible</a:t>
            </a:r>
            <a:endParaRPr lang="en-US" sz="1100" dirty="0"/>
          </a:p>
        </p:txBody>
      </p:sp>
      <p:sp>
        <p:nvSpPr>
          <p:cNvPr id="29" name="Shape 26"/>
          <p:cNvSpPr/>
          <p:nvPr/>
        </p:nvSpPr>
        <p:spPr>
          <a:xfrm>
            <a:off x="7973568" y="3172968"/>
            <a:ext cx="4050792" cy="1325880"/>
          </a:xfrm>
          <a:prstGeom prst="roundRect">
            <a:avLst>
              <a:gd name="adj" fmla="val 9655"/>
            </a:avLst>
          </a:prstGeom>
          <a:solidFill>
            <a:srgbClr val="F0FDFA"/>
          </a:solidFill>
          <a:ln w="12700">
            <a:solidFill>
              <a:srgbClr val="F0FDFA">
                <a:alpha val="0"/>
              </a:srgbClr>
            </a:solidFill>
            <a:prstDash val="solid"/>
          </a:ln>
        </p:spPr>
        <p:txBody>
          <a:bodyPr/>
          <a:p/>
        </p:txBody>
      </p:sp>
      <p:sp>
        <p:nvSpPr>
          <p:cNvPr id="30" name="Shape 27"/>
          <p:cNvSpPr/>
          <p:nvPr/>
        </p:nvSpPr>
        <p:spPr>
          <a:xfrm>
            <a:off x="8174736" y="3310128"/>
            <a:ext cx="923544" cy="923544"/>
          </a:xfrm>
          <a:prstGeom prst="ellipse">
            <a:avLst/>
          </a:prstGeom>
          <a:solidFill>
            <a:srgbClr val="0F766E"/>
          </a:solidFill>
          <a:ln w="12700">
            <a:solidFill>
              <a:srgbClr val="0F766E">
                <a:alpha val="0"/>
              </a:srgbClr>
            </a:solidFill>
            <a:prstDash val="solid"/>
          </a:ln>
        </p:spPr>
        <p:txBody>
          <a:bodyPr/>
          <a:p/>
        </p:txBody>
      </p:sp>
      <p:sp>
        <p:nvSpPr>
          <p:cNvPr id="31" name="VECTOR_pram_49"/>
          <p:cNvSpPr/>
          <p:nvPr/>
        </p:nvSpPr>
        <p:spPr>
          <a:xfrm>
            <a:off x="8174736" y="3310128"/>
            <a:ext cx="923544" cy="923544"/>
          </a:xfrm>
          <a:custGeom>
            <a:avLst/>
            <a:gdLst/>
            <a:ahLst/>
            <a:cxnLst/>
            <a:rect l="0" t="0" r="r" b="b"/>
            <a:pathLst>
              <a:path w="100000" h="100000" fill="norm" stroke="false" extrusionOk="false">
                <a:moveTo>
                  <a:pt x="49615" y="24615"/>
                </a:moveTo>
                <a:lnTo>
                  <a:pt x="50000" y="24231"/>
                </a:lnTo>
                <a:lnTo>
                  <a:pt x="53846" y="24231"/>
                </a:lnTo>
                <a:lnTo>
                  <a:pt x="54231" y="24615"/>
                </a:lnTo>
                <a:lnTo>
                  <a:pt x="54615" y="25000"/>
                </a:lnTo>
                <a:lnTo>
                  <a:pt x="56923" y="25000"/>
                </a:lnTo>
                <a:lnTo>
                  <a:pt x="64615" y="28846"/>
                </a:lnTo>
                <a:lnTo>
                  <a:pt x="68846" y="33077"/>
                </a:lnTo>
                <a:lnTo>
                  <a:pt x="68846" y="33846"/>
                </a:lnTo>
                <a:lnTo>
                  <a:pt x="71154" y="36923"/>
                </a:lnTo>
                <a:lnTo>
                  <a:pt x="71154" y="37692"/>
                </a:lnTo>
                <a:lnTo>
                  <a:pt x="71154" y="38462"/>
                </a:lnTo>
                <a:lnTo>
                  <a:pt x="72692" y="41538"/>
                </a:lnTo>
                <a:lnTo>
                  <a:pt x="72692" y="45385"/>
                </a:lnTo>
                <a:lnTo>
                  <a:pt x="73077" y="45769"/>
                </a:lnTo>
                <a:lnTo>
                  <a:pt x="73462" y="46154"/>
                </a:lnTo>
                <a:lnTo>
                  <a:pt x="73462" y="46923"/>
                </a:lnTo>
                <a:lnTo>
                  <a:pt x="73462" y="47692"/>
                </a:lnTo>
                <a:lnTo>
                  <a:pt x="73077" y="48077"/>
                </a:lnTo>
                <a:lnTo>
                  <a:pt x="72692" y="48462"/>
                </a:lnTo>
                <a:lnTo>
                  <a:pt x="72692" y="50769"/>
                </a:lnTo>
                <a:lnTo>
                  <a:pt x="72308" y="51154"/>
                </a:lnTo>
                <a:lnTo>
                  <a:pt x="71923" y="51538"/>
                </a:lnTo>
                <a:lnTo>
                  <a:pt x="71923" y="52308"/>
                </a:lnTo>
                <a:lnTo>
                  <a:pt x="71923" y="53077"/>
                </a:lnTo>
                <a:lnTo>
                  <a:pt x="71538" y="53462"/>
                </a:lnTo>
                <a:lnTo>
                  <a:pt x="71154" y="53846"/>
                </a:lnTo>
                <a:lnTo>
                  <a:pt x="71154" y="54615"/>
                </a:lnTo>
                <a:lnTo>
                  <a:pt x="71154" y="55385"/>
                </a:lnTo>
                <a:lnTo>
                  <a:pt x="69615" y="58462"/>
                </a:lnTo>
                <a:lnTo>
                  <a:pt x="65385" y="62692"/>
                </a:lnTo>
                <a:lnTo>
                  <a:pt x="63077" y="63462"/>
                </a:lnTo>
                <a:lnTo>
                  <a:pt x="61538" y="65000"/>
                </a:lnTo>
                <a:lnTo>
                  <a:pt x="60769" y="65000"/>
                </a:lnTo>
                <a:lnTo>
                  <a:pt x="60385" y="65385"/>
                </a:lnTo>
                <a:lnTo>
                  <a:pt x="62308" y="66538"/>
                </a:lnTo>
                <a:lnTo>
                  <a:pt x="63077" y="66538"/>
                </a:lnTo>
                <a:lnTo>
                  <a:pt x="63846" y="66538"/>
                </a:lnTo>
                <a:lnTo>
                  <a:pt x="65385" y="67308"/>
                </a:lnTo>
                <a:lnTo>
                  <a:pt x="68077" y="70000"/>
                </a:lnTo>
                <a:lnTo>
                  <a:pt x="68077" y="75385"/>
                </a:lnTo>
                <a:lnTo>
                  <a:pt x="65385" y="78846"/>
                </a:lnTo>
                <a:lnTo>
                  <a:pt x="63846" y="79615"/>
                </a:lnTo>
                <a:lnTo>
                  <a:pt x="59231" y="79615"/>
                </a:lnTo>
                <a:lnTo>
                  <a:pt x="57692" y="78846"/>
                </a:lnTo>
                <a:lnTo>
                  <a:pt x="55000" y="76154"/>
                </a:lnTo>
                <a:lnTo>
                  <a:pt x="54231" y="72308"/>
                </a:lnTo>
                <a:lnTo>
                  <a:pt x="54615" y="71923"/>
                </a:lnTo>
                <a:lnTo>
                  <a:pt x="55000" y="71538"/>
                </a:lnTo>
                <a:lnTo>
                  <a:pt x="55000" y="70769"/>
                </a:lnTo>
                <a:lnTo>
                  <a:pt x="55000" y="70000"/>
                </a:lnTo>
                <a:lnTo>
                  <a:pt x="55769" y="68462"/>
                </a:lnTo>
                <a:lnTo>
                  <a:pt x="57308" y="66923"/>
                </a:lnTo>
                <a:lnTo>
                  <a:pt x="56923" y="66538"/>
                </a:lnTo>
                <a:lnTo>
                  <a:pt x="40769" y="66538"/>
                </a:lnTo>
                <a:lnTo>
                  <a:pt x="40385" y="66923"/>
                </a:lnTo>
                <a:lnTo>
                  <a:pt x="40385" y="67692"/>
                </a:lnTo>
                <a:lnTo>
                  <a:pt x="41923" y="69231"/>
                </a:lnTo>
                <a:lnTo>
                  <a:pt x="41923" y="70000"/>
                </a:lnTo>
                <a:lnTo>
                  <a:pt x="42308" y="70385"/>
                </a:lnTo>
                <a:lnTo>
                  <a:pt x="42692" y="70769"/>
                </a:lnTo>
                <a:lnTo>
                  <a:pt x="42692" y="76154"/>
                </a:lnTo>
                <a:lnTo>
                  <a:pt x="40000" y="78846"/>
                </a:lnTo>
                <a:lnTo>
                  <a:pt x="38462" y="79615"/>
                </a:lnTo>
                <a:lnTo>
                  <a:pt x="33846" y="79615"/>
                </a:lnTo>
                <a:lnTo>
                  <a:pt x="30385" y="76923"/>
                </a:lnTo>
                <a:lnTo>
                  <a:pt x="29615" y="75385"/>
                </a:lnTo>
                <a:lnTo>
                  <a:pt x="29615" y="70769"/>
                </a:lnTo>
                <a:lnTo>
                  <a:pt x="30385" y="69231"/>
                </a:lnTo>
                <a:lnTo>
                  <a:pt x="32308" y="67308"/>
                </a:lnTo>
                <a:lnTo>
                  <a:pt x="33846" y="66538"/>
                </a:lnTo>
                <a:lnTo>
                  <a:pt x="37692" y="66538"/>
                </a:lnTo>
                <a:lnTo>
                  <a:pt x="38077" y="66154"/>
                </a:lnTo>
                <a:lnTo>
                  <a:pt x="38077" y="65385"/>
                </a:lnTo>
                <a:lnTo>
                  <a:pt x="35385" y="64231"/>
                </a:lnTo>
                <a:lnTo>
                  <a:pt x="33846" y="62692"/>
                </a:lnTo>
                <a:lnTo>
                  <a:pt x="33077" y="62692"/>
                </a:lnTo>
                <a:lnTo>
                  <a:pt x="29615" y="59231"/>
                </a:lnTo>
                <a:lnTo>
                  <a:pt x="27308" y="54615"/>
                </a:lnTo>
                <a:lnTo>
                  <a:pt x="27308" y="53846"/>
                </a:lnTo>
                <a:lnTo>
                  <a:pt x="27308" y="53077"/>
                </a:lnTo>
                <a:lnTo>
                  <a:pt x="26923" y="52692"/>
                </a:lnTo>
                <a:lnTo>
                  <a:pt x="26538" y="52308"/>
                </a:lnTo>
                <a:lnTo>
                  <a:pt x="26538" y="50000"/>
                </a:lnTo>
                <a:lnTo>
                  <a:pt x="26154" y="49615"/>
                </a:lnTo>
                <a:lnTo>
                  <a:pt x="25769" y="49231"/>
                </a:lnTo>
                <a:lnTo>
                  <a:pt x="25769" y="43846"/>
                </a:lnTo>
                <a:lnTo>
                  <a:pt x="25385" y="43462"/>
                </a:lnTo>
                <a:lnTo>
                  <a:pt x="25000" y="43077"/>
                </a:lnTo>
                <a:lnTo>
                  <a:pt x="25000" y="42308"/>
                </a:lnTo>
                <a:lnTo>
                  <a:pt x="25000" y="41538"/>
                </a:lnTo>
                <a:lnTo>
                  <a:pt x="20769" y="39615"/>
                </a:lnTo>
                <a:lnTo>
                  <a:pt x="19615" y="38462"/>
                </a:lnTo>
                <a:lnTo>
                  <a:pt x="20769" y="37308"/>
                </a:lnTo>
                <a:lnTo>
                  <a:pt x="24615" y="38077"/>
                </a:lnTo>
                <a:lnTo>
                  <a:pt x="27308" y="40769"/>
                </a:lnTo>
                <a:lnTo>
                  <a:pt x="27308" y="44615"/>
                </a:lnTo>
                <a:lnTo>
                  <a:pt x="28462" y="45769"/>
                </a:lnTo>
                <a:lnTo>
                  <a:pt x="47692" y="45769"/>
                </a:lnTo>
                <a:lnTo>
                  <a:pt x="48846" y="44615"/>
                </a:lnTo>
                <a:lnTo>
                  <a:pt x="48846" y="25385"/>
                </a:lnTo>
                <a:lnTo>
                  <a:pt x="49231" y="25000"/>
                </a:lnTo>
                <a:lnTo>
                  <a:pt x="49615" y="24615"/>
                </a:lnTo>
                <a:close/>
                <a:moveTo>
                  <a:pt x="52308" y="26538"/>
                </a:moveTo>
                <a:lnTo>
                  <a:pt x="51154" y="27692"/>
                </a:lnTo>
                <a:lnTo>
                  <a:pt x="51154" y="45385"/>
                </a:lnTo>
                <a:lnTo>
                  <a:pt x="51538" y="45769"/>
                </a:lnTo>
                <a:lnTo>
                  <a:pt x="69231" y="45769"/>
                </a:lnTo>
                <a:lnTo>
                  <a:pt x="70000" y="45769"/>
                </a:lnTo>
                <a:lnTo>
                  <a:pt x="70385" y="45385"/>
                </a:lnTo>
                <a:lnTo>
                  <a:pt x="70385" y="41538"/>
                </a:lnTo>
                <a:lnTo>
                  <a:pt x="70000" y="41154"/>
                </a:lnTo>
                <a:lnTo>
                  <a:pt x="69615" y="40769"/>
                </a:lnTo>
                <a:lnTo>
                  <a:pt x="69615" y="40000"/>
                </a:lnTo>
                <a:lnTo>
                  <a:pt x="69615" y="39231"/>
                </a:lnTo>
                <a:lnTo>
                  <a:pt x="68077" y="36154"/>
                </a:lnTo>
                <a:lnTo>
                  <a:pt x="61538" y="29615"/>
                </a:lnTo>
                <a:lnTo>
                  <a:pt x="56923" y="27308"/>
                </a:lnTo>
                <a:lnTo>
                  <a:pt x="53846" y="27308"/>
                </a:lnTo>
                <a:lnTo>
                  <a:pt x="52308" y="26538"/>
                </a:lnTo>
                <a:close/>
                <a:moveTo>
                  <a:pt x="29231" y="48077"/>
                </a:moveTo>
                <a:lnTo>
                  <a:pt x="28846" y="51538"/>
                </a:lnTo>
                <a:lnTo>
                  <a:pt x="29231" y="51923"/>
                </a:lnTo>
                <a:lnTo>
                  <a:pt x="29615" y="52308"/>
                </a:lnTo>
                <a:lnTo>
                  <a:pt x="30385" y="56154"/>
                </a:lnTo>
                <a:lnTo>
                  <a:pt x="31923" y="57692"/>
                </a:lnTo>
                <a:lnTo>
                  <a:pt x="31923" y="58462"/>
                </a:lnTo>
                <a:lnTo>
                  <a:pt x="35385" y="61154"/>
                </a:lnTo>
                <a:lnTo>
                  <a:pt x="41538" y="64231"/>
                </a:lnTo>
                <a:lnTo>
                  <a:pt x="44615" y="64231"/>
                </a:lnTo>
                <a:lnTo>
                  <a:pt x="45000" y="64615"/>
                </a:lnTo>
                <a:lnTo>
                  <a:pt x="45385" y="65000"/>
                </a:lnTo>
                <a:lnTo>
                  <a:pt x="53846" y="65000"/>
                </a:lnTo>
                <a:lnTo>
                  <a:pt x="54231" y="64615"/>
                </a:lnTo>
                <a:lnTo>
                  <a:pt x="54615" y="64231"/>
                </a:lnTo>
                <a:lnTo>
                  <a:pt x="57692" y="64231"/>
                </a:lnTo>
                <a:lnTo>
                  <a:pt x="59231" y="62692"/>
                </a:lnTo>
                <a:lnTo>
                  <a:pt x="64615" y="60385"/>
                </a:lnTo>
                <a:lnTo>
                  <a:pt x="66154" y="58846"/>
                </a:lnTo>
                <a:lnTo>
                  <a:pt x="67308" y="57692"/>
                </a:lnTo>
                <a:lnTo>
                  <a:pt x="68846" y="54615"/>
                </a:lnTo>
                <a:lnTo>
                  <a:pt x="68846" y="53846"/>
                </a:lnTo>
                <a:lnTo>
                  <a:pt x="68846" y="53077"/>
                </a:lnTo>
                <a:lnTo>
                  <a:pt x="70385" y="50000"/>
                </a:lnTo>
                <a:lnTo>
                  <a:pt x="70000" y="48077"/>
                </a:lnTo>
                <a:lnTo>
                  <a:pt x="50769" y="48077"/>
                </a:lnTo>
                <a:lnTo>
                  <a:pt x="49231" y="50385"/>
                </a:lnTo>
                <a:lnTo>
                  <a:pt x="47692" y="48077"/>
                </a:lnTo>
                <a:lnTo>
                  <a:pt x="29231" y="48077"/>
                </a:lnTo>
                <a:close/>
                <a:moveTo>
                  <a:pt x="36154" y="68077"/>
                </a:moveTo>
                <a:lnTo>
                  <a:pt x="34615" y="68846"/>
                </a:lnTo>
                <a:lnTo>
                  <a:pt x="31923" y="71538"/>
                </a:lnTo>
                <a:lnTo>
                  <a:pt x="31923" y="74615"/>
                </a:lnTo>
                <a:lnTo>
                  <a:pt x="33077" y="76538"/>
                </a:lnTo>
                <a:lnTo>
                  <a:pt x="34615" y="77308"/>
                </a:lnTo>
                <a:lnTo>
                  <a:pt x="36923" y="77308"/>
                </a:lnTo>
                <a:lnTo>
                  <a:pt x="37692" y="77308"/>
                </a:lnTo>
                <a:lnTo>
                  <a:pt x="38462" y="77308"/>
                </a:lnTo>
                <a:lnTo>
                  <a:pt x="40385" y="75385"/>
                </a:lnTo>
                <a:lnTo>
                  <a:pt x="41154" y="73077"/>
                </a:lnTo>
                <a:lnTo>
                  <a:pt x="40769" y="72692"/>
                </a:lnTo>
                <a:lnTo>
                  <a:pt x="40385" y="72308"/>
                </a:lnTo>
                <a:lnTo>
                  <a:pt x="40385" y="71538"/>
                </a:lnTo>
                <a:lnTo>
                  <a:pt x="40385" y="70769"/>
                </a:lnTo>
                <a:lnTo>
                  <a:pt x="38462" y="68846"/>
                </a:lnTo>
                <a:lnTo>
                  <a:pt x="37692" y="68846"/>
                </a:lnTo>
                <a:lnTo>
                  <a:pt x="36923" y="68846"/>
                </a:lnTo>
                <a:lnTo>
                  <a:pt x="36538" y="68462"/>
                </a:lnTo>
                <a:lnTo>
                  <a:pt x="36154" y="68077"/>
                </a:lnTo>
                <a:close/>
                <a:moveTo>
                  <a:pt x="61538" y="68077"/>
                </a:moveTo>
                <a:lnTo>
                  <a:pt x="61154" y="68462"/>
                </a:lnTo>
                <a:lnTo>
                  <a:pt x="60769" y="68846"/>
                </a:lnTo>
                <a:lnTo>
                  <a:pt x="60000" y="68846"/>
                </a:lnTo>
                <a:lnTo>
                  <a:pt x="59231" y="68846"/>
                </a:lnTo>
                <a:lnTo>
                  <a:pt x="57308" y="70769"/>
                </a:lnTo>
                <a:lnTo>
                  <a:pt x="57308" y="74615"/>
                </a:lnTo>
                <a:lnTo>
                  <a:pt x="58077" y="76154"/>
                </a:lnTo>
                <a:lnTo>
                  <a:pt x="60000" y="77308"/>
                </a:lnTo>
                <a:lnTo>
                  <a:pt x="60769" y="77308"/>
                </a:lnTo>
                <a:lnTo>
                  <a:pt x="61538" y="77308"/>
                </a:lnTo>
                <a:lnTo>
                  <a:pt x="62308" y="77308"/>
                </a:lnTo>
                <a:lnTo>
                  <a:pt x="63077" y="77308"/>
                </a:lnTo>
                <a:lnTo>
                  <a:pt x="65769" y="74615"/>
                </a:lnTo>
                <a:lnTo>
                  <a:pt x="65769" y="71538"/>
                </a:lnTo>
                <a:lnTo>
                  <a:pt x="65000" y="70000"/>
                </a:lnTo>
                <a:lnTo>
                  <a:pt x="61538" y="68077"/>
                </a:lnTo>
                <a:close/>
              </a:path>
            </a:pathLst>
          </a:custGeom>
          <a:solidFill>
            <a:srgbClr val="FFFFFF"/>
          </a:solidFill>
          <a:ln>
            <a:noFill/>
          </a:ln>
        </p:spPr>
        <p:txBody>
          <a:bodyPr/>
          <a:p/>
        </p:txBody>
      </p:sp>
      <p:sp>
        <p:nvSpPr>
          <p:cNvPr id="32" name="Text 29"/>
          <p:cNvSpPr/>
          <p:nvPr/>
        </p:nvSpPr>
        <p:spPr>
          <a:xfrm>
            <a:off x="9390888" y="3319272"/>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100 %</a:t>
            </a:r>
            <a:endParaRPr lang="en-US" sz="4400" dirty="0"/>
          </a:p>
        </p:txBody>
      </p:sp>
      <p:sp>
        <p:nvSpPr>
          <p:cNvPr id="33" name="Text 30"/>
          <p:cNvSpPr/>
          <p:nvPr/>
        </p:nvSpPr>
        <p:spPr>
          <a:xfrm>
            <a:off x="9400032" y="3922776"/>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Parents</a:t>
            </a:r>
            <a:endParaRPr lang="en-US" sz="1400" dirty="0"/>
          </a:p>
        </p:txBody>
      </p:sp>
      <p:sp>
        <p:nvSpPr>
          <p:cNvPr id="34" name="Shape 31"/>
          <p:cNvSpPr/>
          <p:nvPr/>
        </p:nvSpPr>
        <p:spPr>
          <a:xfrm>
            <a:off x="3776472" y="4617720"/>
            <a:ext cx="3904488" cy="1691640"/>
          </a:xfrm>
          <a:prstGeom prst="roundRect">
            <a:avLst>
              <a:gd name="adj" fmla="val 7568"/>
            </a:avLst>
          </a:prstGeom>
          <a:solidFill>
            <a:srgbClr val="EFF6FF"/>
          </a:solidFill>
          <a:ln w="12700">
            <a:solidFill>
              <a:srgbClr val="EFF6FF">
                <a:alpha val="0"/>
              </a:srgbClr>
            </a:solidFill>
            <a:prstDash val="solid"/>
          </a:ln>
        </p:spPr>
        <p:txBody>
          <a:bodyPr/>
          <a:p/>
        </p:txBody>
      </p:sp>
      <p:sp>
        <p:nvSpPr>
          <p:cNvPr id="35" name="Shape 32"/>
          <p:cNvSpPr/>
          <p:nvPr/>
        </p:nvSpPr>
        <p:spPr>
          <a:xfrm>
            <a:off x="3922776" y="4818888"/>
            <a:ext cx="914400" cy="914400"/>
          </a:xfrm>
          <a:prstGeom prst="ellipse">
            <a:avLst/>
          </a:prstGeom>
          <a:solidFill>
            <a:srgbClr val="0F766E"/>
          </a:solidFill>
          <a:ln w="12700">
            <a:solidFill>
              <a:srgbClr val="0F766E">
                <a:alpha val="0"/>
              </a:srgbClr>
            </a:solidFill>
            <a:prstDash val="solid"/>
          </a:ln>
        </p:spPr>
        <p:txBody>
          <a:bodyPr/>
          <a:p/>
        </p:txBody>
      </p:sp>
      <p:sp>
        <p:nvSpPr>
          <p:cNvPr id="36" name="Shape 33"/>
          <p:cNvSpPr/>
          <p:nvPr/>
        </p:nvSpPr>
        <p:spPr>
          <a:xfrm flipV="1">
            <a:off x="4105656" y="5001768"/>
            <a:ext cx="274320" cy="228600"/>
          </a:xfrm>
          <a:prstGeom prst="line">
            <a:avLst/>
          </a:prstGeom>
          <a:noFill/>
          <a:ln w="22860">
            <a:solidFill>
              <a:srgbClr val="FFFFFF"/>
            </a:solidFill>
            <a:prstDash val="solid"/>
          </a:ln>
        </p:spPr>
        <p:txBody>
          <a:bodyPr/>
          <a:p/>
        </p:txBody>
      </p:sp>
      <p:sp>
        <p:nvSpPr>
          <p:cNvPr id="37" name="Shape 34"/>
          <p:cNvSpPr/>
          <p:nvPr/>
        </p:nvSpPr>
        <p:spPr>
          <a:xfrm>
            <a:off x="4379976" y="5001768"/>
            <a:ext cx="274320" cy="228600"/>
          </a:xfrm>
          <a:prstGeom prst="line">
            <a:avLst/>
          </a:prstGeom>
          <a:noFill/>
          <a:ln w="22860">
            <a:solidFill>
              <a:srgbClr val="FFFFFF"/>
            </a:solidFill>
            <a:prstDash val="solid"/>
          </a:ln>
        </p:spPr>
        <p:txBody>
          <a:bodyPr/>
          <a:p/>
        </p:txBody>
      </p:sp>
      <p:sp>
        <p:nvSpPr>
          <p:cNvPr id="38" name="Shape 35"/>
          <p:cNvSpPr/>
          <p:nvPr/>
        </p:nvSpPr>
        <p:spPr>
          <a:xfrm>
            <a:off x="4178808" y="5184648"/>
            <a:ext cx="0" cy="347472"/>
          </a:xfrm>
          <a:prstGeom prst="line">
            <a:avLst/>
          </a:prstGeom>
          <a:noFill/>
          <a:ln w="22860">
            <a:solidFill>
              <a:srgbClr val="FFFFFF"/>
            </a:solidFill>
            <a:prstDash val="solid"/>
          </a:ln>
        </p:spPr>
        <p:txBody>
          <a:bodyPr/>
          <a:p/>
        </p:txBody>
      </p:sp>
      <p:sp>
        <p:nvSpPr>
          <p:cNvPr id="39" name="Shape 36"/>
          <p:cNvSpPr/>
          <p:nvPr/>
        </p:nvSpPr>
        <p:spPr>
          <a:xfrm>
            <a:off x="4581144" y="5184648"/>
            <a:ext cx="0" cy="347472"/>
          </a:xfrm>
          <a:prstGeom prst="line">
            <a:avLst/>
          </a:prstGeom>
          <a:noFill/>
          <a:ln w="22860">
            <a:solidFill>
              <a:srgbClr val="FFFFFF"/>
            </a:solidFill>
            <a:prstDash val="solid"/>
          </a:ln>
        </p:spPr>
        <p:txBody>
          <a:bodyPr/>
          <a:p/>
        </p:txBody>
      </p:sp>
      <p:sp>
        <p:nvSpPr>
          <p:cNvPr id="40" name="Shape 37"/>
          <p:cNvSpPr/>
          <p:nvPr/>
        </p:nvSpPr>
        <p:spPr>
          <a:xfrm>
            <a:off x="4178808" y="5532120"/>
            <a:ext cx="402336" cy="0"/>
          </a:xfrm>
          <a:prstGeom prst="line">
            <a:avLst/>
          </a:prstGeom>
          <a:noFill/>
          <a:ln w="22860">
            <a:solidFill>
              <a:srgbClr val="FFFFFF"/>
            </a:solidFill>
            <a:prstDash val="solid"/>
          </a:ln>
        </p:spPr>
        <p:txBody>
          <a:bodyPr/>
          <a:p/>
        </p:txBody>
      </p:sp>
      <p:sp>
        <p:nvSpPr>
          <p:cNvPr id="41" name="Shape 38"/>
          <p:cNvSpPr/>
          <p:nvPr/>
        </p:nvSpPr>
        <p:spPr>
          <a:xfrm>
            <a:off x="4315968" y="5321808"/>
            <a:ext cx="128016" cy="210312"/>
          </a:xfrm>
          <a:prstGeom prst="rect">
            <a:avLst/>
          </a:prstGeom>
          <a:solidFill>
            <a:srgbClr val="FFFFFF">
              <a:alpha val="0"/>
            </a:srgbClr>
          </a:solidFill>
          <a:ln w="22860">
            <a:solidFill>
              <a:srgbClr val="FFFFFF"/>
            </a:solidFill>
            <a:prstDash val="solid"/>
          </a:ln>
        </p:spPr>
        <p:txBody>
          <a:bodyPr/>
          <a:p/>
        </p:txBody>
      </p:sp>
      <p:sp>
        <p:nvSpPr>
          <p:cNvPr id="42" name="Text 39"/>
          <p:cNvSpPr/>
          <p:nvPr/>
        </p:nvSpPr>
        <p:spPr>
          <a:xfrm>
            <a:off x="4946904" y="4828032"/>
            <a:ext cx="2551176" cy="320040"/>
          </a:xfrm>
          <a:prstGeom prst="rect">
            <a:avLst/>
          </a:prstGeom>
          <a:noFill/>
          <a:ln/>
        </p:spPr>
        <p:txBody>
          <a:bodyPr wrap="square" lIns="0" tIns="0" rIns="0" bIns="0" rtlCol="0" anchor="ctr"/>
          <a:lstStyle/>
          <a:p>
            <a:pPr indent="0" marL="0">
              <a:buNone/>
            </a:pPr>
            <a:r>
              <a:rPr lang="en-US" sz="2100" b="1" dirty="0">
                <a:solidFill>
                  <a:srgbClr val="17324D"/>
                </a:solidFill>
                <a:latin typeface="Aptos" pitchFamily="34" charset="0"/>
                <a:ea typeface="Segoe UI" pitchFamily="34" charset="-122"/>
                <a:cs typeface="Segoe UI" pitchFamily="34" charset="-120"/>
              </a:rPr>
              <a:t>Profil du foyer</a:t>
            </a:r>
            <a:endParaRPr lang="en-US" sz="2100" dirty="0"/>
          </a:p>
        </p:txBody>
      </p:sp>
      <p:sp>
        <p:nvSpPr>
          <p:cNvPr id="43" name="Text 40"/>
          <p:cNvSpPr/>
          <p:nvPr/>
        </p:nvSpPr>
        <p:spPr>
          <a:xfrm>
            <a:off x="4946904" y="5340096"/>
            <a:ext cx="2496312" cy="850392"/>
          </a:xfrm>
          <a:prstGeom prst="rect">
            <a:avLst/>
          </a:prstGeom>
          <a:noFill/>
          <a:ln/>
        </p:spPr>
        <p:txBody>
          <a:bodyPr wrap="square" lIns="0" tIns="0" rIns="0" bIns="0" rtlCol="0" anchor="t"/>
          <a:lstStyle/>
          <a:p>
            <a:pPr indent="0" marL="0">
              <a:buNone/>
            </a:pPr>
            <a:r>
              <a:rPr lang="en-US" sz="1400" dirty="0">
                <a:solidFill>
                  <a:srgbClr val="334155"/>
                </a:solidFill>
                <a:latin typeface="Aptos" pitchFamily="34" charset="0"/>
                <a:ea typeface="Segoe UI" pitchFamily="34" charset="-122"/>
                <a:cs typeface="Segoe UI" pitchFamily="34" charset="-120"/>
              </a:rPr>
              <a:t>Souvent un adolescent et</a:t>
            </a:r>
            <a:endParaRPr lang="en-US" sz="1400" dirty="0"/>
          </a:p>
          <a:p>
            <a:pPr indent="0" marL="0">
              <a:buNone/>
            </a:pPr>
            <a:r>
              <a:rPr lang="en-US" sz="1400" dirty="0">
                <a:solidFill>
                  <a:srgbClr val="334155"/>
                </a:solidFill>
                <a:latin typeface="Aptos" pitchFamily="34" charset="0"/>
                <a:ea typeface="Segoe UI" pitchFamily="34" charset="-122"/>
                <a:cs typeface="Segoe UI" pitchFamily="34" charset="-120"/>
              </a:rPr>
              <a:t>un jeune enfant.</a:t>
            </a:r>
            <a:endParaRPr lang="en-US" sz="1400" dirty="0"/>
          </a:p>
          <a:p>
            <a:pPr indent="0" marL="0">
              <a:buNone/>
            </a:pPr>
            <a:r>
              <a:rPr lang="en-US" sz="1400" dirty="0">
                <a:solidFill>
                  <a:srgbClr val="334155"/>
                </a:solidFill>
                <a:latin typeface="Aptos" pitchFamily="34" charset="0"/>
                <a:ea typeface="Segoe UI" pitchFamily="34" charset="-122"/>
                <a:cs typeface="Segoe UI" pitchFamily="34" charset="-120"/>
              </a:rPr>
              <a:t>Foyers de 2 à 5 personnes.</a:t>
            </a:r>
            <a:endParaRPr lang="en-US" sz="1400" dirty="0"/>
          </a:p>
        </p:txBody>
      </p:sp>
      <p:sp>
        <p:nvSpPr>
          <p:cNvPr id="44" name="Shape 41"/>
          <p:cNvSpPr/>
          <p:nvPr/>
        </p:nvSpPr>
        <p:spPr>
          <a:xfrm>
            <a:off x="7790688" y="4617720"/>
            <a:ext cx="4123944" cy="1691640"/>
          </a:xfrm>
          <a:prstGeom prst="roundRect">
            <a:avLst>
              <a:gd name="adj" fmla="val 7568"/>
            </a:avLst>
          </a:prstGeom>
          <a:solidFill>
            <a:srgbClr val="F3F4F6"/>
          </a:solidFill>
          <a:ln w="12700">
            <a:solidFill>
              <a:srgbClr val="F3F4F6">
                <a:alpha val="0"/>
              </a:srgbClr>
            </a:solidFill>
            <a:prstDash val="solid"/>
          </a:ln>
        </p:spPr>
        <p:txBody>
          <a:bodyPr/>
          <a:p/>
        </p:txBody>
      </p:sp>
      <p:sp>
        <p:nvSpPr>
          <p:cNvPr id="45" name="Shape 42"/>
          <p:cNvSpPr/>
          <p:nvPr/>
        </p:nvSpPr>
        <p:spPr>
          <a:xfrm>
            <a:off x="7882128" y="4800600"/>
            <a:ext cx="1005840" cy="1005840"/>
          </a:xfrm>
          <a:prstGeom prst="ellipse">
            <a:avLst/>
          </a:prstGeom>
          <a:solidFill>
            <a:srgbClr val="0F766E"/>
          </a:solidFill>
          <a:ln w="12700">
            <a:solidFill>
              <a:srgbClr val="6D28D9">
                <a:alpha val="0"/>
              </a:srgbClr>
            </a:solidFill>
            <a:prstDash val="solid"/>
          </a:ln>
        </p:spPr>
        <p:txBody>
          <a:bodyPr/>
          <a:p/>
        </p:txBody>
      </p:sp>
      <p:sp>
        <p:nvSpPr>
          <p:cNvPr id="46" name="VECTOR_target2_50"/>
          <p:cNvSpPr/>
          <p:nvPr/>
        </p:nvSpPr>
        <p:spPr>
          <a:xfrm>
            <a:off x="7882128" y="4800600"/>
            <a:ext cx="1005840" cy="1005840"/>
          </a:xfrm>
          <a:custGeom>
            <a:avLst/>
            <a:gdLst/>
            <a:ahLst/>
            <a:cxnLst/>
            <a:rect l="0" t="0" r="r" b="b"/>
            <a:pathLst>
              <a:path w="100000" h="100000" fill="norm" stroke="false" extrusionOk="false">
                <a:moveTo>
                  <a:pt x="71875" y="19643"/>
                </a:moveTo>
                <a:lnTo>
                  <a:pt x="72321" y="19196"/>
                </a:lnTo>
                <a:lnTo>
                  <a:pt x="72768" y="19643"/>
                </a:lnTo>
                <a:lnTo>
                  <a:pt x="72768" y="24107"/>
                </a:lnTo>
                <a:lnTo>
                  <a:pt x="73214" y="24554"/>
                </a:lnTo>
                <a:lnTo>
                  <a:pt x="73661" y="25000"/>
                </a:lnTo>
                <a:lnTo>
                  <a:pt x="73661" y="25893"/>
                </a:lnTo>
                <a:lnTo>
                  <a:pt x="73661" y="26786"/>
                </a:lnTo>
                <a:lnTo>
                  <a:pt x="75000" y="28125"/>
                </a:lnTo>
                <a:lnTo>
                  <a:pt x="80357" y="28125"/>
                </a:lnTo>
                <a:lnTo>
                  <a:pt x="80804" y="28571"/>
                </a:lnTo>
                <a:lnTo>
                  <a:pt x="72321" y="37054"/>
                </a:lnTo>
                <a:lnTo>
                  <a:pt x="71875" y="36607"/>
                </a:lnTo>
                <a:lnTo>
                  <a:pt x="71429" y="36161"/>
                </a:lnTo>
                <a:lnTo>
                  <a:pt x="68750" y="36161"/>
                </a:lnTo>
                <a:lnTo>
                  <a:pt x="66964" y="35268"/>
                </a:lnTo>
                <a:lnTo>
                  <a:pt x="57589" y="44643"/>
                </a:lnTo>
                <a:lnTo>
                  <a:pt x="54464" y="48661"/>
                </a:lnTo>
                <a:lnTo>
                  <a:pt x="52679" y="49554"/>
                </a:lnTo>
                <a:lnTo>
                  <a:pt x="51339" y="48214"/>
                </a:lnTo>
                <a:lnTo>
                  <a:pt x="64732" y="34821"/>
                </a:lnTo>
                <a:lnTo>
                  <a:pt x="64732" y="26786"/>
                </a:lnTo>
                <a:lnTo>
                  <a:pt x="71875" y="19643"/>
                </a:lnTo>
                <a:close/>
                <a:moveTo>
                  <a:pt x="70536" y="23661"/>
                </a:moveTo>
                <a:lnTo>
                  <a:pt x="66518" y="27679"/>
                </a:lnTo>
                <a:lnTo>
                  <a:pt x="66518" y="33036"/>
                </a:lnTo>
                <a:lnTo>
                  <a:pt x="67857" y="34375"/>
                </a:lnTo>
                <a:lnTo>
                  <a:pt x="72321" y="34375"/>
                </a:lnTo>
                <a:lnTo>
                  <a:pt x="75000" y="31696"/>
                </a:lnTo>
                <a:lnTo>
                  <a:pt x="75893" y="31696"/>
                </a:lnTo>
                <a:lnTo>
                  <a:pt x="76339" y="31250"/>
                </a:lnTo>
                <a:lnTo>
                  <a:pt x="76339" y="30357"/>
                </a:lnTo>
                <a:lnTo>
                  <a:pt x="76339" y="29464"/>
                </a:lnTo>
                <a:lnTo>
                  <a:pt x="72321" y="29018"/>
                </a:lnTo>
                <a:lnTo>
                  <a:pt x="71875" y="28571"/>
                </a:lnTo>
                <a:lnTo>
                  <a:pt x="71875" y="24107"/>
                </a:lnTo>
                <a:lnTo>
                  <a:pt x="71429" y="23661"/>
                </a:lnTo>
                <a:lnTo>
                  <a:pt x="70536" y="23661"/>
                </a:lnTo>
                <a:close/>
                <a:moveTo>
                  <a:pt x="45982" y="27679"/>
                </a:moveTo>
                <a:lnTo>
                  <a:pt x="46429" y="27232"/>
                </a:lnTo>
                <a:lnTo>
                  <a:pt x="51786" y="27232"/>
                </a:lnTo>
                <a:lnTo>
                  <a:pt x="52232" y="27679"/>
                </a:lnTo>
                <a:lnTo>
                  <a:pt x="52679" y="28125"/>
                </a:lnTo>
                <a:lnTo>
                  <a:pt x="55357" y="28125"/>
                </a:lnTo>
                <a:lnTo>
                  <a:pt x="55804" y="28571"/>
                </a:lnTo>
                <a:lnTo>
                  <a:pt x="56250" y="29018"/>
                </a:lnTo>
                <a:lnTo>
                  <a:pt x="57143" y="29018"/>
                </a:lnTo>
                <a:lnTo>
                  <a:pt x="58036" y="29018"/>
                </a:lnTo>
                <a:lnTo>
                  <a:pt x="59821" y="29911"/>
                </a:lnTo>
                <a:lnTo>
                  <a:pt x="60268" y="30357"/>
                </a:lnTo>
                <a:lnTo>
                  <a:pt x="60268" y="31250"/>
                </a:lnTo>
                <a:lnTo>
                  <a:pt x="59821" y="31696"/>
                </a:lnTo>
                <a:lnTo>
                  <a:pt x="58929" y="31696"/>
                </a:lnTo>
                <a:lnTo>
                  <a:pt x="56250" y="29911"/>
                </a:lnTo>
                <a:lnTo>
                  <a:pt x="52679" y="29911"/>
                </a:lnTo>
                <a:lnTo>
                  <a:pt x="52232" y="29464"/>
                </a:lnTo>
                <a:lnTo>
                  <a:pt x="51786" y="29018"/>
                </a:lnTo>
                <a:lnTo>
                  <a:pt x="47321" y="29018"/>
                </a:lnTo>
                <a:lnTo>
                  <a:pt x="46875" y="29464"/>
                </a:lnTo>
                <a:lnTo>
                  <a:pt x="46429" y="29911"/>
                </a:lnTo>
                <a:lnTo>
                  <a:pt x="43750" y="29911"/>
                </a:lnTo>
                <a:lnTo>
                  <a:pt x="43304" y="30357"/>
                </a:lnTo>
                <a:lnTo>
                  <a:pt x="42857" y="30804"/>
                </a:lnTo>
                <a:lnTo>
                  <a:pt x="41964" y="30804"/>
                </a:lnTo>
                <a:lnTo>
                  <a:pt x="41071" y="30804"/>
                </a:lnTo>
                <a:lnTo>
                  <a:pt x="37500" y="32589"/>
                </a:lnTo>
                <a:lnTo>
                  <a:pt x="30804" y="39286"/>
                </a:lnTo>
                <a:lnTo>
                  <a:pt x="29018" y="42857"/>
                </a:lnTo>
                <a:lnTo>
                  <a:pt x="29018" y="43750"/>
                </a:lnTo>
                <a:lnTo>
                  <a:pt x="29018" y="44643"/>
                </a:lnTo>
                <a:lnTo>
                  <a:pt x="28571" y="45089"/>
                </a:lnTo>
                <a:lnTo>
                  <a:pt x="28125" y="45536"/>
                </a:lnTo>
                <a:lnTo>
                  <a:pt x="28125" y="54464"/>
                </a:lnTo>
                <a:lnTo>
                  <a:pt x="28571" y="54911"/>
                </a:lnTo>
                <a:lnTo>
                  <a:pt x="29018" y="55357"/>
                </a:lnTo>
                <a:lnTo>
                  <a:pt x="29018" y="58036"/>
                </a:lnTo>
                <a:lnTo>
                  <a:pt x="31696" y="63393"/>
                </a:lnTo>
                <a:lnTo>
                  <a:pt x="37500" y="69196"/>
                </a:lnTo>
                <a:lnTo>
                  <a:pt x="44643" y="72768"/>
                </a:lnTo>
                <a:lnTo>
                  <a:pt x="53571" y="72768"/>
                </a:lnTo>
                <a:lnTo>
                  <a:pt x="54018" y="72321"/>
                </a:lnTo>
                <a:lnTo>
                  <a:pt x="54464" y="71875"/>
                </a:lnTo>
                <a:lnTo>
                  <a:pt x="57143" y="71875"/>
                </a:lnTo>
                <a:lnTo>
                  <a:pt x="62500" y="69196"/>
                </a:lnTo>
                <a:lnTo>
                  <a:pt x="67411" y="64286"/>
                </a:lnTo>
                <a:lnTo>
                  <a:pt x="67411" y="63393"/>
                </a:lnTo>
                <a:lnTo>
                  <a:pt x="70089" y="59821"/>
                </a:lnTo>
                <a:lnTo>
                  <a:pt x="70089" y="58929"/>
                </a:lnTo>
                <a:lnTo>
                  <a:pt x="70089" y="58036"/>
                </a:lnTo>
                <a:lnTo>
                  <a:pt x="71875" y="54464"/>
                </a:lnTo>
                <a:lnTo>
                  <a:pt x="71875" y="50000"/>
                </a:lnTo>
                <a:lnTo>
                  <a:pt x="71429" y="49554"/>
                </a:lnTo>
                <a:lnTo>
                  <a:pt x="70982" y="49107"/>
                </a:lnTo>
                <a:lnTo>
                  <a:pt x="70982" y="45536"/>
                </a:lnTo>
                <a:lnTo>
                  <a:pt x="68304" y="41071"/>
                </a:lnTo>
                <a:lnTo>
                  <a:pt x="69643" y="39732"/>
                </a:lnTo>
                <a:lnTo>
                  <a:pt x="71875" y="41964"/>
                </a:lnTo>
                <a:lnTo>
                  <a:pt x="71875" y="42857"/>
                </a:lnTo>
                <a:lnTo>
                  <a:pt x="71875" y="43750"/>
                </a:lnTo>
                <a:lnTo>
                  <a:pt x="72321" y="44196"/>
                </a:lnTo>
                <a:lnTo>
                  <a:pt x="72768" y="44643"/>
                </a:lnTo>
                <a:lnTo>
                  <a:pt x="72768" y="47321"/>
                </a:lnTo>
                <a:lnTo>
                  <a:pt x="73214" y="47768"/>
                </a:lnTo>
                <a:lnTo>
                  <a:pt x="73661" y="48214"/>
                </a:lnTo>
                <a:lnTo>
                  <a:pt x="73661" y="54464"/>
                </a:lnTo>
                <a:lnTo>
                  <a:pt x="73214" y="54911"/>
                </a:lnTo>
                <a:lnTo>
                  <a:pt x="72768" y="55357"/>
                </a:lnTo>
                <a:lnTo>
                  <a:pt x="72768" y="58036"/>
                </a:lnTo>
                <a:lnTo>
                  <a:pt x="72321" y="58482"/>
                </a:lnTo>
                <a:lnTo>
                  <a:pt x="71875" y="58929"/>
                </a:lnTo>
                <a:lnTo>
                  <a:pt x="71875" y="59821"/>
                </a:lnTo>
                <a:lnTo>
                  <a:pt x="71875" y="60714"/>
                </a:lnTo>
                <a:lnTo>
                  <a:pt x="69196" y="64286"/>
                </a:lnTo>
                <a:lnTo>
                  <a:pt x="69196" y="65179"/>
                </a:lnTo>
                <a:lnTo>
                  <a:pt x="64286" y="70089"/>
                </a:lnTo>
                <a:lnTo>
                  <a:pt x="63393" y="70089"/>
                </a:lnTo>
                <a:lnTo>
                  <a:pt x="61607" y="71875"/>
                </a:lnTo>
                <a:lnTo>
                  <a:pt x="58036" y="73661"/>
                </a:lnTo>
                <a:lnTo>
                  <a:pt x="57143" y="73661"/>
                </a:lnTo>
                <a:lnTo>
                  <a:pt x="56250" y="73661"/>
                </a:lnTo>
                <a:lnTo>
                  <a:pt x="55804" y="74107"/>
                </a:lnTo>
                <a:lnTo>
                  <a:pt x="55357" y="74554"/>
                </a:lnTo>
                <a:lnTo>
                  <a:pt x="44643" y="74554"/>
                </a:lnTo>
                <a:lnTo>
                  <a:pt x="44196" y="74107"/>
                </a:lnTo>
                <a:lnTo>
                  <a:pt x="43750" y="73661"/>
                </a:lnTo>
                <a:lnTo>
                  <a:pt x="39286" y="72768"/>
                </a:lnTo>
                <a:lnTo>
                  <a:pt x="37500" y="70982"/>
                </a:lnTo>
                <a:lnTo>
                  <a:pt x="33929" y="69196"/>
                </a:lnTo>
                <a:lnTo>
                  <a:pt x="29018" y="63393"/>
                </a:lnTo>
                <a:lnTo>
                  <a:pt x="27232" y="59821"/>
                </a:lnTo>
                <a:lnTo>
                  <a:pt x="27232" y="57143"/>
                </a:lnTo>
                <a:lnTo>
                  <a:pt x="26786" y="56696"/>
                </a:lnTo>
                <a:lnTo>
                  <a:pt x="26339" y="56250"/>
                </a:lnTo>
                <a:lnTo>
                  <a:pt x="26339" y="44643"/>
                </a:lnTo>
                <a:lnTo>
                  <a:pt x="26786" y="44196"/>
                </a:lnTo>
                <a:lnTo>
                  <a:pt x="27232" y="43750"/>
                </a:lnTo>
                <a:lnTo>
                  <a:pt x="27232" y="42857"/>
                </a:lnTo>
                <a:lnTo>
                  <a:pt x="27232" y="41964"/>
                </a:lnTo>
                <a:lnTo>
                  <a:pt x="29018" y="38393"/>
                </a:lnTo>
                <a:lnTo>
                  <a:pt x="30804" y="36607"/>
                </a:lnTo>
                <a:lnTo>
                  <a:pt x="30804" y="35714"/>
                </a:lnTo>
                <a:lnTo>
                  <a:pt x="34821" y="31696"/>
                </a:lnTo>
                <a:lnTo>
                  <a:pt x="41964" y="28125"/>
                </a:lnTo>
                <a:lnTo>
                  <a:pt x="45982" y="27679"/>
                </a:lnTo>
                <a:close/>
                <a:moveTo>
                  <a:pt x="45089" y="37500"/>
                </a:moveTo>
                <a:lnTo>
                  <a:pt x="45536" y="37054"/>
                </a:lnTo>
                <a:lnTo>
                  <a:pt x="52679" y="37054"/>
                </a:lnTo>
                <a:lnTo>
                  <a:pt x="54464" y="37946"/>
                </a:lnTo>
                <a:lnTo>
                  <a:pt x="54911" y="38393"/>
                </a:lnTo>
                <a:lnTo>
                  <a:pt x="54911" y="39286"/>
                </a:lnTo>
                <a:lnTo>
                  <a:pt x="51786" y="39732"/>
                </a:lnTo>
                <a:lnTo>
                  <a:pt x="51339" y="39286"/>
                </a:lnTo>
                <a:lnTo>
                  <a:pt x="50893" y="38839"/>
                </a:lnTo>
                <a:lnTo>
                  <a:pt x="45536" y="38839"/>
                </a:lnTo>
                <a:lnTo>
                  <a:pt x="43750" y="39732"/>
                </a:lnTo>
                <a:lnTo>
                  <a:pt x="38839" y="44643"/>
                </a:lnTo>
                <a:lnTo>
                  <a:pt x="37946" y="46429"/>
                </a:lnTo>
                <a:lnTo>
                  <a:pt x="37946" y="49107"/>
                </a:lnTo>
                <a:lnTo>
                  <a:pt x="37054" y="50893"/>
                </a:lnTo>
                <a:lnTo>
                  <a:pt x="37500" y="51339"/>
                </a:lnTo>
                <a:lnTo>
                  <a:pt x="37946" y="51786"/>
                </a:lnTo>
                <a:lnTo>
                  <a:pt x="37946" y="54464"/>
                </a:lnTo>
                <a:lnTo>
                  <a:pt x="38393" y="54911"/>
                </a:lnTo>
                <a:lnTo>
                  <a:pt x="38839" y="55357"/>
                </a:lnTo>
                <a:lnTo>
                  <a:pt x="38839" y="56250"/>
                </a:lnTo>
                <a:lnTo>
                  <a:pt x="38839" y="57143"/>
                </a:lnTo>
                <a:lnTo>
                  <a:pt x="44643" y="62946"/>
                </a:lnTo>
                <a:lnTo>
                  <a:pt x="45536" y="62946"/>
                </a:lnTo>
                <a:lnTo>
                  <a:pt x="46429" y="62946"/>
                </a:lnTo>
                <a:lnTo>
                  <a:pt x="46875" y="63393"/>
                </a:lnTo>
                <a:lnTo>
                  <a:pt x="47321" y="63839"/>
                </a:lnTo>
                <a:lnTo>
                  <a:pt x="51786" y="63839"/>
                </a:lnTo>
                <a:lnTo>
                  <a:pt x="52232" y="63393"/>
                </a:lnTo>
                <a:lnTo>
                  <a:pt x="52679" y="62946"/>
                </a:lnTo>
                <a:lnTo>
                  <a:pt x="53571" y="62946"/>
                </a:lnTo>
                <a:lnTo>
                  <a:pt x="54464" y="62946"/>
                </a:lnTo>
                <a:lnTo>
                  <a:pt x="56250" y="62054"/>
                </a:lnTo>
                <a:lnTo>
                  <a:pt x="60268" y="58036"/>
                </a:lnTo>
                <a:lnTo>
                  <a:pt x="62054" y="54464"/>
                </a:lnTo>
                <a:lnTo>
                  <a:pt x="62054" y="50000"/>
                </a:lnTo>
                <a:lnTo>
                  <a:pt x="61161" y="48214"/>
                </a:lnTo>
                <a:lnTo>
                  <a:pt x="61161" y="47321"/>
                </a:lnTo>
                <a:lnTo>
                  <a:pt x="61161" y="46429"/>
                </a:lnTo>
                <a:lnTo>
                  <a:pt x="62500" y="45089"/>
                </a:lnTo>
                <a:lnTo>
                  <a:pt x="63839" y="47321"/>
                </a:lnTo>
                <a:lnTo>
                  <a:pt x="63839" y="55357"/>
                </a:lnTo>
                <a:lnTo>
                  <a:pt x="62054" y="58929"/>
                </a:lnTo>
                <a:lnTo>
                  <a:pt x="58036" y="62946"/>
                </a:lnTo>
                <a:lnTo>
                  <a:pt x="54464" y="64732"/>
                </a:lnTo>
                <a:lnTo>
                  <a:pt x="48214" y="65625"/>
                </a:lnTo>
                <a:lnTo>
                  <a:pt x="47768" y="65179"/>
                </a:lnTo>
                <a:lnTo>
                  <a:pt x="47321" y="64732"/>
                </a:lnTo>
                <a:lnTo>
                  <a:pt x="42857" y="63839"/>
                </a:lnTo>
                <a:lnTo>
                  <a:pt x="41071" y="62054"/>
                </a:lnTo>
                <a:lnTo>
                  <a:pt x="40179" y="62054"/>
                </a:lnTo>
                <a:lnTo>
                  <a:pt x="37946" y="59821"/>
                </a:lnTo>
                <a:lnTo>
                  <a:pt x="35268" y="54464"/>
                </a:lnTo>
                <a:lnTo>
                  <a:pt x="35268" y="48214"/>
                </a:lnTo>
                <a:lnTo>
                  <a:pt x="35714" y="47768"/>
                </a:lnTo>
                <a:lnTo>
                  <a:pt x="36161" y="47321"/>
                </a:lnTo>
                <a:lnTo>
                  <a:pt x="36161" y="46429"/>
                </a:lnTo>
                <a:lnTo>
                  <a:pt x="36161" y="45536"/>
                </a:lnTo>
                <a:lnTo>
                  <a:pt x="37946" y="41964"/>
                </a:lnTo>
                <a:lnTo>
                  <a:pt x="40179" y="39732"/>
                </a:lnTo>
                <a:lnTo>
                  <a:pt x="45089" y="37500"/>
                </a:lnTo>
                <a:close/>
                <a:moveTo>
                  <a:pt x="47768" y="45536"/>
                </a:moveTo>
                <a:lnTo>
                  <a:pt x="48214" y="45089"/>
                </a:lnTo>
                <a:lnTo>
                  <a:pt x="50446" y="45536"/>
                </a:lnTo>
                <a:lnTo>
                  <a:pt x="45982" y="50000"/>
                </a:lnTo>
                <a:lnTo>
                  <a:pt x="45982" y="50893"/>
                </a:lnTo>
                <a:lnTo>
                  <a:pt x="49107" y="54018"/>
                </a:lnTo>
                <a:lnTo>
                  <a:pt x="50000" y="54018"/>
                </a:lnTo>
                <a:lnTo>
                  <a:pt x="50893" y="54018"/>
                </a:lnTo>
                <a:lnTo>
                  <a:pt x="54464" y="50446"/>
                </a:lnTo>
                <a:lnTo>
                  <a:pt x="54911" y="50893"/>
                </a:lnTo>
                <a:lnTo>
                  <a:pt x="54911" y="51786"/>
                </a:lnTo>
                <a:lnTo>
                  <a:pt x="54911" y="52679"/>
                </a:lnTo>
                <a:lnTo>
                  <a:pt x="54911" y="53571"/>
                </a:lnTo>
                <a:lnTo>
                  <a:pt x="52679" y="55804"/>
                </a:lnTo>
                <a:lnTo>
                  <a:pt x="51786" y="55804"/>
                </a:lnTo>
                <a:lnTo>
                  <a:pt x="50893" y="55804"/>
                </a:lnTo>
                <a:lnTo>
                  <a:pt x="50446" y="56250"/>
                </a:lnTo>
                <a:lnTo>
                  <a:pt x="50000" y="56696"/>
                </a:lnTo>
                <a:lnTo>
                  <a:pt x="49554" y="56250"/>
                </a:lnTo>
                <a:lnTo>
                  <a:pt x="49107" y="55804"/>
                </a:lnTo>
                <a:lnTo>
                  <a:pt x="48214" y="55804"/>
                </a:lnTo>
                <a:lnTo>
                  <a:pt x="47321" y="55804"/>
                </a:lnTo>
                <a:lnTo>
                  <a:pt x="44196" y="52679"/>
                </a:lnTo>
                <a:lnTo>
                  <a:pt x="44196" y="49107"/>
                </a:lnTo>
                <a:lnTo>
                  <a:pt x="45089" y="47321"/>
                </a:lnTo>
                <a:lnTo>
                  <a:pt x="47768" y="45536"/>
                </a:lnTo>
                <a:close/>
              </a:path>
            </a:pathLst>
          </a:custGeom>
          <a:solidFill>
            <a:srgbClr val="FFFFFF"/>
          </a:solidFill>
          <a:ln>
            <a:noFill/>
          </a:ln>
        </p:spPr>
        <p:txBody>
          <a:bodyPr/>
          <a:p/>
        </p:txBody>
      </p:sp>
      <p:sp>
        <p:nvSpPr>
          <p:cNvPr id="47" name="Text 44"/>
          <p:cNvSpPr/>
          <p:nvPr/>
        </p:nvSpPr>
        <p:spPr>
          <a:xfrm>
            <a:off x="9208008" y="4846320"/>
            <a:ext cx="2523744" cy="338328"/>
          </a:xfrm>
          <a:prstGeom prst="rect">
            <a:avLst/>
          </a:prstGeom>
          <a:noFill/>
          <a:ln/>
        </p:spPr>
        <p:txBody>
          <a:bodyPr wrap="square" lIns="0" tIns="0" rIns="0" bIns="0" rtlCol="0" anchor="ctr"/>
          <a:lstStyle/>
          <a:p>
            <a:pPr indent="0" marL="0">
              <a:buNone/>
            </a:pPr>
            <a:r>
              <a:rPr lang="en-US" sz="1640" b="1" dirty="0">
                <a:solidFill>
                  <a:srgbClr val="17324D"/>
                </a:solidFill>
                <a:latin typeface="Aptos" pitchFamily="34" charset="0"/>
                <a:ea typeface="Segoe UI" pitchFamily="34" charset="-122"/>
                <a:cs typeface="Segoe UI" pitchFamily="34" charset="-120"/>
              </a:rPr>
              <a:t>Réponse aux campagnes</a:t>
            </a:r>
            <a:endParaRPr lang="en-US" sz="1640" dirty="0"/>
          </a:p>
        </p:txBody>
      </p:sp>
      <p:sp>
        <p:nvSpPr>
          <p:cNvPr id="48" name="Text 45"/>
          <p:cNvSpPr/>
          <p:nvPr/>
        </p:nvSpPr>
        <p:spPr>
          <a:xfrm>
            <a:off x="9208008" y="5340096"/>
            <a:ext cx="2514600" cy="905256"/>
          </a:xfrm>
          <a:prstGeom prst="rect">
            <a:avLst/>
          </a:prstGeom>
          <a:noFill/>
          <a:ln/>
        </p:spPr>
        <p:txBody>
          <a:bodyPr wrap="square" lIns="0" tIns="0" rIns="0" bIns="0" rtlCol="0" anchor="t"/>
          <a:lstStyle/>
          <a:p>
            <a:pPr indent="0" marL="0">
              <a:buNone/>
            </a:pPr>
            <a:r>
              <a:rPr lang="en-US" sz="1350" dirty="0">
                <a:solidFill>
                  <a:srgbClr val="334155"/>
                </a:solidFill>
                <a:latin typeface="Aptos" pitchFamily="34" charset="0"/>
                <a:ea typeface="Segoe UI" pitchFamily="34" charset="-122"/>
                <a:cs typeface="Segoe UI" pitchFamily="34" charset="-120"/>
              </a:rPr>
              <a:t>6 % de réponses à la dernière</a:t>
            </a:r>
            <a:endParaRPr lang="en-US" sz="1350" dirty="0"/>
          </a:p>
          <a:p>
            <a:pPr indent="0" marL="0">
              <a:buNone/>
            </a:pPr>
            <a:r>
              <a:rPr lang="en-US" sz="1350" dirty="0">
                <a:solidFill>
                  <a:srgbClr val="334155"/>
                </a:solidFill>
                <a:latin typeface="Aptos" pitchFamily="34" charset="0"/>
                <a:ea typeface="Segoe UI" pitchFamily="34" charset="-122"/>
                <a:cs typeface="Segoe UI" pitchFamily="34" charset="-120"/>
              </a:rPr>
              <a:t>campagne marketing, soit</a:t>
            </a:r>
            <a:endParaRPr lang="en-US" sz="1350" dirty="0"/>
          </a:p>
          <a:p>
            <a:pPr indent="0" marL="0">
              <a:buNone/>
            </a:pPr>
            <a:r>
              <a:rPr lang="en-US" sz="1350" dirty="0">
                <a:solidFill>
                  <a:srgbClr val="334155"/>
                </a:solidFill>
                <a:latin typeface="Aptos" pitchFamily="34" charset="0"/>
                <a:ea typeface="Segoe UI" pitchFamily="34" charset="-122"/>
                <a:cs typeface="Segoe UI" pitchFamily="34" charset="-120"/>
              </a:rPr>
              <a:t>le taux le plus faible.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201168"/>
            <a:ext cx="11301984" cy="1024128"/>
          </a:xfrm>
          <a:prstGeom prst="rect">
            <a:avLst/>
          </a:prstGeom>
          <a:noFill/>
          <a:ln/>
        </p:spPr>
        <p:txBody>
          <a:bodyPr wrap="square" lIns="0" tIns="0" rIns="0" bIns="0" rtlCol="0" anchor="ctr"/>
          <a:lstStyle/>
          <a:p>
            <a:pPr indent="0" marL="0">
              <a:buNone/>
            </a:pPr>
            <a:r>
              <a:rPr lang="en-US" sz="3400" b="1" dirty="0">
                <a:solidFill>
                  <a:srgbClr val="2563EB"/>
                </a:solidFill>
                <a:latin typeface="Aptos" pitchFamily="34" charset="0"/>
                <a:ea typeface="Segoe UI" pitchFamily="34" charset="-122"/>
                <a:cs typeface="Segoe UI" pitchFamily="34" charset="-120"/>
              </a:rPr>
              <a:t>12. Cluster 2 : Foyers avec enfants</a:t>
            </a:r>
            <a:endParaRPr lang="en-US" sz="3600" dirty="0"/>
          </a:p>
          <a:p>
            <a:pPr indent="0" marL="0">
              <a:buNone/>
            </a:pPr>
            <a:r>
              <a:rPr lang="en-US" sz="3400" b="1" dirty="0">
                <a:solidFill>
                  <a:srgbClr val="2563EB"/>
                </a:solidFill>
                <a:latin typeface="Aptos" pitchFamily="34" charset="0"/>
                <a:ea typeface="Segoe UI" pitchFamily="34" charset="-122"/>
                <a:cs typeface="Segoe UI" pitchFamily="34" charset="-120"/>
              </a:rPr>
              <a:t>et dépenses intermédiaires</a:t>
            </a:r>
          </a:p>
        </p:txBody>
      </p:sp>
      <p:sp>
        <p:nvSpPr>
          <p:cNvPr id="3" name="Text 1"/>
          <p:cNvSpPr/>
          <p:nvPr/>
        </p:nvSpPr>
        <p:spPr>
          <a:xfrm>
            <a:off x="457200" y="1307592"/>
            <a:ext cx="11228832" cy="283464"/>
          </a:xfrm>
          <a:prstGeom prst="rect">
            <a:avLst/>
          </a:prstGeom>
          <a:noFill/>
          <a:ln/>
        </p:spPr>
        <p:txBody>
          <a:bodyPr wrap="square" lIns="0" tIns="0" rIns="0" bIns="0" rtlCol="0" anchor="ctr"/>
          <a:lstStyle/>
          <a:p>
            <a:pPr indent="0" marL="0">
              <a:buNone/>
            </a:pPr>
            <a:r>
              <a:rPr lang="en-US" sz="1500" dirty="0">
                <a:solidFill>
                  <a:srgbClr val="17324D"/>
                </a:solidFill>
                <a:latin typeface="Aptos" pitchFamily="34" charset="0"/>
                <a:ea typeface="Segoe UI" pitchFamily="34" charset="-122"/>
                <a:cs typeface="Segoe UI" pitchFamily="34" charset="-120"/>
              </a:rPr>
              <a:t>Ce segment combine revenu élevé, forte activité web et record d’achats en promotion.</a:t>
            </a:r>
            <a:endParaRPr lang="en-US" sz="150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Montants : unités du jeu de données · Âges en 2014 · Projet collectif ENSEA</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12</a:t>
            </a:r>
            <a:endParaRPr lang="en-US" sz="1000" dirty="0"/>
          </a:p>
        </p:txBody>
      </p:sp>
      <p:sp>
        <p:nvSpPr>
          <p:cNvPr id="7" name="Shape 4"/>
          <p:cNvSpPr/>
          <p:nvPr/>
        </p:nvSpPr>
        <p:spPr>
          <a:xfrm>
            <a:off x="457200" y="1865376"/>
            <a:ext cx="2715768" cy="2715768"/>
          </a:xfrm>
          <a:prstGeom prst="ellipse">
            <a:avLst/>
          </a:prstGeom>
          <a:solidFill>
            <a:srgbClr val="B45309"/>
          </a:solidFill>
          <a:ln w="12700">
            <a:solidFill>
              <a:srgbClr val="6D28D9">
                <a:alpha val="0"/>
              </a:srgbClr>
            </a:solidFill>
            <a:prstDash val="solid"/>
          </a:ln>
        </p:spPr>
        <p:txBody>
          <a:bodyPr/>
          <a:p/>
        </p:txBody>
      </p:sp>
      <p:sp>
        <p:nvSpPr>
          <p:cNvPr id="8" name="VECTOR_hero_family_51"/>
          <p:cNvSpPr/>
          <p:nvPr/>
        </p:nvSpPr>
        <p:spPr>
          <a:xfrm>
            <a:off x="457200" y="1865376"/>
            <a:ext cx="2715768" cy="2715768"/>
          </a:xfrm>
          <a:custGeom>
            <a:avLst/>
            <a:gdLst/>
            <a:ahLst/>
            <a:cxnLst/>
            <a:rect l="0" t="0" r="r" b="b"/>
            <a:pathLst>
              <a:path w="100000" h="100000" fill="norm" stroke="false" extrusionOk="false">
                <a:moveTo>
                  <a:pt x="28668" y="25815"/>
                </a:moveTo>
                <a:lnTo>
                  <a:pt x="28804" y="25679"/>
                </a:lnTo>
                <a:lnTo>
                  <a:pt x="32065" y="25679"/>
                </a:lnTo>
                <a:lnTo>
                  <a:pt x="32880" y="26223"/>
                </a:lnTo>
                <a:lnTo>
                  <a:pt x="33152" y="26223"/>
                </a:lnTo>
                <a:lnTo>
                  <a:pt x="33424" y="26223"/>
                </a:lnTo>
                <a:lnTo>
                  <a:pt x="33967" y="26495"/>
                </a:lnTo>
                <a:lnTo>
                  <a:pt x="36005" y="28533"/>
                </a:lnTo>
                <a:lnTo>
                  <a:pt x="36821" y="30163"/>
                </a:lnTo>
                <a:lnTo>
                  <a:pt x="37092" y="32609"/>
                </a:lnTo>
                <a:lnTo>
                  <a:pt x="36957" y="32745"/>
                </a:lnTo>
                <a:lnTo>
                  <a:pt x="36821" y="32880"/>
                </a:lnTo>
                <a:lnTo>
                  <a:pt x="36821" y="33696"/>
                </a:lnTo>
                <a:lnTo>
                  <a:pt x="36685" y="33832"/>
                </a:lnTo>
                <a:lnTo>
                  <a:pt x="36549" y="33967"/>
                </a:lnTo>
                <a:lnTo>
                  <a:pt x="36549" y="34239"/>
                </a:lnTo>
                <a:lnTo>
                  <a:pt x="36549" y="34511"/>
                </a:lnTo>
                <a:lnTo>
                  <a:pt x="36277" y="35054"/>
                </a:lnTo>
                <a:lnTo>
                  <a:pt x="35734" y="35598"/>
                </a:lnTo>
                <a:lnTo>
                  <a:pt x="35734" y="35870"/>
                </a:lnTo>
                <a:lnTo>
                  <a:pt x="34511" y="37092"/>
                </a:lnTo>
                <a:lnTo>
                  <a:pt x="34239" y="37092"/>
                </a:lnTo>
                <a:lnTo>
                  <a:pt x="33152" y="37908"/>
                </a:lnTo>
                <a:lnTo>
                  <a:pt x="32880" y="37908"/>
                </a:lnTo>
                <a:lnTo>
                  <a:pt x="32609" y="37908"/>
                </a:lnTo>
                <a:lnTo>
                  <a:pt x="32065" y="38179"/>
                </a:lnTo>
                <a:lnTo>
                  <a:pt x="31522" y="38451"/>
                </a:lnTo>
                <a:lnTo>
                  <a:pt x="29348" y="38451"/>
                </a:lnTo>
                <a:lnTo>
                  <a:pt x="29212" y="38315"/>
                </a:lnTo>
                <a:lnTo>
                  <a:pt x="29076" y="38179"/>
                </a:lnTo>
                <a:lnTo>
                  <a:pt x="28261" y="38179"/>
                </a:lnTo>
                <a:lnTo>
                  <a:pt x="26630" y="37364"/>
                </a:lnTo>
                <a:lnTo>
                  <a:pt x="24592" y="35326"/>
                </a:lnTo>
                <a:lnTo>
                  <a:pt x="24049" y="34239"/>
                </a:lnTo>
                <a:lnTo>
                  <a:pt x="24049" y="33967"/>
                </a:lnTo>
                <a:lnTo>
                  <a:pt x="24049" y="33696"/>
                </a:lnTo>
                <a:lnTo>
                  <a:pt x="23913" y="33560"/>
                </a:lnTo>
                <a:lnTo>
                  <a:pt x="23777" y="33424"/>
                </a:lnTo>
                <a:lnTo>
                  <a:pt x="23777" y="30707"/>
                </a:lnTo>
                <a:lnTo>
                  <a:pt x="23913" y="30571"/>
                </a:lnTo>
                <a:lnTo>
                  <a:pt x="24049" y="30435"/>
                </a:lnTo>
                <a:lnTo>
                  <a:pt x="24321" y="29076"/>
                </a:lnTo>
                <a:lnTo>
                  <a:pt x="24864" y="28533"/>
                </a:lnTo>
                <a:lnTo>
                  <a:pt x="24864" y="28261"/>
                </a:lnTo>
                <a:lnTo>
                  <a:pt x="26359" y="26766"/>
                </a:lnTo>
                <a:lnTo>
                  <a:pt x="27989" y="25951"/>
                </a:lnTo>
                <a:lnTo>
                  <a:pt x="28668" y="25815"/>
                </a:lnTo>
                <a:close/>
                <a:moveTo>
                  <a:pt x="67255" y="25815"/>
                </a:moveTo>
                <a:lnTo>
                  <a:pt x="67391" y="25679"/>
                </a:lnTo>
                <a:lnTo>
                  <a:pt x="70109" y="25679"/>
                </a:lnTo>
                <a:lnTo>
                  <a:pt x="70245" y="25815"/>
                </a:lnTo>
                <a:lnTo>
                  <a:pt x="70380" y="25951"/>
                </a:lnTo>
                <a:lnTo>
                  <a:pt x="71196" y="25951"/>
                </a:lnTo>
                <a:lnTo>
                  <a:pt x="72826" y="26766"/>
                </a:lnTo>
                <a:lnTo>
                  <a:pt x="74592" y="28533"/>
                </a:lnTo>
                <a:lnTo>
                  <a:pt x="75679" y="30707"/>
                </a:lnTo>
                <a:lnTo>
                  <a:pt x="75679" y="31522"/>
                </a:lnTo>
                <a:lnTo>
                  <a:pt x="75815" y="31658"/>
                </a:lnTo>
                <a:lnTo>
                  <a:pt x="75951" y="31793"/>
                </a:lnTo>
                <a:lnTo>
                  <a:pt x="75951" y="34239"/>
                </a:lnTo>
                <a:lnTo>
                  <a:pt x="76087" y="34375"/>
                </a:lnTo>
                <a:lnTo>
                  <a:pt x="76223" y="34511"/>
                </a:lnTo>
                <a:lnTo>
                  <a:pt x="76223" y="35326"/>
                </a:lnTo>
                <a:lnTo>
                  <a:pt x="76359" y="35462"/>
                </a:lnTo>
                <a:lnTo>
                  <a:pt x="76495" y="35598"/>
                </a:lnTo>
                <a:lnTo>
                  <a:pt x="76495" y="35870"/>
                </a:lnTo>
                <a:lnTo>
                  <a:pt x="76495" y="36141"/>
                </a:lnTo>
                <a:lnTo>
                  <a:pt x="77310" y="37772"/>
                </a:lnTo>
                <a:lnTo>
                  <a:pt x="78397" y="38859"/>
                </a:lnTo>
                <a:lnTo>
                  <a:pt x="77989" y="39810"/>
                </a:lnTo>
                <a:lnTo>
                  <a:pt x="77446" y="40082"/>
                </a:lnTo>
                <a:lnTo>
                  <a:pt x="76630" y="40082"/>
                </a:lnTo>
                <a:lnTo>
                  <a:pt x="76495" y="39402"/>
                </a:lnTo>
                <a:lnTo>
                  <a:pt x="76766" y="38859"/>
                </a:lnTo>
                <a:lnTo>
                  <a:pt x="75679" y="37500"/>
                </a:lnTo>
                <a:lnTo>
                  <a:pt x="75136" y="36141"/>
                </a:lnTo>
                <a:lnTo>
                  <a:pt x="75000" y="36005"/>
                </a:lnTo>
                <a:lnTo>
                  <a:pt x="74728" y="36005"/>
                </a:lnTo>
                <a:lnTo>
                  <a:pt x="73777" y="37228"/>
                </a:lnTo>
                <a:lnTo>
                  <a:pt x="73777" y="37500"/>
                </a:lnTo>
                <a:lnTo>
                  <a:pt x="72826" y="38451"/>
                </a:lnTo>
                <a:lnTo>
                  <a:pt x="71196" y="39266"/>
                </a:lnTo>
                <a:lnTo>
                  <a:pt x="70924" y="39266"/>
                </a:lnTo>
                <a:lnTo>
                  <a:pt x="70652" y="39266"/>
                </a:lnTo>
                <a:lnTo>
                  <a:pt x="70109" y="39538"/>
                </a:lnTo>
                <a:lnTo>
                  <a:pt x="67120" y="39538"/>
                </a:lnTo>
                <a:lnTo>
                  <a:pt x="66984" y="39402"/>
                </a:lnTo>
                <a:lnTo>
                  <a:pt x="66848" y="39266"/>
                </a:lnTo>
                <a:lnTo>
                  <a:pt x="66576" y="39266"/>
                </a:lnTo>
                <a:lnTo>
                  <a:pt x="66304" y="39266"/>
                </a:lnTo>
                <a:lnTo>
                  <a:pt x="65761" y="38995"/>
                </a:lnTo>
                <a:lnTo>
                  <a:pt x="63995" y="37500"/>
                </a:lnTo>
                <a:lnTo>
                  <a:pt x="63995" y="37228"/>
                </a:lnTo>
                <a:lnTo>
                  <a:pt x="63451" y="36685"/>
                </a:lnTo>
                <a:lnTo>
                  <a:pt x="63043" y="35734"/>
                </a:lnTo>
                <a:lnTo>
                  <a:pt x="62772" y="35734"/>
                </a:lnTo>
                <a:lnTo>
                  <a:pt x="62636" y="35870"/>
                </a:lnTo>
                <a:lnTo>
                  <a:pt x="62364" y="36413"/>
                </a:lnTo>
                <a:lnTo>
                  <a:pt x="62364" y="36685"/>
                </a:lnTo>
                <a:lnTo>
                  <a:pt x="62364" y="36957"/>
                </a:lnTo>
                <a:lnTo>
                  <a:pt x="61277" y="38587"/>
                </a:lnTo>
                <a:lnTo>
                  <a:pt x="61277" y="39674"/>
                </a:lnTo>
                <a:lnTo>
                  <a:pt x="61413" y="39810"/>
                </a:lnTo>
                <a:lnTo>
                  <a:pt x="61549" y="39946"/>
                </a:lnTo>
                <a:lnTo>
                  <a:pt x="61141" y="40353"/>
                </a:lnTo>
                <a:lnTo>
                  <a:pt x="60326" y="40082"/>
                </a:lnTo>
                <a:lnTo>
                  <a:pt x="59375" y="38859"/>
                </a:lnTo>
                <a:lnTo>
                  <a:pt x="60734" y="37228"/>
                </a:lnTo>
                <a:lnTo>
                  <a:pt x="61277" y="36141"/>
                </a:lnTo>
                <a:lnTo>
                  <a:pt x="61277" y="35870"/>
                </a:lnTo>
                <a:lnTo>
                  <a:pt x="61277" y="35598"/>
                </a:lnTo>
                <a:lnTo>
                  <a:pt x="61413" y="35462"/>
                </a:lnTo>
                <a:lnTo>
                  <a:pt x="61549" y="35326"/>
                </a:lnTo>
                <a:lnTo>
                  <a:pt x="61549" y="33967"/>
                </a:lnTo>
                <a:lnTo>
                  <a:pt x="61685" y="33832"/>
                </a:lnTo>
                <a:lnTo>
                  <a:pt x="61821" y="33696"/>
                </a:lnTo>
                <a:lnTo>
                  <a:pt x="61821" y="31250"/>
                </a:lnTo>
                <a:lnTo>
                  <a:pt x="61957" y="31114"/>
                </a:lnTo>
                <a:lnTo>
                  <a:pt x="62092" y="30978"/>
                </a:lnTo>
                <a:lnTo>
                  <a:pt x="62092" y="30707"/>
                </a:lnTo>
                <a:lnTo>
                  <a:pt x="62092" y="30435"/>
                </a:lnTo>
                <a:lnTo>
                  <a:pt x="63179" y="28261"/>
                </a:lnTo>
                <a:lnTo>
                  <a:pt x="64402" y="27038"/>
                </a:lnTo>
                <a:lnTo>
                  <a:pt x="64674" y="27038"/>
                </a:lnTo>
                <a:lnTo>
                  <a:pt x="65217" y="26495"/>
                </a:lnTo>
                <a:lnTo>
                  <a:pt x="67255" y="25815"/>
                </a:lnTo>
                <a:close/>
                <a:moveTo>
                  <a:pt x="29076" y="27038"/>
                </a:moveTo>
                <a:lnTo>
                  <a:pt x="26902" y="28125"/>
                </a:lnTo>
                <a:lnTo>
                  <a:pt x="25679" y="29620"/>
                </a:lnTo>
                <a:lnTo>
                  <a:pt x="25408" y="30163"/>
                </a:lnTo>
                <a:lnTo>
                  <a:pt x="25408" y="30435"/>
                </a:lnTo>
                <a:lnTo>
                  <a:pt x="25408" y="30707"/>
                </a:lnTo>
                <a:lnTo>
                  <a:pt x="25272" y="30842"/>
                </a:lnTo>
                <a:lnTo>
                  <a:pt x="25136" y="30978"/>
                </a:lnTo>
                <a:lnTo>
                  <a:pt x="25136" y="33152"/>
                </a:lnTo>
                <a:lnTo>
                  <a:pt x="25951" y="34783"/>
                </a:lnTo>
                <a:lnTo>
                  <a:pt x="27446" y="36277"/>
                </a:lnTo>
                <a:lnTo>
                  <a:pt x="28533" y="36821"/>
                </a:lnTo>
                <a:lnTo>
                  <a:pt x="28804" y="36821"/>
                </a:lnTo>
                <a:lnTo>
                  <a:pt x="29076" y="36821"/>
                </a:lnTo>
                <a:lnTo>
                  <a:pt x="29212" y="36957"/>
                </a:lnTo>
                <a:lnTo>
                  <a:pt x="29348" y="37092"/>
                </a:lnTo>
                <a:lnTo>
                  <a:pt x="31250" y="37092"/>
                </a:lnTo>
                <a:lnTo>
                  <a:pt x="31386" y="36957"/>
                </a:lnTo>
                <a:lnTo>
                  <a:pt x="33152" y="36277"/>
                </a:lnTo>
                <a:lnTo>
                  <a:pt x="34375" y="35326"/>
                </a:lnTo>
                <a:lnTo>
                  <a:pt x="35462" y="33152"/>
                </a:lnTo>
                <a:lnTo>
                  <a:pt x="35462" y="30978"/>
                </a:lnTo>
                <a:lnTo>
                  <a:pt x="34375" y="28804"/>
                </a:lnTo>
                <a:lnTo>
                  <a:pt x="32880" y="27582"/>
                </a:lnTo>
                <a:lnTo>
                  <a:pt x="32337" y="27310"/>
                </a:lnTo>
                <a:lnTo>
                  <a:pt x="32065" y="27310"/>
                </a:lnTo>
                <a:lnTo>
                  <a:pt x="31793" y="27310"/>
                </a:lnTo>
                <a:lnTo>
                  <a:pt x="31658" y="27174"/>
                </a:lnTo>
                <a:lnTo>
                  <a:pt x="31522" y="27038"/>
                </a:lnTo>
                <a:lnTo>
                  <a:pt x="29076" y="27038"/>
                </a:lnTo>
                <a:close/>
                <a:moveTo>
                  <a:pt x="67663" y="27038"/>
                </a:moveTo>
                <a:lnTo>
                  <a:pt x="67527" y="27174"/>
                </a:lnTo>
                <a:lnTo>
                  <a:pt x="67391" y="27310"/>
                </a:lnTo>
                <a:lnTo>
                  <a:pt x="67120" y="27310"/>
                </a:lnTo>
                <a:lnTo>
                  <a:pt x="66848" y="27310"/>
                </a:lnTo>
                <a:lnTo>
                  <a:pt x="65761" y="27853"/>
                </a:lnTo>
                <a:lnTo>
                  <a:pt x="63723" y="29891"/>
                </a:lnTo>
                <a:lnTo>
                  <a:pt x="63451" y="30435"/>
                </a:lnTo>
                <a:lnTo>
                  <a:pt x="63451" y="30707"/>
                </a:lnTo>
                <a:lnTo>
                  <a:pt x="63451" y="30978"/>
                </a:lnTo>
                <a:lnTo>
                  <a:pt x="63315" y="31114"/>
                </a:lnTo>
                <a:lnTo>
                  <a:pt x="63179" y="31250"/>
                </a:lnTo>
                <a:lnTo>
                  <a:pt x="63179" y="32609"/>
                </a:lnTo>
                <a:lnTo>
                  <a:pt x="63995" y="32880"/>
                </a:lnTo>
                <a:lnTo>
                  <a:pt x="63995" y="34511"/>
                </a:lnTo>
                <a:lnTo>
                  <a:pt x="64130" y="34647"/>
                </a:lnTo>
                <a:lnTo>
                  <a:pt x="64266" y="34783"/>
                </a:lnTo>
                <a:lnTo>
                  <a:pt x="64266" y="35054"/>
                </a:lnTo>
                <a:lnTo>
                  <a:pt x="64266" y="35326"/>
                </a:lnTo>
                <a:lnTo>
                  <a:pt x="64538" y="35870"/>
                </a:lnTo>
                <a:lnTo>
                  <a:pt x="66304" y="37636"/>
                </a:lnTo>
                <a:lnTo>
                  <a:pt x="67391" y="38179"/>
                </a:lnTo>
                <a:lnTo>
                  <a:pt x="68207" y="38179"/>
                </a:lnTo>
                <a:lnTo>
                  <a:pt x="68342" y="38315"/>
                </a:lnTo>
                <a:lnTo>
                  <a:pt x="68478" y="38451"/>
                </a:lnTo>
                <a:lnTo>
                  <a:pt x="69293" y="38451"/>
                </a:lnTo>
                <a:lnTo>
                  <a:pt x="69837" y="38179"/>
                </a:lnTo>
                <a:lnTo>
                  <a:pt x="70109" y="38179"/>
                </a:lnTo>
                <a:lnTo>
                  <a:pt x="70380" y="38179"/>
                </a:lnTo>
                <a:lnTo>
                  <a:pt x="71467" y="37364"/>
                </a:lnTo>
                <a:lnTo>
                  <a:pt x="71739" y="37364"/>
                </a:lnTo>
                <a:lnTo>
                  <a:pt x="73505" y="35598"/>
                </a:lnTo>
                <a:lnTo>
                  <a:pt x="73505" y="35326"/>
                </a:lnTo>
                <a:lnTo>
                  <a:pt x="73505" y="35054"/>
                </a:lnTo>
                <a:lnTo>
                  <a:pt x="73641" y="34918"/>
                </a:lnTo>
                <a:lnTo>
                  <a:pt x="73777" y="34783"/>
                </a:lnTo>
                <a:lnTo>
                  <a:pt x="73777" y="33152"/>
                </a:lnTo>
                <a:lnTo>
                  <a:pt x="74049" y="32609"/>
                </a:lnTo>
                <a:lnTo>
                  <a:pt x="74592" y="32337"/>
                </a:lnTo>
                <a:lnTo>
                  <a:pt x="74592" y="32065"/>
                </a:lnTo>
                <a:lnTo>
                  <a:pt x="74457" y="31929"/>
                </a:lnTo>
                <a:lnTo>
                  <a:pt x="74321" y="31793"/>
                </a:lnTo>
                <a:lnTo>
                  <a:pt x="74321" y="30978"/>
                </a:lnTo>
                <a:lnTo>
                  <a:pt x="73777" y="29891"/>
                </a:lnTo>
                <a:lnTo>
                  <a:pt x="72554" y="28397"/>
                </a:lnTo>
                <a:lnTo>
                  <a:pt x="69837" y="27038"/>
                </a:lnTo>
                <a:lnTo>
                  <a:pt x="67663" y="27038"/>
                </a:lnTo>
                <a:close/>
                <a:moveTo>
                  <a:pt x="27853" y="40489"/>
                </a:moveTo>
                <a:lnTo>
                  <a:pt x="27989" y="40353"/>
                </a:lnTo>
                <a:lnTo>
                  <a:pt x="32609" y="40353"/>
                </a:lnTo>
                <a:lnTo>
                  <a:pt x="32745" y="40489"/>
                </a:lnTo>
                <a:lnTo>
                  <a:pt x="32880" y="40625"/>
                </a:lnTo>
                <a:lnTo>
                  <a:pt x="33967" y="40625"/>
                </a:lnTo>
                <a:lnTo>
                  <a:pt x="34103" y="40761"/>
                </a:lnTo>
                <a:lnTo>
                  <a:pt x="34239" y="40897"/>
                </a:lnTo>
                <a:lnTo>
                  <a:pt x="34511" y="40897"/>
                </a:lnTo>
                <a:lnTo>
                  <a:pt x="34783" y="40897"/>
                </a:lnTo>
                <a:lnTo>
                  <a:pt x="36957" y="41984"/>
                </a:lnTo>
                <a:lnTo>
                  <a:pt x="37772" y="42799"/>
                </a:lnTo>
                <a:lnTo>
                  <a:pt x="38043" y="42799"/>
                </a:lnTo>
                <a:lnTo>
                  <a:pt x="39810" y="44837"/>
                </a:lnTo>
                <a:lnTo>
                  <a:pt x="40353" y="45924"/>
                </a:lnTo>
                <a:lnTo>
                  <a:pt x="40353" y="46196"/>
                </a:lnTo>
                <a:lnTo>
                  <a:pt x="40353" y="46467"/>
                </a:lnTo>
                <a:lnTo>
                  <a:pt x="40489" y="46603"/>
                </a:lnTo>
                <a:lnTo>
                  <a:pt x="40625" y="46739"/>
                </a:lnTo>
                <a:lnTo>
                  <a:pt x="40625" y="47826"/>
                </a:lnTo>
                <a:lnTo>
                  <a:pt x="40761" y="47962"/>
                </a:lnTo>
                <a:lnTo>
                  <a:pt x="40897" y="48098"/>
                </a:lnTo>
                <a:lnTo>
                  <a:pt x="40897" y="52174"/>
                </a:lnTo>
                <a:lnTo>
                  <a:pt x="39946" y="52310"/>
                </a:lnTo>
                <a:lnTo>
                  <a:pt x="39538" y="51902"/>
                </a:lnTo>
                <a:lnTo>
                  <a:pt x="39538" y="48913"/>
                </a:lnTo>
                <a:lnTo>
                  <a:pt x="39402" y="48777"/>
                </a:lnTo>
                <a:lnTo>
                  <a:pt x="39266" y="48641"/>
                </a:lnTo>
                <a:lnTo>
                  <a:pt x="39266" y="47554"/>
                </a:lnTo>
                <a:lnTo>
                  <a:pt x="39130" y="47418"/>
                </a:lnTo>
                <a:lnTo>
                  <a:pt x="38995" y="47283"/>
                </a:lnTo>
                <a:lnTo>
                  <a:pt x="38995" y="47011"/>
                </a:lnTo>
                <a:lnTo>
                  <a:pt x="38995" y="46739"/>
                </a:lnTo>
                <a:lnTo>
                  <a:pt x="38179" y="45109"/>
                </a:lnTo>
                <a:lnTo>
                  <a:pt x="36413" y="43342"/>
                </a:lnTo>
                <a:lnTo>
                  <a:pt x="36141" y="43342"/>
                </a:lnTo>
                <a:lnTo>
                  <a:pt x="35598" y="42799"/>
                </a:lnTo>
                <a:lnTo>
                  <a:pt x="34511" y="42255"/>
                </a:lnTo>
                <a:lnTo>
                  <a:pt x="33152" y="41984"/>
                </a:lnTo>
                <a:lnTo>
                  <a:pt x="33016" y="41848"/>
                </a:lnTo>
                <a:lnTo>
                  <a:pt x="32880" y="41712"/>
                </a:lnTo>
                <a:lnTo>
                  <a:pt x="27717" y="41712"/>
                </a:lnTo>
                <a:lnTo>
                  <a:pt x="27582" y="41848"/>
                </a:lnTo>
                <a:lnTo>
                  <a:pt x="27446" y="41984"/>
                </a:lnTo>
                <a:lnTo>
                  <a:pt x="26630" y="41984"/>
                </a:lnTo>
                <a:lnTo>
                  <a:pt x="26495" y="42120"/>
                </a:lnTo>
                <a:lnTo>
                  <a:pt x="26359" y="42255"/>
                </a:lnTo>
                <a:lnTo>
                  <a:pt x="26087" y="42255"/>
                </a:lnTo>
                <a:lnTo>
                  <a:pt x="25815" y="42255"/>
                </a:lnTo>
                <a:lnTo>
                  <a:pt x="24728" y="42799"/>
                </a:lnTo>
                <a:lnTo>
                  <a:pt x="23913" y="43614"/>
                </a:lnTo>
                <a:lnTo>
                  <a:pt x="23641" y="43614"/>
                </a:lnTo>
                <a:lnTo>
                  <a:pt x="22418" y="44837"/>
                </a:lnTo>
                <a:lnTo>
                  <a:pt x="22418" y="45109"/>
                </a:lnTo>
                <a:lnTo>
                  <a:pt x="21875" y="45652"/>
                </a:lnTo>
                <a:lnTo>
                  <a:pt x="21332" y="46739"/>
                </a:lnTo>
                <a:lnTo>
                  <a:pt x="21332" y="47011"/>
                </a:lnTo>
                <a:lnTo>
                  <a:pt x="21332" y="47283"/>
                </a:lnTo>
                <a:lnTo>
                  <a:pt x="21196" y="47418"/>
                </a:lnTo>
                <a:lnTo>
                  <a:pt x="21060" y="47554"/>
                </a:lnTo>
                <a:lnTo>
                  <a:pt x="21060" y="49457"/>
                </a:lnTo>
                <a:lnTo>
                  <a:pt x="20924" y="49592"/>
                </a:lnTo>
                <a:lnTo>
                  <a:pt x="20788" y="49728"/>
                </a:lnTo>
                <a:lnTo>
                  <a:pt x="20788" y="56793"/>
                </a:lnTo>
                <a:lnTo>
                  <a:pt x="20652" y="56929"/>
                </a:lnTo>
                <a:lnTo>
                  <a:pt x="20516" y="57065"/>
                </a:lnTo>
                <a:lnTo>
                  <a:pt x="20516" y="58967"/>
                </a:lnTo>
                <a:lnTo>
                  <a:pt x="20788" y="59511"/>
                </a:lnTo>
                <a:lnTo>
                  <a:pt x="21739" y="60190"/>
                </a:lnTo>
                <a:lnTo>
                  <a:pt x="23098" y="60190"/>
                </a:lnTo>
                <a:lnTo>
                  <a:pt x="23913" y="59103"/>
                </a:lnTo>
                <a:lnTo>
                  <a:pt x="24185" y="59103"/>
                </a:lnTo>
                <a:lnTo>
                  <a:pt x="24592" y="59783"/>
                </a:lnTo>
                <a:lnTo>
                  <a:pt x="24592" y="63315"/>
                </a:lnTo>
                <a:lnTo>
                  <a:pt x="24728" y="63451"/>
                </a:lnTo>
                <a:lnTo>
                  <a:pt x="24864" y="63587"/>
                </a:lnTo>
                <a:lnTo>
                  <a:pt x="24864" y="69837"/>
                </a:lnTo>
                <a:lnTo>
                  <a:pt x="25000" y="69973"/>
                </a:lnTo>
                <a:lnTo>
                  <a:pt x="25136" y="70109"/>
                </a:lnTo>
                <a:lnTo>
                  <a:pt x="25136" y="75543"/>
                </a:lnTo>
                <a:lnTo>
                  <a:pt x="25272" y="75679"/>
                </a:lnTo>
                <a:lnTo>
                  <a:pt x="25408" y="75815"/>
                </a:lnTo>
                <a:lnTo>
                  <a:pt x="25408" y="76630"/>
                </a:lnTo>
                <a:lnTo>
                  <a:pt x="25543" y="76766"/>
                </a:lnTo>
                <a:lnTo>
                  <a:pt x="29348" y="76766"/>
                </a:lnTo>
                <a:lnTo>
                  <a:pt x="29484" y="76630"/>
                </a:lnTo>
                <a:lnTo>
                  <a:pt x="29484" y="72826"/>
                </a:lnTo>
                <a:lnTo>
                  <a:pt x="29620" y="72690"/>
                </a:lnTo>
                <a:lnTo>
                  <a:pt x="29755" y="72554"/>
                </a:lnTo>
                <a:lnTo>
                  <a:pt x="29755" y="68478"/>
                </a:lnTo>
                <a:lnTo>
                  <a:pt x="30163" y="68071"/>
                </a:lnTo>
                <a:lnTo>
                  <a:pt x="30435" y="68071"/>
                </a:lnTo>
                <a:lnTo>
                  <a:pt x="30842" y="68478"/>
                </a:lnTo>
                <a:lnTo>
                  <a:pt x="30842" y="69293"/>
                </a:lnTo>
                <a:lnTo>
                  <a:pt x="30842" y="75815"/>
                </a:lnTo>
                <a:lnTo>
                  <a:pt x="31114" y="76359"/>
                </a:lnTo>
                <a:lnTo>
                  <a:pt x="31522" y="76766"/>
                </a:lnTo>
                <a:lnTo>
                  <a:pt x="35054" y="76766"/>
                </a:lnTo>
                <a:lnTo>
                  <a:pt x="35190" y="76630"/>
                </a:lnTo>
                <a:lnTo>
                  <a:pt x="35190" y="73913"/>
                </a:lnTo>
                <a:lnTo>
                  <a:pt x="35326" y="73777"/>
                </a:lnTo>
                <a:lnTo>
                  <a:pt x="35462" y="73641"/>
                </a:lnTo>
                <a:lnTo>
                  <a:pt x="35462" y="68478"/>
                </a:lnTo>
                <a:lnTo>
                  <a:pt x="35598" y="68342"/>
                </a:lnTo>
                <a:lnTo>
                  <a:pt x="35734" y="68207"/>
                </a:lnTo>
                <a:lnTo>
                  <a:pt x="35734" y="63587"/>
                </a:lnTo>
                <a:lnTo>
                  <a:pt x="35870" y="63451"/>
                </a:lnTo>
                <a:lnTo>
                  <a:pt x="36005" y="63315"/>
                </a:lnTo>
                <a:lnTo>
                  <a:pt x="36005" y="60326"/>
                </a:lnTo>
                <a:lnTo>
                  <a:pt x="36141" y="60190"/>
                </a:lnTo>
                <a:lnTo>
                  <a:pt x="37092" y="61141"/>
                </a:lnTo>
                <a:lnTo>
                  <a:pt x="37364" y="61685"/>
                </a:lnTo>
                <a:lnTo>
                  <a:pt x="37364" y="63587"/>
                </a:lnTo>
                <a:lnTo>
                  <a:pt x="37228" y="63723"/>
                </a:lnTo>
                <a:lnTo>
                  <a:pt x="37092" y="63859"/>
                </a:lnTo>
                <a:lnTo>
                  <a:pt x="37092" y="69565"/>
                </a:lnTo>
                <a:lnTo>
                  <a:pt x="36957" y="69701"/>
                </a:lnTo>
                <a:lnTo>
                  <a:pt x="36821" y="69837"/>
                </a:lnTo>
                <a:lnTo>
                  <a:pt x="36821" y="75272"/>
                </a:lnTo>
                <a:lnTo>
                  <a:pt x="36685" y="75408"/>
                </a:lnTo>
                <a:lnTo>
                  <a:pt x="36549" y="75543"/>
                </a:lnTo>
                <a:lnTo>
                  <a:pt x="36549" y="77717"/>
                </a:lnTo>
                <a:lnTo>
                  <a:pt x="35870" y="78125"/>
                </a:lnTo>
                <a:lnTo>
                  <a:pt x="30978" y="78125"/>
                </a:lnTo>
                <a:lnTo>
                  <a:pt x="30842" y="77989"/>
                </a:lnTo>
                <a:lnTo>
                  <a:pt x="30707" y="77853"/>
                </a:lnTo>
                <a:lnTo>
                  <a:pt x="29891" y="77853"/>
                </a:lnTo>
                <a:lnTo>
                  <a:pt x="29755" y="77989"/>
                </a:lnTo>
                <a:lnTo>
                  <a:pt x="29620" y="78125"/>
                </a:lnTo>
                <a:lnTo>
                  <a:pt x="24457" y="78125"/>
                </a:lnTo>
                <a:lnTo>
                  <a:pt x="24049" y="77717"/>
                </a:lnTo>
                <a:lnTo>
                  <a:pt x="24049" y="76359"/>
                </a:lnTo>
                <a:lnTo>
                  <a:pt x="23913" y="76223"/>
                </a:lnTo>
                <a:lnTo>
                  <a:pt x="23777" y="76087"/>
                </a:lnTo>
                <a:lnTo>
                  <a:pt x="23777" y="70109"/>
                </a:lnTo>
                <a:lnTo>
                  <a:pt x="23641" y="69973"/>
                </a:lnTo>
                <a:lnTo>
                  <a:pt x="23505" y="69837"/>
                </a:lnTo>
                <a:lnTo>
                  <a:pt x="23505" y="63587"/>
                </a:lnTo>
                <a:lnTo>
                  <a:pt x="23370" y="63451"/>
                </a:lnTo>
                <a:lnTo>
                  <a:pt x="23234" y="63315"/>
                </a:lnTo>
                <a:lnTo>
                  <a:pt x="23234" y="61685"/>
                </a:lnTo>
                <a:lnTo>
                  <a:pt x="23098" y="61549"/>
                </a:lnTo>
                <a:lnTo>
                  <a:pt x="21467" y="61549"/>
                </a:lnTo>
                <a:lnTo>
                  <a:pt x="20380" y="61005"/>
                </a:lnTo>
                <a:lnTo>
                  <a:pt x="19429" y="60054"/>
                </a:lnTo>
                <a:lnTo>
                  <a:pt x="19429" y="59783"/>
                </a:lnTo>
                <a:lnTo>
                  <a:pt x="19429" y="59511"/>
                </a:lnTo>
                <a:lnTo>
                  <a:pt x="19293" y="59375"/>
                </a:lnTo>
                <a:lnTo>
                  <a:pt x="19158" y="59239"/>
                </a:lnTo>
                <a:lnTo>
                  <a:pt x="19158" y="57065"/>
                </a:lnTo>
                <a:lnTo>
                  <a:pt x="19293" y="56929"/>
                </a:lnTo>
                <a:lnTo>
                  <a:pt x="19429" y="56793"/>
                </a:lnTo>
                <a:lnTo>
                  <a:pt x="19429" y="48913"/>
                </a:lnTo>
                <a:lnTo>
                  <a:pt x="19565" y="48777"/>
                </a:lnTo>
                <a:lnTo>
                  <a:pt x="19701" y="48641"/>
                </a:lnTo>
                <a:lnTo>
                  <a:pt x="19701" y="47283"/>
                </a:lnTo>
                <a:lnTo>
                  <a:pt x="19837" y="47147"/>
                </a:lnTo>
                <a:lnTo>
                  <a:pt x="19973" y="47011"/>
                </a:lnTo>
                <a:lnTo>
                  <a:pt x="20245" y="45652"/>
                </a:lnTo>
                <a:lnTo>
                  <a:pt x="21060" y="44565"/>
                </a:lnTo>
                <a:lnTo>
                  <a:pt x="21060" y="44293"/>
                </a:lnTo>
                <a:lnTo>
                  <a:pt x="23098" y="42255"/>
                </a:lnTo>
                <a:lnTo>
                  <a:pt x="25815" y="40897"/>
                </a:lnTo>
                <a:lnTo>
                  <a:pt x="27853" y="40489"/>
                </a:lnTo>
                <a:close/>
                <a:moveTo>
                  <a:pt x="67527" y="41576"/>
                </a:moveTo>
                <a:lnTo>
                  <a:pt x="67663" y="41440"/>
                </a:lnTo>
                <a:lnTo>
                  <a:pt x="70109" y="41440"/>
                </a:lnTo>
                <a:lnTo>
                  <a:pt x="70245" y="41576"/>
                </a:lnTo>
                <a:lnTo>
                  <a:pt x="70380" y="41712"/>
                </a:lnTo>
                <a:lnTo>
                  <a:pt x="71467" y="41712"/>
                </a:lnTo>
                <a:lnTo>
                  <a:pt x="71603" y="41848"/>
                </a:lnTo>
                <a:lnTo>
                  <a:pt x="71739" y="41984"/>
                </a:lnTo>
                <a:lnTo>
                  <a:pt x="73098" y="42255"/>
                </a:lnTo>
                <a:lnTo>
                  <a:pt x="74185" y="42799"/>
                </a:lnTo>
                <a:lnTo>
                  <a:pt x="74728" y="43342"/>
                </a:lnTo>
                <a:lnTo>
                  <a:pt x="75000" y="43342"/>
                </a:lnTo>
                <a:lnTo>
                  <a:pt x="77038" y="45380"/>
                </a:lnTo>
                <a:lnTo>
                  <a:pt x="78125" y="47554"/>
                </a:lnTo>
                <a:lnTo>
                  <a:pt x="78125" y="48370"/>
                </a:lnTo>
                <a:lnTo>
                  <a:pt x="78261" y="48505"/>
                </a:lnTo>
                <a:lnTo>
                  <a:pt x="78397" y="48641"/>
                </a:lnTo>
                <a:lnTo>
                  <a:pt x="78668" y="51087"/>
                </a:lnTo>
                <a:lnTo>
                  <a:pt x="78804" y="51223"/>
                </a:lnTo>
                <a:lnTo>
                  <a:pt x="78940" y="51359"/>
                </a:lnTo>
                <a:lnTo>
                  <a:pt x="78940" y="52174"/>
                </a:lnTo>
                <a:lnTo>
                  <a:pt x="79076" y="52310"/>
                </a:lnTo>
                <a:lnTo>
                  <a:pt x="79212" y="52446"/>
                </a:lnTo>
                <a:lnTo>
                  <a:pt x="79212" y="53261"/>
                </a:lnTo>
                <a:lnTo>
                  <a:pt x="79348" y="53397"/>
                </a:lnTo>
                <a:lnTo>
                  <a:pt x="79484" y="53533"/>
                </a:lnTo>
                <a:lnTo>
                  <a:pt x="79484" y="54348"/>
                </a:lnTo>
                <a:lnTo>
                  <a:pt x="79620" y="54484"/>
                </a:lnTo>
                <a:lnTo>
                  <a:pt x="79755" y="54620"/>
                </a:lnTo>
                <a:lnTo>
                  <a:pt x="79755" y="55435"/>
                </a:lnTo>
                <a:lnTo>
                  <a:pt x="79891" y="55571"/>
                </a:lnTo>
                <a:lnTo>
                  <a:pt x="80027" y="55707"/>
                </a:lnTo>
                <a:lnTo>
                  <a:pt x="80027" y="56793"/>
                </a:lnTo>
                <a:lnTo>
                  <a:pt x="80163" y="56929"/>
                </a:lnTo>
                <a:lnTo>
                  <a:pt x="80299" y="57065"/>
                </a:lnTo>
                <a:lnTo>
                  <a:pt x="80299" y="57880"/>
                </a:lnTo>
                <a:lnTo>
                  <a:pt x="80435" y="58016"/>
                </a:lnTo>
                <a:lnTo>
                  <a:pt x="80571" y="58152"/>
                </a:lnTo>
                <a:lnTo>
                  <a:pt x="80571" y="60326"/>
                </a:lnTo>
                <a:lnTo>
                  <a:pt x="79620" y="61277"/>
                </a:lnTo>
                <a:lnTo>
                  <a:pt x="79076" y="61549"/>
                </a:lnTo>
                <a:lnTo>
                  <a:pt x="78261" y="61549"/>
                </a:lnTo>
                <a:lnTo>
                  <a:pt x="77853" y="61957"/>
                </a:lnTo>
                <a:lnTo>
                  <a:pt x="77989" y="62092"/>
                </a:lnTo>
                <a:lnTo>
                  <a:pt x="78125" y="62228"/>
                </a:lnTo>
                <a:lnTo>
                  <a:pt x="78397" y="64130"/>
                </a:lnTo>
                <a:lnTo>
                  <a:pt x="78533" y="64266"/>
                </a:lnTo>
                <a:lnTo>
                  <a:pt x="78668" y="64402"/>
                </a:lnTo>
                <a:lnTo>
                  <a:pt x="78668" y="64674"/>
                </a:lnTo>
                <a:lnTo>
                  <a:pt x="78668" y="64946"/>
                </a:lnTo>
                <a:lnTo>
                  <a:pt x="79212" y="66033"/>
                </a:lnTo>
                <a:lnTo>
                  <a:pt x="79212" y="66848"/>
                </a:lnTo>
                <a:lnTo>
                  <a:pt x="79348" y="66984"/>
                </a:lnTo>
                <a:lnTo>
                  <a:pt x="79484" y="67120"/>
                </a:lnTo>
                <a:lnTo>
                  <a:pt x="79484" y="67935"/>
                </a:lnTo>
                <a:lnTo>
                  <a:pt x="79620" y="68071"/>
                </a:lnTo>
                <a:lnTo>
                  <a:pt x="79755" y="68207"/>
                </a:lnTo>
                <a:lnTo>
                  <a:pt x="79076" y="68886"/>
                </a:lnTo>
                <a:lnTo>
                  <a:pt x="75000" y="68886"/>
                </a:lnTo>
                <a:lnTo>
                  <a:pt x="74864" y="69022"/>
                </a:lnTo>
                <a:lnTo>
                  <a:pt x="74864" y="70652"/>
                </a:lnTo>
                <a:lnTo>
                  <a:pt x="74728" y="70788"/>
                </a:lnTo>
                <a:lnTo>
                  <a:pt x="74592" y="70924"/>
                </a:lnTo>
                <a:lnTo>
                  <a:pt x="74592" y="76087"/>
                </a:lnTo>
                <a:lnTo>
                  <a:pt x="74457" y="76223"/>
                </a:lnTo>
                <a:lnTo>
                  <a:pt x="74321" y="76359"/>
                </a:lnTo>
                <a:lnTo>
                  <a:pt x="74321" y="77717"/>
                </a:lnTo>
                <a:lnTo>
                  <a:pt x="73913" y="78125"/>
                </a:lnTo>
                <a:lnTo>
                  <a:pt x="69293" y="78125"/>
                </a:lnTo>
                <a:lnTo>
                  <a:pt x="69158" y="77989"/>
                </a:lnTo>
                <a:lnTo>
                  <a:pt x="69022" y="77853"/>
                </a:lnTo>
                <a:lnTo>
                  <a:pt x="68750" y="77853"/>
                </a:lnTo>
                <a:lnTo>
                  <a:pt x="68478" y="77853"/>
                </a:lnTo>
                <a:lnTo>
                  <a:pt x="68342" y="77989"/>
                </a:lnTo>
                <a:lnTo>
                  <a:pt x="68207" y="78125"/>
                </a:lnTo>
                <a:lnTo>
                  <a:pt x="63587" y="78125"/>
                </a:lnTo>
                <a:lnTo>
                  <a:pt x="63179" y="77717"/>
                </a:lnTo>
                <a:lnTo>
                  <a:pt x="63179" y="75543"/>
                </a:lnTo>
                <a:lnTo>
                  <a:pt x="63043" y="75408"/>
                </a:lnTo>
                <a:lnTo>
                  <a:pt x="62908" y="75272"/>
                </a:lnTo>
                <a:lnTo>
                  <a:pt x="62908" y="70109"/>
                </a:lnTo>
                <a:lnTo>
                  <a:pt x="62772" y="69973"/>
                </a:lnTo>
                <a:lnTo>
                  <a:pt x="62636" y="69837"/>
                </a:lnTo>
                <a:lnTo>
                  <a:pt x="62636" y="69022"/>
                </a:lnTo>
                <a:lnTo>
                  <a:pt x="62500" y="68886"/>
                </a:lnTo>
                <a:lnTo>
                  <a:pt x="58696" y="68886"/>
                </a:lnTo>
                <a:lnTo>
                  <a:pt x="58016" y="68207"/>
                </a:lnTo>
                <a:lnTo>
                  <a:pt x="58016" y="67935"/>
                </a:lnTo>
                <a:lnTo>
                  <a:pt x="58152" y="67799"/>
                </a:lnTo>
                <a:lnTo>
                  <a:pt x="58288" y="67663"/>
                </a:lnTo>
                <a:lnTo>
                  <a:pt x="58288" y="66848"/>
                </a:lnTo>
                <a:lnTo>
                  <a:pt x="58424" y="66712"/>
                </a:lnTo>
                <a:lnTo>
                  <a:pt x="58560" y="66576"/>
                </a:lnTo>
                <a:lnTo>
                  <a:pt x="58832" y="65217"/>
                </a:lnTo>
                <a:lnTo>
                  <a:pt x="60326" y="63723"/>
                </a:lnTo>
                <a:lnTo>
                  <a:pt x="60462" y="64674"/>
                </a:lnTo>
                <a:lnTo>
                  <a:pt x="60326" y="64810"/>
                </a:lnTo>
                <a:lnTo>
                  <a:pt x="60190" y="64946"/>
                </a:lnTo>
                <a:lnTo>
                  <a:pt x="60190" y="65761"/>
                </a:lnTo>
                <a:lnTo>
                  <a:pt x="59647" y="66848"/>
                </a:lnTo>
                <a:lnTo>
                  <a:pt x="59647" y="67120"/>
                </a:lnTo>
                <a:lnTo>
                  <a:pt x="59783" y="67255"/>
                </a:lnTo>
                <a:lnTo>
                  <a:pt x="63859" y="67255"/>
                </a:lnTo>
                <a:lnTo>
                  <a:pt x="63995" y="67391"/>
                </a:lnTo>
                <a:lnTo>
                  <a:pt x="64130" y="67527"/>
                </a:lnTo>
                <a:lnTo>
                  <a:pt x="65082" y="67663"/>
                </a:lnTo>
                <a:lnTo>
                  <a:pt x="65082" y="68478"/>
                </a:lnTo>
                <a:lnTo>
                  <a:pt x="64674" y="68886"/>
                </a:lnTo>
                <a:lnTo>
                  <a:pt x="63995" y="69022"/>
                </a:lnTo>
                <a:lnTo>
                  <a:pt x="63995" y="70924"/>
                </a:lnTo>
                <a:lnTo>
                  <a:pt x="64130" y="71060"/>
                </a:lnTo>
                <a:lnTo>
                  <a:pt x="64266" y="71196"/>
                </a:lnTo>
                <a:lnTo>
                  <a:pt x="64266" y="76359"/>
                </a:lnTo>
                <a:lnTo>
                  <a:pt x="64674" y="76766"/>
                </a:lnTo>
                <a:lnTo>
                  <a:pt x="64946" y="76766"/>
                </a:lnTo>
                <a:lnTo>
                  <a:pt x="65217" y="76766"/>
                </a:lnTo>
                <a:lnTo>
                  <a:pt x="67663" y="76766"/>
                </a:lnTo>
                <a:lnTo>
                  <a:pt x="68071" y="76359"/>
                </a:lnTo>
                <a:lnTo>
                  <a:pt x="68071" y="73913"/>
                </a:lnTo>
                <a:lnTo>
                  <a:pt x="68207" y="73777"/>
                </a:lnTo>
                <a:lnTo>
                  <a:pt x="68342" y="73641"/>
                </a:lnTo>
                <a:lnTo>
                  <a:pt x="68342" y="71467"/>
                </a:lnTo>
                <a:lnTo>
                  <a:pt x="68478" y="71332"/>
                </a:lnTo>
                <a:lnTo>
                  <a:pt x="69158" y="71467"/>
                </a:lnTo>
                <a:lnTo>
                  <a:pt x="69158" y="72554"/>
                </a:lnTo>
                <a:lnTo>
                  <a:pt x="69293" y="72690"/>
                </a:lnTo>
                <a:lnTo>
                  <a:pt x="69429" y="72826"/>
                </a:lnTo>
                <a:lnTo>
                  <a:pt x="69429" y="76359"/>
                </a:lnTo>
                <a:lnTo>
                  <a:pt x="69837" y="76766"/>
                </a:lnTo>
                <a:lnTo>
                  <a:pt x="72826" y="76766"/>
                </a:lnTo>
                <a:lnTo>
                  <a:pt x="73234" y="76359"/>
                </a:lnTo>
                <a:lnTo>
                  <a:pt x="73234" y="72554"/>
                </a:lnTo>
                <a:lnTo>
                  <a:pt x="73370" y="72418"/>
                </a:lnTo>
                <a:lnTo>
                  <a:pt x="73505" y="72283"/>
                </a:lnTo>
                <a:lnTo>
                  <a:pt x="73505" y="69022"/>
                </a:lnTo>
                <a:lnTo>
                  <a:pt x="72554" y="68614"/>
                </a:lnTo>
                <a:lnTo>
                  <a:pt x="72418" y="67935"/>
                </a:lnTo>
                <a:lnTo>
                  <a:pt x="72826" y="67527"/>
                </a:lnTo>
                <a:lnTo>
                  <a:pt x="77717" y="67527"/>
                </a:lnTo>
                <a:lnTo>
                  <a:pt x="78125" y="67120"/>
                </a:lnTo>
                <a:lnTo>
                  <a:pt x="77853" y="66576"/>
                </a:lnTo>
                <a:lnTo>
                  <a:pt x="77853" y="65761"/>
                </a:lnTo>
                <a:lnTo>
                  <a:pt x="77717" y="65625"/>
                </a:lnTo>
                <a:lnTo>
                  <a:pt x="77582" y="65489"/>
                </a:lnTo>
                <a:lnTo>
                  <a:pt x="77582" y="65217"/>
                </a:lnTo>
                <a:lnTo>
                  <a:pt x="77582" y="64946"/>
                </a:lnTo>
                <a:lnTo>
                  <a:pt x="77446" y="64810"/>
                </a:lnTo>
                <a:lnTo>
                  <a:pt x="77310" y="64674"/>
                </a:lnTo>
                <a:lnTo>
                  <a:pt x="77310" y="64402"/>
                </a:lnTo>
                <a:lnTo>
                  <a:pt x="77310" y="64130"/>
                </a:lnTo>
                <a:lnTo>
                  <a:pt x="77174" y="63995"/>
                </a:lnTo>
                <a:lnTo>
                  <a:pt x="77038" y="63859"/>
                </a:lnTo>
                <a:lnTo>
                  <a:pt x="77038" y="63587"/>
                </a:lnTo>
                <a:lnTo>
                  <a:pt x="77038" y="63315"/>
                </a:lnTo>
                <a:lnTo>
                  <a:pt x="76495" y="62228"/>
                </a:lnTo>
                <a:lnTo>
                  <a:pt x="76223" y="60326"/>
                </a:lnTo>
                <a:lnTo>
                  <a:pt x="77174" y="60190"/>
                </a:lnTo>
                <a:lnTo>
                  <a:pt x="77310" y="60326"/>
                </a:lnTo>
                <a:lnTo>
                  <a:pt x="77446" y="60462"/>
                </a:lnTo>
                <a:lnTo>
                  <a:pt x="78261" y="60462"/>
                </a:lnTo>
                <a:lnTo>
                  <a:pt x="79212" y="59783"/>
                </a:lnTo>
                <a:lnTo>
                  <a:pt x="79212" y="58152"/>
                </a:lnTo>
                <a:lnTo>
                  <a:pt x="79076" y="58016"/>
                </a:lnTo>
                <a:lnTo>
                  <a:pt x="78940" y="57880"/>
                </a:lnTo>
                <a:lnTo>
                  <a:pt x="78940" y="57065"/>
                </a:lnTo>
                <a:lnTo>
                  <a:pt x="78804" y="56929"/>
                </a:lnTo>
                <a:lnTo>
                  <a:pt x="78668" y="56793"/>
                </a:lnTo>
                <a:lnTo>
                  <a:pt x="78668" y="55978"/>
                </a:lnTo>
                <a:lnTo>
                  <a:pt x="78533" y="55842"/>
                </a:lnTo>
                <a:lnTo>
                  <a:pt x="78397" y="55707"/>
                </a:lnTo>
                <a:lnTo>
                  <a:pt x="78397" y="54620"/>
                </a:lnTo>
                <a:lnTo>
                  <a:pt x="78261" y="54484"/>
                </a:lnTo>
                <a:lnTo>
                  <a:pt x="78125" y="54348"/>
                </a:lnTo>
                <a:lnTo>
                  <a:pt x="78125" y="53533"/>
                </a:lnTo>
                <a:lnTo>
                  <a:pt x="77989" y="53397"/>
                </a:lnTo>
                <a:lnTo>
                  <a:pt x="77853" y="53261"/>
                </a:lnTo>
                <a:lnTo>
                  <a:pt x="77853" y="52446"/>
                </a:lnTo>
                <a:lnTo>
                  <a:pt x="77717" y="52310"/>
                </a:lnTo>
                <a:lnTo>
                  <a:pt x="77582" y="52174"/>
                </a:lnTo>
                <a:lnTo>
                  <a:pt x="77582" y="51087"/>
                </a:lnTo>
                <a:lnTo>
                  <a:pt x="77446" y="50951"/>
                </a:lnTo>
                <a:lnTo>
                  <a:pt x="77310" y="50815"/>
                </a:lnTo>
                <a:lnTo>
                  <a:pt x="77310" y="50000"/>
                </a:lnTo>
                <a:lnTo>
                  <a:pt x="77174" y="49864"/>
                </a:lnTo>
                <a:lnTo>
                  <a:pt x="77038" y="49728"/>
                </a:lnTo>
                <a:lnTo>
                  <a:pt x="77038" y="48641"/>
                </a:lnTo>
                <a:lnTo>
                  <a:pt x="76902" y="48505"/>
                </a:lnTo>
                <a:lnTo>
                  <a:pt x="76766" y="48370"/>
                </a:lnTo>
                <a:lnTo>
                  <a:pt x="76766" y="48098"/>
                </a:lnTo>
                <a:lnTo>
                  <a:pt x="76766" y="47826"/>
                </a:lnTo>
                <a:lnTo>
                  <a:pt x="75951" y="46196"/>
                </a:lnTo>
                <a:lnTo>
                  <a:pt x="73913" y="44158"/>
                </a:lnTo>
                <a:lnTo>
                  <a:pt x="72826" y="43614"/>
                </a:lnTo>
                <a:lnTo>
                  <a:pt x="72554" y="43614"/>
                </a:lnTo>
                <a:lnTo>
                  <a:pt x="72283" y="43614"/>
                </a:lnTo>
                <a:lnTo>
                  <a:pt x="71196" y="43071"/>
                </a:lnTo>
                <a:lnTo>
                  <a:pt x="69837" y="43071"/>
                </a:lnTo>
                <a:lnTo>
                  <a:pt x="69701" y="42935"/>
                </a:lnTo>
                <a:lnTo>
                  <a:pt x="69565" y="42799"/>
                </a:lnTo>
                <a:lnTo>
                  <a:pt x="67663" y="42799"/>
                </a:lnTo>
                <a:lnTo>
                  <a:pt x="67527" y="42935"/>
                </a:lnTo>
                <a:lnTo>
                  <a:pt x="67391" y="43071"/>
                </a:lnTo>
                <a:lnTo>
                  <a:pt x="66304" y="43071"/>
                </a:lnTo>
                <a:lnTo>
                  <a:pt x="66168" y="43207"/>
                </a:lnTo>
                <a:lnTo>
                  <a:pt x="66033" y="43342"/>
                </a:lnTo>
                <a:lnTo>
                  <a:pt x="65761" y="43342"/>
                </a:lnTo>
                <a:lnTo>
                  <a:pt x="65489" y="43342"/>
                </a:lnTo>
                <a:lnTo>
                  <a:pt x="63859" y="44158"/>
                </a:lnTo>
                <a:lnTo>
                  <a:pt x="62092" y="45652"/>
                </a:lnTo>
                <a:lnTo>
                  <a:pt x="62092" y="45924"/>
                </a:lnTo>
                <a:lnTo>
                  <a:pt x="61005" y="47283"/>
                </a:lnTo>
                <a:lnTo>
                  <a:pt x="61005" y="47554"/>
                </a:lnTo>
                <a:lnTo>
                  <a:pt x="61005" y="47826"/>
                </a:lnTo>
                <a:lnTo>
                  <a:pt x="60462" y="48913"/>
                </a:lnTo>
                <a:lnTo>
                  <a:pt x="60462" y="49728"/>
                </a:lnTo>
                <a:lnTo>
                  <a:pt x="60326" y="49864"/>
                </a:lnTo>
                <a:lnTo>
                  <a:pt x="60190" y="50000"/>
                </a:lnTo>
                <a:lnTo>
                  <a:pt x="60190" y="50815"/>
                </a:lnTo>
                <a:lnTo>
                  <a:pt x="60054" y="50951"/>
                </a:lnTo>
                <a:lnTo>
                  <a:pt x="59918" y="51087"/>
                </a:lnTo>
                <a:lnTo>
                  <a:pt x="59918" y="51902"/>
                </a:lnTo>
                <a:lnTo>
                  <a:pt x="59239" y="52310"/>
                </a:lnTo>
                <a:lnTo>
                  <a:pt x="58560" y="52174"/>
                </a:lnTo>
                <a:lnTo>
                  <a:pt x="58560" y="51902"/>
                </a:lnTo>
                <a:lnTo>
                  <a:pt x="58560" y="51630"/>
                </a:lnTo>
                <a:lnTo>
                  <a:pt x="58696" y="51495"/>
                </a:lnTo>
                <a:lnTo>
                  <a:pt x="58832" y="51359"/>
                </a:lnTo>
                <a:lnTo>
                  <a:pt x="58832" y="50272"/>
                </a:lnTo>
                <a:lnTo>
                  <a:pt x="58967" y="50136"/>
                </a:lnTo>
                <a:lnTo>
                  <a:pt x="59103" y="50000"/>
                </a:lnTo>
                <a:lnTo>
                  <a:pt x="59103" y="48913"/>
                </a:lnTo>
                <a:lnTo>
                  <a:pt x="59239" y="48777"/>
                </a:lnTo>
                <a:lnTo>
                  <a:pt x="59375" y="48641"/>
                </a:lnTo>
                <a:lnTo>
                  <a:pt x="59375" y="47826"/>
                </a:lnTo>
                <a:lnTo>
                  <a:pt x="60734" y="45109"/>
                </a:lnTo>
                <a:lnTo>
                  <a:pt x="62500" y="43342"/>
                </a:lnTo>
                <a:lnTo>
                  <a:pt x="62772" y="43342"/>
                </a:lnTo>
                <a:lnTo>
                  <a:pt x="63315" y="42799"/>
                </a:lnTo>
                <a:lnTo>
                  <a:pt x="64402" y="42255"/>
                </a:lnTo>
                <a:lnTo>
                  <a:pt x="64674" y="42255"/>
                </a:lnTo>
                <a:lnTo>
                  <a:pt x="64946" y="42255"/>
                </a:lnTo>
                <a:lnTo>
                  <a:pt x="65082" y="42120"/>
                </a:lnTo>
                <a:lnTo>
                  <a:pt x="65217" y="41984"/>
                </a:lnTo>
                <a:lnTo>
                  <a:pt x="66033" y="41984"/>
                </a:lnTo>
                <a:lnTo>
                  <a:pt x="66168" y="41848"/>
                </a:lnTo>
                <a:lnTo>
                  <a:pt x="66304" y="41712"/>
                </a:lnTo>
                <a:lnTo>
                  <a:pt x="67527" y="41576"/>
                </a:lnTo>
                <a:close/>
                <a:moveTo>
                  <a:pt x="48505" y="47826"/>
                </a:moveTo>
                <a:lnTo>
                  <a:pt x="48641" y="47690"/>
                </a:lnTo>
                <a:lnTo>
                  <a:pt x="50815" y="47690"/>
                </a:lnTo>
                <a:lnTo>
                  <a:pt x="50951" y="47826"/>
                </a:lnTo>
                <a:lnTo>
                  <a:pt x="51087" y="47962"/>
                </a:lnTo>
                <a:lnTo>
                  <a:pt x="51359" y="47962"/>
                </a:lnTo>
                <a:lnTo>
                  <a:pt x="51630" y="47962"/>
                </a:lnTo>
                <a:lnTo>
                  <a:pt x="52717" y="48505"/>
                </a:lnTo>
                <a:lnTo>
                  <a:pt x="54484" y="50272"/>
                </a:lnTo>
                <a:lnTo>
                  <a:pt x="54755" y="50815"/>
                </a:lnTo>
                <a:lnTo>
                  <a:pt x="54755" y="51087"/>
                </a:lnTo>
                <a:lnTo>
                  <a:pt x="54755" y="51359"/>
                </a:lnTo>
                <a:lnTo>
                  <a:pt x="54891" y="51495"/>
                </a:lnTo>
                <a:lnTo>
                  <a:pt x="55027" y="51630"/>
                </a:lnTo>
                <a:lnTo>
                  <a:pt x="55027" y="54076"/>
                </a:lnTo>
                <a:lnTo>
                  <a:pt x="54891" y="54212"/>
                </a:lnTo>
                <a:lnTo>
                  <a:pt x="54755" y="54348"/>
                </a:lnTo>
                <a:lnTo>
                  <a:pt x="54755" y="54620"/>
                </a:lnTo>
                <a:lnTo>
                  <a:pt x="54755" y="54891"/>
                </a:lnTo>
                <a:lnTo>
                  <a:pt x="54484" y="55435"/>
                </a:lnTo>
                <a:lnTo>
                  <a:pt x="52717" y="57201"/>
                </a:lnTo>
                <a:lnTo>
                  <a:pt x="50951" y="57880"/>
                </a:lnTo>
                <a:lnTo>
                  <a:pt x="50815" y="58016"/>
                </a:lnTo>
                <a:lnTo>
                  <a:pt x="48641" y="58016"/>
                </a:lnTo>
                <a:lnTo>
                  <a:pt x="48505" y="57880"/>
                </a:lnTo>
                <a:lnTo>
                  <a:pt x="48370" y="57745"/>
                </a:lnTo>
                <a:lnTo>
                  <a:pt x="48098" y="57745"/>
                </a:lnTo>
                <a:lnTo>
                  <a:pt x="47826" y="57745"/>
                </a:lnTo>
                <a:lnTo>
                  <a:pt x="47283" y="57473"/>
                </a:lnTo>
                <a:lnTo>
                  <a:pt x="45516" y="55978"/>
                </a:lnTo>
                <a:lnTo>
                  <a:pt x="44701" y="54348"/>
                </a:lnTo>
                <a:lnTo>
                  <a:pt x="44701" y="53261"/>
                </a:lnTo>
                <a:lnTo>
                  <a:pt x="44429" y="52717"/>
                </a:lnTo>
                <a:lnTo>
                  <a:pt x="44565" y="52582"/>
                </a:lnTo>
                <a:lnTo>
                  <a:pt x="44701" y="52446"/>
                </a:lnTo>
                <a:lnTo>
                  <a:pt x="44701" y="51359"/>
                </a:lnTo>
                <a:lnTo>
                  <a:pt x="44837" y="51223"/>
                </a:lnTo>
                <a:lnTo>
                  <a:pt x="44973" y="51087"/>
                </a:lnTo>
                <a:lnTo>
                  <a:pt x="44973" y="50815"/>
                </a:lnTo>
                <a:lnTo>
                  <a:pt x="44973" y="50543"/>
                </a:lnTo>
                <a:lnTo>
                  <a:pt x="46467" y="48777"/>
                </a:lnTo>
                <a:lnTo>
                  <a:pt x="46739" y="48777"/>
                </a:lnTo>
                <a:lnTo>
                  <a:pt x="47826" y="47962"/>
                </a:lnTo>
                <a:lnTo>
                  <a:pt x="48505" y="47826"/>
                </a:lnTo>
                <a:close/>
                <a:moveTo>
                  <a:pt x="48913" y="49049"/>
                </a:moveTo>
                <a:lnTo>
                  <a:pt x="47826" y="49592"/>
                </a:lnTo>
                <a:lnTo>
                  <a:pt x="46332" y="51087"/>
                </a:lnTo>
                <a:lnTo>
                  <a:pt x="46332" y="51359"/>
                </a:lnTo>
                <a:lnTo>
                  <a:pt x="46332" y="51630"/>
                </a:lnTo>
                <a:lnTo>
                  <a:pt x="46196" y="51766"/>
                </a:lnTo>
                <a:lnTo>
                  <a:pt x="46060" y="51902"/>
                </a:lnTo>
                <a:lnTo>
                  <a:pt x="46060" y="53804"/>
                </a:lnTo>
                <a:lnTo>
                  <a:pt x="46196" y="53940"/>
                </a:lnTo>
                <a:lnTo>
                  <a:pt x="46332" y="54076"/>
                </a:lnTo>
                <a:lnTo>
                  <a:pt x="46332" y="54348"/>
                </a:lnTo>
                <a:lnTo>
                  <a:pt x="46332" y="54620"/>
                </a:lnTo>
                <a:lnTo>
                  <a:pt x="47826" y="56114"/>
                </a:lnTo>
                <a:lnTo>
                  <a:pt x="48913" y="56658"/>
                </a:lnTo>
                <a:lnTo>
                  <a:pt x="50543" y="56658"/>
                </a:lnTo>
                <a:lnTo>
                  <a:pt x="50679" y="56522"/>
                </a:lnTo>
                <a:lnTo>
                  <a:pt x="51359" y="56386"/>
                </a:lnTo>
                <a:lnTo>
                  <a:pt x="53125" y="54891"/>
                </a:lnTo>
                <a:lnTo>
                  <a:pt x="53668" y="53804"/>
                </a:lnTo>
                <a:lnTo>
                  <a:pt x="53668" y="51902"/>
                </a:lnTo>
                <a:lnTo>
                  <a:pt x="52853" y="50815"/>
                </a:lnTo>
                <a:lnTo>
                  <a:pt x="52853" y="50543"/>
                </a:lnTo>
                <a:lnTo>
                  <a:pt x="51359" y="49321"/>
                </a:lnTo>
                <a:lnTo>
                  <a:pt x="51087" y="49321"/>
                </a:lnTo>
                <a:lnTo>
                  <a:pt x="50815" y="49321"/>
                </a:lnTo>
                <a:lnTo>
                  <a:pt x="50679" y="49185"/>
                </a:lnTo>
                <a:lnTo>
                  <a:pt x="50543" y="49049"/>
                </a:lnTo>
                <a:lnTo>
                  <a:pt x="48913" y="49049"/>
                </a:lnTo>
                <a:close/>
                <a:moveTo>
                  <a:pt x="38179" y="53533"/>
                </a:moveTo>
                <a:lnTo>
                  <a:pt x="38315" y="53397"/>
                </a:lnTo>
                <a:lnTo>
                  <a:pt x="40489" y="53397"/>
                </a:lnTo>
                <a:lnTo>
                  <a:pt x="42255" y="54891"/>
                </a:lnTo>
                <a:lnTo>
                  <a:pt x="42255" y="55163"/>
                </a:lnTo>
                <a:lnTo>
                  <a:pt x="43886" y="56793"/>
                </a:lnTo>
                <a:lnTo>
                  <a:pt x="43886" y="57065"/>
                </a:lnTo>
                <a:lnTo>
                  <a:pt x="44565" y="57745"/>
                </a:lnTo>
                <a:lnTo>
                  <a:pt x="46196" y="58560"/>
                </a:lnTo>
                <a:lnTo>
                  <a:pt x="46603" y="58967"/>
                </a:lnTo>
                <a:lnTo>
                  <a:pt x="46603" y="59239"/>
                </a:lnTo>
                <a:lnTo>
                  <a:pt x="47147" y="59511"/>
                </a:lnTo>
                <a:lnTo>
                  <a:pt x="47147" y="59783"/>
                </a:lnTo>
                <a:lnTo>
                  <a:pt x="47011" y="59918"/>
                </a:lnTo>
                <a:lnTo>
                  <a:pt x="46739" y="59918"/>
                </a:lnTo>
                <a:lnTo>
                  <a:pt x="46603" y="59783"/>
                </a:lnTo>
                <a:lnTo>
                  <a:pt x="46467" y="59647"/>
                </a:lnTo>
                <a:lnTo>
                  <a:pt x="45109" y="59647"/>
                </a:lnTo>
                <a:lnTo>
                  <a:pt x="44022" y="59103"/>
                </a:lnTo>
                <a:lnTo>
                  <a:pt x="39946" y="54755"/>
                </a:lnTo>
                <a:lnTo>
                  <a:pt x="38859" y="54755"/>
                </a:lnTo>
                <a:lnTo>
                  <a:pt x="37908" y="55707"/>
                </a:lnTo>
                <a:lnTo>
                  <a:pt x="37908" y="55978"/>
                </a:lnTo>
                <a:lnTo>
                  <a:pt x="37908" y="56250"/>
                </a:lnTo>
                <a:lnTo>
                  <a:pt x="38451" y="57337"/>
                </a:lnTo>
                <a:lnTo>
                  <a:pt x="38995" y="57880"/>
                </a:lnTo>
                <a:lnTo>
                  <a:pt x="39538" y="58967"/>
                </a:lnTo>
                <a:lnTo>
                  <a:pt x="41168" y="60598"/>
                </a:lnTo>
                <a:lnTo>
                  <a:pt x="41168" y="60870"/>
                </a:lnTo>
                <a:lnTo>
                  <a:pt x="41576" y="61277"/>
                </a:lnTo>
                <a:lnTo>
                  <a:pt x="41848" y="61277"/>
                </a:lnTo>
                <a:lnTo>
                  <a:pt x="42935" y="62364"/>
                </a:lnTo>
                <a:lnTo>
                  <a:pt x="44565" y="63179"/>
                </a:lnTo>
                <a:lnTo>
                  <a:pt x="45245" y="63859"/>
                </a:lnTo>
                <a:lnTo>
                  <a:pt x="45245" y="68478"/>
                </a:lnTo>
                <a:lnTo>
                  <a:pt x="45380" y="68614"/>
                </a:lnTo>
                <a:lnTo>
                  <a:pt x="45516" y="68750"/>
                </a:lnTo>
                <a:lnTo>
                  <a:pt x="45516" y="76359"/>
                </a:lnTo>
                <a:lnTo>
                  <a:pt x="45924" y="76766"/>
                </a:lnTo>
                <a:lnTo>
                  <a:pt x="48641" y="76766"/>
                </a:lnTo>
                <a:lnTo>
                  <a:pt x="49049" y="76087"/>
                </a:lnTo>
                <a:lnTo>
                  <a:pt x="49049" y="75815"/>
                </a:lnTo>
                <a:lnTo>
                  <a:pt x="49049" y="75543"/>
                </a:lnTo>
                <a:lnTo>
                  <a:pt x="49457" y="75136"/>
                </a:lnTo>
                <a:lnTo>
                  <a:pt x="49728" y="75136"/>
                </a:lnTo>
                <a:lnTo>
                  <a:pt x="50000" y="75136"/>
                </a:lnTo>
                <a:lnTo>
                  <a:pt x="50408" y="75543"/>
                </a:lnTo>
                <a:lnTo>
                  <a:pt x="50408" y="75815"/>
                </a:lnTo>
                <a:lnTo>
                  <a:pt x="50408" y="76087"/>
                </a:lnTo>
                <a:lnTo>
                  <a:pt x="50815" y="76766"/>
                </a:lnTo>
                <a:lnTo>
                  <a:pt x="53804" y="76766"/>
                </a:lnTo>
                <a:lnTo>
                  <a:pt x="53940" y="76630"/>
                </a:lnTo>
                <a:lnTo>
                  <a:pt x="53940" y="71467"/>
                </a:lnTo>
                <a:lnTo>
                  <a:pt x="54076" y="71332"/>
                </a:lnTo>
                <a:lnTo>
                  <a:pt x="54212" y="71196"/>
                </a:lnTo>
                <a:lnTo>
                  <a:pt x="54212" y="66848"/>
                </a:lnTo>
                <a:lnTo>
                  <a:pt x="54348" y="66712"/>
                </a:lnTo>
                <a:lnTo>
                  <a:pt x="54484" y="66576"/>
                </a:lnTo>
                <a:lnTo>
                  <a:pt x="54484" y="66304"/>
                </a:lnTo>
                <a:lnTo>
                  <a:pt x="54484" y="66033"/>
                </a:lnTo>
                <a:lnTo>
                  <a:pt x="54348" y="65897"/>
                </a:lnTo>
                <a:lnTo>
                  <a:pt x="54212" y="65761"/>
                </a:lnTo>
                <a:lnTo>
                  <a:pt x="54348" y="65625"/>
                </a:lnTo>
                <a:lnTo>
                  <a:pt x="54484" y="65489"/>
                </a:lnTo>
                <a:lnTo>
                  <a:pt x="54484" y="63587"/>
                </a:lnTo>
                <a:lnTo>
                  <a:pt x="55978" y="62908"/>
                </a:lnTo>
                <a:lnTo>
                  <a:pt x="56793" y="62092"/>
                </a:lnTo>
                <a:lnTo>
                  <a:pt x="57065" y="62092"/>
                </a:lnTo>
                <a:lnTo>
                  <a:pt x="59103" y="60054"/>
                </a:lnTo>
                <a:lnTo>
                  <a:pt x="59103" y="59783"/>
                </a:lnTo>
                <a:lnTo>
                  <a:pt x="60462" y="58424"/>
                </a:lnTo>
                <a:lnTo>
                  <a:pt x="60462" y="58152"/>
                </a:lnTo>
                <a:lnTo>
                  <a:pt x="61005" y="57609"/>
                </a:lnTo>
                <a:lnTo>
                  <a:pt x="61821" y="55978"/>
                </a:lnTo>
                <a:lnTo>
                  <a:pt x="60870" y="54755"/>
                </a:lnTo>
                <a:lnTo>
                  <a:pt x="59783" y="54755"/>
                </a:lnTo>
                <a:lnTo>
                  <a:pt x="58967" y="55571"/>
                </a:lnTo>
                <a:lnTo>
                  <a:pt x="55435" y="59103"/>
                </a:lnTo>
                <a:lnTo>
                  <a:pt x="54348" y="59647"/>
                </a:lnTo>
                <a:lnTo>
                  <a:pt x="52717" y="59647"/>
                </a:lnTo>
                <a:lnTo>
                  <a:pt x="52582" y="59511"/>
                </a:lnTo>
                <a:lnTo>
                  <a:pt x="53261" y="58560"/>
                </a:lnTo>
                <a:lnTo>
                  <a:pt x="54620" y="58016"/>
                </a:lnTo>
                <a:lnTo>
                  <a:pt x="57201" y="55435"/>
                </a:lnTo>
                <a:lnTo>
                  <a:pt x="57201" y="55163"/>
                </a:lnTo>
                <a:lnTo>
                  <a:pt x="58424" y="53940"/>
                </a:lnTo>
                <a:lnTo>
                  <a:pt x="59511" y="53397"/>
                </a:lnTo>
                <a:lnTo>
                  <a:pt x="61413" y="53397"/>
                </a:lnTo>
                <a:lnTo>
                  <a:pt x="61957" y="53668"/>
                </a:lnTo>
                <a:lnTo>
                  <a:pt x="62636" y="54348"/>
                </a:lnTo>
                <a:lnTo>
                  <a:pt x="63179" y="55435"/>
                </a:lnTo>
                <a:lnTo>
                  <a:pt x="63179" y="56250"/>
                </a:lnTo>
                <a:lnTo>
                  <a:pt x="62364" y="57880"/>
                </a:lnTo>
                <a:lnTo>
                  <a:pt x="61821" y="58424"/>
                </a:lnTo>
                <a:lnTo>
                  <a:pt x="61549" y="59239"/>
                </a:lnTo>
                <a:lnTo>
                  <a:pt x="61005" y="59783"/>
                </a:lnTo>
                <a:lnTo>
                  <a:pt x="61005" y="60054"/>
                </a:lnTo>
                <a:lnTo>
                  <a:pt x="58967" y="62364"/>
                </a:lnTo>
                <a:lnTo>
                  <a:pt x="58696" y="62364"/>
                </a:lnTo>
                <a:lnTo>
                  <a:pt x="57880" y="63179"/>
                </a:lnTo>
                <a:lnTo>
                  <a:pt x="57609" y="63179"/>
                </a:lnTo>
                <a:lnTo>
                  <a:pt x="57065" y="63723"/>
                </a:lnTo>
                <a:lnTo>
                  <a:pt x="56793" y="63723"/>
                </a:lnTo>
                <a:lnTo>
                  <a:pt x="56250" y="64266"/>
                </a:lnTo>
                <a:lnTo>
                  <a:pt x="55978" y="64266"/>
                </a:lnTo>
                <a:lnTo>
                  <a:pt x="55842" y="64402"/>
                </a:lnTo>
                <a:lnTo>
                  <a:pt x="55842" y="65489"/>
                </a:lnTo>
                <a:lnTo>
                  <a:pt x="55707" y="65625"/>
                </a:lnTo>
                <a:lnTo>
                  <a:pt x="55571" y="65761"/>
                </a:lnTo>
                <a:lnTo>
                  <a:pt x="55571" y="71196"/>
                </a:lnTo>
                <a:lnTo>
                  <a:pt x="55435" y="71332"/>
                </a:lnTo>
                <a:lnTo>
                  <a:pt x="55299" y="71467"/>
                </a:lnTo>
                <a:lnTo>
                  <a:pt x="55299" y="77446"/>
                </a:lnTo>
                <a:lnTo>
                  <a:pt x="54620" y="78125"/>
                </a:lnTo>
                <a:lnTo>
                  <a:pt x="50272" y="78125"/>
                </a:lnTo>
                <a:lnTo>
                  <a:pt x="50136" y="77989"/>
                </a:lnTo>
                <a:lnTo>
                  <a:pt x="50000" y="77853"/>
                </a:lnTo>
                <a:lnTo>
                  <a:pt x="49728" y="77853"/>
                </a:lnTo>
                <a:lnTo>
                  <a:pt x="49457" y="77853"/>
                </a:lnTo>
                <a:lnTo>
                  <a:pt x="49321" y="77989"/>
                </a:lnTo>
                <a:lnTo>
                  <a:pt x="49185" y="78125"/>
                </a:lnTo>
                <a:lnTo>
                  <a:pt x="44837" y="78125"/>
                </a:lnTo>
                <a:lnTo>
                  <a:pt x="44429" y="77717"/>
                </a:lnTo>
                <a:lnTo>
                  <a:pt x="44429" y="76630"/>
                </a:lnTo>
                <a:lnTo>
                  <a:pt x="44293" y="76495"/>
                </a:lnTo>
                <a:lnTo>
                  <a:pt x="44158" y="76359"/>
                </a:lnTo>
                <a:lnTo>
                  <a:pt x="44158" y="70924"/>
                </a:lnTo>
                <a:lnTo>
                  <a:pt x="44022" y="70788"/>
                </a:lnTo>
                <a:lnTo>
                  <a:pt x="43886" y="70652"/>
                </a:lnTo>
                <a:lnTo>
                  <a:pt x="43886" y="64674"/>
                </a:lnTo>
                <a:lnTo>
                  <a:pt x="43207" y="63995"/>
                </a:lnTo>
                <a:lnTo>
                  <a:pt x="42935" y="63995"/>
                </a:lnTo>
                <a:lnTo>
                  <a:pt x="41304" y="62636"/>
                </a:lnTo>
                <a:lnTo>
                  <a:pt x="41033" y="62636"/>
                </a:lnTo>
                <a:lnTo>
                  <a:pt x="38995" y="60598"/>
                </a:lnTo>
                <a:lnTo>
                  <a:pt x="38451" y="59511"/>
                </a:lnTo>
                <a:lnTo>
                  <a:pt x="37092" y="57880"/>
                </a:lnTo>
                <a:lnTo>
                  <a:pt x="36549" y="56793"/>
                </a:lnTo>
                <a:lnTo>
                  <a:pt x="36549" y="55163"/>
                </a:lnTo>
                <a:lnTo>
                  <a:pt x="36821" y="54620"/>
                </a:lnTo>
                <a:lnTo>
                  <a:pt x="37772" y="53668"/>
                </a:lnTo>
                <a:lnTo>
                  <a:pt x="38043" y="53668"/>
                </a:lnTo>
                <a:lnTo>
                  <a:pt x="38179" y="53533"/>
                </a:lnTo>
                <a:close/>
              </a:path>
            </a:pathLst>
          </a:custGeom>
          <a:solidFill>
            <a:srgbClr val="FFFFFF"/>
          </a:solidFill>
          <a:ln>
            <a:noFill/>
          </a:ln>
        </p:spPr>
        <p:txBody>
          <a:bodyPr/>
          <a:p/>
        </p:txBody>
      </p:sp>
      <p:sp>
        <p:nvSpPr>
          <p:cNvPr id="9" name="Text 6"/>
          <p:cNvSpPr/>
          <p:nvPr/>
        </p:nvSpPr>
        <p:spPr>
          <a:xfrm>
            <a:off x="777240" y="4727448"/>
            <a:ext cx="2514600" cy="795528"/>
          </a:xfrm>
          <a:prstGeom prst="rect">
            <a:avLst/>
          </a:prstGeom>
          <a:noFill/>
          <a:ln/>
        </p:spPr>
        <p:txBody>
          <a:bodyPr wrap="square" lIns="0" tIns="0" rIns="0" bIns="0" rtlCol="0" anchor="ctr"/>
          <a:lstStyle/>
          <a:p>
            <a:pPr indent="0" marL="0">
              <a:buNone/>
            </a:pPr>
            <a:r>
              <a:rPr lang="en-US" sz="7800" b="1" dirty="0">
                <a:solidFill>
                  <a:srgbClr val="B45309"/>
                </a:solidFill>
                <a:latin typeface="Aptos" pitchFamily="34" charset="0"/>
                <a:ea typeface="Segoe UI" pitchFamily="34" charset="-122"/>
                <a:cs typeface="Segoe UI" pitchFamily="34" charset="-120"/>
              </a:rPr>
              <a:t>609</a:t>
            </a:r>
            <a:endParaRPr lang="en-US" sz="7800" dirty="0"/>
          </a:p>
        </p:txBody>
      </p:sp>
      <p:sp>
        <p:nvSpPr>
          <p:cNvPr id="10" name="Text 7"/>
          <p:cNvSpPr/>
          <p:nvPr/>
        </p:nvSpPr>
        <p:spPr>
          <a:xfrm>
            <a:off x="1271016" y="5650992"/>
            <a:ext cx="1563624" cy="374904"/>
          </a:xfrm>
          <a:prstGeom prst="rect">
            <a:avLst/>
          </a:prstGeom>
          <a:noFill/>
          <a:ln/>
        </p:spPr>
        <p:txBody>
          <a:bodyPr wrap="square" lIns="0" tIns="0" rIns="0" bIns="0" rtlCol="0" anchor="ctr"/>
          <a:lstStyle/>
          <a:p>
            <a:pPr indent="0" marL="0">
              <a:buNone/>
            </a:pPr>
            <a:r>
              <a:rPr lang="en-US" sz="2700" dirty="0">
                <a:solidFill>
                  <a:srgbClr val="17324D"/>
                </a:solidFill>
                <a:latin typeface="Aptos" pitchFamily="34" charset="0"/>
                <a:ea typeface="Segoe UI" pitchFamily="34" charset="-122"/>
                <a:cs typeface="Segoe UI" pitchFamily="34" charset="-120"/>
              </a:rPr>
              <a:t>clients</a:t>
            </a:r>
            <a:endParaRPr lang="en-US" sz="2700" dirty="0"/>
          </a:p>
        </p:txBody>
      </p:sp>
      <p:sp>
        <p:nvSpPr>
          <p:cNvPr id="11" name="Shape 8"/>
          <p:cNvSpPr/>
          <p:nvPr/>
        </p:nvSpPr>
        <p:spPr>
          <a:xfrm>
            <a:off x="3547872" y="1709928"/>
            <a:ext cx="0" cy="4572000"/>
          </a:xfrm>
          <a:prstGeom prst="line">
            <a:avLst/>
          </a:prstGeom>
          <a:noFill/>
          <a:ln w="11430">
            <a:solidFill>
              <a:srgbClr val="D1D5DB"/>
            </a:solidFill>
            <a:prstDash val="solid"/>
          </a:ln>
        </p:spPr>
        <p:txBody>
          <a:bodyPr/>
          <a:p/>
        </p:txBody>
      </p:sp>
      <p:sp>
        <p:nvSpPr>
          <p:cNvPr id="12" name="Shape 9"/>
          <p:cNvSpPr/>
          <p:nvPr/>
        </p:nvSpPr>
        <p:spPr>
          <a:xfrm>
            <a:off x="3776472" y="1728216"/>
            <a:ext cx="4050792" cy="1325880"/>
          </a:xfrm>
          <a:prstGeom prst="roundRect">
            <a:avLst>
              <a:gd name="adj" fmla="val 9655"/>
            </a:avLst>
          </a:prstGeom>
          <a:solidFill>
            <a:srgbClr val="F0FDFA"/>
          </a:solidFill>
          <a:ln w="12700">
            <a:solidFill>
              <a:srgbClr val="F0FDFA">
                <a:alpha val="0"/>
              </a:srgbClr>
            </a:solidFill>
            <a:prstDash val="solid"/>
          </a:ln>
        </p:spPr>
        <p:txBody>
          <a:bodyPr/>
          <a:p/>
        </p:txBody>
      </p:sp>
      <p:sp>
        <p:nvSpPr>
          <p:cNvPr id="13" name="Shape 10"/>
          <p:cNvSpPr/>
          <p:nvPr/>
        </p:nvSpPr>
        <p:spPr>
          <a:xfrm>
            <a:off x="3977640" y="1865376"/>
            <a:ext cx="923544" cy="923544"/>
          </a:xfrm>
          <a:prstGeom prst="ellipse">
            <a:avLst/>
          </a:prstGeom>
          <a:solidFill>
            <a:srgbClr val="B45309"/>
          </a:solidFill>
          <a:ln w="12700">
            <a:solidFill>
              <a:srgbClr val="B45309">
                <a:alpha val="0"/>
              </a:srgbClr>
            </a:solidFill>
            <a:prstDash val="solid"/>
          </a:ln>
        </p:spPr>
        <p:txBody>
          <a:bodyPr/>
          <a:p/>
        </p:txBody>
      </p:sp>
      <p:sp>
        <p:nvSpPr>
          <p:cNvPr id="14" name="VECTOR_person_52"/>
          <p:cNvSpPr/>
          <p:nvPr/>
        </p:nvSpPr>
        <p:spPr>
          <a:xfrm>
            <a:off x="3977640" y="1865376"/>
            <a:ext cx="923544" cy="923544"/>
          </a:xfrm>
          <a:custGeom>
            <a:avLst/>
            <a:gdLst/>
            <a:ahLst/>
            <a:cxnLst/>
            <a:rect l="0" t="0" r="r" b="b"/>
            <a:pathLst>
              <a:path w="100000" h="100000" fill="norm" stroke="false" extrusionOk="false">
                <a:moveTo>
                  <a:pt x="46538" y="18462"/>
                </a:moveTo>
                <a:lnTo>
                  <a:pt x="46923" y="18077"/>
                </a:lnTo>
                <a:lnTo>
                  <a:pt x="51538" y="18077"/>
                </a:lnTo>
                <a:lnTo>
                  <a:pt x="51923" y="18462"/>
                </a:lnTo>
                <a:lnTo>
                  <a:pt x="52308" y="18846"/>
                </a:lnTo>
                <a:lnTo>
                  <a:pt x="53077" y="18846"/>
                </a:lnTo>
                <a:lnTo>
                  <a:pt x="53846" y="18846"/>
                </a:lnTo>
                <a:lnTo>
                  <a:pt x="56923" y="20385"/>
                </a:lnTo>
                <a:lnTo>
                  <a:pt x="59615" y="23077"/>
                </a:lnTo>
                <a:lnTo>
                  <a:pt x="61154" y="26154"/>
                </a:lnTo>
                <a:lnTo>
                  <a:pt x="61154" y="28462"/>
                </a:lnTo>
                <a:lnTo>
                  <a:pt x="61538" y="28846"/>
                </a:lnTo>
                <a:lnTo>
                  <a:pt x="61923" y="29231"/>
                </a:lnTo>
                <a:lnTo>
                  <a:pt x="61923" y="33846"/>
                </a:lnTo>
                <a:lnTo>
                  <a:pt x="61538" y="34231"/>
                </a:lnTo>
                <a:lnTo>
                  <a:pt x="61154" y="34615"/>
                </a:lnTo>
                <a:lnTo>
                  <a:pt x="61154" y="35385"/>
                </a:lnTo>
                <a:lnTo>
                  <a:pt x="61154" y="36154"/>
                </a:lnTo>
                <a:lnTo>
                  <a:pt x="59615" y="39231"/>
                </a:lnTo>
                <a:lnTo>
                  <a:pt x="55385" y="42692"/>
                </a:lnTo>
                <a:lnTo>
                  <a:pt x="53846" y="43462"/>
                </a:lnTo>
                <a:lnTo>
                  <a:pt x="51538" y="43462"/>
                </a:lnTo>
                <a:lnTo>
                  <a:pt x="51154" y="43846"/>
                </a:lnTo>
                <a:lnTo>
                  <a:pt x="50769" y="44231"/>
                </a:lnTo>
                <a:lnTo>
                  <a:pt x="46923" y="44231"/>
                </a:lnTo>
                <a:lnTo>
                  <a:pt x="46538" y="43846"/>
                </a:lnTo>
                <a:lnTo>
                  <a:pt x="46154" y="43462"/>
                </a:lnTo>
                <a:lnTo>
                  <a:pt x="45385" y="43462"/>
                </a:lnTo>
                <a:lnTo>
                  <a:pt x="44615" y="43462"/>
                </a:lnTo>
                <a:lnTo>
                  <a:pt x="41538" y="41923"/>
                </a:lnTo>
                <a:lnTo>
                  <a:pt x="38077" y="38462"/>
                </a:lnTo>
                <a:lnTo>
                  <a:pt x="37308" y="36923"/>
                </a:lnTo>
                <a:lnTo>
                  <a:pt x="37308" y="36154"/>
                </a:lnTo>
                <a:lnTo>
                  <a:pt x="37308" y="35385"/>
                </a:lnTo>
                <a:lnTo>
                  <a:pt x="36923" y="35000"/>
                </a:lnTo>
                <a:lnTo>
                  <a:pt x="36538" y="34615"/>
                </a:lnTo>
                <a:lnTo>
                  <a:pt x="36538" y="27692"/>
                </a:lnTo>
                <a:lnTo>
                  <a:pt x="36923" y="27308"/>
                </a:lnTo>
                <a:lnTo>
                  <a:pt x="37308" y="26923"/>
                </a:lnTo>
                <a:lnTo>
                  <a:pt x="37308" y="26154"/>
                </a:lnTo>
                <a:lnTo>
                  <a:pt x="37308" y="25385"/>
                </a:lnTo>
                <a:lnTo>
                  <a:pt x="38077" y="23846"/>
                </a:lnTo>
                <a:lnTo>
                  <a:pt x="42308" y="19615"/>
                </a:lnTo>
                <a:lnTo>
                  <a:pt x="43077" y="19615"/>
                </a:lnTo>
                <a:lnTo>
                  <a:pt x="43846" y="19615"/>
                </a:lnTo>
                <a:lnTo>
                  <a:pt x="44231" y="19231"/>
                </a:lnTo>
                <a:lnTo>
                  <a:pt x="44615" y="18846"/>
                </a:lnTo>
                <a:lnTo>
                  <a:pt x="46538" y="18462"/>
                </a:lnTo>
                <a:close/>
                <a:moveTo>
                  <a:pt x="46154" y="21154"/>
                </a:moveTo>
                <a:lnTo>
                  <a:pt x="43077" y="23462"/>
                </a:lnTo>
                <a:lnTo>
                  <a:pt x="42308" y="23462"/>
                </a:lnTo>
                <a:lnTo>
                  <a:pt x="41923" y="23846"/>
                </a:lnTo>
                <a:lnTo>
                  <a:pt x="41923" y="24615"/>
                </a:lnTo>
                <a:lnTo>
                  <a:pt x="40385" y="26154"/>
                </a:lnTo>
                <a:lnTo>
                  <a:pt x="39615" y="27692"/>
                </a:lnTo>
                <a:lnTo>
                  <a:pt x="39615" y="28462"/>
                </a:lnTo>
                <a:lnTo>
                  <a:pt x="39615" y="29231"/>
                </a:lnTo>
                <a:lnTo>
                  <a:pt x="39231" y="29615"/>
                </a:lnTo>
                <a:lnTo>
                  <a:pt x="38846" y="30000"/>
                </a:lnTo>
                <a:lnTo>
                  <a:pt x="38846" y="32308"/>
                </a:lnTo>
                <a:lnTo>
                  <a:pt x="39231" y="32692"/>
                </a:lnTo>
                <a:lnTo>
                  <a:pt x="39615" y="33077"/>
                </a:lnTo>
                <a:lnTo>
                  <a:pt x="39615" y="33846"/>
                </a:lnTo>
                <a:lnTo>
                  <a:pt x="39615" y="34615"/>
                </a:lnTo>
                <a:lnTo>
                  <a:pt x="40385" y="36154"/>
                </a:lnTo>
                <a:lnTo>
                  <a:pt x="44615" y="40385"/>
                </a:lnTo>
                <a:lnTo>
                  <a:pt x="45385" y="40385"/>
                </a:lnTo>
                <a:lnTo>
                  <a:pt x="46154" y="40385"/>
                </a:lnTo>
                <a:lnTo>
                  <a:pt x="46538" y="40769"/>
                </a:lnTo>
                <a:lnTo>
                  <a:pt x="46923" y="41154"/>
                </a:lnTo>
                <a:lnTo>
                  <a:pt x="51538" y="41154"/>
                </a:lnTo>
                <a:lnTo>
                  <a:pt x="51923" y="40769"/>
                </a:lnTo>
                <a:lnTo>
                  <a:pt x="54615" y="39615"/>
                </a:lnTo>
                <a:lnTo>
                  <a:pt x="58077" y="36154"/>
                </a:lnTo>
                <a:lnTo>
                  <a:pt x="58846" y="34615"/>
                </a:lnTo>
                <a:lnTo>
                  <a:pt x="58846" y="32308"/>
                </a:lnTo>
                <a:lnTo>
                  <a:pt x="59231" y="31923"/>
                </a:lnTo>
                <a:lnTo>
                  <a:pt x="59615" y="31538"/>
                </a:lnTo>
                <a:lnTo>
                  <a:pt x="59615" y="30769"/>
                </a:lnTo>
                <a:lnTo>
                  <a:pt x="59615" y="30000"/>
                </a:lnTo>
                <a:lnTo>
                  <a:pt x="59231" y="29615"/>
                </a:lnTo>
                <a:lnTo>
                  <a:pt x="58846" y="29231"/>
                </a:lnTo>
                <a:lnTo>
                  <a:pt x="58846" y="28462"/>
                </a:lnTo>
                <a:lnTo>
                  <a:pt x="58846" y="27692"/>
                </a:lnTo>
                <a:lnTo>
                  <a:pt x="58077" y="26154"/>
                </a:lnTo>
                <a:lnTo>
                  <a:pt x="54615" y="22692"/>
                </a:lnTo>
                <a:lnTo>
                  <a:pt x="51538" y="21154"/>
                </a:lnTo>
                <a:lnTo>
                  <a:pt x="46154" y="21154"/>
                </a:lnTo>
                <a:close/>
                <a:moveTo>
                  <a:pt x="45000" y="48462"/>
                </a:moveTo>
                <a:lnTo>
                  <a:pt x="45385" y="48077"/>
                </a:lnTo>
                <a:lnTo>
                  <a:pt x="53077" y="48077"/>
                </a:lnTo>
                <a:lnTo>
                  <a:pt x="53462" y="48462"/>
                </a:lnTo>
                <a:lnTo>
                  <a:pt x="53846" y="48846"/>
                </a:lnTo>
                <a:lnTo>
                  <a:pt x="57692" y="49615"/>
                </a:lnTo>
                <a:lnTo>
                  <a:pt x="60769" y="51923"/>
                </a:lnTo>
                <a:lnTo>
                  <a:pt x="61538" y="51923"/>
                </a:lnTo>
                <a:lnTo>
                  <a:pt x="63077" y="53462"/>
                </a:lnTo>
                <a:lnTo>
                  <a:pt x="63846" y="53462"/>
                </a:lnTo>
                <a:lnTo>
                  <a:pt x="65769" y="55385"/>
                </a:lnTo>
                <a:lnTo>
                  <a:pt x="65769" y="56154"/>
                </a:lnTo>
                <a:lnTo>
                  <a:pt x="68846" y="60000"/>
                </a:lnTo>
                <a:lnTo>
                  <a:pt x="68846" y="60769"/>
                </a:lnTo>
                <a:lnTo>
                  <a:pt x="68846" y="61538"/>
                </a:lnTo>
                <a:lnTo>
                  <a:pt x="70385" y="64615"/>
                </a:lnTo>
                <a:lnTo>
                  <a:pt x="70385" y="70000"/>
                </a:lnTo>
                <a:lnTo>
                  <a:pt x="68462" y="70385"/>
                </a:lnTo>
                <a:lnTo>
                  <a:pt x="68077" y="70000"/>
                </a:lnTo>
                <a:lnTo>
                  <a:pt x="68077" y="66154"/>
                </a:lnTo>
                <a:lnTo>
                  <a:pt x="67692" y="65769"/>
                </a:lnTo>
                <a:lnTo>
                  <a:pt x="67308" y="65385"/>
                </a:lnTo>
                <a:lnTo>
                  <a:pt x="67308" y="64615"/>
                </a:lnTo>
                <a:lnTo>
                  <a:pt x="67308" y="63846"/>
                </a:lnTo>
                <a:lnTo>
                  <a:pt x="65000" y="59231"/>
                </a:lnTo>
                <a:lnTo>
                  <a:pt x="60000" y="54231"/>
                </a:lnTo>
                <a:lnTo>
                  <a:pt x="55385" y="51923"/>
                </a:lnTo>
                <a:lnTo>
                  <a:pt x="53462" y="51538"/>
                </a:lnTo>
                <a:lnTo>
                  <a:pt x="53077" y="51154"/>
                </a:lnTo>
                <a:lnTo>
                  <a:pt x="44615" y="51154"/>
                </a:lnTo>
                <a:lnTo>
                  <a:pt x="44231" y="51538"/>
                </a:lnTo>
                <a:lnTo>
                  <a:pt x="43846" y="51923"/>
                </a:lnTo>
                <a:lnTo>
                  <a:pt x="43077" y="51923"/>
                </a:lnTo>
                <a:lnTo>
                  <a:pt x="42308" y="51923"/>
                </a:lnTo>
                <a:lnTo>
                  <a:pt x="39231" y="53462"/>
                </a:lnTo>
                <a:lnTo>
                  <a:pt x="36923" y="55769"/>
                </a:lnTo>
                <a:lnTo>
                  <a:pt x="36154" y="55769"/>
                </a:lnTo>
                <a:lnTo>
                  <a:pt x="31923" y="61538"/>
                </a:lnTo>
                <a:lnTo>
                  <a:pt x="31923" y="62308"/>
                </a:lnTo>
                <a:lnTo>
                  <a:pt x="31923" y="63077"/>
                </a:lnTo>
                <a:lnTo>
                  <a:pt x="31538" y="63462"/>
                </a:lnTo>
                <a:lnTo>
                  <a:pt x="31154" y="63846"/>
                </a:lnTo>
                <a:lnTo>
                  <a:pt x="31154" y="66154"/>
                </a:lnTo>
                <a:lnTo>
                  <a:pt x="30769" y="66538"/>
                </a:lnTo>
                <a:lnTo>
                  <a:pt x="30385" y="66923"/>
                </a:lnTo>
                <a:lnTo>
                  <a:pt x="30385" y="70000"/>
                </a:lnTo>
                <a:lnTo>
                  <a:pt x="28462" y="70385"/>
                </a:lnTo>
                <a:lnTo>
                  <a:pt x="28077" y="70000"/>
                </a:lnTo>
                <a:lnTo>
                  <a:pt x="28077" y="64615"/>
                </a:lnTo>
                <a:lnTo>
                  <a:pt x="28462" y="64231"/>
                </a:lnTo>
                <a:lnTo>
                  <a:pt x="28846" y="63846"/>
                </a:lnTo>
                <a:lnTo>
                  <a:pt x="29615" y="60000"/>
                </a:lnTo>
                <a:lnTo>
                  <a:pt x="31923" y="56923"/>
                </a:lnTo>
                <a:lnTo>
                  <a:pt x="31923" y="56154"/>
                </a:lnTo>
                <a:lnTo>
                  <a:pt x="35385" y="52692"/>
                </a:lnTo>
                <a:lnTo>
                  <a:pt x="36154" y="52692"/>
                </a:lnTo>
                <a:lnTo>
                  <a:pt x="37692" y="51154"/>
                </a:lnTo>
                <a:lnTo>
                  <a:pt x="42308" y="48846"/>
                </a:lnTo>
                <a:lnTo>
                  <a:pt x="45000" y="48462"/>
                </a:lnTo>
                <a:close/>
              </a:path>
            </a:pathLst>
          </a:custGeom>
          <a:solidFill>
            <a:srgbClr val="FFFFFF"/>
          </a:solidFill>
          <a:ln>
            <a:noFill/>
          </a:ln>
        </p:spPr>
        <p:txBody>
          <a:bodyPr/>
          <a:p/>
        </p:txBody>
      </p:sp>
      <p:sp>
        <p:nvSpPr>
          <p:cNvPr id="15" name="Text 12"/>
          <p:cNvSpPr/>
          <p:nvPr/>
        </p:nvSpPr>
        <p:spPr>
          <a:xfrm>
            <a:off x="5193792" y="1874520"/>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48 ans</a:t>
            </a:r>
            <a:endParaRPr lang="en-US" sz="4400" dirty="0"/>
          </a:p>
        </p:txBody>
      </p:sp>
      <p:sp>
        <p:nvSpPr>
          <p:cNvPr id="16" name="Text 13"/>
          <p:cNvSpPr/>
          <p:nvPr/>
        </p:nvSpPr>
        <p:spPr>
          <a:xfrm>
            <a:off x="5202936" y="2478024"/>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Âge moyen</a:t>
            </a:r>
            <a:endParaRPr lang="en-US" sz="1400" dirty="0"/>
          </a:p>
        </p:txBody>
      </p:sp>
      <p:sp>
        <p:nvSpPr>
          <p:cNvPr id="17" name="Shape 14"/>
          <p:cNvSpPr/>
          <p:nvPr/>
        </p:nvSpPr>
        <p:spPr>
          <a:xfrm>
            <a:off x="7973568" y="1728216"/>
            <a:ext cx="4050792" cy="1325880"/>
          </a:xfrm>
          <a:prstGeom prst="roundRect">
            <a:avLst>
              <a:gd name="adj" fmla="val 9655"/>
            </a:avLst>
          </a:prstGeom>
          <a:solidFill>
            <a:srgbClr val="EFF6FF"/>
          </a:solidFill>
          <a:ln w="12700">
            <a:solidFill>
              <a:srgbClr val="EFF6FF">
                <a:alpha val="0"/>
              </a:srgbClr>
            </a:solidFill>
            <a:prstDash val="solid"/>
          </a:ln>
        </p:spPr>
        <p:txBody>
          <a:bodyPr/>
          <a:p/>
        </p:txBody>
      </p:sp>
      <p:sp>
        <p:nvSpPr>
          <p:cNvPr id="18" name="Shape 15"/>
          <p:cNvSpPr/>
          <p:nvPr/>
        </p:nvSpPr>
        <p:spPr>
          <a:xfrm>
            <a:off x="8174736" y="1865376"/>
            <a:ext cx="923544" cy="923544"/>
          </a:xfrm>
          <a:prstGeom prst="ellipse">
            <a:avLst/>
          </a:prstGeom>
          <a:solidFill>
            <a:srgbClr val="B45309"/>
          </a:solidFill>
          <a:ln w="12700">
            <a:solidFill>
              <a:srgbClr val="6D28D9">
                <a:alpha val="0"/>
              </a:srgbClr>
            </a:solidFill>
            <a:prstDash val="solid"/>
          </a:ln>
        </p:spPr>
        <p:txBody>
          <a:bodyPr/>
          <a:p/>
        </p:txBody>
      </p:sp>
      <p:sp>
        <p:nvSpPr>
          <p:cNvPr id="19" name="VECTOR_database_53"/>
          <p:cNvSpPr/>
          <p:nvPr/>
        </p:nvSpPr>
        <p:spPr>
          <a:xfrm>
            <a:off x="8174736" y="1865376"/>
            <a:ext cx="923544" cy="923544"/>
          </a:xfrm>
          <a:custGeom>
            <a:avLst/>
            <a:gdLst/>
            <a:ahLst/>
            <a:cxnLst/>
            <a:rect l="0" t="0" r="r" b="b"/>
            <a:pathLst>
              <a:path w="100000" h="100000" fill="norm" stroke="false" extrusionOk="false">
                <a:moveTo>
                  <a:pt x="41154" y="22308"/>
                </a:moveTo>
                <a:lnTo>
                  <a:pt x="41538" y="21923"/>
                </a:lnTo>
                <a:lnTo>
                  <a:pt x="53846" y="21923"/>
                </a:lnTo>
                <a:lnTo>
                  <a:pt x="54231" y="22308"/>
                </a:lnTo>
                <a:lnTo>
                  <a:pt x="54615" y="22692"/>
                </a:lnTo>
                <a:lnTo>
                  <a:pt x="58462" y="22692"/>
                </a:lnTo>
                <a:lnTo>
                  <a:pt x="58846" y="23077"/>
                </a:lnTo>
                <a:lnTo>
                  <a:pt x="59231" y="23462"/>
                </a:lnTo>
                <a:lnTo>
                  <a:pt x="60000" y="23462"/>
                </a:lnTo>
                <a:lnTo>
                  <a:pt x="60769" y="23462"/>
                </a:lnTo>
                <a:lnTo>
                  <a:pt x="62308" y="24231"/>
                </a:lnTo>
                <a:lnTo>
                  <a:pt x="65769" y="27692"/>
                </a:lnTo>
                <a:lnTo>
                  <a:pt x="65769" y="63077"/>
                </a:lnTo>
                <a:lnTo>
                  <a:pt x="63077" y="65769"/>
                </a:lnTo>
                <a:lnTo>
                  <a:pt x="60000" y="67308"/>
                </a:lnTo>
                <a:lnTo>
                  <a:pt x="52308" y="68846"/>
                </a:lnTo>
                <a:lnTo>
                  <a:pt x="40769" y="68846"/>
                </a:lnTo>
                <a:lnTo>
                  <a:pt x="40385" y="68462"/>
                </a:lnTo>
                <a:lnTo>
                  <a:pt x="40000" y="68077"/>
                </a:lnTo>
                <a:lnTo>
                  <a:pt x="36923" y="68077"/>
                </a:lnTo>
                <a:lnTo>
                  <a:pt x="36538" y="67692"/>
                </a:lnTo>
                <a:lnTo>
                  <a:pt x="36154" y="67308"/>
                </a:lnTo>
                <a:lnTo>
                  <a:pt x="35385" y="67308"/>
                </a:lnTo>
                <a:lnTo>
                  <a:pt x="34615" y="67308"/>
                </a:lnTo>
                <a:lnTo>
                  <a:pt x="31538" y="65769"/>
                </a:lnTo>
                <a:lnTo>
                  <a:pt x="28846" y="63077"/>
                </a:lnTo>
                <a:lnTo>
                  <a:pt x="28846" y="55385"/>
                </a:lnTo>
                <a:lnTo>
                  <a:pt x="29231" y="55000"/>
                </a:lnTo>
                <a:lnTo>
                  <a:pt x="29615" y="54615"/>
                </a:lnTo>
                <a:lnTo>
                  <a:pt x="28846" y="53077"/>
                </a:lnTo>
                <a:lnTo>
                  <a:pt x="28846" y="46923"/>
                </a:lnTo>
                <a:lnTo>
                  <a:pt x="29231" y="46538"/>
                </a:lnTo>
                <a:lnTo>
                  <a:pt x="29615" y="46154"/>
                </a:lnTo>
                <a:lnTo>
                  <a:pt x="29615" y="43846"/>
                </a:lnTo>
                <a:lnTo>
                  <a:pt x="29231" y="43462"/>
                </a:lnTo>
                <a:lnTo>
                  <a:pt x="28846" y="43077"/>
                </a:lnTo>
                <a:lnTo>
                  <a:pt x="28846" y="28462"/>
                </a:lnTo>
                <a:lnTo>
                  <a:pt x="31538" y="25000"/>
                </a:lnTo>
                <a:lnTo>
                  <a:pt x="34615" y="23462"/>
                </a:lnTo>
                <a:lnTo>
                  <a:pt x="35385" y="23462"/>
                </a:lnTo>
                <a:lnTo>
                  <a:pt x="36154" y="23462"/>
                </a:lnTo>
                <a:lnTo>
                  <a:pt x="36538" y="23077"/>
                </a:lnTo>
                <a:lnTo>
                  <a:pt x="36923" y="22692"/>
                </a:lnTo>
                <a:lnTo>
                  <a:pt x="40769" y="22692"/>
                </a:lnTo>
                <a:lnTo>
                  <a:pt x="41154" y="22308"/>
                </a:lnTo>
                <a:close/>
                <a:moveTo>
                  <a:pt x="40769" y="24231"/>
                </a:moveTo>
                <a:lnTo>
                  <a:pt x="40385" y="24615"/>
                </a:lnTo>
                <a:lnTo>
                  <a:pt x="40000" y="25000"/>
                </a:lnTo>
                <a:lnTo>
                  <a:pt x="37692" y="25000"/>
                </a:lnTo>
                <a:lnTo>
                  <a:pt x="37308" y="25385"/>
                </a:lnTo>
                <a:lnTo>
                  <a:pt x="36923" y="25769"/>
                </a:lnTo>
                <a:lnTo>
                  <a:pt x="36154" y="25769"/>
                </a:lnTo>
                <a:lnTo>
                  <a:pt x="35385" y="25769"/>
                </a:lnTo>
                <a:lnTo>
                  <a:pt x="33846" y="26538"/>
                </a:lnTo>
                <a:lnTo>
                  <a:pt x="31154" y="29231"/>
                </a:lnTo>
                <a:lnTo>
                  <a:pt x="31154" y="30000"/>
                </a:lnTo>
                <a:lnTo>
                  <a:pt x="31154" y="30769"/>
                </a:lnTo>
                <a:lnTo>
                  <a:pt x="33846" y="33462"/>
                </a:lnTo>
                <a:lnTo>
                  <a:pt x="35385" y="34231"/>
                </a:lnTo>
                <a:lnTo>
                  <a:pt x="36154" y="34231"/>
                </a:lnTo>
                <a:lnTo>
                  <a:pt x="36923" y="34231"/>
                </a:lnTo>
                <a:lnTo>
                  <a:pt x="37308" y="34615"/>
                </a:lnTo>
                <a:lnTo>
                  <a:pt x="37692" y="35000"/>
                </a:lnTo>
                <a:lnTo>
                  <a:pt x="40000" y="35000"/>
                </a:lnTo>
                <a:lnTo>
                  <a:pt x="40385" y="35385"/>
                </a:lnTo>
                <a:lnTo>
                  <a:pt x="40769" y="35769"/>
                </a:lnTo>
                <a:lnTo>
                  <a:pt x="53077" y="35769"/>
                </a:lnTo>
                <a:lnTo>
                  <a:pt x="53462" y="35385"/>
                </a:lnTo>
                <a:lnTo>
                  <a:pt x="56923" y="35000"/>
                </a:lnTo>
                <a:lnTo>
                  <a:pt x="57308" y="34615"/>
                </a:lnTo>
                <a:lnTo>
                  <a:pt x="57692" y="34231"/>
                </a:lnTo>
                <a:lnTo>
                  <a:pt x="58462" y="34231"/>
                </a:lnTo>
                <a:lnTo>
                  <a:pt x="59231" y="34231"/>
                </a:lnTo>
                <a:lnTo>
                  <a:pt x="62308" y="32692"/>
                </a:lnTo>
                <a:lnTo>
                  <a:pt x="63462" y="31538"/>
                </a:lnTo>
                <a:lnTo>
                  <a:pt x="63462" y="28462"/>
                </a:lnTo>
                <a:lnTo>
                  <a:pt x="62308" y="27308"/>
                </a:lnTo>
                <a:lnTo>
                  <a:pt x="59231" y="25769"/>
                </a:lnTo>
                <a:lnTo>
                  <a:pt x="58462" y="25769"/>
                </a:lnTo>
                <a:lnTo>
                  <a:pt x="57692" y="25769"/>
                </a:lnTo>
                <a:lnTo>
                  <a:pt x="57308" y="25385"/>
                </a:lnTo>
                <a:lnTo>
                  <a:pt x="56923" y="25000"/>
                </a:lnTo>
                <a:lnTo>
                  <a:pt x="54615" y="25000"/>
                </a:lnTo>
                <a:lnTo>
                  <a:pt x="54231" y="24615"/>
                </a:lnTo>
                <a:lnTo>
                  <a:pt x="53846" y="24231"/>
                </a:lnTo>
                <a:lnTo>
                  <a:pt x="40769" y="24231"/>
                </a:lnTo>
                <a:close/>
                <a:moveTo>
                  <a:pt x="31538" y="35000"/>
                </a:moveTo>
                <a:lnTo>
                  <a:pt x="31154" y="35385"/>
                </a:lnTo>
                <a:lnTo>
                  <a:pt x="31154" y="41538"/>
                </a:lnTo>
                <a:lnTo>
                  <a:pt x="34615" y="44231"/>
                </a:lnTo>
                <a:lnTo>
                  <a:pt x="35385" y="44231"/>
                </a:lnTo>
                <a:lnTo>
                  <a:pt x="36154" y="44231"/>
                </a:lnTo>
                <a:lnTo>
                  <a:pt x="36538" y="44615"/>
                </a:lnTo>
                <a:lnTo>
                  <a:pt x="36923" y="45000"/>
                </a:lnTo>
                <a:lnTo>
                  <a:pt x="40000" y="45000"/>
                </a:lnTo>
                <a:lnTo>
                  <a:pt x="40385" y="45385"/>
                </a:lnTo>
                <a:lnTo>
                  <a:pt x="40769" y="45769"/>
                </a:lnTo>
                <a:lnTo>
                  <a:pt x="53846" y="45769"/>
                </a:lnTo>
                <a:lnTo>
                  <a:pt x="54231" y="45385"/>
                </a:lnTo>
                <a:lnTo>
                  <a:pt x="54615" y="45000"/>
                </a:lnTo>
                <a:lnTo>
                  <a:pt x="56923" y="45000"/>
                </a:lnTo>
                <a:lnTo>
                  <a:pt x="57308" y="44615"/>
                </a:lnTo>
                <a:lnTo>
                  <a:pt x="57692" y="44231"/>
                </a:lnTo>
                <a:lnTo>
                  <a:pt x="58462" y="44231"/>
                </a:lnTo>
                <a:lnTo>
                  <a:pt x="59231" y="44231"/>
                </a:lnTo>
                <a:lnTo>
                  <a:pt x="62308" y="42692"/>
                </a:lnTo>
                <a:lnTo>
                  <a:pt x="63462" y="41538"/>
                </a:lnTo>
                <a:lnTo>
                  <a:pt x="63462" y="40769"/>
                </a:lnTo>
                <a:lnTo>
                  <a:pt x="63462" y="40000"/>
                </a:lnTo>
                <a:lnTo>
                  <a:pt x="63462" y="35385"/>
                </a:lnTo>
                <a:lnTo>
                  <a:pt x="63077" y="35000"/>
                </a:lnTo>
                <a:lnTo>
                  <a:pt x="61538" y="35769"/>
                </a:lnTo>
                <a:lnTo>
                  <a:pt x="60769" y="35769"/>
                </a:lnTo>
                <a:lnTo>
                  <a:pt x="60000" y="35769"/>
                </a:lnTo>
                <a:lnTo>
                  <a:pt x="59615" y="36154"/>
                </a:lnTo>
                <a:lnTo>
                  <a:pt x="59231" y="36538"/>
                </a:lnTo>
                <a:lnTo>
                  <a:pt x="58462" y="36538"/>
                </a:lnTo>
                <a:lnTo>
                  <a:pt x="57692" y="36538"/>
                </a:lnTo>
                <a:lnTo>
                  <a:pt x="57308" y="36923"/>
                </a:lnTo>
                <a:lnTo>
                  <a:pt x="56923" y="37308"/>
                </a:lnTo>
                <a:lnTo>
                  <a:pt x="56154" y="37308"/>
                </a:lnTo>
                <a:lnTo>
                  <a:pt x="55385" y="37308"/>
                </a:lnTo>
                <a:lnTo>
                  <a:pt x="55000" y="37692"/>
                </a:lnTo>
                <a:lnTo>
                  <a:pt x="54615" y="38077"/>
                </a:lnTo>
                <a:lnTo>
                  <a:pt x="49231" y="38077"/>
                </a:lnTo>
                <a:lnTo>
                  <a:pt x="47308" y="39231"/>
                </a:lnTo>
                <a:lnTo>
                  <a:pt x="46923" y="41154"/>
                </a:lnTo>
                <a:lnTo>
                  <a:pt x="46538" y="39231"/>
                </a:lnTo>
                <a:lnTo>
                  <a:pt x="45385" y="38077"/>
                </a:lnTo>
                <a:lnTo>
                  <a:pt x="40000" y="38077"/>
                </a:lnTo>
                <a:lnTo>
                  <a:pt x="39615" y="37692"/>
                </a:lnTo>
                <a:lnTo>
                  <a:pt x="39231" y="37308"/>
                </a:lnTo>
                <a:lnTo>
                  <a:pt x="36923" y="37308"/>
                </a:lnTo>
                <a:lnTo>
                  <a:pt x="36538" y="36923"/>
                </a:lnTo>
                <a:lnTo>
                  <a:pt x="36154" y="36538"/>
                </a:lnTo>
                <a:lnTo>
                  <a:pt x="35385" y="36538"/>
                </a:lnTo>
                <a:lnTo>
                  <a:pt x="34615" y="36538"/>
                </a:lnTo>
                <a:lnTo>
                  <a:pt x="31538" y="35000"/>
                </a:lnTo>
                <a:close/>
                <a:moveTo>
                  <a:pt x="32308" y="45000"/>
                </a:moveTo>
                <a:lnTo>
                  <a:pt x="31154" y="46154"/>
                </a:lnTo>
                <a:lnTo>
                  <a:pt x="31154" y="51538"/>
                </a:lnTo>
                <a:lnTo>
                  <a:pt x="32308" y="52692"/>
                </a:lnTo>
                <a:lnTo>
                  <a:pt x="35385" y="54231"/>
                </a:lnTo>
                <a:lnTo>
                  <a:pt x="36154" y="54231"/>
                </a:lnTo>
                <a:lnTo>
                  <a:pt x="36923" y="54231"/>
                </a:lnTo>
                <a:lnTo>
                  <a:pt x="40000" y="55769"/>
                </a:lnTo>
                <a:lnTo>
                  <a:pt x="54615" y="55769"/>
                </a:lnTo>
                <a:lnTo>
                  <a:pt x="55000" y="55385"/>
                </a:lnTo>
                <a:lnTo>
                  <a:pt x="55385" y="55000"/>
                </a:lnTo>
                <a:lnTo>
                  <a:pt x="58462" y="55000"/>
                </a:lnTo>
                <a:lnTo>
                  <a:pt x="62308" y="52692"/>
                </a:lnTo>
                <a:lnTo>
                  <a:pt x="63077" y="52692"/>
                </a:lnTo>
                <a:lnTo>
                  <a:pt x="63462" y="52308"/>
                </a:lnTo>
                <a:lnTo>
                  <a:pt x="63462" y="45385"/>
                </a:lnTo>
                <a:lnTo>
                  <a:pt x="63077" y="45000"/>
                </a:lnTo>
                <a:lnTo>
                  <a:pt x="60000" y="46538"/>
                </a:lnTo>
                <a:lnTo>
                  <a:pt x="56154" y="47308"/>
                </a:lnTo>
                <a:lnTo>
                  <a:pt x="55769" y="47692"/>
                </a:lnTo>
                <a:lnTo>
                  <a:pt x="55385" y="48077"/>
                </a:lnTo>
                <a:lnTo>
                  <a:pt x="39231" y="48077"/>
                </a:lnTo>
                <a:lnTo>
                  <a:pt x="38846" y="47692"/>
                </a:lnTo>
                <a:lnTo>
                  <a:pt x="38462" y="47308"/>
                </a:lnTo>
                <a:lnTo>
                  <a:pt x="37692" y="47308"/>
                </a:lnTo>
                <a:lnTo>
                  <a:pt x="36923" y="47308"/>
                </a:lnTo>
                <a:lnTo>
                  <a:pt x="32308" y="45000"/>
                </a:lnTo>
                <a:close/>
                <a:moveTo>
                  <a:pt x="62308" y="55000"/>
                </a:moveTo>
                <a:lnTo>
                  <a:pt x="60769" y="56538"/>
                </a:lnTo>
                <a:lnTo>
                  <a:pt x="60000" y="56538"/>
                </a:lnTo>
                <a:lnTo>
                  <a:pt x="59231" y="56538"/>
                </a:lnTo>
                <a:lnTo>
                  <a:pt x="58846" y="56923"/>
                </a:lnTo>
                <a:lnTo>
                  <a:pt x="58462" y="57308"/>
                </a:lnTo>
                <a:lnTo>
                  <a:pt x="56154" y="57308"/>
                </a:lnTo>
                <a:lnTo>
                  <a:pt x="53077" y="58846"/>
                </a:lnTo>
                <a:lnTo>
                  <a:pt x="52692" y="58462"/>
                </a:lnTo>
                <a:lnTo>
                  <a:pt x="52308" y="58077"/>
                </a:lnTo>
                <a:lnTo>
                  <a:pt x="50000" y="58077"/>
                </a:lnTo>
                <a:lnTo>
                  <a:pt x="48462" y="58846"/>
                </a:lnTo>
                <a:lnTo>
                  <a:pt x="47692" y="60385"/>
                </a:lnTo>
                <a:lnTo>
                  <a:pt x="45385" y="58077"/>
                </a:lnTo>
                <a:lnTo>
                  <a:pt x="40000" y="58077"/>
                </a:lnTo>
                <a:lnTo>
                  <a:pt x="39615" y="57692"/>
                </a:lnTo>
                <a:lnTo>
                  <a:pt x="39231" y="57308"/>
                </a:lnTo>
                <a:lnTo>
                  <a:pt x="36154" y="57308"/>
                </a:lnTo>
                <a:lnTo>
                  <a:pt x="35769" y="56923"/>
                </a:lnTo>
                <a:lnTo>
                  <a:pt x="35385" y="56538"/>
                </a:lnTo>
                <a:lnTo>
                  <a:pt x="31538" y="55769"/>
                </a:lnTo>
                <a:lnTo>
                  <a:pt x="31154" y="56154"/>
                </a:lnTo>
                <a:lnTo>
                  <a:pt x="31154" y="61538"/>
                </a:lnTo>
                <a:lnTo>
                  <a:pt x="31538" y="61923"/>
                </a:lnTo>
                <a:lnTo>
                  <a:pt x="33846" y="64231"/>
                </a:lnTo>
                <a:lnTo>
                  <a:pt x="35385" y="65000"/>
                </a:lnTo>
                <a:lnTo>
                  <a:pt x="37692" y="65000"/>
                </a:lnTo>
                <a:lnTo>
                  <a:pt x="38077" y="65385"/>
                </a:lnTo>
                <a:lnTo>
                  <a:pt x="38462" y="65769"/>
                </a:lnTo>
                <a:lnTo>
                  <a:pt x="43077" y="65769"/>
                </a:lnTo>
                <a:lnTo>
                  <a:pt x="43462" y="66154"/>
                </a:lnTo>
                <a:lnTo>
                  <a:pt x="43846" y="66538"/>
                </a:lnTo>
                <a:lnTo>
                  <a:pt x="51538" y="66538"/>
                </a:lnTo>
                <a:lnTo>
                  <a:pt x="51923" y="66154"/>
                </a:lnTo>
                <a:lnTo>
                  <a:pt x="52308" y="65769"/>
                </a:lnTo>
                <a:lnTo>
                  <a:pt x="56923" y="65769"/>
                </a:lnTo>
                <a:lnTo>
                  <a:pt x="57308" y="65385"/>
                </a:lnTo>
                <a:lnTo>
                  <a:pt x="57692" y="65000"/>
                </a:lnTo>
                <a:lnTo>
                  <a:pt x="58462" y="65000"/>
                </a:lnTo>
                <a:lnTo>
                  <a:pt x="59231" y="65000"/>
                </a:lnTo>
                <a:lnTo>
                  <a:pt x="62308" y="63462"/>
                </a:lnTo>
                <a:lnTo>
                  <a:pt x="63462" y="62308"/>
                </a:lnTo>
                <a:lnTo>
                  <a:pt x="63462" y="55385"/>
                </a:lnTo>
                <a:lnTo>
                  <a:pt x="63077" y="55000"/>
                </a:lnTo>
                <a:lnTo>
                  <a:pt x="62308" y="55000"/>
                </a:lnTo>
                <a:close/>
              </a:path>
            </a:pathLst>
          </a:custGeom>
          <a:solidFill>
            <a:srgbClr val="FFFFFF"/>
          </a:solidFill>
          <a:ln>
            <a:noFill/>
          </a:ln>
        </p:spPr>
        <p:txBody>
          <a:bodyPr/>
          <a:p/>
        </p:txBody>
      </p:sp>
      <p:sp>
        <p:nvSpPr>
          <p:cNvPr id="20" name="Text 17"/>
          <p:cNvSpPr/>
          <p:nvPr/>
        </p:nvSpPr>
        <p:spPr>
          <a:xfrm>
            <a:off x="9390888" y="1874520"/>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60 k</a:t>
            </a:r>
            <a:endParaRPr lang="en-US" sz="4400" dirty="0"/>
          </a:p>
        </p:txBody>
      </p:sp>
      <p:sp>
        <p:nvSpPr>
          <p:cNvPr id="21" name="Text 18"/>
          <p:cNvSpPr/>
          <p:nvPr/>
        </p:nvSpPr>
        <p:spPr>
          <a:xfrm>
            <a:off x="9400032" y="2478024"/>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Revenu moyen</a:t>
            </a:r>
            <a:endParaRPr lang="en-US" sz="1400" dirty="0"/>
          </a:p>
        </p:txBody>
      </p:sp>
      <p:sp>
        <p:nvSpPr>
          <p:cNvPr id="22" name="Shape 19"/>
          <p:cNvSpPr/>
          <p:nvPr/>
        </p:nvSpPr>
        <p:spPr>
          <a:xfrm>
            <a:off x="3776472" y="3172968"/>
            <a:ext cx="4050792" cy="1325880"/>
          </a:xfrm>
          <a:prstGeom prst="roundRect">
            <a:avLst>
              <a:gd name="adj" fmla="val 9655"/>
            </a:avLst>
          </a:prstGeom>
          <a:solidFill>
            <a:srgbClr val="F3F4F6"/>
          </a:solidFill>
          <a:ln w="12700">
            <a:solidFill>
              <a:srgbClr val="F3F4F6">
                <a:alpha val="0"/>
              </a:srgbClr>
            </a:solidFill>
            <a:prstDash val="solid"/>
          </a:ln>
        </p:spPr>
        <p:txBody>
          <a:bodyPr/>
          <a:p/>
        </p:txBody>
      </p:sp>
      <p:sp>
        <p:nvSpPr>
          <p:cNvPr id="23" name="Shape 20"/>
          <p:cNvSpPr/>
          <p:nvPr/>
        </p:nvSpPr>
        <p:spPr>
          <a:xfrm>
            <a:off x="3977640" y="3310128"/>
            <a:ext cx="923544" cy="923544"/>
          </a:xfrm>
          <a:prstGeom prst="ellipse">
            <a:avLst/>
          </a:prstGeom>
          <a:solidFill>
            <a:srgbClr val="B45309"/>
          </a:solidFill>
          <a:ln w="12700">
            <a:solidFill>
              <a:srgbClr val="6D28D9">
                <a:alpha val="0"/>
              </a:srgbClr>
            </a:solidFill>
            <a:prstDash val="solid"/>
          </a:ln>
        </p:spPr>
        <p:txBody>
          <a:bodyPr/>
          <a:p/>
        </p:txBody>
      </p:sp>
      <p:sp>
        <p:nvSpPr>
          <p:cNvPr id="24" name="VECTOR_bag2_54"/>
          <p:cNvSpPr/>
          <p:nvPr/>
        </p:nvSpPr>
        <p:spPr>
          <a:xfrm>
            <a:off x="3977640" y="3310128"/>
            <a:ext cx="923544" cy="923544"/>
          </a:xfrm>
          <a:custGeom>
            <a:avLst/>
            <a:gdLst/>
            <a:ahLst/>
            <a:cxnLst/>
            <a:rect l="0" t="0" r="r" b="b"/>
            <a:pathLst>
              <a:path w="100000" h="100000" fill="norm" stroke="false" extrusionOk="false">
                <a:moveTo>
                  <a:pt x="45000" y="24615"/>
                </a:moveTo>
                <a:lnTo>
                  <a:pt x="45385" y="24231"/>
                </a:lnTo>
                <a:lnTo>
                  <a:pt x="51538" y="24231"/>
                </a:lnTo>
                <a:lnTo>
                  <a:pt x="54615" y="25769"/>
                </a:lnTo>
                <a:lnTo>
                  <a:pt x="57308" y="28462"/>
                </a:lnTo>
                <a:lnTo>
                  <a:pt x="58846" y="31538"/>
                </a:lnTo>
                <a:lnTo>
                  <a:pt x="58846" y="37692"/>
                </a:lnTo>
                <a:lnTo>
                  <a:pt x="59231" y="38077"/>
                </a:lnTo>
                <a:lnTo>
                  <a:pt x="66154" y="38077"/>
                </a:lnTo>
                <a:lnTo>
                  <a:pt x="68077" y="40000"/>
                </a:lnTo>
                <a:lnTo>
                  <a:pt x="68077" y="44615"/>
                </a:lnTo>
                <a:lnTo>
                  <a:pt x="68462" y="45000"/>
                </a:lnTo>
                <a:lnTo>
                  <a:pt x="68846" y="45385"/>
                </a:lnTo>
                <a:lnTo>
                  <a:pt x="68846" y="51538"/>
                </a:lnTo>
                <a:lnTo>
                  <a:pt x="69231" y="51923"/>
                </a:lnTo>
                <a:lnTo>
                  <a:pt x="69615" y="52308"/>
                </a:lnTo>
                <a:lnTo>
                  <a:pt x="69615" y="57692"/>
                </a:lnTo>
                <a:lnTo>
                  <a:pt x="70000" y="58077"/>
                </a:lnTo>
                <a:lnTo>
                  <a:pt x="70385" y="58462"/>
                </a:lnTo>
                <a:lnTo>
                  <a:pt x="70385" y="63846"/>
                </a:lnTo>
                <a:lnTo>
                  <a:pt x="70769" y="64231"/>
                </a:lnTo>
                <a:lnTo>
                  <a:pt x="71154" y="64615"/>
                </a:lnTo>
                <a:lnTo>
                  <a:pt x="71154" y="70769"/>
                </a:lnTo>
                <a:lnTo>
                  <a:pt x="71538" y="71154"/>
                </a:lnTo>
                <a:lnTo>
                  <a:pt x="71923" y="71538"/>
                </a:lnTo>
                <a:lnTo>
                  <a:pt x="71923" y="76923"/>
                </a:lnTo>
                <a:lnTo>
                  <a:pt x="70000" y="78077"/>
                </a:lnTo>
                <a:lnTo>
                  <a:pt x="52308" y="78077"/>
                </a:lnTo>
                <a:lnTo>
                  <a:pt x="26923" y="78077"/>
                </a:lnTo>
                <a:lnTo>
                  <a:pt x="25000" y="76154"/>
                </a:lnTo>
                <a:lnTo>
                  <a:pt x="25000" y="73846"/>
                </a:lnTo>
                <a:lnTo>
                  <a:pt x="25385" y="73462"/>
                </a:lnTo>
                <a:lnTo>
                  <a:pt x="25769" y="73077"/>
                </a:lnTo>
                <a:lnTo>
                  <a:pt x="25769" y="67692"/>
                </a:lnTo>
                <a:lnTo>
                  <a:pt x="26154" y="67308"/>
                </a:lnTo>
                <a:lnTo>
                  <a:pt x="26538" y="66923"/>
                </a:lnTo>
                <a:lnTo>
                  <a:pt x="26538" y="62308"/>
                </a:lnTo>
                <a:lnTo>
                  <a:pt x="26923" y="61923"/>
                </a:lnTo>
                <a:lnTo>
                  <a:pt x="27308" y="61538"/>
                </a:lnTo>
                <a:lnTo>
                  <a:pt x="27308" y="56154"/>
                </a:lnTo>
                <a:lnTo>
                  <a:pt x="27692" y="55769"/>
                </a:lnTo>
                <a:lnTo>
                  <a:pt x="28077" y="55385"/>
                </a:lnTo>
                <a:lnTo>
                  <a:pt x="28077" y="49231"/>
                </a:lnTo>
                <a:lnTo>
                  <a:pt x="28462" y="48846"/>
                </a:lnTo>
                <a:lnTo>
                  <a:pt x="28846" y="48462"/>
                </a:lnTo>
                <a:lnTo>
                  <a:pt x="28846" y="43846"/>
                </a:lnTo>
                <a:lnTo>
                  <a:pt x="29231" y="43462"/>
                </a:lnTo>
                <a:lnTo>
                  <a:pt x="29615" y="43077"/>
                </a:lnTo>
                <a:lnTo>
                  <a:pt x="29615" y="39231"/>
                </a:lnTo>
                <a:lnTo>
                  <a:pt x="30769" y="38077"/>
                </a:lnTo>
                <a:lnTo>
                  <a:pt x="37692" y="38077"/>
                </a:lnTo>
                <a:lnTo>
                  <a:pt x="38077" y="37692"/>
                </a:lnTo>
                <a:lnTo>
                  <a:pt x="38077" y="32308"/>
                </a:lnTo>
                <a:lnTo>
                  <a:pt x="38462" y="31923"/>
                </a:lnTo>
                <a:lnTo>
                  <a:pt x="38846" y="31538"/>
                </a:lnTo>
                <a:lnTo>
                  <a:pt x="38846" y="30769"/>
                </a:lnTo>
                <a:lnTo>
                  <a:pt x="38846" y="30000"/>
                </a:lnTo>
                <a:lnTo>
                  <a:pt x="39615" y="28462"/>
                </a:lnTo>
                <a:lnTo>
                  <a:pt x="42308" y="25769"/>
                </a:lnTo>
                <a:lnTo>
                  <a:pt x="45000" y="24615"/>
                </a:lnTo>
                <a:close/>
                <a:moveTo>
                  <a:pt x="46154" y="26538"/>
                </a:moveTo>
                <a:lnTo>
                  <a:pt x="44615" y="27308"/>
                </a:lnTo>
                <a:lnTo>
                  <a:pt x="41923" y="30000"/>
                </a:lnTo>
                <a:lnTo>
                  <a:pt x="41154" y="31538"/>
                </a:lnTo>
                <a:lnTo>
                  <a:pt x="41154" y="37692"/>
                </a:lnTo>
                <a:lnTo>
                  <a:pt x="41538" y="38077"/>
                </a:lnTo>
                <a:lnTo>
                  <a:pt x="51538" y="38077"/>
                </a:lnTo>
                <a:lnTo>
                  <a:pt x="56154" y="38077"/>
                </a:lnTo>
                <a:lnTo>
                  <a:pt x="56538" y="37692"/>
                </a:lnTo>
                <a:lnTo>
                  <a:pt x="56538" y="33077"/>
                </a:lnTo>
                <a:lnTo>
                  <a:pt x="56154" y="32692"/>
                </a:lnTo>
                <a:lnTo>
                  <a:pt x="55769" y="32308"/>
                </a:lnTo>
                <a:lnTo>
                  <a:pt x="55769" y="31538"/>
                </a:lnTo>
                <a:lnTo>
                  <a:pt x="55769" y="30769"/>
                </a:lnTo>
                <a:lnTo>
                  <a:pt x="52308" y="27308"/>
                </a:lnTo>
                <a:lnTo>
                  <a:pt x="51538" y="27308"/>
                </a:lnTo>
                <a:lnTo>
                  <a:pt x="50769" y="27308"/>
                </a:lnTo>
                <a:lnTo>
                  <a:pt x="50385" y="26923"/>
                </a:lnTo>
                <a:lnTo>
                  <a:pt x="50000" y="26538"/>
                </a:lnTo>
                <a:lnTo>
                  <a:pt x="46154" y="26538"/>
                </a:lnTo>
                <a:close/>
                <a:moveTo>
                  <a:pt x="33077" y="41154"/>
                </a:moveTo>
                <a:lnTo>
                  <a:pt x="31923" y="42308"/>
                </a:lnTo>
                <a:lnTo>
                  <a:pt x="31923" y="45385"/>
                </a:lnTo>
                <a:lnTo>
                  <a:pt x="31538" y="45769"/>
                </a:lnTo>
                <a:lnTo>
                  <a:pt x="31154" y="46154"/>
                </a:lnTo>
                <a:lnTo>
                  <a:pt x="31154" y="51538"/>
                </a:lnTo>
                <a:lnTo>
                  <a:pt x="30769" y="51923"/>
                </a:lnTo>
                <a:lnTo>
                  <a:pt x="30385" y="52308"/>
                </a:lnTo>
                <a:lnTo>
                  <a:pt x="30385" y="56923"/>
                </a:lnTo>
                <a:lnTo>
                  <a:pt x="30000" y="57308"/>
                </a:lnTo>
                <a:lnTo>
                  <a:pt x="29615" y="57692"/>
                </a:lnTo>
                <a:lnTo>
                  <a:pt x="29615" y="63077"/>
                </a:lnTo>
                <a:lnTo>
                  <a:pt x="29231" y="63462"/>
                </a:lnTo>
                <a:lnTo>
                  <a:pt x="28846" y="63846"/>
                </a:lnTo>
                <a:lnTo>
                  <a:pt x="28846" y="69231"/>
                </a:lnTo>
                <a:lnTo>
                  <a:pt x="28462" y="69615"/>
                </a:lnTo>
                <a:lnTo>
                  <a:pt x="28077" y="70000"/>
                </a:lnTo>
                <a:lnTo>
                  <a:pt x="28077" y="74615"/>
                </a:lnTo>
                <a:lnTo>
                  <a:pt x="29231" y="75769"/>
                </a:lnTo>
                <a:lnTo>
                  <a:pt x="63077" y="75769"/>
                </a:lnTo>
                <a:lnTo>
                  <a:pt x="63462" y="75385"/>
                </a:lnTo>
                <a:lnTo>
                  <a:pt x="63846" y="75000"/>
                </a:lnTo>
                <a:lnTo>
                  <a:pt x="66923" y="75000"/>
                </a:lnTo>
                <a:lnTo>
                  <a:pt x="67308" y="75385"/>
                </a:lnTo>
                <a:lnTo>
                  <a:pt x="67692" y="75769"/>
                </a:lnTo>
                <a:lnTo>
                  <a:pt x="68846" y="74615"/>
                </a:lnTo>
                <a:lnTo>
                  <a:pt x="68846" y="73846"/>
                </a:lnTo>
                <a:lnTo>
                  <a:pt x="68846" y="68462"/>
                </a:lnTo>
                <a:lnTo>
                  <a:pt x="68462" y="68077"/>
                </a:lnTo>
                <a:lnTo>
                  <a:pt x="68077" y="67692"/>
                </a:lnTo>
                <a:lnTo>
                  <a:pt x="68077" y="61538"/>
                </a:lnTo>
                <a:lnTo>
                  <a:pt x="67692" y="61154"/>
                </a:lnTo>
                <a:lnTo>
                  <a:pt x="67308" y="60769"/>
                </a:lnTo>
                <a:lnTo>
                  <a:pt x="67308" y="55385"/>
                </a:lnTo>
                <a:lnTo>
                  <a:pt x="66923" y="55000"/>
                </a:lnTo>
                <a:lnTo>
                  <a:pt x="66538" y="54615"/>
                </a:lnTo>
                <a:lnTo>
                  <a:pt x="66538" y="49231"/>
                </a:lnTo>
                <a:lnTo>
                  <a:pt x="66154" y="48846"/>
                </a:lnTo>
                <a:lnTo>
                  <a:pt x="65769" y="48462"/>
                </a:lnTo>
                <a:lnTo>
                  <a:pt x="65769" y="43077"/>
                </a:lnTo>
                <a:lnTo>
                  <a:pt x="64615" y="41154"/>
                </a:lnTo>
                <a:lnTo>
                  <a:pt x="59231" y="41154"/>
                </a:lnTo>
                <a:lnTo>
                  <a:pt x="58846" y="43846"/>
                </a:lnTo>
                <a:lnTo>
                  <a:pt x="57692" y="45000"/>
                </a:lnTo>
                <a:lnTo>
                  <a:pt x="56538" y="43846"/>
                </a:lnTo>
                <a:lnTo>
                  <a:pt x="56154" y="41154"/>
                </a:lnTo>
                <a:lnTo>
                  <a:pt x="41538" y="41154"/>
                </a:lnTo>
                <a:lnTo>
                  <a:pt x="41154" y="43846"/>
                </a:lnTo>
                <a:lnTo>
                  <a:pt x="40000" y="45000"/>
                </a:lnTo>
                <a:lnTo>
                  <a:pt x="39231" y="45000"/>
                </a:lnTo>
                <a:lnTo>
                  <a:pt x="38077" y="43846"/>
                </a:lnTo>
                <a:lnTo>
                  <a:pt x="37692" y="41154"/>
                </a:lnTo>
                <a:lnTo>
                  <a:pt x="33077" y="41154"/>
                </a:lnTo>
                <a:close/>
              </a:path>
            </a:pathLst>
          </a:custGeom>
          <a:solidFill>
            <a:srgbClr val="FFFFFF"/>
          </a:solidFill>
          <a:ln>
            <a:noFill/>
          </a:ln>
        </p:spPr>
        <p:txBody>
          <a:bodyPr/>
          <a:p/>
        </p:txBody>
      </p:sp>
      <p:sp>
        <p:nvSpPr>
          <p:cNvPr id="25" name="Text 22"/>
          <p:cNvSpPr/>
          <p:nvPr/>
        </p:nvSpPr>
        <p:spPr>
          <a:xfrm>
            <a:off x="5193792" y="3319272"/>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833</a:t>
            </a:r>
            <a:endParaRPr lang="en-US" sz="4400" dirty="0"/>
          </a:p>
        </p:txBody>
      </p:sp>
      <p:sp>
        <p:nvSpPr>
          <p:cNvPr id="26" name="Text 23"/>
          <p:cNvSpPr/>
          <p:nvPr/>
        </p:nvSpPr>
        <p:spPr>
          <a:xfrm>
            <a:off x="5202936" y="3922776"/>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Dépense moyenne (Spent)</a:t>
            </a:r>
            <a:endParaRPr lang="en-US" sz="1400" dirty="0"/>
          </a:p>
        </p:txBody>
      </p:sp>
      <p:sp>
        <p:nvSpPr>
          <p:cNvPr id="27" name="Shape 24"/>
          <p:cNvSpPr/>
          <p:nvPr/>
        </p:nvSpPr>
        <p:spPr>
          <a:xfrm>
            <a:off x="7973568" y="3172968"/>
            <a:ext cx="4050792" cy="1325880"/>
          </a:xfrm>
          <a:prstGeom prst="roundRect">
            <a:avLst>
              <a:gd name="adj" fmla="val 9655"/>
            </a:avLst>
          </a:prstGeom>
          <a:solidFill>
            <a:srgbClr val="F0FDFA"/>
          </a:solidFill>
          <a:ln w="12700">
            <a:solidFill>
              <a:srgbClr val="F0FDFA">
                <a:alpha val="0"/>
              </a:srgbClr>
            </a:solidFill>
            <a:prstDash val="solid"/>
          </a:ln>
        </p:spPr>
        <p:txBody>
          <a:bodyPr/>
          <a:p/>
        </p:txBody>
      </p:sp>
      <p:sp>
        <p:nvSpPr>
          <p:cNvPr id="28" name="Shape 25"/>
          <p:cNvSpPr/>
          <p:nvPr/>
        </p:nvSpPr>
        <p:spPr>
          <a:xfrm>
            <a:off x="8174736" y="3310128"/>
            <a:ext cx="923544" cy="923544"/>
          </a:xfrm>
          <a:prstGeom prst="ellipse">
            <a:avLst/>
          </a:prstGeom>
          <a:solidFill>
            <a:srgbClr val="B45309"/>
          </a:solidFill>
          <a:ln w="12700">
            <a:solidFill>
              <a:srgbClr val="B45309">
                <a:alpha val="0"/>
              </a:srgbClr>
            </a:solidFill>
            <a:prstDash val="solid"/>
          </a:ln>
        </p:spPr>
        <p:txBody>
          <a:bodyPr/>
          <a:p/>
        </p:txBody>
      </p:sp>
      <p:sp>
        <p:nvSpPr>
          <p:cNvPr id="29" name="VECTOR_pram_55"/>
          <p:cNvSpPr/>
          <p:nvPr/>
        </p:nvSpPr>
        <p:spPr>
          <a:xfrm>
            <a:off x="8174736" y="3310128"/>
            <a:ext cx="923544" cy="923544"/>
          </a:xfrm>
          <a:custGeom>
            <a:avLst/>
            <a:gdLst/>
            <a:ahLst/>
            <a:cxnLst/>
            <a:rect l="0" t="0" r="r" b="b"/>
            <a:pathLst>
              <a:path w="100000" h="100000" fill="norm" stroke="false" extrusionOk="false">
                <a:moveTo>
                  <a:pt x="49615" y="24615"/>
                </a:moveTo>
                <a:lnTo>
                  <a:pt x="50000" y="24231"/>
                </a:lnTo>
                <a:lnTo>
                  <a:pt x="53846" y="24231"/>
                </a:lnTo>
                <a:lnTo>
                  <a:pt x="54231" y="24615"/>
                </a:lnTo>
                <a:lnTo>
                  <a:pt x="54615" y="25000"/>
                </a:lnTo>
                <a:lnTo>
                  <a:pt x="56923" y="25000"/>
                </a:lnTo>
                <a:lnTo>
                  <a:pt x="64615" y="28846"/>
                </a:lnTo>
                <a:lnTo>
                  <a:pt x="68846" y="33077"/>
                </a:lnTo>
                <a:lnTo>
                  <a:pt x="68846" y="33846"/>
                </a:lnTo>
                <a:lnTo>
                  <a:pt x="71154" y="36923"/>
                </a:lnTo>
                <a:lnTo>
                  <a:pt x="71154" y="37692"/>
                </a:lnTo>
                <a:lnTo>
                  <a:pt x="71154" y="38462"/>
                </a:lnTo>
                <a:lnTo>
                  <a:pt x="72692" y="41538"/>
                </a:lnTo>
                <a:lnTo>
                  <a:pt x="72692" y="45385"/>
                </a:lnTo>
                <a:lnTo>
                  <a:pt x="73077" y="45769"/>
                </a:lnTo>
                <a:lnTo>
                  <a:pt x="73462" y="46154"/>
                </a:lnTo>
                <a:lnTo>
                  <a:pt x="73462" y="46923"/>
                </a:lnTo>
                <a:lnTo>
                  <a:pt x="73462" y="47692"/>
                </a:lnTo>
                <a:lnTo>
                  <a:pt x="73077" y="48077"/>
                </a:lnTo>
                <a:lnTo>
                  <a:pt x="72692" y="48462"/>
                </a:lnTo>
                <a:lnTo>
                  <a:pt x="72692" y="50769"/>
                </a:lnTo>
                <a:lnTo>
                  <a:pt x="72308" y="51154"/>
                </a:lnTo>
                <a:lnTo>
                  <a:pt x="71923" y="51538"/>
                </a:lnTo>
                <a:lnTo>
                  <a:pt x="71923" y="52308"/>
                </a:lnTo>
                <a:lnTo>
                  <a:pt x="71923" y="53077"/>
                </a:lnTo>
                <a:lnTo>
                  <a:pt x="71538" y="53462"/>
                </a:lnTo>
                <a:lnTo>
                  <a:pt x="71154" y="53846"/>
                </a:lnTo>
                <a:lnTo>
                  <a:pt x="71154" y="54615"/>
                </a:lnTo>
                <a:lnTo>
                  <a:pt x="71154" y="55385"/>
                </a:lnTo>
                <a:lnTo>
                  <a:pt x="69615" y="58462"/>
                </a:lnTo>
                <a:lnTo>
                  <a:pt x="65385" y="62692"/>
                </a:lnTo>
                <a:lnTo>
                  <a:pt x="63077" y="63462"/>
                </a:lnTo>
                <a:lnTo>
                  <a:pt x="61538" y="65000"/>
                </a:lnTo>
                <a:lnTo>
                  <a:pt x="60769" y="65000"/>
                </a:lnTo>
                <a:lnTo>
                  <a:pt x="60385" y="65385"/>
                </a:lnTo>
                <a:lnTo>
                  <a:pt x="62308" y="66538"/>
                </a:lnTo>
                <a:lnTo>
                  <a:pt x="63077" y="66538"/>
                </a:lnTo>
                <a:lnTo>
                  <a:pt x="63846" y="66538"/>
                </a:lnTo>
                <a:lnTo>
                  <a:pt x="65385" y="67308"/>
                </a:lnTo>
                <a:lnTo>
                  <a:pt x="68077" y="70000"/>
                </a:lnTo>
                <a:lnTo>
                  <a:pt x="68077" y="75385"/>
                </a:lnTo>
                <a:lnTo>
                  <a:pt x="65385" y="78846"/>
                </a:lnTo>
                <a:lnTo>
                  <a:pt x="63846" y="79615"/>
                </a:lnTo>
                <a:lnTo>
                  <a:pt x="59231" y="79615"/>
                </a:lnTo>
                <a:lnTo>
                  <a:pt x="57692" y="78846"/>
                </a:lnTo>
                <a:lnTo>
                  <a:pt x="55000" y="76154"/>
                </a:lnTo>
                <a:lnTo>
                  <a:pt x="54231" y="72308"/>
                </a:lnTo>
                <a:lnTo>
                  <a:pt x="54615" y="71923"/>
                </a:lnTo>
                <a:lnTo>
                  <a:pt x="55000" y="71538"/>
                </a:lnTo>
                <a:lnTo>
                  <a:pt x="55000" y="70769"/>
                </a:lnTo>
                <a:lnTo>
                  <a:pt x="55000" y="70000"/>
                </a:lnTo>
                <a:lnTo>
                  <a:pt x="55769" y="68462"/>
                </a:lnTo>
                <a:lnTo>
                  <a:pt x="57308" y="66923"/>
                </a:lnTo>
                <a:lnTo>
                  <a:pt x="56923" y="66538"/>
                </a:lnTo>
                <a:lnTo>
                  <a:pt x="40769" y="66538"/>
                </a:lnTo>
                <a:lnTo>
                  <a:pt x="40385" y="66923"/>
                </a:lnTo>
                <a:lnTo>
                  <a:pt x="40385" y="67692"/>
                </a:lnTo>
                <a:lnTo>
                  <a:pt x="41923" y="69231"/>
                </a:lnTo>
                <a:lnTo>
                  <a:pt x="41923" y="70000"/>
                </a:lnTo>
                <a:lnTo>
                  <a:pt x="42308" y="70385"/>
                </a:lnTo>
                <a:lnTo>
                  <a:pt x="42692" y="70769"/>
                </a:lnTo>
                <a:lnTo>
                  <a:pt x="42692" y="76154"/>
                </a:lnTo>
                <a:lnTo>
                  <a:pt x="40000" y="78846"/>
                </a:lnTo>
                <a:lnTo>
                  <a:pt x="38462" y="79615"/>
                </a:lnTo>
                <a:lnTo>
                  <a:pt x="33846" y="79615"/>
                </a:lnTo>
                <a:lnTo>
                  <a:pt x="30385" y="76923"/>
                </a:lnTo>
                <a:lnTo>
                  <a:pt x="29615" y="75385"/>
                </a:lnTo>
                <a:lnTo>
                  <a:pt x="29615" y="70769"/>
                </a:lnTo>
                <a:lnTo>
                  <a:pt x="30385" y="69231"/>
                </a:lnTo>
                <a:lnTo>
                  <a:pt x="32308" y="67308"/>
                </a:lnTo>
                <a:lnTo>
                  <a:pt x="33846" y="66538"/>
                </a:lnTo>
                <a:lnTo>
                  <a:pt x="37692" y="66538"/>
                </a:lnTo>
                <a:lnTo>
                  <a:pt x="38077" y="66154"/>
                </a:lnTo>
                <a:lnTo>
                  <a:pt x="38077" y="65385"/>
                </a:lnTo>
                <a:lnTo>
                  <a:pt x="35385" y="64231"/>
                </a:lnTo>
                <a:lnTo>
                  <a:pt x="33846" y="62692"/>
                </a:lnTo>
                <a:lnTo>
                  <a:pt x="33077" y="62692"/>
                </a:lnTo>
                <a:lnTo>
                  <a:pt x="29615" y="59231"/>
                </a:lnTo>
                <a:lnTo>
                  <a:pt x="27308" y="54615"/>
                </a:lnTo>
                <a:lnTo>
                  <a:pt x="27308" y="53846"/>
                </a:lnTo>
                <a:lnTo>
                  <a:pt x="27308" y="53077"/>
                </a:lnTo>
                <a:lnTo>
                  <a:pt x="26923" y="52692"/>
                </a:lnTo>
                <a:lnTo>
                  <a:pt x="26538" y="52308"/>
                </a:lnTo>
                <a:lnTo>
                  <a:pt x="26538" y="50000"/>
                </a:lnTo>
                <a:lnTo>
                  <a:pt x="26154" y="49615"/>
                </a:lnTo>
                <a:lnTo>
                  <a:pt x="25769" y="49231"/>
                </a:lnTo>
                <a:lnTo>
                  <a:pt x="25769" y="43846"/>
                </a:lnTo>
                <a:lnTo>
                  <a:pt x="25385" y="43462"/>
                </a:lnTo>
                <a:lnTo>
                  <a:pt x="25000" y="43077"/>
                </a:lnTo>
                <a:lnTo>
                  <a:pt x="25000" y="42308"/>
                </a:lnTo>
                <a:lnTo>
                  <a:pt x="25000" y="41538"/>
                </a:lnTo>
                <a:lnTo>
                  <a:pt x="20769" y="39615"/>
                </a:lnTo>
                <a:lnTo>
                  <a:pt x="19615" y="38462"/>
                </a:lnTo>
                <a:lnTo>
                  <a:pt x="20769" y="37308"/>
                </a:lnTo>
                <a:lnTo>
                  <a:pt x="24615" y="38077"/>
                </a:lnTo>
                <a:lnTo>
                  <a:pt x="27308" y="40769"/>
                </a:lnTo>
                <a:lnTo>
                  <a:pt x="27308" y="44615"/>
                </a:lnTo>
                <a:lnTo>
                  <a:pt x="28462" y="45769"/>
                </a:lnTo>
                <a:lnTo>
                  <a:pt x="47692" y="45769"/>
                </a:lnTo>
                <a:lnTo>
                  <a:pt x="48846" y="44615"/>
                </a:lnTo>
                <a:lnTo>
                  <a:pt x="48846" y="25385"/>
                </a:lnTo>
                <a:lnTo>
                  <a:pt x="49231" y="25000"/>
                </a:lnTo>
                <a:lnTo>
                  <a:pt x="49615" y="24615"/>
                </a:lnTo>
                <a:close/>
                <a:moveTo>
                  <a:pt x="52308" y="26538"/>
                </a:moveTo>
                <a:lnTo>
                  <a:pt x="51154" y="27692"/>
                </a:lnTo>
                <a:lnTo>
                  <a:pt x="51154" y="45385"/>
                </a:lnTo>
                <a:lnTo>
                  <a:pt x="51538" y="45769"/>
                </a:lnTo>
                <a:lnTo>
                  <a:pt x="69231" y="45769"/>
                </a:lnTo>
                <a:lnTo>
                  <a:pt x="70000" y="45769"/>
                </a:lnTo>
                <a:lnTo>
                  <a:pt x="70385" y="45385"/>
                </a:lnTo>
                <a:lnTo>
                  <a:pt x="70385" y="41538"/>
                </a:lnTo>
                <a:lnTo>
                  <a:pt x="70000" y="41154"/>
                </a:lnTo>
                <a:lnTo>
                  <a:pt x="69615" y="40769"/>
                </a:lnTo>
                <a:lnTo>
                  <a:pt x="69615" y="40000"/>
                </a:lnTo>
                <a:lnTo>
                  <a:pt x="69615" y="39231"/>
                </a:lnTo>
                <a:lnTo>
                  <a:pt x="68077" y="36154"/>
                </a:lnTo>
                <a:lnTo>
                  <a:pt x="61538" y="29615"/>
                </a:lnTo>
                <a:lnTo>
                  <a:pt x="56923" y="27308"/>
                </a:lnTo>
                <a:lnTo>
                  <a:pt x="53846" y="27308"/>
                </a:lnTo>
                <a:lnTo>
                  <a:pt x="52308" y="26538"/>
                </a:lnTo>
                <a:close/>
                <a:moveTo>
                  <a:pt x="29231" y="48077"/>
                </a:moveTo>
                <a:lnTo>
                  <a:pt x="28846" y="51538"/>
                </a:lnTo>
                <a:lnTo>
                  <a:pt x="29231" y="51923"/>
                </a:lnTo>
                <a:lnTo>
                  <a:pt x="29615" y="52308"/>
                </a:lnTo>
                <a:lnTo>
                  <a:pt x="30385" y="56154"/>
                </a:lnTo>
                <a:lnTo>
                  <a:pt x="31923" y="57692"/>
                </a:lnTo>
                <a:lnTo>
                  <a:pt x="31923" y="58462"/>
                </a:lnTo>
                <a:lnTo>
                  <a:pt x="35385" y="61154"/>
                </a:lnTo>
                <a:lnTo>
                  <a:pt x="41538" y="64231"/>
                </a:lnTo>
                <a:lnTo>
                  <a:pt x="44615" y="64231"/>
                </a:lnTo>
                <a:lnTo>
                  <a:pt x="45000" y="64615"/>
                </a:lnTo>
                <a:lnTo>
                  <a:pt x="45385" y="65000"/>
                </a:lnTo>
                <a:lnTo>
                  <a:pt x="53846" y="65000"/>
                </a:lnTo>
                <a:lnTo>
                  <a:pt x="54231" y="64615"/>
                </a:lnTo>
                <a:lnTo>
                  <a:pt x="54615" y="64231"/>
                </a:lnTo>
                <a:lnTo>
                  <a:pt x="57692" y="64231"/>
                </a:lnTo>
                <a:lnTo>
                  <a:pt x="59231" y="62692"/>
                </a:lnTo>
                <a:lnTo>
                  <a:pt x="64615" y="60385"/>
                </a:lnTo>
                <a:lnTo>
                  <a:pt x="66154" y="58846"/>
                </a:lnTo>
                <a:lnTo>
                  <a:pt x="67308" y="57692"/>
                </a:lnTo>
                <a:lnTo>
                  <a:pt x="68846" y="54615"/>
                </a:lnTo>
                <a:lnTo>
                  <a:pt x="68846" y="53846"/>
                </a:lnTo>
                <a:lnTo>
                  <a:pt x="68846" y="53077"/>
                </a:lnTo>
                <a:lnTo>
                  <a:pt x="70385" y="50000"/>
                </a:lnTo>
                <a:lnTo>
                  <a:pt x="70000" y="48077"/>
                </a:lnTo>
                <a:lnTo>
                  <a:pt x="50769" y="48077"/>
                </a:lnTo>
                <a:lnTo>
                  <a:pt x="49231" y="50385"/>
                </a:lnTo>
                <a:lnTo>
                  <a:pt x="47692" y="48077"/>
                </a:lnTo>
                <a:lnTo>
                  <a:pt x="29231" y="48077"/>
                </a:lnTo>
                <a:close/>
                <a:moveTo>
                  <a:pt x="36154" y="68077"/>
                </a:moveTo>
                <a:lnTo>
                  <a:pt x="34615" y="68846"/>
                </a:lnTo>
                <a:lnTo>
                  <a:pt x="31923" y="71538"/>
                </a:lnTo>
                <a:lnTo>
                  <a:pt x="31923" y="74615"/>
                </a:lnTo>
                <a:lnTo>
                  <a:pt x="33077" y="76538"/>
                </a:lnTo>
                <a:lnTo>
                  <a:pt x="34615" y="77308"/>
                </a:lnTo>
                <a:lnTo>
                  <a:pt x="36923" y="77308"/>
                </a:lnTo>
                <a:lnTo>
                  <a:pt x="37692" y="77308"/>
                </a:lnTo>
                <a:lnTo>
                  <a:pt x="38462" y="77308"/>
                </a:lnTo>
                <a:lnTo>
                  <a:pt x="40385" y="75385"/>
                </a:lnTo>
                <a:lnTo>
                  <a:pt x="41154" y="73077"/>
                </a:lnTo>
                <a:lnTo>
                  <a:pt x="40769" y="72692"/>
                </a:lnTo>
                <a:lnTo>
                  <a:pt x="40385" y="72308"/>
                </a:lnTo>
                <a:lnTo>
                  <a:pt x="40385" y="71538"/>
                </a:lnTo>
                <a:lnTo>
                  <a:pt x="40385" y="70769"/>
                </a:lnTo>
                <a:lnTo>
                  <a:pt x="38462" y="68846"/>
                </a:lnTo>
                <a:lnTo>
                  <a:pt x="37692" y="68846"/>
                </a:lnTo>
                <a:lnTo>
                  <a:pt x="36923" y="68846"/>
                </a:lnTo>
                <a:lnTo>
                  <a:pt x="36538" y="68462"/>
                </a:lnTo>
                <a:lnTo>
                  <a:pt x="36154" y="68077"/>
                </a:lnTo>
                <a:close/>
                <a:moveTo>
                  <a:pt x="61538" y="68077"/>
                </a:moveTo>
                <a:lnTo>
                  <a:pt x="61154" y="68462"/>
                </a:lnTo>
                <a:lnTo>
                  <a:pt x="60769" y="68846"/>
                </a:lnTo>
                <a:lnTo>
                  <a:pt x="60000" y="68846"/>
                </a:lnTo>
                <a:lnTo>
                  <a:pt x="59231" y="68846"/>
                </a:lnTo>
                <a:lnTo>
                  <a:pt x="57308" y="70769"/>
                </a:lnTo>
                <a:lnTo>
                  <a:pt x="57308" y="74615"/>
                </a:lnTo>
                <a:lnTo>
                  <a:pt x="58077" y="76154"/>
                </a:lnTo>
                <a:lnTo>
                  <a:pt x="60000" y="77308"/>
                </a:lnTo>
                <a:lnTo>
                  <a:pt x="60769" y="77308"/>
                </a:lnTo>
                <a:lnTo>
                  <a:pt x="61538" y="77308"/>
                </a:lnTo>
                <a:lnTo>
                  <a:pt x="62308" y="77308"/>
                </a:lnTo>
                <a:lnTo>
                  <a:pt x="63077" y="77308"/>
                </a:lnTo>
                <a:lnTo>
                  <a:pt x="65769" y="74615"/>
                </a:lnTo>
                <a:lnTo>
                  <a:pt x="65769" y="71538"/>
                </a:lnTo>
                <a:lnTo>
                  <a:pt x="65000" y="70000"/>
                </a:lnTo>
                <a:lnTo>
                  <a:pt x="61538" y="68077"/>
                </a:lnTo>
                <a:close/>
              </a:path>
            </a:pathLst>
          </a:custGeom>
          <a:solidFill>
            <a:srgbClr val="FFFFFF"/>
          </a:solidFill>
          <a:ln>
            <a:noFill/>
          </a:ln>
        </p:spPr>
        <p:txBody>
          <a:bodyPr/>
          <a:p/>
        </p:txBody>
      </p:sp>
      <p:sp>
        <p:nvSpPr>
          <p:cNvPr id="30" name="Text 27"/>
          <p:cNvSpPr/>
          <p:nvPr/>
        </p:nvSpPr>
        <p:spPr>
          <a:xfrm>
            <a:off x="9390888" y="3319272"/>
            <a:ext cx="2359152" cy="603504"/>
          </a:xfrm>
          <a:prstGeom prst="rect">
            <a:avLst/>
          </a:prstGeom>
          <a:noFill/>
          <a:ln/>
        </p:spPr>
        <p:txBody>
          <a:bodyPr wrap="square" lIns="0" tIns="0" rIns="0" bIns="0" rtlCol="0" anchor="ctr"/>
          <a:lstStyle/>
          <a:p>
            <a:pPr indent="0" marL="0">
              <a:buNone/>
            </a:pPr>
            <a:r>
              <a:rPr lang="en-US" sz="3900" b="1" dirty="0">
                <a:solidFill>
                  <a:srgbClr val="17324D"/>
                </a:solidFill>
                <a:latin typeface="Aptos" pitchFamily="34" charset="0"/>
                <a:ea typeface="Segoe UI" pitchFamily="34" charset="-122"/>
                <a:cs typeface="Segoe UI" pitchFamily="34" charset="-120"/>
              </a:rPr>
              <a:t>99,8 %</a:t>
            </a:r>
            <a:endParaRPr lang="en-US" sz="4400" dirty="0"/>
          </a:p>
        </p:txBody>
      </p:sp>
      <p:sp>
        <p:nvSpPr>
          <p:cNvPr id="31" name="Text 28"/>
          <p:cNvSpPr/>
          <p:nvPr/>
        </p:nvSpPr>
        <p:spPr>
          <a:xfrm>
            <a:off x="9400032" y="3922776"/>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Parents</a:t>
            </a:r>
            <a:endParaRPr lang="en-US" sz="1400" dirty="0"/>
          </a:p>
        </p:txBody>
      </p:sp>
      <p:sp>
        <p:nvSpPr>
          <p:cNvPr id="32" name="Shape 29"/>
          <p:cNvSpPr/>
          <p:nvPr/>
        </p:nvSpPr>
        <p:spPr>
          <a:xfrm>
            <a:off x="3776472" y="4617720"/>
            <a:ext cx="3904488" cy="1691640"/>
          </a:xfrm>
          <a:prstGeom prst="roundRect">
            <a:avLst>
              <a:gd name="adj" fmla="val 7568"/>
            </a:avLst>
          </a:prstGeom>
          <a:solidFill>
            <a:srgbClr val="EFF6FF"/>
          </a:solidFill>
          <a:ln w="12700">
            <a:solidFill>
              <a:srgbClr val="EFF6FF">
                <a:alpha val="0"/>
              </a:srgbClr>
            </a:solidFill>
            <a:prstDash val="solid"/>
          </a:ln>
        </p:spPr>
        <p:txBody>
          <a:bodyPr/>
          <a:p/>
        </p:txBody>
      </p:sp>
      <p:sp>
        <p:nvSpPr>
          <p:cNvPr id="33" name="Shape 30"/>
          <p:cNvSpPr/>
          <p:nvPr/>
        </p:nvSpPr>
        <p:spPr>
          <a:xfrm>
            <a:off x="3922776" y="4818888"/>
            <a:ext cx="914400" cy="914400"/>
          </a:xfrm>
          <a:prstGeom prst="ellipse">
            <a:avLst/>
          </a:prstGeom>
          <a:solidFill>
            <a:srgbClr val="B45309"/>
          </a:solidFill>
          <a:ln w="12700">
            <a:solidFill>
              <a:srgbClr val="6D28D9">
                <a:alpha val="0"/>
              </a:srgbClr>
            </a:solidFill>
            <a:prstDash val="solid"/>
          </a:ln>
        </p:spPr>
        <p:txBody>
          <a:bodyPr/>
          <a:p/>
        </p:txBody>
      </p:sp>
      <p:sp>
        <p:nvSpPr>
          <p:cNvPr id="34" name="Shape 31"/>
          <p:cNvSpPr/>
          <p:nvPr/>
        </p:nvSpPr>
        <p:spPr>
          <a:xfrm flipV="1">
            <a:off x="4105656" y="5001768"/>
            <a:ext cx="274320" cy="228600"/>
          </a:xfrm>
          <a:prstGeom prst="line">
            <a:avLst/>
          </a:prstGeom>
          <a:noFill/>
          <a:ln w="22860">
            <a:solidFill>
              <a:srgbClr val="FFFFFF"/>
            </a:solidFill>
            <a:prstDash val="solid"/>
          </a:ln>
        </p:spPr>
        <p:txBody>
          <a:bodyPr/>
          <a:p/>
        </p:txBody>
      </p:sp>
      <p:sp>
        <p:nvSpPr>
          <p:cNvPr id="35" name="Shape 32"/>
          <p:cNvSpPr/>
          <p:nvPr/>
        </p:nvSpPr>
        <p:spPr>
          <a:xfrm>
            <a:off x="4379976" y="5001768"/>
            <a:ext cx="274320" cy="228600"/>
          </a:xfrm>
          <a:prstGeom prst="line">
            <a:avLst/>
          </a:prstGeom>
          <a:noFill/>
          <a:ln w="22860">
            <a:solidFill>
              <a:srgbClr val="FFFFFF"/>
            </a:solidFill>
            <a:prstDash val="solid"/>
          </a:ln>
        </p:spPr>
        <p:txBody>
          <a:bodyPr/>
          <a:p/>
        </p:txBody>
      </p:sp>
      <p:sp>
        <p:nvSpPr>
          <p:cNvPr id="36" name="Shape 33"/>
          <p:cNvSpPr/>
          <p:nvPr/>
        </p:nvSpPr>
        <p:spPr>
          <a:xfrm>
            <a:off x="4178808" y="5184648"/>
            <a:ext cx="0" cy="347472"/>
          </a:xfrm>
          <a:prstGeom prst="line">
            <a:avLst/>
          </a:prstGeom>
          <a:noFill/>
          <a:ln w="22860">
            <a:solidFill>
              <a:srgbClr val="FFFFFF"/>
            </a:solidFill>
            <a:prstDash val="solid"/>
          </a:ln>
        </p:spPr>
        <p:txBody>
          <a:bodyPr/>
          <a:p/>
        </p:txBody>
      </p:sp>
      <p:sp>
        <p:nvSpPr>
          <p:cNvPr id="37" name="Shape 34"/>
          <p:cNvSpPr/>
          <p:nvPr/>
        </p:nvSpPr>
        <p:spPr>
          <a:xfrm>
            <a:off x="4581144" y="5184648"/>
            <a:ext cx="0" cy="347472"/>
          </a:xfrm>
          <a:prstGeom prst="line">
            <a:avLst/>
          </a:prstGeom>
          <a:noFill/>
          <a:ln w="22860">
            <a:solidFill>
              <a:srgbClr val="FFFFFF"/>
            </a:solidFill>
            <a:prstDash val="solid"/>
          </a:ln>
        </p:spPr>
        <p:txBody>
          <a:bodyPr/>
          <a:p/>
        </p:txBody>
      </p:sp>
      <p:sp>
        <p:nvSpPr>
          <p:cNvPr id="38" name="Shape 35"/>
          <p:cNvSpPr/>
          <p:nvPr/>
        </p:nvSpPr>
        <p:spPr>
          <a:xfrm>
            <a:off x="4178808" y="5532120"/>
            <a:ext cx="402336" cy="0"/>
          </a:xfrm>
          <a:prstGeom prst="line">
            <a:avLst/>
          </a:prstGeom>
          <a:noFill/>
          <a:ln w="22860">
            <a:solidFill>
              <a:srgbClr val="FFFFFF"/>
            </a:solidFill>
            <a:prstDash val="solid"/>
          </a:ln>
        </p:spPr>
        <p:txBody>
          <a:bodyPr/>
          <a:p/>
        </p:txBody>
      </p:sp>
      <p:sp>
        <p:nvSpPr>
          <p:cNvPr id="39" name="Shape 36"/>
          <p:cNvSpPr/>
          <p:nvPr/>
        </p:nvSpPr>
        <p:spPr>
          <a:xfrm>
            <a:off x="4315968" y="5321808"/>
            <a:ext cx="128016" cy="210312"/>
          </a:xfrm>
          <a:prstGeom prst="rect">
            <a:avLst/>
          </a:prstGeom>
          <a:solidFill>
            <a:srgbClr val="FFFFFF">
              <a:alpha val="0"/>
            </a:srgbClr>
          </a:solidFill>
          <a:ln w="22860">
            <a:solidFill>
              <a:srgbClr val="FFFFFF"/>
            </a:solidFill>
            <a:prstDash val="solid"/>
          </a:ln>
        </p:spPr>
        <p:txBody>
          <a:bodyPr/>
          <a:p/>
        </p:txBody>
      </p:sp>
      <p:sp>
        <p:nvSpPr>
          <p:cNvPr id="40" name="Text 37"/>
          <p:cNvSpPr/>
          <p:nvPr/>
        </p:nvSpPr>
        <p:spPr>
          <a:xfrm>
            <a:off x="4946904" y="4828032"/>
            <a:ext cx="2551176" cy="320040"/>
          </a:xfrm>
          <a:prstGeom prst="rect">
            <a:avLst/>
          </a:prstGeom>
          <a:noFill/>
          <a:ln/>
        </p:spPr>
        <p:txBody>
          <a:bodyPr wrap="square" lIns="0" tIns="0" rIns="0" bIns="0" rtlCol="0" anchor="ctr"/>
          <a:lstStyle/>
          <a:p>
            <a:pPr indent="0" marL="0">
              <a:buNone/>
            </a:pPr>
            <a:r>
              <a:rPr lang="en-US" sz="2100" b="1" dirty="0">
                <a:solidFill>
                  <a:srgbClr val="17324D"/>
                </a:solidFill>
                <a:latin typeface="Aptos" pitchFamily="34" charset="0"/>
                <a:ea typeface="Segoe UI" pitchFamily="34" charset="-122"/>
                <a:cs typeface="Segoe UI" pitchFamily="34" charset="-120"/>
              </a:rPr>
              <a:t>Profil du foyer</a:t>
            </a:r>
            <a:endParaRPr lang="en-US" sz="2100" dirty="0"/>
          </a:p>
        </p:txBody>
      </p:sp>
      <p:sp>
        <p:nvSpPr>
          <p:cNvPr id="41" name="Text 38"/>
          <p:cNvSpPr/>
          <p:nvPr/>
        </p:nvSpPr>
        <p:spPr>
          <a:xfrm>
            <a:off x="4946904" y="5340096"/>
            <a:ext cx="2496312" cy="850392"/>
          </a:xfrm>
          <a:prstGeom prst="rect">
            <a:avLst/>
          </a:prstGeom>
          <a:noFill/>
          <a:ln/>
        </p:spPr>
        <p:txBody>
          <a:bodyPr wrap="square" lIns="0" tIns="0" rIns="0" bIns="0" rtlCol="0" anchor="t"/>
          <a:lstStyle/>
          <a:p>
            <a:pPr indent="0" marL="0">
              <a:buNone/>
            </a:pPr>
            <a:r>
              <a:rPr lang="en-US" sz="1400" dirty="0">
                <a:solidFill>
                  <a:srgbClr val="334155"/>
                </a:solidFill>
                <a:latin typeface="Aptos" pitchFamily="34" charset="0"/>
                <a:ea typeface="Segoe UI" pitchFamily="34" charset="-122"/>
                <a:cs typeface="Segoe UI" pitchFamily="34" charset="-120"/>
              </a:rPr>
              <a:t>Le plus souvent des</a:t>
            </a:r>
            <a:endParaRPr lang="en-US" sz="1400" dirty="0"/>
          </a:p>
          <a:p>
            <a:pPr indent="0" marL="0">
              <a:buNone/>
            </a:pPr>
            <a:r>
              <a:rPr lang="en-US" sz="1400" dirty="0">
                <a:solidFill>
                  <a:srgbClr val="334155"/>
                </a:solidFill>
                <a:latin typeface="Aptos" pitchFamily="34" charset="0"/>
                <a:ea typeface="Segoe UI" pitchFamily="34" charset="-122"/>
                <a:cs typeface="Segoe UI" pitchFamily="34" charset="-120"/>
              </a:rPr>
              <a:t>adolescents au foyer.</a:t>
            </a:r>
            <a:endParaRPr lang="en-US" sz="1400" dirty="0"/>
          </a:p>
          <a:p>
            <a:pPr indent="0" marL="0">
              <a:buNone/>
            </a:pPr>
            <a:r>
              <a:rPr lang="en-US" sz="1400" dirty="0">
                <a:solidFill>
                  <a:srgbClr val="334155"/>
                </a:solidFill>
                <a:latin typeface="Aptos" pitchFamily="34" charset="0"/>
                <a:ea typeface="Segoe UI" pitchFamily="34" charset="-122"/>
                <a:cs typeface="Segoe UI" pitchFamily="34" charset="-120"/>
              </a:rPr>
              <a:t>Foyers de 2 à 5 personnes.</a:t>
            </a:r>
            <a:endParaRPr lang="en-US" sz="1400" dirty="0"/>
          </a:p>
        </p:txBody>
      </p:sp>
      <p:sp>
        <p:nvSpPr>
          <p:cNvPr id="42" name="Shape 39"/>
          <p:cNvSpPr/>
          <p:nvPr/>
        </p:nvSpPr>
        <p:spPr>
          <a:xfrm>
            <a:off x="7790688" y="4617720"/>
            <a:ext cx="4123944" cy="1691640"/>
          </a:xfrm>
          <a:prstGeom prst="roundRect">
            <a:avLst>
              <a:gd name="adj" fmla="val 7568"/>
            </a:avLst>
          </a:prstGeom>
          <a:solidFill>
            <a:srgbClr val="F3F4F6"/>
          </a:solidFill>
          <a:ln w="12700">
            <a:solidFill>
              <a:srgbClr val="F3F4F6">
                <a:alpha val="0"/>
              </a:srgbClr>
            </a:solidFill>
            <a:prstDash val="solid"/>
          </a:ln>
        </p:spPr>
        <p:txBody>
          <a:bodyPr/>
          <a:p/>
        </p:txBody>
      </p:sp>
      <p:sp>
        <p:nvSpPr>
          <p:cNvPr id="43" name="Shape 40"/>
          <p:cNvSpPr/>
          <p:nvPr/>
        </p:nvSpPr>
        <p:spPr>
          <a:xfrm>
            <a:off x="7882128" y="4800600"/>
            <a:ext cx="1005840" cy="1005840"/>
          </a:xfrm>
          <a:prstGeom prst="ellipse">
            <a:avLst/>
          </a:prstGeom>
          <a:solidFill>
            <a:srgbClr val="B45309"/>
          </a:solidFill>
          <a:ln w="12700">
            <a:solidFill>
              <a:srgbClr val="6D28D9">
                <a:alpha val="0"/>
              </a:srgbClr>
            </a:solidFill>
            <a:prstDash val="solid"/>
          </a:ln>
        </p:spPr>
        <p:txBody>
          <a:bodyPr/>
          <a:p/>
        </p:txBody>
      </p:sp>
      <p:sp>
        <p:nvSpPr>
          <p:cNvPr id="44" name="VECTOR_bag_56"/>
          <p:cNvSpPr/>
          <p:nvPr/>
        </p:nvSpPr>
        <p:spPr>
          <a:xfrm>
            <a:off x="7882128" y="4800600"/>
            <a:ext cx="1005840" cy="1005840"/>
          </a:xfrm>
          <a:custGeom>
            <a:avLst/>
            <a:gdLst/>
            <a:ahLst/>
            <a:cxnLst/>
            <a:rect l="0" t="0" r="r" b="b"/>
            <a:pathLst>
              <a:path w="100000" h="100000" fill="norm" stroke="false" extrusionOk="false">
                <a:moveTo>
                  <a:pt x="45000" y="24615"/>
                </a:moveTo>
                <a:lnTo>
                  <a:pt x="45385" y="24231"/>
                </a:lnTo>
                <a:lnTo>
                  <a:pt x="51538" y="24231"/>
                </a:lnTo>
                <a:lnTo>
                  <a:pt x="54615" y="25769"/>
                </a:lnTo>
                <a:lnTo>
                  <a:pt x="57308" y="28462"/>
                </a:lnTo>
                <a:lnTo>
                  <a:pt x="58846" y="31538"/>
                </a:lnTo>
                <a:lnTo>
                  <a:pt x="58846" y="37692"/>
                </a:lnTo>
                <a:lnTo>
                  <a:pt x="59231" y="38077"/>
                </a:lnTo>
                <a:lnTo>
                  <a:pt x="66154" y="38077"/>
                </a:lnTo>
                <a:lnTo>
                  <a:pt x="68077" y="40000"/>
                </a:lnTo>
                <a:lnTo>
                  <a:pt x="68077" y="44615"/>
                </a:lnTo>
                <a:lnTo>
                  <a:pt x="68462" y="45000"/>
                </a:lnTo>
                <a:lnTo>
                  <a:pt x="68846" y="45385"/>
                </a:lnTo>
                <a:lnTo>
                  <a:pt x="68846" y="51538"/>
                </a:lnTo>
                <a:lnTo>
                  <a:pt x="69231" y="51923"/>
                </a:lnTo>
                <a:lnTo>
                  <a:pt x="69615" y="52308"/>
                </a:lnTo>
                <a:lnTo>
                  <a:pt x="69615" y="57692"/>
                </a:lnTo>
                <a:lnTo>
                  <a:pt x="70000" y="58077"/>
                </a:lnTo>
                <a:lnTo>
                  <a:pt x="70385" y="58462"/>
                </a:lnTo>
                <a:lnTo>
                  <a:pt x="70385" y="63846"/>
                </a:lnTo>
                <a:lnTo>
                  <a:pt x="70769" y="64231"/>
                </a:lnTo>
                <a:lnTo>
                  <a:pt x="71154" y="64615"/>
                </a:lnTo>
                <a:lnTo>
                  <a:pt x="71154" y="70769"/>
                </a:lnTo>
                <a:lnTo>
                  <a:pt x="71538" y="71154"/>
                </a:lnTo>
                <a:lnTo>
                  <a:pt x="71923" y="71538"/>
                </a:lnTo>
                <a:lnTo>
                  <a:pt x="71923" y="76923"/>
                </a:lnTo>
                <a:lnTo>
                  <a:pt x="70000" y="78077"/>
                </a:lnTo>
                <a:lnTo>
                  <a:pt x="52308" y="78077"/>
                </a:lnTo>
                <a:lnTo>
                  <a:pt x="26923" y="78077"/>
                </a:lnTo>
                <a:lnTo>
                  <a:pt x="25000" y="76154"/>
                </a:lnTo>
                <a:lnTo>
                  <a:pt x="25000" y="73846"/>
                </a:lnTo>
                <a:lnTo>
                  <a:pt x="25385" y="73462"/>
                </a:lnTo>
                <a:lnTo>
                  <a:pt x="25769" y="73077"/>
                </a:lnTo>
                <a:lnTo>
                  <a:pt x="25769" y="67692"/>
                </a:lnTo>
                <a:lnTo>
                  <a:pt x="26154" y="67308"/>
                </a:lnTo>
                <a:lnTo>
                  <a:pt x="26538" y="66923"/>
                </a:lnTo>
                <a:lnTo>
                  <a:pt x="26538" y="62308"/>
                </a:lnTo>
                <a:lnTo>
                  <a:pt x="26923" y="61923"/>
                </a:lnTo>
                <a:lnTo>
                  <a:pt x="27308" y="61538"/>
                </a:lnTo>
                <a:lnTo>
                  <a:pt x="27308" y="56154"/>
                </a:lnTo>
                <a:lnTo>
                  <a:pt x="27692" y="55769"/>
                </a:lnTo>
                <a:lnTo>
                  <a:pt x="28077" y="55385"/>
                </a:lnTo>
                <a:lnTo>
                  <a:pt x="28077" y="49231"/>
                </a:lnTo>
                <a:lnTo>
                  <a:pt x="28462" y="48846"/>
                </a:lnTo>
                <a:lnTo>
                  <a:pt x="28846" y="48462"/>
                </a:lnTo>
                <a:lnTo>
                  <a:pt x="28846" y="43846"/>
                </a:lnTo>
                <a:lnTo>
                  <a:pt x="29231" y="43462"/>
                </a:lnTo>
                <a:lnTo>
                  <a:pt x="29615" y="43077"/>
                </a:lnTo>
                <a:lnTo>
                  <a:pt x="29615" y="39231"/>
                </a:lnTo>
                <a:lnTo>
                  <a:pt x="30769" y="38077"/>
                </a:lnTo>
                <a:lnTo>
                  <a:pt x="37692" y="38077"/>
                </a:lnTo>
                <a:lnTo>
                  <a:pt x="38077" y="37692"/>
                </a:lnTo>
                <a:lnTo>
                  <a:pt x="38077" y="32308"/>
                </a:lnTo>
                <a:lnTo>
                  <a:pt x="38462" y="31923"/>
                </a:lnTo>
                <a:lnTo>
                  <a:pt x="38846" y="31538"/>
                </a:lnTo>
                <a:lnTo>
                  <a:pt x="38846" y="30769"/>
                </a:lnTo>
                <a:lnTo>
                  <a:pt x="38846" y="30000"/>
                </a:lnTo>
                <a:lnTo>
                  <a:pt x="39615" y="28462"/>
                </a:lnTo>
                <a:lnTo>
                  <a:pt x="42308" y="25769"/>
                </a:lnTo>
                <a:lnTo>
                  <a:pt x="45000" y="24615"/>
                </a:lnTo>
                <a:close/>
                <a:moveTo>
                  <a:pt x="46154" y="26538"/>
                </a:moveTo>
                <a:lnTo>
                  <a:pt x="44615" y="27308"/>
                </a:lnTo>
                <a:lnTo>
                  <a:pt x="41923" y="30000"/>
                </a:lnTo>
                <a:lnTo>
                  <a:pt x="41154" y="31538"/>
                </a:lnTo>
                <a:lnTo>
                  <a:pt x="41154" y="37692"/>
                </a:lnTo>
                <a:lnTo>
                  <a:pt x="41538" y="38077"/>
                </a:lnTo>
                <a:lnTo>
                  <a:pt x="51538" y="38077"/>
                </a:lnTo>
                <a:lnTo>
                  <a:pt x="56154" y="38077"/>
                </a:lnTo>
                <a:lnTo>
                  <a:pt x="56538" y="37692"/>
                </a:lnTo>
                <a:lnTo>
                  <a:pt x="56538" y="33077"/>
                </a:lnTo>
                <a:lnTo>
                  <a:pt x="56154" y="32692"/>
                </a:lnTo>
                <a:lnTo>
                  <a:pt x="55769" y="32308"/>
                </a:lnTo>
                <a:lnTo>
                  <a:pt x="55769" y="31538"/>
                </a:lnTo>
                <a:lnTo>
                  <a:pt x="55769" y="30769"/>
                </a:lnTo>
                <a:lnTo>
                  <a:pt x="52308" y="27308"/>
                </a:lnTo>
                <a:lnTo>
                  <a:pt x="51538" y="27308"/>
                </a:lnTo>
                <a:lnTo>
                  <a:pt x="50769" y="27308"/>
                </a:lnTo>
                <a:lnTo>
                  <a:pt x="50385" y="26923"/>
                </a:lnTo>
                <a:lnTo>
                  <a:pt x="50000" y="26538"/>
                </a:lnTo>
                <a:lnTo>
                  <a:pt x="46154" y="26538"/>
                </a:lnTo>
                <a:close/>
                <a:moveTo>
                  <a:pt x="33077" y="41154"/>
                </a:moveTo>
                <a:lnTo>
                  <a:pt x="31923" y="42308"/>
                </a:lnTo>
                <a:lnTo>
                  <a:pt x="31923" y="45385"/>
                </a:lnTo>
                <a:lnTo>
                  <a:pt x="31538" y="45769"/>
                </a:lnTo>
                <a:lnTo>
                  <a:pt x="31154" y="46154"/>
                </a:lnTo>
                <a:lnTo>
                  <a:pt x="31154" y="51538"/>
                </a:lnTo>
                <a:lnTo>
                  <a:pt x="30769" y="51923"/>
                </a:lnTo>
                <a:lnTo>
                  <a:pt x="30385" y="52308"/>
                </a:lnTo>
                <a:lnTo>
                  <a:pt x="30385" y="56923"/>
                </a:lnTo>
                <a:lnTo>
                  <a:pt x="30000" y="57308"/>
                </a:lnTo>
                <a:lnTo>
                  <a:pt x="29615" y="57692"/>
                </a:lnTo>
                <a:lnTo>
                  <a:pt x="29615" y="63077"/>
                </a:lnTo>
                <a:lnTo>
                  <a:pt x="29231" y="63462"/>
                </a:lnTo>
                <a:lnTo>
                  <a:pt x="28846" y="63846"/>
                </a:lnTo>
                <a:lnTo>
                  <a:pt x="28846" y="69231"/>
                </a:lnTo>
                <a:lnTo>
                  <a:pt x="28462" y="69615"/>
                </a:lnTo>
                <a:lnTo>
                  <a:pt x="28077" y="70000"/>
                </a:lnTo>
                <a:lnTo>
                  <a:pt x="28077" y="74615"/>
                </a:lnTo>
                <a:lnTo>
                  <a:pt x="29231" y="75769"/>
                </a:lnTo>
                <a:lnTo>
                  <a:pt x="63077" y="75769"/>
                </a:lnTo>
                <a:lnTo>
                  <a:pt x="63462" y="75385"/>
                </a:lnTo>
                <a:lnTo>
                  <a:pt x="63846" y="75000"/>
                </a:lnTo>
                <a:lnTo>
                  <a:pt x="66923" y="75000"/>
                </a:lnTo>
                <a:lnTo>
                  <a:pt x="67308" y="75385"/>
                </a:lnTo>
                <a:lnTo>
                  <a:pt x="67692" y="75769"/>
                </a:lnTo>
                <a:lnTo>
                  <a:pt x="68846" y="74615"/>
                </a:lnTo>
                <a:lnTo>
                  <a:pt x="68846" y="73846"/>
                </a:lnTo>
                <a:lnTo>
                  <a:pt x="68846" y="68462"/>
                </a:lnTo>
                <a:lnTo>
                  <a:pt x="68462" y="68077"/>
                </a:lnTo>
                <a:lnTo>
                  <a:pt x="68077" y="67692"/>
                </a:lnTo>
                <a:lnTo>
                  <a:pt x="68077" y="61538"/>
                </a:lnTo>
                <a:lnTo>
                  <a:pt x="67692" y="61154"/>
                </a:lnTo>
                <a:lnTo>
                  <a:pt x="67308" y="60769"/>
                </a:lnTo>
                <a:lnTo>
                  <a:pt x="67308" y="55385"/>
                </a:lnTo>
                <a:lnTo>
                  <a:pt x="66923" y="55000"/>
                </a:lnTo>
                <a:lnTo>
                  <a:pt x="66538" y="54615"/>
                </a:lnTo>
                <a:lnTo>
                  <a:pt x="66538" y="49231"/>
                </a:lnTo>
                <a:lnTo>
                  <a:pt x="66154" y="48846"/>
                </a:lnTo>
                <a:lnTo>
                  <a:pt x="65769" y="48462"/>
                </a:lnTo>
                <a:lnTo>
                  <a:pt x="65769" y="43077"/>
                </a:lnTo>
                <a:lnTo>
                  <a:pt x="64615" y="41154"/>
                </a:lnTo>
                <a:lnTo>
                  <a:pt x="59231" y="41154"/>
                </a:lnTo>
                <a:lnTo>
                  <a:pt x="58846" y="43846"/>
                </a:lnTo>
                <a:lnTo>
                  <a:pt x="57692" y="45000"/>
                </a:lnTo>
                <a:lnTo>
                  <a:pt x="56538" y="43846"/>
                </a:lnTo>
                <a:lnTo>
                  <a:pt x="56154" y="41154"/>
                </a:lnTo>
                <a:lnTo>
                  <a:pt x="41538" y="41154"/>
                </a:lnTo>
                <a:lnTo>
                  <a:pt x="41154" y="43846"/>
                </a:lnTo>
                <a:lnTo>
                  <a:pt x="40000" y="45000"/>
                </a:lnTo>
                <a:lnTo>
                  <a:pt x="39231" y="45000"/>
                </a:lnTo>
                <a:lnTo>
                  <a:pt x="38077" y="43846"/>
                </a:lnTo>
                <a:lnTo>
                  <a:pt x="37692" y="41154"/>
                </a:lnTo>
                <a:lnTo>
                  <a:pt x="33077" y="41154"/>
                </a:lnTo>
                <a:close/>
              </a:path>
            </a:pathLst>
          </a:custGeom>
          <a:solidFill>
            <a:srgbClr val="FFFFFF"/>
          </a:solidFill>
          <a:ln>
            <a:noFill/>
          </a:ln>
        </p:spPr>
        <p:txBody>
          <a:bodyPr/>
          <a:p/>
        </p:txBody>
      </p:sp>
      <p:sp>
        <p:nvSpPr>
          <p:cNvPr id="45" name="Text 42"/>
          <p:cNvSpPr/>
          <p:nvPr/>
        </p:nvSpPr>
        <p:spPr>
          <a:xfrm>
            <a:off x="9208008" y="4846320"/>
            <a:ext cx="2523744" cy="338328"/>
          </a:xfrm>
          <a:prstGeom prst="rect">
            <a:avLst/>
          </a:prstGeom>
          <a:noFill/>
          <a:ln/>
        </p:spPr>
        <p:txBody>
          <a:bodyPr wrap="square" lIns="0" tIns="0" rIns="0" bIns="0" rtlCol="0" anchor="ctr"/>
          <a:lstStyle/>
          <a:p>
            <a:pPr indent="0" marL="0">
              <a:buNone/>
            </a:pPr>
            <a:r>
              <a:rPr lang="en-US" sz="1640" b="1" dirty="0">
                <a:solidFill>
                  <a:srgbClr val="17324D"/>
                </a:solidFill>
                <a:latin typeface="Aptos" pitchFamily="34" charset="0"/>
                <a:ea typeface="Segoe UI" pitchFamily="34" charset="-122"/>
                <a:cs typeface="Segoe UI" pitchFamily="34" charset="-120"/>
              </a:rPr>
              <a:t>Promotions &amp; web</a:t>
            </a:r>
            <a:endParaRPr lang="en-US" sz="1640" dirty="0"/>
          </a:p>
        </p:txBody>
      </p:sp>
      <p:sp>
        <p:nvSpPr>
          <p:cNvPr id="46" name="Text 43"/>
          <p:cNvSpPr/>
          <p:nvPr/>
        </p:nvSpPr>
        <p:spPr>
          <a:xfrm>
            <a:off x="9208008" y="5340096"/>
            <a:ext cx="2514600" cy="905256"/>
          </a:xfrm>
          <a:prstGeom prst="rect">
            <a:avLst/>
          </a:prstGeom>
          <a:noFill/>
          <a:ln/>
        </p:spPr>
        <p:txBody>
          <a:bodyPr wrap="square" lIns="0" tIns="0" rIns="0" bIns="0" rtlCol="0" anchor="t"/>
          <a:lstStyle/>
          <a:p>
            <a:pPr indent="0" marL="0">
              <a:buNone/>
            </a:pPr>
            <a:r>
              <a:rPr lang="en-US" sz="1350" dirty="0">
                <a:solidFill>
                  <a:srgbClr val="334155"/>
                </a:solidFill>
                <a:latin typeface="Aptos" pitchFamily="34" charset="0"/>
                <a:ea typeface="Segoe UI" pitchFamily="34" charset="-122"/>
                <a:cs typeface="Segoe UI" pitchFamily="34" charset="-120"/>
              </a:rPr>
              <a:t>3,7 achats en promotion</a:t>
            </a:r>
            <a:endParaRPr lang="en-US" sz="1350" dirty="0"/>
          </a:p>
          <a:p>
            <a:pPr indent="0" marL="0">
              <a:buNone/>
            </a:pPr>
            <a:r>
              <a:rPr lang="en-US" sz="1350" dirty="0">
                <a:solidFill>
                  <a:srgbClr val="334155"/>
                </a:solidFill>
                <a:latin typeface="Aptos" pitchFamily="34" charset="0"/>
                <a:ea typeface="Segoe UI" pitchFamily="34" charset="-122"/>
                <a:cs typeface="Segoe UI" pitchFamily="34" charset="-120"/>
              </a:rPr>
              <a:t>en moyenne. Segment</a:t>
            </a:r>
            <a:endParaRPr lang="en-US" sz="1350" dirty="0"/>
          </a:p>
          <a:p>
            <a:pPr indent="0" marL="0">
              <a:buNone/>
            </a:pPr>
            <a:r>
              <a:rPr lang="en-US" sz="1350" dirty="0">
                <a:solidFill>
                  <a:srgbClr val="334155"/>
                </a:solidFill>
                <a:latin typeface="Aptos" pitchFamily="34" charset="0"/>
                <a:ea typeface="Segoe UI" pitchFamily="34" charset="-122"/>
                <a:cs typeface="Segoe UI" pitchFamily="34" charset="-120"/>
              </a:rPr>
              <a:t>le plus actif sur le web.</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3600" b="1" dirty="0">
                <a:solidFill>
                  <a:srgbClr val="2563EB"/>
                </a:solidFill>
                <a:latin typeface="Aptos" pitchFamily="34" charset="0"/>
                <a:ea typeface="Segoe UI" pitchFamily="34" charset="-122"/>
                <a:cs typeface="Segoe UI" pitchFamily="34" charset="-120"/>
              </a:rPr>
              <a:t>13. Cluster 3 : Foyers surtout sans enfant</a:t>
            </a:r>
            <a:endParaRPr lang="en-US" sz="38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600" dirty="0">
                <a:solidFill>
                  <a:srgbClr val="17324D"/>
                </a:solidFill>
                <a:latin typeface="Aptos" pitchFamily="34" charset="0"/>
                <a:ea typeface="Segoe UI" pitchFamily="34" charset="-122"/>
                <a:cs typeface="Segoe UI" pitchFamily="34" charset="-120"/>
              </a:rPr>
              <a:t>Ce groupe dépense le plus et présente la plus forte réponse observée à la dernière campagne.</a:t>
            </a:r>
            <a:endParaRPr lang="en-US" sz="165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Montants : unités du jeu de données · Âges en 2014 · Projet collectif ENSEA</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13</a:t>
            </a:r>
            <a:endParaRPr lang="en-US" sz="1000" dirty="0"/>
          </a:p>
        </p:txBody>
      </p:sp>
      <p:sp>
        <p:nvSpPr>
          <p:cNvPr id="7" name="Shape 4"/>
          <p:cNvSpPr/>
          <p:nvPr/>
        </p:nvSpPr>
        <p:spPr>
          <a:xfrm>
            <a:off x="457200" y="1865376"/>
            <a:ext cx="2715768" cy="2715768"/>
          </a:xfrm>
          <a:prstGeom prst="ellipse">
            <a:avLst/>
          </a:prstGeom>
          <a:solidFill>
            <a:srgbClr val="6D28D9"/>
          </a:solidFill>
          <a:ln w="12700">
            <a:solidFill>
              <a:srgbClr val="17324D">
                <a:alpha val="0"/>
              </a:srgbClr>
            </a:solidFill>
            <a:prstDash val="solid"/>
          </a:ln>
        </p:spPr>
        <p:txBody>
          <a:bodyPr/>
          <a:p/>
        </p:txBody>
      </p:sp>
      <p:sp>
        <p:nvSpPr>
          <p:cNvPr id="8" name="VECTOR_man_57"/>
          <p:cNvSpPr/>
          <p:nvPr/>
        </p:nvSpPr>
        <p:spPr>
          <a:xfrm>
            <a:off x="457200" y="1865376"/>
            <a:ext cx="2715768" cy="2715768"/>
          </a:xfrm>
          <a:custGeom>
            <a:avLst/>
            <a:gdLst/>
            <a:ahLst/>
            <a:cxnLst/>
            <a:rect l="0" t="0" r="r" b="b"/>
            <a:pathLst>
              <a:path w="100000" h="100000" fill="norm" stroke="false" extrusionOk="false">
                <a:moveTo>
                  <a:pt x="45962" y="16154"/>
                </a:moveTo>
                <a:lnTo>
                  <a:pt x="46154" y="15962"/>
                </a:lnTo>
                <a:lnTo>
                  <a:pt x="51154" y="15962"/>
                </a:lnTo>
                <a:lnTo>
                  <a:pt x="51346" y="16154"/>
                </a:lnTo>
                <a:lnTo>
                  <a:pt x="51538" y="16346"/>
                </a:lnTo>
                <a:lnTo>
                  <a:pt x="52692" y="16346"/>
                </a:lnTo>
                <a:lnTo>
                  <a:pt x="52885" y="16538"/>
                </a:lnTo>
                <a:lnTo>
                  <a:pt x="53077" y="16731"/>
                </a:lnTo>
                <a:lnTo>
                  <a:pt x="54615" y="16731"/>
                </a:lnTo>
                <a:lnTo>
                  <a:pt x="54808" y="16923"/>
                </a:lnTo>
                <a:lnTo>
                  <a:pt x="55000" y="17115"/>
                </a:lnTo>
                <a:lnTo>
                  <a:pt x="56923" y="17115"/>
                </a:lnTo>
                <a:lnTo>
                  <a:pt x="57115" y="16923"/>
                </a:lnTo>
                <a:lnTo>
                  <a:pt x="57308" y="16731"/>
                </a:lnTo>
                <a:lnTo>
                  <a:pt x="60000" y="16346"/>
                </a:lnTo>
                <a:lnTo>
                  <a:pt x="60962" y="17692"/>
                </a:lnTo>
                <a:lnTo>
                  <a:pt x="61346" y="20385"/>
                </a:lnTo>
                <a:lnTo>
                  <a:pt x="61538" y="20577"/>
                </a:lnTo>
                <a:lnTo>
                  <a:pt x="61923" y="20577"/>
                </a:lnTo>
                <a:lnTo>
                  <a:pt x="62115" y="20385"/>
                </a:lnTo>
                <a:lnTo>
                  <a:pt x="62308" y="20192"/>
                </a:lnTo>
                <a:lnTo>
                  <a:pt x="62885" y="20769"/>
                </a:lnTo>
                <a:lnTo>
                  <a:pt x="62885" y="21154"/>
                </a:lnTo>
                <a:lnTo>
                  <a:pt x="62885" y="21538"/>
                </a:lnTo>
                <a:lnTo>
                  <a:pt x="62692" y="21731"/>
                </a:lnTo>
                <a:lnTo>
                  <a:pt x="62500" y="21923"/>
                </a:lnTo>
                <a:lnTo>
                  <a:pt x="62500" y="23077"/>
                </a:lnTo>
                <a:lnTo>
                  <a:pt x="63269" y="23846"/>
                </a:lnTo>
                <a:lnTo>
                  <a:pt x="63269" y="24231"/>
                </a:lnTo>
                <a:lnTo>
                  <a:pt x="63269" y="24615"/>
                </a:lnTo>
                <a:lnTo>
                  <a:pt x="63462" y="24808"/>
                </a:lnTo>
                <a:lnTo>
                  <a:pt x="63654" y="25000"/>
                </a:lnTo>
                <a:lnTo>
                  <a:pt x="63654" y="29615"/>
                </a:lnTo>
                <a:lnTo>
                  <a:pt x="63462" y="29808"/>
                </a:lnTo>
                <a:lnTo>
                  <a:pt x="63269" y="30000"/>
                </a:lnTo>
                <a:lnTo>
                  <a:pt x="63269" y="31538"/>
                </a:lnTo>
                <a:lnTo>
                  <a:pt x="63077" y="31731"/>
                </a:lnTo>
                <a:lnTo>
                  <a:pt x="62885" y="31923"/>
                </a:lnTo>
                <a:lnTo>
                  <a:pt x="62885" y="33462"/>
                </a:lnTo>
                <a:lnTo>
                  <a:pt x="62500" y="34231"/>
                </a:lnTo>
                <a:lnTo>
                  <a:pt x="63077" y="34808"/>
                </a:lnTo>
                <a:lnTo>
                  <a:pt x="63462" y="34808"/>
                </a:lnTo>
                <a:lnTo>
                  <a:pt x="64423" y="36154"/>
                </a:lnTo>
                <a:lnTo>
                  <a:pt x="64423" y="40000"/>
                </a:lnTo>
                <a:lnTo>
                  <a:pt x="64038" y="40769"/>
                </a:lnTo>
                <a:lnTo>
                  <a:pt x="62308" y="42500"/>
                </a:lnTo>
                <a:lnTo>
                  <a:pt x="61154" y="42500"/>
                </a:lnTo>
                <a:lnTo>
                  <a:pt x="60577" y="43077"/>
                </a:lnTo>
                <a:lnTo>
                  <a:pt x="60577" y="43462"/>
                </a:lnTo>
                <a:lnTo>
                  <a:pt x="60577" y="43846"/>
                </a:lnTo>
                <a:lnTo>
                  <a:pt x="59808" y="45000"/>
                </a:lnTo>
                <a:lnTo>
                  <a:pt x="59808" y="45385"/>
                </a:lnTo>
                <a:lnTo>
                  <a:pt x="59808" y="45769"/>
                </a:lnTo>
                <a:lnTo>
                  <a:pt x="59423" y="46538"/>
                </a:lnTo>
                <a:lnTo>
                  <a:pt x="57115" y="49231"/>
                </a:lnTo>
                <a:lnTo>
                  <a:pt x="57308" y="49423"/>
                </a:lnTo>
                <a:lnTo>
                  <a:pt x="57500" y="49615"/>
                </a:lnTo>
                <a:lnTo>
                  <a:pt x="57500" y="52308"/>
                </a:lnTo>
                <a:lnTo>
                  <a:pt x="58077" y="52885"/>
                </a:lnTo>
                <a:lnTo>
                  <a:pt x="58462" y="52885"/>
                </a:lnTo>
                <a:lnTo>
                  <a:pt x="61154" y="55962"/>
                </a:lnTo>
                <a:lnTo>
                  <a:pt x="61538" y="55962"/>
                </a:lnTo>
                <a:lnTo>
                  <a:pt x="61923" y="55962"/>
                </a:lnTo>
                <a:lnTo>
                  <a:pt x="62115" y="56154"/>
                </a:lnTo>
                <a:lnTo>
                  <a:pt x="62308" y="56346"/>
                </a:lnTo>
                <a:lnTo>
                  <a:pt x="62692" y="56346"/>
                </a:lnTo>
                <a:lnTo>
                  <a:pt x="63077" y="56346"/>
                </a:lnTo>
                <a:lnTo>
                  <a:pt x="63269" y="56538"/>
                </a:lnTo>
                <a:lnTo>
                  <a:pt x="63462" y="56731"/>
                </a:lnTo>
                <a:lnTo>
                  <a:pt x="63846" y="56731"/>
                </a:lnTo>
                <a:lnTo>
                  <a:pt x="64231" y="56731"/>
                </a:lnTo>
                <a:lnTo>
                  <a:pt x="64423" y="56923"/>
                </a:lnTo>
                <a:lnTo>
                  <a:pt x="64615" y="57115"/>
                </a:lnTo>
                <a:lnTo>
                  <a:pt x="65000" y="57115"/>
                </a:lnTo>
                <a:lnTo>
                  <a:pt x="65385" y="57115"/>
                </a:lnTo>
                <a:lnTo>
                  <a:pt x="65577" y="57308"/>
                </a:lnTo>
                <a:lnTo>
                  <a:pt x="65769" y="57500"/>
                </a:lnTo>
                <a:lnTo>
                  <a:pt x="67692" y="57885"/>
                </a:lnTo>
                <a:lnTo>
                  <a:pt x="71538" y="59808"/>
                </a:lnTo>
                <a:lnTo>
                  <a:pt x="74038" y="62308"/>
                </a:lnTo>
                <a:lnTo>
                  <a:pt x="75577" y="65385"/>
                </a:lnTo>
                <a:lnTo>
                  <a:pt x="75577" y="65769"/>
                </a:lnTo>
                <a:lnTo>
                  <a:pt x="75577" y="66154"/>
                </a:lnTo>
                <a:lnTo>
                  <a:pt x="75769" y="66346"/>
                </a:lnTo>
                <a:lnTo>
                  <a:pt x="75962" y="66538"/>
                </a:lnTo>
                <a:lnTo>
                  <a:pt x="75962" y="67692"/>
                </a:lnTo>
                <a:lnTo>
                  <a:pt x="76154" y="67885"/>
                </a:lnTo>
                <a:lnTo>
                  <a:pt x="76346" y="68077"/>
                </a:lnTo>
                <a:lnTo>
                  <a:pt x="76346" y="70385"/>
                </a:lnTo>
                <a:lnTo>
                  <a:pt x="76538" y="70577"/>
                </a:lnTo>
                <a:lnTo>
                  <a:pt x="76731" y="70769"/>
                </a:lnTo>
                <a:lnTo>
                  <a:pt x="76731" y="72308"/>
                </a:lnTo>
                <a:lnTo>
                  <a:pt x="76154" y="72885"/>
                </a:lnTo>
                <a:lnTo>
                  <a:pt x="75577" y="72308"/>
                </a:lnTo>
                <a:lnTo>
                  <a:pt x="75577" y="70769"/>
                </a:lnTo>
                <a:lnTo>
                  <a:pt x="75385" y="70577"/>
                </a:lnTo>
                <a:lnTo>
                  <a:pt x="75192" y="70385"/>
                </a:lnTo>
                <a:lnTo>
                  <a:pt x="75192" y="68462"/>
                </a:lnTo>
                <a:lnTo>
                  <a:pt x="75000" y="68269"/>
                </a:lnTo>
                <a:lnTo>
                  <a:pt x="74808" y="68077"/>
                </a:lnTo>
                <a:lnTo>
                  <a:pt x="74808" y="66538"/>
                </a:lnTo>
                <a:lnTo>
                  <a:pt x="74615" y="66346"/>
                </a:lnTo>
                <a:lnTo>
                  <a:pt x="74423" y="66154"/>
                </a:lnTo>
                <a:lnTo>
                  <a:pt x="74423" y="65769"/>
                </a:lnTo>
                <a:lnTo>
                  <a:pt x="74423" y="65385"/>
                </a:lnTo>
                <a:lnTo>
                  <a:pt x="73654" y="63846"/>
                </a:lnTo>
                <a:lnTo>
                  <a:pt x="71154" y="60962"/>
                </a:lnTo>
                <a:lnTo>
                  <a:pt x="70769" y="60962"/>
                </a:lnTo>
                <a:lnTo>
                  <a:pt x="70000" y="60192"/>
                </a:lnTo>
                <a:lnTo>
                  <a:pt x="68462" y="59423"/>
                </a:lnTo>
                <a:lnTo>
                  <a:pt x="68077" y="59423"/>
                </a:lnTo>
                <a:lnTo>
                  <a:pt x="67692" y="59423"/>
                </a:lnTo>
                <a:lnTo>
                  <a:pt x="66538" y="58654"/>
                </a:lnTo>
                <a:lnTo>
                  <a:pt x="66154" y="58654"/>
                </a:lnTo>
                <a:lnTo>
                  <a:pt x="65769" y="58654"/>
                </a:lnTo>
                <a:lnTo>
                  <a:pt x="65577" y="58462"/>
                </a:lnTo>
                <a:lnTo>
                  <a:pt x="65385" y="58269"/>
                </a:lnTo>
                <a:lnTo>
                  <a:pt x="63462" y="57885"/>
                </a:lnTo>
                <a:lnTo>
                  <a:pt x="62308" y="57115"/>
                </a:lnTo>
                <a:lnTo>
                  <a:pt x="61154" y="57115"/>
                </a:lnTo>
                <a:lnTo>
                  <a:pt x="60577" y="57692"/>
                </a:lnTo>
                <a:lnTo>
                  <a:pt x="57500" y="63846"/>
                </a:lnTo>
                <a:lnTo>
                  <a:pt x="57500" y="64231"/>
                </a:lnTo>
                <a:lnTo>
                  <a:pt x="57500" y="64615"/>
                </a:lnTo>
                <a:lnTo>
                  <a:pt x="56923" y="65192"/>
                </a:lnTo>
                <a:lnTo>
                  <a:pt x="56538" y="65192"/>
                </a:lnTo>
                <a:lnTo>
                  <a:pt x="56154" y="65192"/>
                </a:lnTo>
                <a:lnTo>
                  <a:pt x="55385" y="64423"/>
                </a:lnTo>
                <a:lnTo>
                  <a:pt x="55000" y="64423"/>
                </a:lnTo>
                <a:lnTo>
                  <a:pt x="53077" y="62500"/>
                </a:lnTo>
                <a:lnTo>
                  <a:pt x="52692" y="62500"/>
                </a:lnTo>
                <a:lnTo>
                  <a:pt x="51538" y="61346"/>
                </a:lnTo>
                <a:lnTo>
                  <a:pt x="50769" y="60962"/>
                </a:lnTo>
                <a:lnTo>
                  <a:pt x="50385" y="60962"/>
                </a:lnTo>
                <a:lnTo>
                  <a:pt x="50192" y="61154"/>
                </a:lnTo>
                <a:lnTo>
                  <a:pt x="50192" y="63846"/>
                </a:lnTo>
                <a:lnTo>
                  <a:pt x="50192" y="64231"/>
                </a:lnTo>
                <a:lnTo>
                  <a:pt x="50192" y="64615"/>
                </a:lnTo>
                <a:lnTo>
                  <a:pt x="50385" y="64808"/>
                </a:lnTo>
                <a:lnTo>
                  <a:pt x="50577" y="65000"/>
                </a:lnTo>
                <a:lnTo>
                  <a:pt x="50577" y="66538"/>
                </a:lnTo>
                <a:lnTo>
                  <a:pt x="50192" y="67308"/>
                </a:lnTo>
                <a:lnTo>
                  <a:pt x="50385" y="67500"/>
                </a:lnTo>
                <a:lnTo>
                  <a:pt x="50577" y="67692"/>
                </a:lnTo>
                <a:lnTo>
                  <a:pt x="50000" y="68269"/>
                </a:lnTo>
                <a:lnTo>
                  <a:pt x="49615" y="68269"/>
                </a:lnTo>
                <a:lnTo>
                  <a:pt x="49038" y="67692"/>
                </a:lnTo>
                <a:lnTo>
                  <a:pt x="49038" y="64615"/>
                </a:lnTo>
                <a:lnTo>
                  <a:pt x="49231" y="64423"/>
                </a:lnTo>
                <a:lnTo>
                  <a:pt x="49423" y="64231"/>
                </a:lnTo>
                <a:lnTo>
                  <a:pt x="49423" y="61538"/>
                </a:lnTo>
                <a:lnTo>
                  <a:pt x="48846" y="60962"/>
                </a:lnTo>
                <a:lnTo>
                  <a:pt x="48077" y="61731"/>
                </a:lnTo>
                <a:lnTo>
                  <a:pt x="47692" y="61731"/>
                </a:lnTo>
                <a:lnTo>
                  <a:pt x="45385" y="64038"/>
                </a:lnTo>
                <a:lnTo>
                  <a:pt x="45000" y="64038"/>
                </a:lnTo>
                <a:lnTo>
                  <a:pt x="43846" y="65192"/>
                </a:lnTo>
                <a:lnTo>
                  <a:pt x="43462" y="65192"/>
                </a:lnTo>
                <a:lnTo>
                  <a:pt x="42500" y="64231"/>
                </a:lnTo>
                <a:lnTo>
                  <a:pt x="39038" y="57308"/>
                </a:lnTo>
                <a:lnTo>
                  <a:pt x="37692" y="57115"/>
                </a:lnTo>
                <a:lnTo>
                  <a:pt x="35385" y="58269"/>
                </a:lnTo>
                <a:lnTo>
                  <a:pt x="33462" y="58654"/>
                </a:lnTo>
                <a:lnTo>
                  <a:pt x="31538" y="59808"/>
                </a:lnTo>
                <a:lnTo>
                  <a:pt x="31154" y="59808"/>
                </a:lnTo>
                <a:lnTo>
                  <a:pt x="30769" y="59808"/>
                </a:lnTo>
                <a:lnTo>
                  <a:pt x="30000" y="60577"/>
                </a:lnTo>
                <a:lnTo>
                  <a:pt x="29615" y="60577"/>
                </a:lnTo>
                <a:lnTo>
                  <a:pt x="26346" y="63846"/>
                </a:lnTo>
                <a:lnTo>
                  <a:pt x="25192" y="66154"/>
                </a:lnTo>
                <a:lnTo>
                  <a:pt x="25192" y="66538"/>
                </a:lnTo>
                <a:lnTo>
                  <a:pt x="25192" y="66923"/>
                </a:lnTo>
                <a:lnTo>
                  <a:pt x="25000" y="67115"/>
                </a:lnTo>
                <a:lnTo>
                  <a:pt x="24808" y="67308"/>
                </a:lnTo>
                <a:lnTo>
                  <a:pt x="24808" y="68462"/>
                </a:lnTo>
                <a:lnTo>
                  <a:pt x="24615" y="68654"/>
                </a:lnTo>
                <a:lnTo>
                  <a:pt x="24423" y="68846"/>
                </a:lnTo>
                <a:lnTo>
                  <a:pt x="24423" y="72308"/>
                </a:lnTo>
                <a:lnTo>
                  <a:pt x="23846" y="72885"/>
                </a:lnTo>
                <a:lnTo>
                  <a:pt x="23462" y="72885"/>
                </a:lnTo>
                <a:lnTo>
                  <a:pt x="23269" y="72692"/>
                </a:lnTo>
                <a:lnTo>
                  <a:pt x="23269" y="69231"/>
                </a:lnTo>
                <a:lnTo>
                  <a:pt x="23462" y="69038"/>
                </a:lnTo>
                <a:lnTo>
                  <a:pt x="23654" y="68846"/>
                </a:lnTo>
                <a:lnTo>
                  <a:pt x="24038" y="66154"/>
                </a:lnTo>
                <a:lnTo>
                  <a:pt x="25962" y="62308"/>
                </a:lnTo>
                <a:lnTo>
                  <a:pt x="28077" y="60192"/>
                </a:lnTo>
                <a:lnTo>
                  <a:pt x="28462" y="60192"/>
                </a:lnTo>
                <a:lnTo>
                  <a:pt x="29231" y="59423"/>
                </a:lnTo>
                <a:lnTo>
                  <a:pt x="31538" y="58269"/>
                </a:lnTo>
                <a:lnTo>
                  <a:pt x="31923" y="58269"/>
                </a:lnTo>
                <a:lnTo>
                  <a:pt x="32308" y="58269"/>
                </a:lnTo>
                <a:lnTo>
                  <a:pt x="35385" y="56731"/>
                </a:lnTo>
                <a:lnTo>
                  <a:pt x="36538" y="56731"/>
                </a:lnTo>
                <a:lnTo>
                  <a:pt x="36731" y="56538"/>
                </a:lnTo>
                <a:lnTo>
                  <a:pt x="36923" y="56346"/>
                </a:lnTo>
                <a:lnTo>
                  <a:pt x="38846" y="55962"/>
                </a:lnTo>
                <a:lnTo>
                  <a:pt x="40192" y="54231"/>
                </a:lnTo>
                <a:lnTo>
                  <a:pt x="40192" y="53846"/>
                </a:lnTo>
                <a:lnTo>
                  <a:pt x="41923" y="52115"/>
                </a:lnTo>
                <a:lnTo>
                  <a:pt x="42308" y="52115"/>
                </a:lnTo>
                <a:lnTo>
                  <a:pt x="42500" y="51923"/>
                </a:lnTo>
                <a:lnTo>
                  <a:pt x="42500" y="49231"/>
                </a:lnTo>
                <a:lnTo>
                  <a:pt x="40962" y="47692"/>
                </a:lnTo>
                <a:lnTo>
                  <a:pt x="39423" y="44615"/>
                </a:lnTo>
                <a:lnTo>
                  <a:pt x="39423" y="44231"/>
                </a:lnTo>
                <a:lnTo>
                  <a:pt x="39423" y="43846"/>
                </a:lnTo>
                <a:lnTo>
                  <a:pt x="39038" y="43077"/>
                </a:lnTo>
                <a:lnTo>
                  <a:pt x="38462" y="42500"/>
                </a:lnTo>
                <a:lnTo>
                  <a:pt x="38077" y="42500"/>
                </a:lnTo>
                <a:lnTo>
                  <a:pt x="37692" y="42500"/>
                </a:lnTo>
                <a:lnTo>
                  <a:pt x="35577" y="40385"/>
                </a:lnTo>
                <a:lnTo>
                  <a:pt x="35192" y="39615"/>
                </a:lnTo>
                <a:lnTo>
                  <a:pt x="35192" y="36538"/>
                </a:lnTo>
                <a:lnTo>
                  <a:pt x="35577" y="35769"/>
                </a:lnTo>
                <a:lnTo>
                  <a:pt x="36923" y="34423"/>
                </a:lnTo>
                <a:lnTo>
                  <a:pt x="37308" y="34423"/>
                </a:lnTo>
                <a:lnTo>
                  <a:pt x="37500" y="34231"/>
                </a:lnTo>
                <a:lnTo>
                  <a:pt x="37500" y="33846"/>
                </a:lnTo>
                <a:lnTo>
                  <a:pt x="37500" y="33462"/>
                </a:lnTo>
                <a:lnTo>
                  <a:pt x="37308" y="33269"/>
                </a:lnTo>
                <a:lnTo>
                  <a:pt x="37115" y="33077"/>
                </a:lnTo>
                <a:lnTo>
                  <a:pt x="37115" y="31538"/>
                </a:lnTo>
                <a:lnTo>
                  <a:pt x="36923" y="31346"/>
                </a:lnTo>
                <a:lnTo>
                  <a:pt x="36731" y="31154"/>
                </a:lnTo>
                <a:lnTo>
                  <a:pt x="36731" y="28846"/>
                </a:lnTo>
                <a:lnTo>
                  <a:pt x="36538" y="28654"/>
                </a:lnTo>
                <a:lnTo>
                  <a:pt x="36346" y="28462"/>
                </a:lnTo>
                <a:lnTo>
                  <a:pt x="36346" y="24231"/>
                </a:lnTo>
                <a:lnTo>
                  <a:pt x="36538" y="24038"/>
                </a:lnTo>
                <a:lnTo>
                  <a:pt x="36731" y="23846"/>
                </a:lnTo>
                <a:lnTo>
                  <a:pt x="36731" y="23462"/>
                </a:lnTo>
                <a:lnTo>
                  <a:pt x="36731" y="23077"/>
                </a:lnTo>
                <a:lnTo>
                  <a:pt x="38462" y="21346"/>
                </a:lnTo>
                <a:lnTo>
                  <a:pt x="39615" y="21346"/>
                </a:lnTo>
                <a:lnTo>
                  <a:pt x="40192" y="20769"/>
                </a:lnTo>
                <a:lnTo>
                  <a:pt x="40192" y="20385"/>
                </a:lnTo>
                <a:lnTo>
                  <a:pt x="40192" y="20000"/>
                </a:lnTo>
                <a:lnTo>
                  <a:pt x="40577" y="19231"/>
                </a:lnTo>
                <a:lnTo>
                  <a:pt x="42308" y="17500"/>
                </a:lnTo>
                <a:lnTo>
                  <a:pt x="44615" y="16346"/>
                </a:lnTo>
                <a:lnTo>
                  <a:pt x="45962" y="16154"/>
                </a:lnTo>
                <a:close/>
                <a:moveTo>
                  <a:pt x="45769" y="17115"/>
                </a:moveTo>
                <a:lnTo>
                  <a:pt x="45577" y="17308"/>
                </a:lnTo>
                <a:lnTo>
                  <a:pt x="45385" y="17500"/>
                </a:lnTo>
                <a:lnTo>
                  <a:pt x="45000" y="17500"/>
                </a:lnTo>
                <a:lnTo>
                  <a:pt x="44615" y="17500"/>
                </a:lnTo>
                <a:lnTo>
                  <a:pt x="43077" y="18269"/>
                </a:lnTo>
                <a:lnTo>
                  <a:pt x="41731" y="19615"/>
                </a:lnTo>
                <a:lnTo>
                  <a:pt x="40962" y="21154"/>
                </a:lnTo>
                <a:lnTo>
                  <a:pt x="40962" y="21538"/>
                </a:lnTo>
                <a:lnTo>
                  <a:pt x="40962" y="21923"/>
                </a:lnTo>
                <a:lnTo>
                  <a:pt x="39615" y="22115"/>
                </a:lnTo>
                <a:lnTo>
                  <a:pt x="37885" y="23462"/>
                </a:lnTo>
                <a:lnTo>
                  <a:pt x="37500" y="24231"/>
                </a:lnTo>
                <a:lnTo>
                  <a:pt x="37500" y="28462"/>
                </a:lnTo>
                <a:lnTo>
                  <a:pt x="37692" y="28654"/>
                </a:lnTo>
                <a:lnTo>
                  <a:pt x="37885" y="28846"/>
                </a:lnTo>
                <a:lnTo>
                  <a:pt x="37885" y="30769"/>
                </a:lnTo>
                <a:lnTo>
                  <a:pt x="38077" y="30962"/>
                </a:lnTo>
                <a:lnTo>
                  <a:pt x="38269" y="31154"/>
                </a:lnTo>
                <a:lnTo>
                  <a:pt x="38269" y="32308"/>
                </a:lnTo>
                <a:lnTo>
                  <a:pt x="38462" y="32500"/>
                </a:lnTo>
                <a:lnTo>
                  <a:pt x="38846" y="32500"/>
                </a:lnTo>
                <a:lnTo>
                  <a:pt x="39038" y="32308"/>
                </a:lnTo>
                <a:lnTo>
                  <a:pt x="39038" y="31923"/>
                </a:lnTo>
                <a:lnTo>
                  <a:pt x="39038" y="31538"/>
                </a:lnTo>
                <a:lnTo>
                  <a:pt x="40192" y="29615"/>
                </a:lnTo>
                <a:lnTo>
                  <a:pt x="40192" y="29231"/>
                </a:lnTo>
                <a:lnTo>
                  <a:pt x="40192" y="28846"/>
                </a:lnTo>
                <a:lnTo>
                  <a:pt x="40385" y="28654"/>
                </a:lnTo>
                <a:lnTo>
                  <a:pt x="40577" y="28462"/>
                </a:lnTo>
                <a:lnTo>
                  <a:pt x="40577" y="28077"/>
                </a:lnTo>
                <a:lnTo>
                  <a:pt x="40577" y="27692"/>
                </a:lnTo>
                <a:lnTo>
                  <a:pt x="40962" y="26923"/>
                </a:lnTo>
                <a:lnTo>
                  <a:pt x="42692" y="25577"/>
                </a:lnTo>
                <a:lnTo>
                  <a:pt x="43846" y="25577"/>
                </a:lnTo>
                <a:lnTo>
                  <a:pt x="44038" y="25769"/>
                </a:lnTo>
                <a:lnTo>
                  <a:pt x="44231" y="25962"/>
                </a:lnTo>
                <a:lnTo>
                  <a:pt x="44615" y="25962"/>
                </a:lnTo>
                <a:lnTo>
                  <a:pt x="45000" y="25962"/>
                </a:lnTo>
                <a:lnTo>
                  <a:pt x="46538" y="26731"/>
                </a:lnTo>
                <a:lnTo>
                  <a:pt x="47692" y="26731"/>
                </a:lnTo>
                <a:lnTo>
                  <a:pt x="47885" y="26923"/>
                </a:lnTo>
                <a:lnTo>
                  <a:pt x="48077" y="27115"/>
                </a:lnTo>
                <a:lnTo>
                  <a:pt x="52308" y="27115"/>
                </a:lnTo>
                <a:lnTo>
                  <a:pt x="52500" y="26923"/>
                </a:lnTo>
                <a:lnTo>
                  <a:pt x="52692" y="26731"/>
                </a:lnTo>
                <a:lnTo>
                  <a:pt x="54615" y="26731"/>
                </a:lnTo>
                <a:lnTo>
                  <a:pt x="54808" y="26538"/>
                </a:lnTo>
                <a:lnTo>
                  <a:pt x="55000" y="26346"/>
                </a:lnTo>
                <a:lnTo>
                  <a:pt x="56923" y="25962"/>
                </a:lnTo>
                <a:lnTo>
                  <a:pt x="59231" y="24808"/>
                </a:lnTo>
                <a:lnTo>
                  <a:pt x="60962" y="23077"/>
                </a:lnTo>
                <a:lnTo>
                  <a:pt x="60962" y="22692"/>
                </a:lnTo>
                <a:lnTo>
                  <a:pt x="61731" y="21923"/>
                </a:lnTo>
                <a:lnTo>
                  <a:pt x="60577" y="21154"/>
                </a:lnTo>
                <a:lnTo>
                  <a:pt x="60192" y="20385"/>
                </a:lnTo>
                <a:lnTo>
                  <a:pt x="60192" y="20000"/>
                </a:lnTo>
                <a:lnTo>
                  <a:pt x="60192" y="19615"/>
                </a:lnTo>
                <a:lnTo>
                  <a:pt x="60000" y="19423"/>
                </a:lnTo>
                <a:lnTo>
                  <a:pt x="59808" y="19231"/>
                </a:lnTo>
                <a:lnTo>
                  <a:pt x="59808" y="18846"/>
                </a:lnTo>
                <a:lnTo>
                  <a:pt x="59808" y="18462"/>
                </a:lnTo>
                <a:lnTo>
                  <a:pt x="59231" y="17500"/>
                </a:lnTo>
                <a:lnTo>
                  <a:pt x="58462" y="17885"/>
                </a:lnTo>
                <a:lnTo>
                  <a:pt x="56538" y="17885"/>
                </a:lnTo>
                <a:lnTo>
                  <a:pt x="56346" y="18077"/>
                </a:lnTo>
                <a:lnTo>
                  <a:pt x="56154" y="18269"/>
                </a:lnTo>
                <a:lnTo>
                  <a:pt x="55769" y="18269"/>
                </a:lnTo>
                <a:lnTo>
                  <a:pt x="55385" y="18269"/>
                </a:lnTo>
                <a:lnTo>
                  <a:pt x="55192" y="18077"/>
                </a:lnTo>
                <a:lnTo>
                  <a:pt x="55000" y="17885"/>
                </a:lnTo>
                <a:lnTo>
                  <a:pt x="53462" y="17885"/>
                </a:lnTo>
                <a:lnTo>
                  <a:pt x="53269" y="17692"/>
                </a:lnTo>
                <a:lnTo>
                  <a:pt x="53077" y="17500"/>
                </a:lnTo>
                <a:lnTo>
                  <a:pt x="51923" y="17500"/>
                </a:lnTo>
                <a:lnTo>
                  <a:pt x="51731" y="17308"/>
                </a:lnTo>
                <a:lnTo>
                  <a:pt x="51538" y="17115"/>
                </a:lnTo>
                <a:lnTo>
                  <a:pt x="45769" y="17115"/>
                </a:lnTo>
                <a:close/>
                <a:moveTo>
                  <a:pt x="61538" y="24038"/>
                </a:moveTo>
                <a:lnTo>
                  <a:pt x="59615" y="25962"/>
                </a:lnTo>
                <a:lnTo>
                  <a:pt x="59231" y="25962"/>
                </a:lnTo>
                <a:lnTo>
                  <a:pt x="59038" y="26154"/>
                </a:lnTo>
                <a:lnTo>
                  <a:pt x="59038" y="27692"/>
                </a:lnTo>
                <a:lnTo>
                  <a:pt x="60192" y="30000"/>
                </a:lnTo>
                <a:lnTo>
                  <a:pt x="60192" y="30385"/>
                </a:lnTo>
                <a:lnTo>
                  <a:pt x="60192" y="30769"/>
                </a:lnTo>
                <a:lnTo>
                  <a:pt x="60385" y="30962"/>
                </a:lnTo>
                <a:lnTo>
                  <a:pt x="60577" y="31154"/>
                </a:lnTo>
                <a:lnTo>
                  <a:pt x="60577" y="31538"/>
                </a:lnTo>
                <a:lnTo>
                  <a:pt x="60577" y="31923"/>
                </a:lnTo>
                <a:lnTo>
                  <a:pt x="60962" y="32692"/>
                </a:lnTo>
                <a:lnTo>
                  <a:pt x="60962" y="33077"/>
                </a:lnTo>
                <a:lnTo>
                  <a:pt x="60962" y="33462"/>
                </a:lnTo>
                <a:lnTo>
                  <a:pt x="61154" y="33654"/>
                </a:lnTo>
                <a:lnTo>
                  <a:pt x="61538" y="33654"/>
                </a:lnTo>
                <a:lnTo>
                  <a:pt x="61731" y="33462"/>
                </a:lnTo>
                <a:lnTo>
                  <a:pt x="61731" y="33077"/>
                </a:lnTo>
                <a:lnTo>
                  <a:pt x="61731" y="32692"/>
                </a:lnTo>
                <a:lnTo>
                  <a:pt x="61923" y="32500"/>
                </a:lnTo>
                <a:lnTo>
                  <a:pt x="62115" y="32308"/>
                </a:lnTo>
                <a:lnTo>
                  <a:pt x="62115" y="30769"/>
                </a:lnTo>
                <a:lnTo>
                  <a:pt x="62308" y="30577"/>
                </a:lnTo>
                <a:lnTo>
                  <a:pt x="62500" y="30385"/>
                </a:lnTo>
                <a:lnTo>
                  <a:pt x="62500" y="25385"/>
                </a:lnTo>
                <a:lnTo>
                  <a:pt x="62308" y="25192"/>
                </a:lnTo>
                <a:lnTo>
                  <a:pt x="62115" y="25000"/>
                </a:lnTo>
                <a:lnTo>
                  <a:pt x="62115" y="24615"/>
                </a:lnTo>
                <a:lnTo>
                  <a:pt x="62115" y="24231"/>
                </a:lnTo>
                <a:lnTo>
                  <a:pt x="61923" y="24038"/>
                </a:lnTo>
                <a:lnTo>
                  <a:pt x="61538" y="24038"/>
                </a:lnTo>
                <a:close/>
                <a:moveTo>
                  <a:pt x="42692" y="26731"/>
                </a:moveTo>
                <a:lnTo>
                  <a:pt x="42115" y="27308"/>
                </a:lnTo>
                <a:lnTo>
                  <a:pt x="41731" y="28077"/>
                </a:lnTo>
                <a:lnTo>
                  <a:pt x="41731" y="28462"/>
                </a:lnTo>
                <a:lnTo>
                  <a:pt x="41731" y="28846"/>
                </a:lnTo>
                <a:lnTo>
                  <a:pt x="40192" y="31538"/>
                </a:lnTo>
                <a:lnTo>
                  <a:pt x="40192" y="31923"/>
                </a:lnTo>
                <a:lnTo>
                  <a:pt x="40192" y="32308"/>
                </a:lnTo>
                <a:lnTo>
                  <a:pt x="40000" y="32500"/>
                </a:lnTo>
                <a:lnTo>
                  <a:pt x="39808" y="32692"/>
                </a:lnTo>
                <a:lnTo>
                  <a:pt x="39808" y="33077"/>
                </a:lnTo>
                <a:lnTo>
                  <a:pt x="39808" y="33462"/>
                </a:lnTo>
                <a:lnTo>
                  <a:pt x="39038" y="35000"/>
                </a:lnTo>
                <a:lnTo>
                  <a:pt x="39038" y="35385"/>
                </a:lnTo>
                <a:lnTo>
                  <a:pt x="40000" y="36346"/>
                </a:lnTo>
                <a:lnTo>
                  <a:pt x="40385" y="36346"/>
                </a:lnTo>
                <a:lnTo>
                  <a:pt x="40962" y="35769"/>
                </a:lnTo>
                <a:lnTo>
                  <a:pt x="40962" y="35385"/>
                </a:lnTo>
                <a:lnTo>
                  <a:pt x="40962" y="35000"/>
                </a:lnTo>
                <a:lnTo>
                  <a:pt x="41346" y="34231"/>
                </a:lnTo>
                <a:lnTo>
                  <a:pt x="41923" y="33654"/>
                </a:lnTo>
                <a:lnTo>
                  <a:pt x="43462" y="32885"/>
                </a:lnTo>
                <a:lnTo>
                  <a:pt x="45769" y="32885"/>
                </a:lnTo>
                <a:lnTo>
                  <a:pt x="46538" y="33269"/>
                </a:lnTo>
                <a:lnTo>
                  <a:pt x="48269" y="35000"/>
                </a:lnTo>
                <a:lnTo>
                  <a:pt x="48269" y="35385"/>
                </a:lnTo>
                <a:lnTo>
                  <a:pt x="48846" y="35962"/>
                </a:lnTo>
                <a:lnTo>
                  <a:pt x="51154" y="35962"/>
                </a:lnTo>
                <a:lnTo>
                  <a:pt x="51731" y="34615"/>
                </a:lnTo>
                <a:lnTo>
                  <a:pt x="52692" y="33654"/>
                </a:lnTo>
                <a:lnTo>
                  <a:pt x="54231" y="32885"/>
                </a:lnTo>
                <a:lnTo>
                  <a:pt x="54615" y="32885"/>
                </a:lnTo>
                <a:lnTo>
                  <a:pt x="55000" y="32885"/>
                </a:lnTo>
                <a:lnTo>
                  <a:pt x="56154" y="32885"/>
                </a:lnTo>
                <a:lnTo>
                  <a:pt x="57692" y="33654"/>
                </a:lnTo>
                <a:lnTo>
                  <a:pt x="58654" y="34615"/>
                </a:lnTo>
                <a:lnTo>
                  <a:pt x="58654" y="35000"/>
                </a:lnTo>
                <a:lnTo>
                  <a:pt x="58654" y="35385"/>
                </a:lnTo>
                <a:lnTo>
                  <a:pt x="59231" y="35962"/>
                </a:lnTo>
                <a:lnTo>
                  <a:pt x="60577" y="35385"/>
                </a:lnTo>
                <a:lnTo>
                  <a:pt x="60577" y="34231"/>
                </a:lnTo>
                <a:lnTo>
                  <a:pt x="60385" y="34038"/>
                </a:lnTo>
                <a:lnTo>
                  <a:pt x="60192" y="33846"/>
                </a:lnTo>
                <a:lnTo>
                  <a:pt x="59808" y="31923"/>
                </a:lnTo>
                <a:lnTo>
                  <a:pt x="58269" y="29231"/>
                </a:lnTo>
                <a:lnTo>
                  <a:pt x="57885" y="27308"/>
                </a:lnTo>
                <a:lnTo>
                  <a:pt x="57308" y="26731"/>
                </a:lnTo>
                <a:lnTo>
                  <a:pt x="56538" y="27115"/>
                </a:lnTo>
                <a:lnTo>
                  <a:pt x="56154" y="27115"/>
                </a:lnTo>
                <a:lnTo>
                  <a:pt x="55769" y="27115"/>
                </a:lnTo>
                <a:lnTo>
                  <a:pt x="55577" y="27308"/>
                </a:lnTo>
                <a:lnTo>
                  <a:pt x="55385" y="27500"/>
                </a:lnTo>
                <a:lnTo>
                  <a:pt x="54231" y="27500"/>
                </a:lnTo>
                <a:lnTo>
                  <a:pt x="54038" y="27692"/>
                </a:lnTo>
                <a:lnTo>
                  <a:pt x="53846" y="27885"/>
                </a:lnTo>
                <a:lnTo>
                  <a:pt x="51923" y="27885"/>
                </a:lnTo>
                <a:lnTo>
                  <a:pt x="51731" y="28077"/>
                </a:lnTo>
                <a:lnTo>
                  <a:pt x="51538" y="28269"/>
                </a:lnTo>
                <a:lnTo>
                  <a:pt x="47692" y="28269"/>
                </a:lnTo>
                <a:lnTo>
                  <a:pt x="47500" y="28077"/>
                </a:lnTo>
                <a:lnTo>
                  <a:pt x="47308" y="27885"/>
                </a:lnTo>
                <a:lnTo>
                  <a:pt x="46154" y="27885"/>
                </a:lnTo>
                <a:lnTo>
                  <a:pt x="45962" y="27692"/>
                </a:lnTo>
                <a:lnTo>
                  <a:pt x="45769" y="27500"/>
                </a:lnTo>
                <a:lnTo>
                  <a:pt x="44615" y="27500"/>
                </a:lnTo>
                <a:lnTo>
                  <a:pt x="44423" y="27308"/>
                </a:lnTo>
                <a:lnTo>
                  <a:pt x="44231" y="27115"/>
                </a:lnTo>
                <a:lnTo>
                  <a:pt x="43846" y="27115"/>
                </a:lnTo>
                <a:lnTo>
                  <a:pt x="43462" y="27115"/>
                </a:lnTo>
                <a:lnTo>
                  <a:pt x="42692" y="26731"/>
                </a:lnTo>
                <a:close/>
                <a:moveTo>
                  <a:pt x="43462" y="34038"/>
                </a:moveTo>
                <a:lnTo>
                  <a:pt x="42115" y="35385"/>
                </a:lnTo>
                <a:lnTo>
                  <a:pt x="41731" y="36154"/>
                </a:lnTo>
                <a:lnTo>
                  <a:pt x="41731" y="38077"/>
                </a:lnTo>
                <a:lnTo>
                  <a:pt x="43462" y="39808"/>
                </a:lnTo>
                <a:lnTo>
                  <a:pt x="45769" y="39808"/>
                </a:lnTo>
                <a:lnTo>
                  <a:pt x="45962" y="39615"/>
                </a:lnTo>
                <a:lnTo>
                  <a:pt x="46154" y="39423"/>
                </a:lnTo>
                <a:lnTo>
                  <a:pt x="46538" y="39423"/>
                </a:lnTo>
                <a:lnTo>
                  <a:pt x="47500" y="38077"/>
                </a:lnTo>
                <a:lnTo>
                  <a:pt x="47500" y="37692"/>
                </a:lnTo>
                <a:lnTo>
                  <a:pt x="47500" y="37308"/>
                </a:lnTo>
                <a:lnTo>
                  <a:pt x="47692" y="37115"/>
                </a:lnTo>
                <a:lnTo>
                  <a:pt x="47885" y="36923"/>
                </a:lnTo>
                <a:lnTo>
                  <a:pt x="47692" y="36731"/>
                </a:lnTo>
                <a:lnTo>
                  <a:pt x="47500" y="36538"/>
                </a:lnTo>
                <a:lnTo>
                  <a:pt x="47500" y="36154"/>
                </a:lnTo>
                <a:lnTo>
                  <a:pt x="47500" y="35769"/>
                </a:lnTo>
                <a:lnTo>
                  <a:pt x="47115" y="35000"/>
                </a:lnTo>
                <a:lnTo>
                  <a:pt x="45769" y="34038"/>
                </a:lnTo>
                <a:lnTo>
                  <a:pt x="43462" y="34038"/>
                </a:lnTo>
                <a:close/>
                <a:moveTo>
                  <a:pt x="54231" y="34038"/>
                </a:moveTo>
                <a:lnTo>
                  <a:pt x="53462" y="34808"/>
                </a:lnTo>
                <a:lnTo>
                  <a:pt x="53077" y="34808"/>
                </a:lnTo>
                <a:lnTo>
                  <a:pt x="52885" y="35000"/>
                </a:lnTo>
                <a:lnTo>
                  <a:pt x="52115" y="37308"/>
                </a:lnTo>
                <a:lnTo>
                  <a:pt x="52885" y="38846"/>
                </a:lnTo>
                <a:lnTo>
                  <a:pt x="53462" y="39423"/>
                </a:lnTo>
                <a:lnTo>
                  <a:pt x="54231" y="39808"/>
                </a:lnTo>
                <a:lnTo>
                  <a:pt x="55769" y="39808"/>
                </a:lnTo>
                <a:lnTo>
                  <a:pt x="56923" y="39423"/>
                </a:lnTo>
                <a:lnTo>
                  <a:pt x="57500" y="38846"/>
                </a:lnTo>
                <a:lnTo>
                  <a:pt x="57885" y="38077"/>
                </a:lnTo>
                <a:lnTo>
                  <a:pt x="57885" y="35769"/>
                </a:lnTo>
                <a:lnTo>
                  <a:pt x="57500" y="35000"/>
                </a:lnTo>
                <a:lnTo>
                  <a:pt x="56154" y="34038"/>
                </a:lnTo>
                <a:lnTo>
                  <a:pt x="54231" y="34038"/>
                </a:lnTo>
                <a:close/>
                <a:moveTo>
                  <a:pt x="37308" y="35577"/>
                </a:moveTo>
                <a:lnTo>
                  <a:pt x="36346" y="36923"/>
                </a:lnTo>
                <a:lnTo>
                  <a:pt x="36346" y="38846"/>
                </a:lnTo>
                <a:lnTo>
                  <a:pt x="36538" y="39038"/>
                </a:lnTo>
                <a:lnTo>
                  <a:pt x="36731" y="39231"/>
                </a:lnTo>
                <a:lnTo>
                  <a:pt x="36731" y="39615"/>
                </a:lnTo>
                <a:lnTo>
                  <a:pt x="36731" y="40000"/>
                </a:lnTo>
                <a:lnTo>
                  <a:pt x="37885" y="41154"/>
                </a:lnTo>
                <a:lnTo>
                  <a:pt x="38077" y="41346"/>
                </a:lnTo>
                <a:lnTo>
                  <a:pt x="38462" y="41346"/>
                </a:lnTo>
                <a:lnTo>
                  <a:pt x="38654" y="40385"/>
                </a:lnTo>
                <a:lnTo>
                  <a:pt x="38462" y="40192"/>
                </a:lnTo>
                <a:lnTo>
                  <a:pt x="38269" y="40000"/>
                </a:lnTo>
                <a:lnTo>
                  <a:pt x="38269" y="38462"/>
                </a:lnTo>
                <a:lnTo>
                  <a:pt x="38077" y="38269"/>
                </a:lnTo>
                <a:lnTo>
                  <a:pt x="37885" y="38077"/>
                </a:lnTo>
                <a:lnTo>
                  <a:pt x="37885" y="35769"/>
                </a:lnTo>
                <a:lnTo>
                  <a:pt x="37692" y="35577"/>
                </a:lnTo>
                <a:lnTo>
                  <a:pt x="37308" y="35577"/>
                </a:lnTo>
                <a:close/>
                <a:moveTo>
                  <a:pt x="61923" y="35577"/>
                </a:moveTo>
                <a:lnTo>
                  <a:pt x="61731" y="35769"/>
                </a:lnTo>
                <a:lnTo>
                  <a:pt x="61731" y="38077"/>
                </a:lnTo>
                <a:lnTo>
                  <a:pt x="61538" y="38269"/>
                </a:lnTo>
                <a:lnTo>
                  <a:pt x="61346" y="38462"/>
                </a:lnTo>
                <a:lnTo>
                  <a:pt x="61346" y="40385"/>
                </a:lnTo>
                <a:lnTo>
                  <a:pt x="60962" y="41154"/>
                </a:lnTo>
                <a:lnTo>
                  <a:pt x="61923" y="41346"/>
                </a:lnTo>
                <a:lnTo>
                  <a:pt x="62115" y="41154"/>
                </a:lnTo>
                <a:lnTo>
                  <a:pt x="62308" y="40962"/>
                </a:lnTo>
                <a:lnTo>
                  <a:pt x="63269" y="39615"/>
                </a:lnTo>
                <a:lnTo>
                  <a:pt x="63654" y="37692"/>
                </a:lnTo>
                <a:lnTo>
                  <a:pt x="63462" y="37500"/>
                </a:lnTo>
                <a:lnTo>
                  <a:pt x="63269" y="37308"/>
                </a:lnTo>
                <a:lnTo>
                  <a:pt x="63269" y="36923"/>
                </a:lnTo>
                <a:lnTo>
                  <a:pt x="63269" y="36538"/>
                </a:lnTo>
                <a:lnTo>
                  <a:pt x="62308" y="35577"/>
                </a:lnTo>
                <a:lnTo>
                  <a:pt x="61923" y="35577"/>
                </a:lnTo>
                <a:close/>
                <a:moveTo>
                  <a:pt x="60000" y="36731"/>
                </a:moveTo>
                <a:lnTo>
                  <a:pt x="59038" y="37692"/>
                </a:lnTo>
                <a:lnTo>
                  <a:pt x="59038" y="38077"/>
                </a:lnTo>
                <a:lnTo>
                  <a:pt x="59038" y="38462"/>
                </a:lnTo>
                <a:lnTo>
                  <a:pt x="58654" y="39231"/>
                </a:lnTo>
                <a:lnTo>
                  <a:pt x="57308" y="40577"/>
                </a:lnTo>
                <a:lnTo>
                  <a:pt x="56538" y="40962"/>
                </a:lnTo>
                <a:lnTo>
                  <a:pt x="53846" y="40962"/>
                </a:lnTo>
                <a:lnTo>
                  <a:pt x="53077" y="40577"/>
                </a:lnTo>
                <a:lnTo>
                  <a:pt x="51731" y="39231"/>
                </a:lnTo>
                <a:lnTo>
                  <a:pt x="51154" y="37115"/>
                </a:lnTo>
                <a:lnTo>
                  <a:pt x="48846" y="37115"/>
                </a:lnTo>
                <a:lnTo>
                  <a:pt x="48269" y="39231"/>
                </a:lnTo>
                <a:lnTo>
                  <a:pt x="46923" y="40577"/>
                </a:lnTo>
                <a:lnTo>
                  <a:pt x="46154" y="40962"/>
                </a:lnTo>
                <a:lnTo>
                  <a:pt x="43077" y="40962"/>
                </a:lnTo>
                <a:lnTo>
                  <a:pt x="42308" y="40577"/>
                </a:lnTo>
                <a:lnTo>
                  <a:pt x="40962" y="39231"/>
                </a:lnTo>
                <a:lnTo>
                  <a:pt x="40577" y="38462"/>
                </a:lnTo>
                <a:lnTo>
                  <a:pt x="40577" y="38077"/>
                </a:lnTo>
                <a:lnTo>
                  <a:pt x="40577" y="37692"/>
                </a:lnTo>
                <a:lnTo>
                  <a:pt x="40000" y="37115"/>
                </a:lnTo>
                <a:lnTo>
                  <a:pt x="39615" y="37115"/>
                </a:lnTo>
                <a:lnTo>
                  <a:pt x="39038" y="37692"/>
                </a:lnTo>
                <a:lnTo>
                  <a:pt x="39231" y="37885"/>
                </a:lnTo>
                <a:lnTo>
                  <a:pt x="39423" y="38077"/>
                </a:lnTo>
                <a:lnTo>
                  <a:pt x="39423" y="40769"/>
                </a:lnTo>
                <a:lnTo>
                  <a:pt x="39615" y="40962"/>
                </a:lnTo>
                <a:lnTo>
                  <a:pt x="39808" y="41154"/>
                </a:lnTo>
                <a:lnTo>
                  <a:pt x="40192" y="43077"/>
                </a:lnTo>
                <a:lnTo>
                  <a:pt x="40577" y="43846"/>
                </a:lnTo>
                <a:lnTo>
                  <a:pt x="40577" y="44231"/>
                </a:lnTo>
                <a:lnTo>
                  <a:pt x="40577" y="44615"/>
                </a:lnTo>
                <a:lnTo>
                  <a:pt x="41346" y="46154"/>
                </a:lnTo>
                <a:lnTo>
                  <a:pt x="42115" y="46923"/>
                </a:lnTo>
                <a:lnTo>
                  <a:pt x="42115" y="47308"/>
                </a:lnTo>
                <a:lnTo>
                  <a:pt x="43462" y="48654"/>
                </a:lnTo>
                <a:lnTo>
                  <a:pt x="43846" y="48654"/>
                </a:lnTo>
                <a:lnTo>
                  <a:pt x="46154" y="50577"/>
                </a:lnTo>
                <a:lnTo>
                  <a:pt x="46538" y="50577"/>
                </a:lnTo>
                <a:lnTo>
                  <a:pt x="46923" y="50577"/>
                </a:lnTo>
                <a:lnTo>
                  <a:pt x="48462" y="51346"/>
                </a:lnTo>
                <a:lnTo>
                  <a:pt x="51154" y="51346"/>
                </a:lnTo>
                <a:lnTo>
                  <a:pt x="51346" y="51154"/>
                </a:lnTo>
                <a:lnTo>
                  <a:pt x="51538" y="50962"/>
                </a:lnTo>
                <a:lnTo>
                  <a:pt x="52692" y="50962"/>
                </a:lnTo>
                <a:lnTo>
                  <a:pt x="54231" y="50192"/>
                </a:lnTo>
                <a:lnTo>
                  <a:pt x="55769" y="48654"/>
                </a:lnTo>
                <a:lnTo>
                  <a:pt x="56154" y="48654"/>
                </a:lnTo>
                <a:lnTo>
                  <a:pt x="58269" y="46154"/>
                </a:lnTo>
                <a:lnTo>
                  <a:pt x="59038" y="44615"/>
                </a:lnTo>
                <a:lnTo>
                  <a:pt x="59038" y="44231"/>
                </a:lnTo>
                <a:lnTo>
                  <a:pt x="59038" y="43846"/>
                </a:lnTo>
                <a:lnTo>
                  <a:pt x="59808" y="42308"/>
                </a:lnTo>
                <a:lnTo>
                  <a:pt x="59808" y="40769"/>
                </a:lnTo>
                <a:lnTo>
                  <a:pt x="60000" y="40577"/>
                </a:lnTo>
                <a:lnTo>
                  <a:pt x="60192" y="40385"/>
                </a:lnTo>
                <a:lnTo>
                  <a:pt x="60192" y="38462"/>
                </a:lnTo>
                <a:lnTo>
                  <a:pt x="60385" y="38269"/>
                </a:lnTo>
                <a:lnTo>
                  <a:pt x="60577" y="38077"/>
                </a:lnTo>
                <a:lnTo>
                  <a:pt x="60577" y="37692"/>
                </a:lnTo>
                <a:lnTo>
                  <a:pt x="60577" y="37308"/>
                </a:lnTo>
                <a:lnTo>
                  <a:pt x="60000" y="36731"/>
                </a:lnTo>
                <a:close/>
                <a:moveTo>
                  <a:pt x="55769" y="50192"/>
                </a:moveTo>
                <a:lnTo>
                  <a:pt x="54231" y="51346"/>
                </a:lnTo>
                <a:lnTo>
                  <a:pt x="52692" y="52115"/>
                </a:lnTo>
                <a:lnTo>
                  <a:pt x="51538" y="52115"/>
                </a:lnTo>
                <a:lnTo>
                  <a:pt x="51346" y="52308"/>
                </a:lnTo>
                <a:lnTo>
                  <a:pt x="51154" y="52500"/>
                </a:lnTo>
                <a:lnTo>
                  <a:pt x="48077" y="52500"/>
                </a:lnTo>
                <a:lnTo>
                  <a:pt x="47885" y="52308"/>
                </a:lnTo>
                <a:lnTo>
                  <a:pt x="47692" y="52115"/>
                </a:lnTo>
                <a:lnTo>
                  <a:pt x="47308" y="52115"/>
                </a:lnTo>
                <a:lnTo>
                  <a:pt x="46923" y="52115"/>
                </a:lnTo>
                <a:lnTo>
                  <a:pt x="43846" y="50577"/>
                </a:lnTo>
                <a:lnTo>
                  <a:pt x="43654" y="50769"/>
                </a:lnTo>
                <a:lnTo>
                  <a:pt x="43654" y="53462"/>
                </a:lnTo>
                <a:lnTo>
                  <a:pt x="45962" y="55385"/>
                </a:lnTo>
                <a:lnTo>
                  <a:pt x="49231" y="58654"/>
                </a:lnTo>
                <a:lnTo>
                  <a:pt x="50000" y="59038"/>
                </a:lnTo>
                <a:lnTo>
                  <a:pt x="51538" y="57500"/>
                </a:lnTo>
                <a:lnTo>
                  <a:pt x="51923" y="57500"/>
                </a:lnTo>
                <a:lnTo>
                  <a:pt x="55769" y="53654"/>
                </a:lnTo>
                <a:lnTo>
                  <a:pt x="56154" y="53654"/>
                </a:lnTo>
                <a:lnTo>
                  <a:pt x="56346" y="53462"/>
                </a:lnTo>
                <a:lnTo>
                  <a:pt x="56346" y="50769"/>
                </a:lnTo>
                <a:lnTo>
                  <a:pt x="55769" y="50192"/>
                </a:lnTo>
                <a:close/>
                <a:moveTo>
                  <a:pt x="41923" y="53654"/>
                </a:moveTo>
                <a:lnTo>
                  <a:pt x="41731" y="53846"/>
                </a:lnTo>
                <a:lnTo>
                  <a:pt x="41731" y="54231"/>
                </a:lnTo>
                <a:lnTo>
                  <a:pt x="39808" y="56538"/>
                </a:lnTo>
                <a:lnTo>
                  <a:pt x="39808" y="56923"/>
                </a:lnTo>
                <a:lnTo>
                  <a:pt x="40962" y="58462"/>
                </a:lnTo>
                <a:lnTo>
                  <a:pt x="41346" y="59615"/>
                </a:lnTo>
                <a:lnTo>
                  <a:pt x="42115" y="60385"/>
                </a:lnTo>
                <a:lnTo>
                  <a:pt x="43269" y="63077"/>
                </a:lnTo>
                <a:lnTo>
                  <a:pt x="43846" y="63654"/>
                </a:lnTo>
                <a:lnTo>
                  <a:pt x="44615" y="62885"/>
                </a:lnTo>
                <a:lnTo>
                  <a:pt x="45000" y="62885"/>
                </a:lnTo>
                <a:lnTo>
                  <a:pt x="45192" y="62692"/>
                </a:lnTo>
                <a:lnTo>
                  <a:pt x="48269" y="60000"/>
                </a:lnTo>
                <a:lnTo>
                  <a:pt x="48269" y="59615"/>
                </a:lnTo>
                <a:lnTo>
                  <a:pt x="48269" y="59231"/>
                </a:lnTo>
                <a:lnTo>
                  <a:pt x="46923" y="57885"/>
                </a:lnTo>
                <a:lnTo>
                  <a:pt x="46538" y="57885"/>
                </a:lnTo>
                <a:lnTo>
                  <a:pt x="42308" y="53654"/>
                </a:lnTo>
                <a:lnTo>
                  <a:pt x="41923" y="53654"/>
                </a:lnTo>
                <a:close/>
                <a:moveTo>
                  <a:pt x="57692" y="53654"/>
                </a:moveTo>
                <a:lnTo>
                  <a:pt x="54615" y="56731"/>
                </a:lnTo>
                <a:lnTo>
                  <a:pt x="54231" y="56731"/>
                </a:lnTo>
                <a:lnTo>
                  <a:pt x="51923" y="59038"/>
                </a:lnTo>
                <a:lnTo>
                  <a:pt x="51538" y="59038"/>
                </a:lnTo>
                <a:lnTo>
                  <a:pt x="51346" y="59231"/>
                </a:lnTo>
                <a:lnTo>
                  <a:pt x="51346" y="59615"/>
                </a:lnTo>
                <a:lnTo>
                  <a:pt x="51346" y="60000"/>
                </a:lnTo>
                <a:lnTo>
                  <a:pt x="51538" y="60192"/>
                </a:lnTo>
                <a:lnTo>
                  <a:pt x="51923" y="60192"/>
                </a:lnTo>
                <a:lnTo>
                  <a:pt x="53077" y="61346"/>
                </a:lnTo>
                <a:lnTo>
                  <a:pt x="53462" y="61346"/>
                </a:lnTo>
                <a:lnTo>
                  <a:pt x="54615" y="62500"/>
                </a:lnTo>
                <a:lnTo>
                  <a:pt x="56154" y="63654"/>
                </a:lnTo>
                <a:lnTo>
                  <a:pt x="56731" y="63077"/>
                </a:lnTo>
                <a:lnTo>
                  <a:pt x="57500" y="61154"/>
                </a:lnTo>
                <a:lnTo>
                  <a:pt x="58269" y="60385"/>
                </a:lnTo>
                <a:lnTo>
                  <a:pt x="59423" y="58077"/>
                </a:lnTo>
                <a:lnTo>
                  <a:pt x="59808" y="56154"/>
                </a:lnTo>
                <a:lnTo>
                  <a:pt x="57692" y="53654"/>
                </a:lnTo>
                <a:close/>
              </a:path>
            </a:pathLst>
          </a:custGeom>
          <a:solidFill>
            <a:srgbClr val="FFFFFF"/>
          </a:solidFill>
          <a:ln>
            <a:noFill/>
          </a:ln>
        </p:spPr>
        <p:txBody>
          <a:bodyPr/>
          <a:p/>
        </p:txBody>
      </p:sp>
      <p:sp>
        <p:nvSpPr>
          <p:cNvPr id="9" name="Text 6"/>
          <p:cNvSpPr/>
          <p:nvPr/>
        </p:nvSpPr>
        <p:spPr>
          <a:xfrm>
            <a:off x="777240" y="4727448"/>
            <a:ext cx="2514600" cy="795528"/>
          </a:xfrm>
          <a:prstGeom prst="rect">
            <a:avLst/>
          </a:prstGeom>
          <a:noFill/>
          <a:ln/>
        </p:spPr>
        <p:txBody>
          <a:bodyPr wrap="square" lIns="0" tIns="0" rIns="0" bIns="0" rtlCol="0" anchor="ctr"/>
          <a:lstStyle/>
          <a:p>
            <a:pPr indent="0" marL="0">
              <a:buNone/>
            </a:pPr>
            <a:r>
              <a:rPr lang="en-US" sz="7800" b="1" dirty="0">
                <a:solidFill>
                  <a:srgbClr val="6D28D9"/>
                </a:solidFill>
                <a:latin typeface="Aptos" pitchFamily="34" charset="0"/>
                <a:ea typeface="Segoe UI" pitchFamily="34" charset="-122"/>
                <a:cs typeface="Segoe UI" pitchFamily="34" charset="-120"/>
              </a:rPr>
              <a:t>494</a:t>
            </a:r>
            <a:endParaRPr lang="en-US" sz="7800" dirty="0"/>
          </a:p>
        </p:txBody>
      </p:sp>
      <p:sp>
        <p:nvSpPr>
          <p:cNvPr id="10" name="Text 7"/>
          <p:cNvSpPr/>
          <p:nvPr/>
        </p:nvSpPr>
        <p:spPr>
          <a:xfrm>
            <a:off x="1271016" y="5650992"/>
            <a:ext cx="1563624" cy="374904"/>
          </a:xfrm>
          <a:prstGeom prst="rect">
            <a:avLst/>
          </a:prstGeom>
          <a:noFill/>
          <a:ln/>
        </p:spPr>
        <p:txBody>
          <a:bodyPr wrap="square" lIns="0" tIns="0" rIns="0" bIns="0" rtlCol="0" anchor="ctr"/>
          <a:lstStyle/>
          <a:p>
            <a:pPr indent="0" marL="0">
              <a:buNone/>
            </a:pPr>
            <a:r>
              <a:rPr lang="en-US" sz="2700" dirty="0">
                <a:solidFill>
                  <a:srgbClr val="17324D"/>
                </a:solidFill>
                <a:latin typeface="Aptos" pitchFamily="34" charset="0"/>
                <a:ea typeface="Segoe UI" pitchFamily="34" charset="-122"/>
                <a:cs typeface="Segoe UI" pitchFamily="34" charset="-120"/>
              </a:rPr>
              <a:t>clients</a:t>
            </a:r>
            <a:endParaRPr lang="en-US" sz="2700" dirty="0"/>
          </a:p>
        </p:txBody>
      </p:sp>
      <p:sp>
        <p:nvSpPr>
          <p:cNvPr id="11" name="Shape 8"/>
          <p:cNvSpPr/>
          <p:nvPr/>
        </p:nvSpPr>
        <p:spPr>
          <a:xfrm>
            <a:off x="3547872" y="1709928"/>
            <a:ext cx="0" cy="4572000"/>
          </a:xfrm>
          <a:prstGeom prst="line">
            <a:avLst/>
          </a:prstGeom>
          <a:noFill/>
          <a:ln w="11430">
            <a:solidFill>
              <a:srgbClr val="D1D5DB"/>
            </a:solidFill>
            <a:prstDash val="solid"/>
          </a:ln>
        </p:spPr>
        <p:txBody>
          <a:bodyPr/>
          <a:p/>
        </p:txBody>
      </p:sp>
      <p:sp>
        <p:nvSpPr>
          <p:cNvPr id="12" name="Shape 9"/>
          <p:cNvSpPr/>
          <p:nvPr/>
        </p:nvSpPr>
        <p:spPr>
          <a:xfrm>
            <a:off x="3776472" y="1728216"/>
            <a:ext cx="4050792" cy="1325880"/>
          </a:xfrm>
          <a:prstGeom prst="roundRect">
            <a:avLst>
              <a:gd name="adj" fmla="val 9655"/>
            </a:avLst>
          </a:prstGeom>
          <a:solidFill>
            <a:srgbClr val="F0FDFA"/>
          </a:solidFill>
          <a:ln w="12700">
            <a:solidFill>
              <a:srgbClr val="F0FDFA">
                <a:alpha val="0"/>
              </a:srgbClr>
            </a:solidFill>
            <a:prstDash val="solid"/>
          </a:ln>
        </p:spPr>
        <p:txBody>
          <a:bodyPr/>
          <a:p/>
        </p:txBody>
      </p:sp>
      <p:sp>
        <p:nvSpPr>
          <p:cNvPr id="13" name="Shape 10"/>
          <p:cNvSpPr/>
          <p:nvPr/>
        </p:nvSpPr>
        <p:spPr>
          <a:xfrm>
            <a:off x="3977640" y="1865376"/>
            <a:ext cx="923544" cy="923544"/>
          </a:xfrm>
          <a:prstGeom prst="ellipse">
            <a:avLst/>
          </a:prstGeom>
          <a:solidFill>
            <a:srgbClr val="6D28D9"/>
          </a:solidFill>
          <a:ln w="12700">
            <a:solidFill>
              <a:srgbClr val="6D28D9">
                <a:alpha val="0"/>
              </a:srgbClr>
            </a:solidFill>
            <a:prstDash val="solid"/>
          </a:ln>
        </p:spPr>
        <p:txBody>
          <a:bodyPr/>
          <a:p/>
        </p:txBody>
      </p:sp>
      <p:sp>
        <p:nvSpPr>
          <p:cNvPr id="14" name="VECTOR_person_58"/>
          <p:cNvSpPr/>
          <p:nvPr/>
        </p:nvSpPr>
        <p:spPr>
          <a:xfrm>
            <a:off x="3977640" y="1865376"/>
            <a:ext cx="923544" cy="923544"/>
          </a:xfrm>
          <a:custGeom>
            <a:avLst/>
            <a:gdLst/>
            <a:ahLst/>
            <a:cxnLst/>
            <a:rect l="0" t="0" r="r" b="b"/>
            <a:pathLst>
              <a:path w="100000" h="100000" fill="norm" stroke="false" extrusionOk="false">
                <a:moveTo>
                  <a:pt x="46538" y="18462"/>
                </a:moveTo>
                <a:lnTo>
                  <a:pt x="46923" y="18077"/>
                </a:lnTo>
                <a:lnTo>
                  <a:pt x="51538" y="18077"/>
                </a:lnTo>
                <a:lnTo>
                  <a:pt x="51923" y="18462"/>
                </a:lnTo>
                <a:lnTo>
                  <a:pt x="52308" y="18846"/>
                </a:lnTo>
                <a:lnTo>
                  <a:pt x="53077" y="18846"/>
                </a:lnTo>
                <a:lnTo>
                  <a:pt x="53846" y="18846"/>
                </a:lnTo>
                <a:lnTo>
                  <a:pt x="56923" y="20385"/>
                </a:lnTo>
                <a:lnTo>
                  <a:pt x="59615" y="23077"/>
                </a:lnTo>
                <a:lnTo>
                  <a:pt x="61154" y="26154"/>
                </a:lnTo>
                <a:lnTo>
                  <a:pt x="61154" y="28462"/>
                </a:lnTo>
                <a:lnTo>
                  <a:pt x="61538" y="28846"/>
                </a:lnTo>
                <a:lnTo>
                  <a:pt x="61923" y="29231"/>
                </a:lnTo>
                <a:lnTo>
                  <a:pt x="61923" y="33846"/>
                </a:lnTo>
                <a:lnTo>
                  <a:pt x="61538" y="34231"/>
                </a:lnTo>
                <a:lnTo>
                  <a:pt x="61154" y="34615"/>
                </a:lnTo>
                <a:lnTo>
                  <a:pt x="61154" y="35385"/>
                </a:lnTo>
                <a:lnTo>
                  <a:pt x="61154" y="36154"/>
                </a:lnTo>
                <a:lnTo>
                  <a:pt x="59615" y="39231"/>
                </a:lnTo>
                <a:lnTo>
                  <a:pt x="55385" y="42692"/>
                </a:lnTo>
                <a:lnTo>
                  <a:pt x="53846" y="43462"/>
                </a:lnTo>
                <a:lnTo>
                  <a:pt x="51538" y="43462"/>
                </a:lnTo>
                <a:lnTo>
                  <a:pt x="51154" y="43846"/>
                </a:lnTo>
                <a:lnTo>
                  <a:pt x="50769" y="44231"/>
                </a:lnTo>
                <a:lnTo>
                  <a:pt x="46923" y="44231"/>
                </a:lnTo>
                <a:lnTo>
                  <a:pt x="46538" y="43846"/>
                </a:lnTo>
                <a:lnTo>
                  <a:pt x="46154" y="43462"/>
                </a:lnTo>
                <a:lnTo>
                  <a:pt x="45385" y="43462"/>
                </a:lnTo>
                <a:lnTo>
                  <a:pt x="44615" y="43462"/>
                </a:lnTo>
                <a:lnTo>
                  <a:pt x="41538" y="41923"/>
                </a:lnTo>
                <a:lnTo>
                  <a:pt x="38077" y="38462"/>
                </a:lnTo>
                <a:lnTo>
                  <a:pt x="37308" y="36923"/>
                </a:lnTo>
                <a:lnTo>
                  <a:pt x="37308" y="36154"/>
                </a:lnTo>
                <a:lnTo>
                  <a:pt x="37308" y="35385"/>
                </a:lnTo>
                <a:lnTo>
                  <a:pt x="36923" y="35000"/>
                </a:lnTo>
                <a:lnTo>
                  <a:pt x="36538" y="34615"/>
                </a:lnTo>
                <a:lnTo>
                  <a:pt x="36538" y="27692"/>
                </a:lnTo>
                <a:lnTo>
                  <a:pt x="36923" y="27308"/>
                </a:lnTo>
                <a:lnTo>
                  <a:pt x="37308" y="26923"/>
                </a:lnTo>
                <a:lnTo>
                  <a:pt x="37308" y="26154"/>
                </a:lnTo>
                <a:lnTo>
                  <a:pt x="37308" y="25385"/>
                </a:lnTo>
                <a:lnTo>
                  <a:pt x="38077" y="23846"/>
                </a:lnTo>
                <a:lnTo>
                  <a:pt x="42308" y="19615"/>
                </a:lnTo>
                <a:lnTo>
                  <a:pt x="43077" y="19615"/>
                </a:lnTo>
                <a:lnTo>
                  <a:pt x="43846" y="19615"/>
                </a:lnTo>
                <a:lnTo>
                  <a:pt x="44231" y="19231"/>
                </a:lnTo>
                <a:lnTo>
                  <a:pt x="44615" y="18846"/>
                </a:lnTo>
                <a:lnTo>
                  <a:pt x="46538" y="18462"/>
                </a:lnTo>
                <a:close/>
                <a:moveTo>
                  <a:pt x="46154" y="21154"/>
                </a:moveTo>
                <a:lnTo>
                  <a:pt x="43077" y="23462"/>
                </a:lnTo>
                <a:lnTo>
                  <a:pt x="42308" y="23462"/>
                </a:lnTo>
                <a:lnTo>
                  <a:pt x="41923" y="23846"/>
                </a:lnTo>
                <a:lnTo>
                  <a:pt x="41923" y="24615"/>
                </a:lnTo>
                <a:lnTo>
                  <a:pt x="40385" y="26154"/>
                </a:lnTo>
                <a:lnTo>
                  <a:pt x="39615" y="27692"/>
                </a:lnTo>
                <a:lnTo>
                  <a:pt x="39615" y="28462"/>
                </a:lnTo>
                <a:lnTo>
                  <a:pt x="39615" y="29231"/>
                </a:lnTo>
                <a:lnTo>
                  <a:pt x="39231" y="29615"/>
                </a:lnTo>
                <a:lnTo>
                  <a:pt x="38846" y="30000"/>
                </a:lnTo>
                <a:lnTo>
                  <a:pt x="38846" y="32308"/>
                </a:lnTo>
                <a:lnTo>
                  <a:pt x="39231" y="32692"/>
                </a:lnTo>
                <a:lnTo>
                  <a:pt x="39615" y="33077"/>
                </a:lnTo>
                <a:lnTo>
                  <a:pt x="39615" y="33846"/>
                </a:lnTo>
                <a:lnTo>
                  <a:pt x="39615" y="34615"/>
                </a:lnTo>
                <a:lnTo>
                  <a:pt x="40385" y="36154"/>
                </a:lnTo>
                <a:lnTo>
                  <a:pt x="44615" y="40385"/>
                </a:lnTo>
                <a:lnTo>
                  <a:pt x="45385" y="40385"/>
                </a:lnTo>
                <a:lnTo>
                  <a:pt x="46154" y="40385"/>
                </a:lnTo>
                <a:lnTo>
                  <a:pt x="46538" y="40769"/>
                </a:lnTo>
                <a:lnTo>
                  <a:pt x="46923" y="41154"/>
                </a:lnTo>
                <a:lnTo>
                  <a:pt x="51538" y="41154"/>
                </a:lnTo>
                <a:lnTo>
                  <a:pt x="51923" y="40769"/>
                </a:lnTo>
                <a:lnTo>
                  <a:pt x="54615" y="39615"/>
                </a:lnTo>
                <a:lnTo>
                  <a:pt x="58077" y="36154"/>
                </a:lnTo>
                <a:lnTo>
                  <a:pt x="58846" y="34615"/>
                </a:lnTo>
                <a:lnTo>
                  <a:pt x="58846" y="32308"/>
                </a:lnTo>
                <a:lnTo>
                  <a:pt x="59231" y="31923"/>
                </a:lnTo>
                <a:lnTo>
                  <a:pt x="59615" y="31538"/>
                </a:lnTo>
                <a:lnTo>
                  <a:pt x="59615" y="30769"/>
                </a:lnTo>
                <a:lnTo>
                  <a:pt x="59615" y="30000"/>
                </a:lnTo>
                <a:lnTo>
                  <a:pt x="59231" y="29615"/>
                </a:lnTo>
                <a:lnTo>
                  <a:pt x="58846" y="29231"/>
                </a:lnTo>
                <a:lnTo>
                  <a:pt x="58846" y="28462"/>
                </a:lnTo>
                <a:lnTo>
                  <a:pt x="58846" y="27692"/>
                </a:lnTo>
                <a:lnTo>
                  <a:pt x="58077" y="26154"/>
                </a:lnTo>
                <a:lnTo>
                  <a:pt x="54615" y="22692"/>
                </a:lnTo>
                <a:lnTo>
                  <a:pt x="51538" y="21154"/>
                </a:lnTo>
                <a:lnTo>
                  <a:pt x="46154" y="21154"/>
                </a:lnTo>
                <a:close/>
                <a:moveTo>
                  <a:pt x="45000" y="48462"/>
                </a:moveTo>
                <a:lnTo>
                  <a:pt x="45385" y="48077"/>
                </a:lnTo>
                <a:lnTo>
                  <a:pt x="53077" y="48077"/>
                </a:lnTo>
                <a:lnTo>
                  <a:pt x="53462" y="48462"/>
                </a:lnTo>
                <a:lnTo>
                  <a:pt x="53846" y="48846"/>
                </a:lnTo>
                <a:lnTo>
                  <a:pt x="57692" y="49615"/>
                </a:lnTo>
                <a:lnTo>
                  <a:pt x="60769" y="51923"/>
                </a:lnTo>
                <a:lnTo>
                  <a:pt x="61538" y="51923"/>
                </a:lnTo>
                <a:lnTo>
                  <a:pt x="63077" y="53462"/>
                </a:lnTo>
                <a:lnTo>
                  <a:pt x="63846" y="53462"/>
                </a:lnTo>
                <a:lnTo>
                  <a:pt x="65769" y="55385"/>
                </a:lnTo>
                <a:lnTo>
                  <a:pt x="65769" y="56154"/>
                </a:lnTo>
                <a:lnTo>
                  <a:pt x="68846" y="60000"/>
                </a:lnTo>
                <a:lnTo>
                  <a:pt x="68846" y="60769"/>
                </a:lnTo>
                <a:lnTo>
                  <a:pt x="68846" y="61538"/>
                </a:lnTo>
                <a:lnTo>
                  <a:pt x="70385" y="64615"/>
                </a:lnTo>
                <a:lnTo>
                  <a:pt x="70385" y="70000"/>
                </a:lnTo>
                <a:lnTo>
                  <a:pt x="68462" y="70385"/>
                </a:lnTo>
                <a:lnTo>
                  <a:pt x="68077" y="70000"/>
                </a:lnTo>
                <a:lnTo>
                  <a:pt x="68077" y="66154"/>
                </a:lnTo>
                <a:lnTo>
                  <a:pt x="67692" y="65769"/>
                </a:lnTo>
                <a:lnTo>
                  <a:pt x="67308" y="65385"/>
                </a:lnTo>
                <a:lnTo>
                  <a:pt x="67308" y="64615"/>
                </a:lnTo>
                <a:lnTo>
                  <a:pt x="67308" y="63846"/>
                </a:lnTo>
                <a:lnTo>
                  <a:pt x="65000" y="59231"/>
                </a:lnTo>
                <a:lnTo>
                  <a:pt x="60000" y="54231"/>
                </a:lnTo>
                <a:lnTo>
                  <a:pt x="55385" y="51923"/>
                </a:lnTo>
                <a:lnTo>
                  <a:pt x="53462" y="51538"/>
                </a:lnTo>
                <a:lnTo>
                  <a:pt x="53077" y="51154"/>
                </a:lnTo>
                <a:lnTo>
                  <a:pt x="44615" y="51154"/>
                </a:lnTo>
                <a:lnTo>
                  <a:pt x="44231" y="51538"/>
                </a:lnTo>
                <a:lnTo>
                  <a:pt x="43846" y="51923"/>
                </a:lnTo>
                <a:lnTo>
                  <a:pt x="43077" y="51923"/>
                </a:lnTo>
                <a:lnTo>
                  <a:pt x="42308" y="51923"/>
                </a:lnTo>
                <a:lnTo>
                  <a:pt x="39231" y="53462"/>
                </a:lnTo>
                <a:lnTo>
                  <a:pt x="36923" y="55769"/>
                </a:lnTo>
                <a:lnTo>
                  <a:pt x="36154" y="55769"/>
                </a:lnTo>
                <a:lnTo>
                  <a:pt x="31923" y="61538"/>
                </a:lnTo>
                <a:lnTo>
                  <a:pt x="31923" y="62308"/>
                </a:lnTo>
                <a:lnTo>
                  <a:pt x="31923" y="63077"/>
                </a:lnTo>
                <a:lnTo>
                  <a:pt x="31538" y="63462"/>
                </a:lnTo>
                <a:lnTo>
                  <a:pt x="31154" y="63846"/>
                </a:lnTo>
                <a:lnTo>
                  <a:pt x="31154" y="66154"/>
                </a:lnTo>
                <a:lnTo>
                  <a:pt x="30769" y="66538"/>
                </a:lnTo>
                <a:lnTo>
                  <a:pt x="30385" y="66923"/>
                </a:lnTo>
                <a:lnTo>
                  <a:pt x="30385" y="70000"/>
                </a:lnTo>
                <a:lnTo>
                  <a:pt x="28462" y="70385"/>
                </a:lnTo>
                <a:lnTo>
                  <a:pt x="28077" y="70000"/>
                </a:lnTo>
                <a:lnTo>
                  <a:pt x="28077" y="64615"/>
                </a:lnTo>
                <a:lnTo>
                  <a:pt x="28462" y="64231"/>
                </a:lnTo>
                <a:lnTo>
                  <a:pt x="28846" y="63846"/>
                </a:lnTo>
                <a:lnTo>
                  <a:pt x="29615" y="60000"/>
                </a:lnTo>
                <a:lnTo>
                  <a:pt x="31923" y="56923"/>
                </a:lnTo>
                <a:lnTo>
                  <a:pt x="31923" y="56154"/>
                </a:lnTo>
                <a:lnTo>
                  <a:pt x="35385" y="52692"/>
                </a:lnTo>
                <a:lnTo>
                  <a:pt x="36154" y="52692"/>
                </a:lnTo>
                <a:lnTo>
                  <a:pt x="37692" y="51154"/>
                </a:lnTo>
                <a:lnTo>
                  <a:pt x="42308" y="48846"/>
                </a:lnTo>
                <a:lnTo>
                  <a:pt x="45000" y="48462"/>
                </a:lnTo>
                <a:close/>
              </a:path>
            </a:pathLst>
          </a:custGeom>
          <a:solidFill>
            <a:srgbClr val="FFFFFF"/>
          </a:solidFill>
          <a:ln>
            <a:noFill/>
          </a:ln>
        </p:spPr>
        <p:txBody>
          <a:bodyPr/>
          <a:p/>
        </p:txBody>
      </p:sp>
      <p:sp>
        <p:nvSpPr>
          <p:cNvPr id="15" name="Text 12"/>
          <p:cNvSpPr/>
          <p:nvPr/>
        </p:nvSpPr>
        <p:spPr>
          <a:xfrm>
            <a:off x="5193792" y="1874520"/>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46 ans</a:t>
            </a:r>
            <a:endParaRPr lang="en-US" sz="4400" dirty="0"/>
          </a:p>
        </p:txBody>
      </p:sp>
      <p:sp>
        <p:nvSpPr>
          <p:cNvPr id="16" name="Text 13"/>
          <p:cNvSpPr/>
          <p:nvPr/>
        </p:nvSpPr>
        <p:spPr>
          <a:xfrm>
            <a:off x="5202936" y="2478024"/>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Âge moyen</a:t>
            </a:r>
            <a:endParaRPr lang="en-US" sz="1400" dirty="0"/>
          </a:p>
        </p:txBody>
      </p:sp>
      <p:sp>
        <p:nvSpPr>
          <p:cNvPr id="17" name="Shape 14"/>
          <p:cNvSpPr/>
          <p:nvPr/>
        </p:nvSpPr>
        <p:spPr>
          <a:xfrm>
            <a:off x="7973568" y="1728216"/>
            <a:ext cx="4050792" cy="1325880"/>
          </a:xfrm>
          <a:prstGeom prst="roundRect">
            <a:avLst>
              <a:gd name="adj" fmla="val 9655"/>
            </a:avLst>
          </a:prstGeom>
          <a:solidFill>
            <a:srgbClr val="EFF6FF"/>
          </a:solidFill>
          <a:ln w="12700">
            <a:solidFill>
              <a:srgbClr val="EFF6FF">
                <a:alpha val="0"/>
              </a:srgbClr>
            </a:solidFill>
            <a:prstDash val="solid"/>
          </a:ln>
        </p:spPr>
        <p:txBody>
          <a:bodyPr/>
          <a:p/>
        </p:txBody>
      </p:sp>
      <p:sp>
        <p:nvSpPr>
          <p:cNvPr id="18" name="Shape 15"/>
          <p:cNvSpPr/>
          <p:nvPr/>
        </p:nvSpPr>
        <p:spPr>
          <a:xfrm>
            <a:off x="8174736" y="1865376"/>
            <a:ext cx="923544" cy="923544"/>
          </a:xfrm>
          <a:prstGeom prst="ellipse">
            <a:avLst/>
          </a:prstGeom>
          <a:solidFill>
            <a:srgbClr val="6D28D9"/>
          </a:solidFill>
          <a:ln w="12700">
            <a:solidFill>
              <a:srgbClr val="17324D">
                <a:alpha val="0"/>
              </a:srgbClr>
            </a:solidFill>
            <a:prstDash val="solid"/>
          </a:ln>
        </p:spPr>
        <p:txBody>
          <a:bodyPr/>
          <a:p/>
        </p:txBody>
      </p:sp>
      <p:sp>
        <p:nvSpPr>
          <p:cNvPr id="19" name="VECTOR_database_59"/>
          <p:cNvSpPr/>
          <p:nvPr/>
        </p:nvSpPr>
        <p:spPr>
          <a:xfrm>
            <a:off x="8174736" y="1865376"/>
            <a:ext cx="923544" cy="923544"/>
          </a:xfrm>
          <a:custGeom>
            <a:avLst/>
            <a:gdLst/>
            <a:ahLst/>
            <a:cxnLst/>
            <a:rect l="0" t="0" r="r" b="b"/>
            <a:pathLst>
              <a:path w="100000" h="100000" fill="norm" stroke="false" extrusionOk="false">
                <a:moveTo>
                  <a:pt x="41154" y="22308"/>
                </a:moveTo>
                <a:lnTo>
                  <a:pt x="41538" y="21923"/>
                </a:lnTo>
                <a:lnTo>
                  <a:pt x="53846" y="21923"/>
                </a:lnTo>
                <a:lnTo>
                  <a:pt x="54231" y="22308"/>
                </a:lnTo>
                <a:lnTo>
                  <a:pt x="54615" y="22692"/>
                </a:lnTo>
                <a:lnTo>
                  <a:pt x="58462" y="22692"/>
                </a:lnTo>
                <a:lnTo>
                  <a:pt x="58846" y="23077"/>
                </a:lnTo>
                <a:lnTo>
                  <a:pt x="59231" y="23462"/>
                </a:lnTo>
                <a:lnTo>
                  <a:pt x="60000" y="23462"/>
                </a:lnTo>
                <a:lnTo>
                  <a:pt x="60769" y="23462"/>
                </a:lnTo>
                <a:lnTo>
                  <a:pt x="62308" y="24231"/>
                </a:lnTo>
                <a:lnTo>
                  <a:pt x="65769" y="27692"/>
                </a:lnTo>
                <a:lnTo>
                  <a:pt x="65769" y="63077"/>
                </a:lnTo>
                <a:lnTo>
                  <a:pt x="63077" y="65769"/>
                </a:lnTo>
                <a:lnTo>
                  <a:pt x="60000" y="67308"/>
                </a:lnTo>
                <a:lnTo>
                  <a:pt x="52308" y="68846"/>
                </a:lnTo>
                <a:lnTo>
                  <a:pt x="40769" y="68846"/>
                </a:lnTo>
                <a:lnTo>
                  <a:pt x="40385" y="68462"/>
                </a:lnTo>
                <a:lnTo>
                  <a:pt x="40000" y="68077"/>
                </a:lnTo>
                <a:lnTo>
                  <a:pt x="36923" y="68077"/>
                </a:lnTo>
                <a:lnTo>
                  <a:pt x="36538" y="67692"/>
                </a:lnTo>
                <a:lnTo>
                  <a:pt x="36154" y="67308"/>
                </a:lnTo>
                <a:lnTo>
                  <a:pt x="35385" y="67308"/>
                </a:lnTo>
                <a:lnTo>
                  <a:pt x="34615" y="67308"/>
                </a:lnTo>
                <a:lnTo>
                  <a:pt x="31538" y="65769"/>
                </a:lnTo>
                <a:lnTo>
                  <a:pt x="28846" y="63077"/>
                </a:lnTo>
                <a:lnTo>
                  <a:pt x="28846" y="55385"/>
                </a:lnTo>
                <a:lnTo>
                  <a:pt x="29231" y="55000"/>
                </a:lnTo>
                <a:lnTo>
                  <a:pt x="29615" y="54615"/>
                </a:lnTo>
                <a:lnTo>
                  <a:pt x="28846" y="53077"/>
                </a:lnTo>
                <a:lnTo>
                  <a:pt x="28846" y="46923"/>
                </a:lnTo>
                <a:lnTo>
                  <a:pt x="29231" y="46538"/>
                </a:lnTo>
                <a:lnTo>
                  <a:pt x="29615" y="46154"/>
                </a:lnTo>
                <a:lnTo>
                  <a:pt x="29615" y="43846"/>
                </a:lnTo>
                <a:lnTo>
                  <a:pt x="29231" y="43462"/>
                </a:lnTo>
                <a:lnTo>
                  <a:pt x="28846" y="43077"/>
                </a:lnTo>
                <a:lnTo>
                  <a:pt x="28846" y="28462"/>
                </a:lnTo>
                <a:lnTo>
                  <a:pt x="31538" y="25000"/>
                </a:lnTo>
                <a:lnTo>
                  <a:pt x="34615" y="23462"/>
                </a:lnTo>
                <a:lnTo>
                  <a:pt x="35385" y="23462"/>
                </a:lnTo>
                <a:lnTo>
                  <a:pt x="36154" y="23462"/>
                </a:lnTo>
                <a:lnTo>
                  <a:pt x="36538" y="23077"/>
                </a:lnTo>
                <a:lnTo>
                  <a:pt x="36923" y="22692"/>
                </a:lnTo>
                <a:lnTo>
                  <a:pt x="40769" y="22692"/>
                </a:lnTo>
                <a:lnTo>
                  <a:pt x="41154" y="22308"/>
                </a:lnTo>
                <a:close/>
                <a:moveTo>
                  <a:pt x="40769" y="24231"/>
                </a:moveTo>
                <a:lnTo>
                  <a:pt x="40385" y="24615"/>
                </a:lnTo>
                <a:lnTo>
                  <a:pt x="40000" y="25000"/>
                </a:lnTo>
                <a:lnTo>
                  <a:pt x="37692" y="25000"/>
                </a:lnTo>
                <a:lnTo>
                  <a:pt x="37308" y="25385"/>
                </a:lnTo>
                <a:lnTo>
                  <a:pt x="36923" y="25769"/>
                </a:lnTo>
                <a:lnTo>
                  <a:pt x="36154" y="25769"/>
                </a:lnTo>
                <a:lnTo>
                  <a:pt x="35385" y="25769"/>
                </a:lnTo>
                <a:lnTo>
                  <a:pt x="33846" y="26538"/>
                </a:lnTo>
                <a:lnTo>
                  <a:pt x="31154" y="29231"/>
                </a:lnTo>
                <a:lnTo>
                  <a:pt x="31154" y="30000"/>
                </a:lnTo>
                <a:lnTo>
                  <a:pt x="31154" y="30769"/>
                </a:lnTo>
                <a:lnTo>
                  <a:pt x="33846" y="33462"/>
                </a:lnTo>
                <a:lnTo>
                  <a:pt x="35385" y="34231"/>
                </a:lnTo>
                <a:lnTo>
                  <a:pt x="36154" y="34231"/>
                </a:lnTo>
                <a:lnTo>
                  <a:pt x="36923" y="34231"/>
                </a:lnTo>
                <a:lnTo>
                  <a:pt x="37308" y="34615"/>
                </a:lnTo>
                <a:lnTo>
                  <a:pt x="37692" y="35000"/>
                </a:lnTo>
                <a:lnTo>
                  <a:pt x="40000" y="35000"/>
                </a:lnTo>
                <a:lnTo>
                  <a:pt x="40385" y="35385"/>
                </a:lnTo>
                <a:lnTo>
                  <a:pt x="40769" y="35769"/>
                </a:lnTo>
                <a:lnTo>
                  <a:pt x="53077" y="35769"/>
                </a:lnTo>
                <a:lnTo>
                  <a:pt x="53462" y="35385"/>
                </a:lnTo>
                <a:lnTo>
                  <a:pt x="56923" y="35000"/>
                </a:lnTo>
                <a:lnTo>
                  <a:pt x="57308" y="34615"/>
                </a:lnTo>
                <a:lnTo>
                  <a:pt x="57692" y="34231"/>
                </a:lnTo>
                <a:lnTo>
                  <a:pt x="58462" y="34231"/>
                </a:lnTo>
                <a:lnTo>
                  <a:pt x="59231" y="34231"/>
                </a:lnTo>
                <a:lnTo>
                  <a:pt x="62308" y="32692"/>
                </a:lnTo>
                <a:lnTo>
                  <a:pt x="63462" y="31538"/>
                </a:lnTo>
                <a:lnTo>
                  <a:pt x="63462" y="28462"/>
                </a:lnTo>
                <a:lnTo>
                  <a:pt x="62308" y="27308"/>
                </a:lnTo>
                <a:lnTo>
                  <a:pt x="59231" y="25769"/>
                </a:lnTo>
                <a:lnTo>
                  <a:pt x="58462" y="25769"/>
                </a:lnTo>
                <a:lnTo>
                  <a:pt x="57692" y="25769"/>
                </a:lnTo>
                <a:lnTo>
                  <a:pt x="57308" y="25385"/>
                </a:lnTo>
                <a:lnTo>
                  <a:pt x="56923" y="25000"/>
                </a:lnTo>
                <a:lnTo>
                  <a:pt x="54615" y="25000"/>
                </a:lnTo>
                <a:lnTo>
                  <a:pt x="54231" y="24615"/>
                </a:lnTo>
                <a:lnTo>
                  <a:pt x="53846" y="24231"/>
                </a:lnTo>
                <a:lnTo>
                  <a:pt x="40769" y="24231"/>
                </a:lnTo>
                <a:close/>
                <a:moveTo>
                  <a:pt x="31538" y="35000"/>
                </a:moveTo>
                <a:lnTo>
                  <a:pt x="31154" y="35385"/>
                </a:lnTo>
                <a:lnTo>
                  <a:pt x="31154" y="41538"/>
                </a:lnTo>
                <a:lnTo>
                  <a:pt x="34615" y="44231"/>
                </a:lnTo>
                <a:lnTo>
                  <a:pt x="35385" y="44231"/>
                </a:lnTo>
                <a:lnTo>
                  <a:pt x="36154" y="44231"/>
                </a:lnTo>
                <a:lnTo>
                  <a:pt x="36538" y="44615"/>
                </a:lnTo>
                <a:lnTo>
                  <a:pt x="36923" y="45000"/>
                </a:lnTo>
                <a:lnTo>
                  <a:pt x="40000" y="45000"/>
                </a:lnTo>
                <a:lnTo>
                  <a:pt x="40385" y="45385"/>
                </a:lnTo>
                <a:lnTo>
                  <a:pt x="40769" y="45769"/>
                </a:lnTo>
                <a:lnTo>
                  <a:pt x="53846" y="45769"/>
                </a:lnTo>
                <a:lnTo>
                  <a:pt x="54231" y="45385"/>
                </a:lnTo>
                <a:lnTo>
                  <a:pt x="54615" y="45000"/>
                </a:lnTo>
                <a:lnTo>
                  <a:pt x="56923" y="45000"/>
                </a:lnTo>
                <a:lnTo>
                  <a:pt x="57308" y="44615"/>
                </a:lnTo>
                <a:lnTo>
                  <a:pt x="57692" y="44231"/>
                </a:lnTo>
                <a:lnTo>
                  <a:pt x="58462" y="44231"/>
                </a:lnTo>
                <a:lnTo>
                  <a:pt x="59231" y="44231"/>
                </a:lnTo>
                <a:lnTo>
                  <a:pt x="62308" y="42692"/>
                </a:lnTo>
                <a:lnTo>
                  <a:pt x="63462" y="41538"/>
                </a:lnTo>
                <a:lnTo>
                  <a:pt x="63462" y="40769"/>
                </a:lnTo>
                <a:lnTo>
                  <a:pt x="63462" y="40000"/>
                </a:lnTo>
                <a:lnTo>
                  <a:pt x="63462" y="35385"/>
                </a:lnTo>
                <a:lnTo>
                  <a:pt x="63077" y="35000"/>
                </a:lnTo>
                <a:lnTo>
                  <a:pt x="61538" y="35769"/>
                </a:lnTo>
                <a:lnTo>
                  <a:pt x="60769" y="35769"/>
                </a:lnTo>
                <a:lnTo>
                  <a:pt x="60000" y="35769"/>
                </a:lnTo>
                <a:lnTo>
                  <a:pt x="59615" y="36154"/>
                </a:lnTo>
                <a:lnTo>
                  <a:pt x="59231" y="36538"/>
                </a:lnTo>
                <a:lnTo>
                  <a:pt x="58462" y="36538"/>
                </a:lnTo>
                <a:lnTo>
                  <a:pt x="57692" y="36538"/>
                </a:lnTo>
                <a:lnTo>
                  <a:pt x="57308" y="36923"/>
                </a:lnTo>
                <a:lnTo>
                  <a:pt x="56923" y="37308"/>
                </a:lnTo>
                <a:lnTo>
                  <a:pt x="56154" y="37308"/>
                </a:lnTo>
                <a:lnTo>
                  <a:pt x="55385" y="37308"/>
                </a:lnTo>
                <a:lnTo>
                  <a:pt x="55000" y="37692"/>
                </a:lnTo>
                <a:lnTo>
                  <a:pt x="54615" y="38077"/>
                </a:lnTo>
                <a:lnTo>
                  <a:pt x="49231" y="38077"/>
                </a:lnTo>
                <a:lnTo>
                  <a:pt x="47308" y="39231"/>
                </a:lnTo>
                <a:lnTo>
                  <a:pt x="46923" y="41154"/>
                </a:lnTo>
                <a:lnTo>
                  <a:pt x="46538" y="39231"/>
                </a:lnTo>
                <a:lnTo>
                  <a:pt x="45385" y="38077"/>
                </a:lnTo>
                <a:lnTo>
                  <a:pt x="40000" y="38077"/>
                </a:lnTo>
                <a:lnTo>
                  <a:pt x="39615" y="37692"/>
                </a:lnTo>
                <a:lnTo>
                  <a:pt x="39231" y="37308"/>
                </a:lnTo>
                <a:lnTo>
                  <a:pt x="36923" y="37308"/>
                </a:lnTo>
                <a:lnTo>
                  <a:pt x="36538" y="36923"/>
                </a:lnTo>
                <a:lnTo>
                  <a:pt x="36154" y="36538"/>
                </a:lnTo>
                <a:lnTo>
                  <a:pt x="35385" y="36538"/>
                </a:lnTo>
                <a:lnTo>
                  <a:pt x="34615" y="36538"/>
                </a:lnTo>
                <a:lnTo>
                  <a:pt x="31538" y="35000"/>
                </a:lnTo>
                <a:close/>
                <a:moveTo>
                  <a:pt x="32308" y="45000"/>
                </a:moveTo>
                <a:lnTo>
                  <a:pt x="31154" y="46154"/>
                </a:lnTo>
                <a:lnTo>
                  <a:pt x="31154" y="51538"/>
                </a:lnTo>
                <a:lnTo>
                  <a:pt x="32308" y="52692"/>
                </a:lnTo>
                <a:lnTo>
                  <a:pt x="35385" y="54231"/>
                </a:lnTo>
                <a:lnTo>
                  <a:pt x="36154" y="54231"/>
                </a:lnTo>
                <a:lnTo>
                  <a:pt x="36923" y="54231"/>
                </a:lnTo>
                <a:lnTo>
                  <a:pt x="40000" y="55769"/>
                </a:lnTo>
                <a:lnTo>
                  <a:pt x="54615" y="55769"/>
                </a:lnTo>
                <a:lnTo>
                  <a:pt x="55000" y="55385"/>
                </a:lnTo>
                <a:lnTo>
                  <a:pt x="55385" y="55000"/>
                </a:lnTo>
                <a:lnTo>
                  <a:pt x="58462" y="55000"/>
                </a:lnTo>
                <a:lnTo>
                  <a:pt x="62308" y="52692"/>
                </a:lnTo>
                <a:lnTo>
                  <a:pt x="63077" y="52692"/>
                </a:lnTo>
                <a:lnTo>
                  <a:pt x="63462" y="52308"/>
                </a:lnTo>
                <a:lnTo>
                  <a:pt x="63462" y="45385"/>
                </a:lnTo>
                <a:lnTo>
                  <a:pt x="63077" y="45000"/>
                </a:lnTo>
                <a:lnTo>
                  <a:pt x="60000" y="46538"/>
                </a:lnTo>
                <a:lnTo>
                  <a:pt x="56154" y="47308"/>
                </a:lnTo>
                <a:lnTo>
                  <a:pt x="55769" y="47692"/>
                </a:lnTo>
                <a:lnTo>
                  <a:pt x="55385" y="48077"/>
                </a:lnTo>
                <a:lnTo>
                  <a:pt x="39231" y="48077"/>
                </a:lnTo>
                <a:lnTo>
                  <a:pt x="38846" y="47692"/>
                </a:lnTo>
                <a:lnTo>
                  <a:pt x="38462" y="47308"/>
                </a:lnTo>
                <a:lnTo>
                  <a:pt x="37692" y="47308"/>
                </a:lnTo>
                <a:lnTo>
                  <a:pt x="36923" y="47308"/>
                </a:lnTo>
                <a:lnTo>
                  <a:pt x="32308" y="45000"/>
                </a:lnTo>
                <a:close/>
                <a:moveTo>
                  <a:pt x="62308" y="55000"/>
                </a:moveTo>
                <a:lnTo>
                  <a:pt x="60769" y="56538"/>
                </a:lnTo>
                <a:lnTo>
                  <a:pt x="60000" y="56538"/>
                </a:lnTo>
                <a:lnTo>
                  <a:pt x="59231" y="56538"/>
                </a:lnTo>
                <a:lnTo>
                  <a:pt x="58846" y="56923"/>
                </a:lnTo>
                <a:lnTo>
                  <a:pt x="58462" y="57308"/>
                </a:lnTo>
                <a:lnTo>
                  <a:pt x="56154" y="57308"/>
                </a:lnTo>
                <a:lnTo>
                  <a:pt x="53077" y="58846"/>
                </a:lnTo>
                <a:lnTo>
                  <a:pt x="52692" y="58462"/>
                </a:lnTo>
                <a:lnTo>
                  <a:pt x="52308" y="58077"/>
                </a:lnTo>
                <a:lnTo>
                  <a:pt x="50000" y="58077"/>
                </a:lnTo>
                <a:lnTo>
                  <a:pt x="48462" y="58846"/>
                </a:lnTo>
                <a:lnTo>
                  <a:pt x="47692" y="60385"/>
                </a:lnTo>
                <a:lnTo>
                  <a:pt x="45385" y="58077"/>
                </a:lnTo>
                <a:lnTo>
                  <a:pt x="40000" y="58077"/>
                </a:lnTo>
                <a:lnTo>
                  <a:pt x="39615" y="57692"/>
                </a:lnTo>
                <a:lnTo>
                  <a:pt x="39231" y="57308"/>
                </a:lnTo>
                <a:lnTo>
                  <a:pt x="36154" y="57308"/>
                </a:lnTo>
                <a:lnTo>
                  <a:pt x="35769" y="56923"/>
                </a:lnTo>
                <a:lnTo>
                  <a:pt x="35385" y="56538"/>
                </a:lnTo>
                <a:lnTo>
                  <a:pt x="31538" y="55769"/>
                </a:lnTo>
                <a:lnTo>
                  <a:pt x="31154" y="56154"/>
                </a:lnTo>
                <a:lnTo>
                  <a:pt x="31154" y="61538"/>
                </a:lnTo>
                <a:lnTo>
                  <a:pt x="31538" y="61923"/>
                </a:lnTo>
                <a:lnTo>
                  <a:pt x="33846" y="64231"/>
                </a:lnTo>
                <a:lnTo>
                  <a:pt x="35385" y="65000"/>
                </a:lnTo>
                <a:lnTo>
                  <a:pt x="37692" y="65000"/>
                </a:lnTo>
                <a:lnTo>
                  <a:pt x="38077" y="65385"/>
                </a:lnTo>
                <a:lnTo>
                  <a:pt x="38462" y="65769"/>
                </a:lnTo>
                <a:lnTo>
                  <a:pt x="43077" y="65769"/>
                </a:lnTo>
                <a:lnTo>
                  <a:pt x="43462" y="66154"/>
                </a:lnTo>
                <a:lnTo>
                  <a:pt x="43846" y="66538"/>
                </a:lnTo>
                <a:lnTo>
                  <a:pt x="51538" y="66538"/>
                </a:lnTo>
                <a:lnTo>
                  <a:pt x="51923" y="66154"/>
                </a:lnTo>
                <a:lnTo>
                  <a:pt x="52308" y="65769"/>
                </a:lnTo>
                <a:lnTo>
                  <a:pt x="56923" y="65769"/>
                </a:lnTo>
                <a:lnTo>
                  <a:pt x="57308" y="65385"/>
                </a:lnTo>
                <a:lnTo>
                  <a:pt x="57692" y="65000"/>
                </a:lnTo>
                <a:lnTo>
                  <a:pt x="58462" y="65000"/>
                </a:lnTo>
                <a:lnTo>
                  <a:pt x="59231" y="65000"/>
                </a:lnTo>
                <a:lnTo>
                  <a:pt x="62308" y="63462"/>
                </a:lnTo>
                <a:lnTo>
                  <a:pt x="63462" y="62308"/>
                </a:lnTo>
                <a:lnTo>
                  <a:pt x="63462" y="55385"/>
                </a:lnTo>
                <a:lnTo>
                  <a:pt x="63077" y="55000"/>
                </a:lnTo>
                <a:lnTo>
                  <a:pt x="62308" y="55000"/>
                </a:lnTo>
                <a:close/>
              </a:path>
            </a:pathLst>
          </a:custGeom>
          <a:solidFill>
            <a:srgbClr val="FFFFFF"/>
          </a:solidFill>
          <a:ln>
            <a:noFill/>
          </a:ln>
        </p:spPr>
        <p:txBody>
          <a:bodyPr/>
          <a:p/>
        </p:txBody>
      </p:sp>
      <p:sp>
        <p:nvSpPr>
          <p:cNvPr id="20" name="Text 17"/>
          <p:cNvSpPr/>
          <p:nvPr/>
        </p:nvSpPr>
        <p:spPr>
          <a:xfrm>
            <a:off x="9390888" y="1874520"/>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77 k</a:t>
            </a:r>
            <a:endParaRPr lang="en-US" sz="4400" dirty="0"/>
          </a:p>
        </p:txBody>
      </p:sp>
      <p:sp>
        <p:nvSpPr>
          <p:cNvPr id="21" name="Text 18"/>
          <p:cNvSpPr/>
          <p:nvPr/>
        </p:nvSpPr>
        <p:spPr>
          <a:xfrm>
            <a:off x="9400032" y="2478024"/>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Revenu moyen</a:t>
            </a:r>
            <a:endParaRPr lang="en-US" sz="1400" dirty="0"/>
          </a:p>
        </p:txBody>
      </p:sp>
      <p:sp>
        <p:nvSpPr>
          <p:cNvPr id="22" name="Text 19"/>
          <p:cNvSpPr/>
          <p:nvPr/>
        </p:nvSpPr>
        <p:spPr>
          <a:xfrm>
            <a:off x="9418320" y="2788920"/>
            <a:ext cx="2350008" cy="182880"/>
          </a:xfrm>
          <a:prstGeom prst="rect">
            <a:avLst/>
          </a:prstGeom>
          <a:noFill/>
          <a:ln/>
        </p:spPr>
        <p:txBody>
          <a:bodyPr wrap="square" lIns="0" tIns="0" rIns="0" bIns="0" rtlCol="0" anchor="ctr"/>
          <a:lstStyle/>
          <a:p>
            <a:pPr indent="0" marL="0">
              <a:buNone/>
            </a:pPr>
            <a:r>
              <a:rPr lang="en-US" sz="1100" b="1" dirty="0">
                <a:solidFill>
                  <a:srgbClr val="17324D"/>
                </a:solidFill>
                <a:latin typeface="Aptos" pitchFamily="34" charset="0"/>
                <a:ea typeface="Segoe UI" pitchFamily="34" charset="-122"/>
                <a:cs typeface="Segoe UI" pitchFamily="34" charset="-120"/>
              </a:rPr>
              <a:t>Revenu le plus élevé</a:t>
            </a:r>
            <a:endParaRPr lang="en-US" sz="1100" dirty="0"/>
          </a:p>
        </p:txBody>
      </p:sp>
      <p:sp>
        <p:nvSpPr>
          <p:cNvPr id="23" name="Shape 20"/>
          <p:cNvSpPr/>
          <p:nvPr/>
        </p:nvSpPr>
        <p:spPr>
          <a:xfrm>
            <a:off x="3776472" y="3172968"/>
            <a:ext cx="4050792" cy="1325880"/>
          </a:xfrm>
          <a:prstGeom prst="roundRect">
            <a:avLst>
              <a:gd name="adj" fmla="val 9655"/>
            </a:avLst>
          </a:prstGeom>
          <a:solidFill>
            <a:srgbClr val="F3F4F6"/>
          </a:solidFill>
          <a:ln w="12700">
            <a:solidFill>
              <a:srgbClr val="F3F4F6">
                <a:alpha val="0"/>
              </a:srgbClr>
            </a:solidFill>
            <a:prstDash val="solid"/>
          </a:ln>
        </p:spPr>
        <p:txBody>
          <a:bodyPr/>
          <a:p/>
        </p:txBody>
      </p:sp>
      <p:sp>
        <p:nvSpPr>
          <p:cNvPr id="24" name="Shape 21"/>
          <p:cNvSpPr/>
          <p:nvPr/>
        </p:nvSpPr>
        <p:spPr>
          <a:xfrm>
            <a:off x="3977640" y="3310128"/>
            <a:ext cx="923544" cy="923544"/>
          </a:xfrm>
          <a:prstGeom prst="ellipse">
            <a:avLst/>
          </a:prstGeom>
          <a:solidFill>
            <a:srgbClr val="6D28D9"/>
          </a:solidFill>
          <a:ln w="12700">
            <a:solidFill>
              <a:srgbClr val="6D28D9">
                <a:alpha val="0"/>
              </a:srgbClr>
            </a:solidFill>
            <a:prstDash val="solid"/>
          </a:ln>
        </p:spPr>
        <p:txBody>
          <a:bodyPr/>
          <a:p/>
        </p:txBody>
      </p:sp>
      <p:sp>
        <p:nvSpPr>
          <p:cNvPr id="25" name="VECTOR_bag2_60"/>
          <p:cNvSpPr/>
          <p:nvPr/>
        </p:nvSpPr>
        <p:spPr>
          <a:xfrm>
            <a:off x="3977640" y="3310128"/>
            <a:ext cx="923544" cy="923544"/>
          </a:xfrm>
          <a:custGeom>
            <a:avLst/>
            <a:gdLst/>
            <a:ahLst/>
            <a:cxnLst/>
            <a:rect l="0" t="0" r="r" b="b"/>
            <a:pathLst>
              <a:path w="100000" h="100000" fill="norm" stroke="false" extrusionOk="false">
                <a:moveTo>
                  <a:pt x="45000" y="24615"/>
                </a:moveTo>
                <a:lnTo>
                  <a:pt x="45385" y="24231"/>
                </a:lnTo>
                <a:lnTo>
                  <a:pt x="51538" y="24231"/>
                </a:lnTo>
                <a:lnTo>
                  <a:pt x="54615" y="25769"/>
                </a:lnTo>
                <a:lnTo>
                  <a:pt x="57308" y="28462"/>
                </a:lnTo>
                <a:lnTo>
                  <a:pt x="58846" y="31538"/>
                </a:lnTo>
                <a:lnTo>
                  <a:pt x="58846" y="37692"/>
                </a:lnTo>
                <a:lnTo>
                  <a:pt x="59231" y="38077"/>
                </a:lnTo>
                <a:lnTo>
                  <a:pt x="66154" y="38077"/>
                </a:lnTo>
                <a:lnTo>
                  <a:pt x="68077" y="40000"/>
                </a:lnTo>
                <a:lnTo>
                  <a:pt x="68077" y="44615"/>
                </a:lnTo>
                <a:lnTo>
                  <a:pt x="68462" y="45000"/>
                </a:lnTo>
                <a:lnTo>
                  <a:pt x="68846" y="45385"/>
                </a:lnTo>
                <a:lnTo>
                  <a:pt x="68846" y="51538"/>
                </a:lnTo>
                <a:lnTo>
                  <a:pt x="69231" y="51923"/>
                </a:lnTo>
                <a:lnTo>
                  <a:pt x="69615" y="52308"/>
                </a:lnTo>
                <a:lnTo>
                  <a:pt x="69615" y="57692"/>
                </a:lnTo>
                <a:lnTo>
                  <a:pt x="70000" y="58077"/>
                </a:lnTo>
                <a:lnTo>
                  <a:pt x="70385" y="58462"/>
                </a:lnTo>
                <a:lnTo>
                  <a:pt x="70385" y="63846"/>
                </a:lnTo>
                <a:lnTo>
                  <a:pt x="70769" y="64231"/>
                </a:lnTo>
                <a:lnTo>
                  <a:pt x="71154" y="64615"/>
                </a:lnTo>
                <a:lnTo>
                  <a:pt x="71154" y="70769"/>
                </a:lnTo>
                <a:lnTo>
                  <a:pt x="71538" y="71154"/>
                </a:lnTo>
                <a:lnTo>
                  <a:pt x="71923" y="71538"/>
                </a:lnTo>
                <a:lnTo>
                  <a:pt x="71923" y="76923"/>
                </a:lnTo>
                <a:lnTo>
                  <a:pt x="70000" y="78077"/>
                </a:lnTo>
                <a:lnTo>
                  <a:pt x="52308" y="78077"/>
                </a:lnTo>
                <a:lnTo>
                  <a:pt x="26923" y="78077"/>
                </a:lnTo>
                <a:lnTo>
                  <a:pt x="25000" y="76154"/>
                </a:lnTo>
                <a:lnTo>
                  <a:pt x="25000" y="73846"/>
                </a:lnTo>
                <a:lnTo>
                  <a:pt x="25385" y="73462"/>
                </a:lnTo>
                <a:lnTo>
                  <a:pt x="25769" y="73077"/>
                </a:lnTo>
                <a:lnTo>
                  <a:pt x="25769" y="67692"/>
                </a:lnTo>
                <a:lnTo>
                  <a:pt x="26154" y="67308"/>
                </a:lnTo>
                <a:lnTo>
                  <a:pt x="26538" y="66923"/>
                </a:lnTo>
                <a:lnTo>
                  <a:pt x="26538" y="62308"/>
                </a:lnTo>
                <a:lnTo>
                  <a:pt x="26923" y="61923"/>
                </a:lnTo>
                <a:lnTo>
                  <a:pt x="27308" y="61538"/>
                </a:lnTo>
                <a:lnTo>
                  <a:pt x="27308" y="56154"/>
                </a:lnTo>
                <a:lnTo>
                  <a:pt x="27692" y="55769"/>
                </a:lnTo>
                <a:lnTo>
                  <a:pt x="28077" y="55385"/>
                </a:lnTo>
                <a:lnTo>
                  <a:pt x="28077" y="49231"/>
                </a:lnTo>
                <a:lnTo>
                  <a:pt x="28462" y="48846"/>
                </a:lnTo>
                <a:lnTo>
                  <a:pt x="28846" y="48462"/>
                </a:lnTo>
                <a:lnTo>
                  <a:pt x="28846" y="43846"/>
                </a:lnTo>
                <a:lnTo>
                  <a:pt x="29231" y="43462"/>
                </a:lnTo>
                <a:lnTo>
                  <a:pt x="29615" y="43077"/>
                </a:lnTo>
                <a:lnTo>
                  <a:pt x="29615" y="39231"/>
                </a:lnTo>
                <a:lnTo>
                  <a:pt x="30769" y="38077"/>
                </a:lnTo>
                <a:lnTo>
                  <a:pt x="37692" y="38077"/>
                </a:lnTo>
                <a:lnTo>
                  <a:pt x="38077" y="37692"/>
                </a:lnTo>
                <a:lnTo>
                  <a:pt x="38077" y="32308"/>
                </a:lnTo>
                <a:lnTo>
                  <a:pt x="38462" y="31923"/>
                </a:lnTo>
                <a:lnTo>
                  <a:pt x="38846" y="31538"/>
                </a:lnTo>
                <a:lnTo>
                  <a:pt x="38846" y="30769"/>
                </a:lnTo>
                <a:lnTo>
                  <a:pt x="38846" y="30000"/>
                </a:lnTo>
                <a:lnTo>
                  <a:pt x="39615" y="28462"/>
                </a:lnTo>
                <a:lnTo>
                  <a:pt x="42308" y="25769"/>
                </a:lnTo>
                <a:lnTo>
                  <a:pt x="45000" y="24615"/>
                </a:lnTo>
                <a:close/>
                <a:moveTo>
                  <a:pt x="46154" y="26538"/>
                </a:moveTo>
                <a:lnTo>
                  <a:pt x="44615" y="27308"/>
                </a:lnTo>
                <a:lnTo>
                  <a:pt x="41923" y="30000"/>
                </a:lnTo>
                <a:lnTo>
                  <a:pt x="41154" y="31538"/>
                </a:lnTo>
                <a:lnTo>
                  <a:pt x="41154" y="37692"/>
                </a:lnTo>
                <a:lnTo>
                  <a:pt x="41538" y="38077"/>
                </a:lnTo>
                <a:lnTo>
                  <a:pt x="51538" y="38077"/>
                </a:lnTo>
                <a:lnTo>
                  <a:pt x="56154" y="38077"/>
                </a:lnTo>
                <a:lnTo>
                  <a:pt x="56538" y="37692"/>
                </a:lnTo>
                <a:lnTo>
                  <a:pt x="56538" y="33077"/>
                </a:lnTo>
                <a:lnTo>
                  <a:pt x="56154" y="32692"/>
                </a:lnTo>
                <a:lnTo>
                  <a:pt x="55769" y="32308"/>
                </a:lnTo>
                <a:lnTo>
                  <a:pt x="55769" y="31538"/>
                </a:lnTo>
                <a:lnTo>
                  <a:pt x="55769" y="30769"/>
                </a:lnTo>
                <a:lnTo>
                  <a:pt x="52308" y="27308"/>
                </a:lnTo>
                <a:lnTo>
                  <a:pt x="51538" y="27308"/>
                </a:lnTo>
                <a:lnTo>
                  <a:pt x="50769" y="27308"/>
                </a:lnTo>
                <a:lnTo>
                  <a:pt x="50385" y="26923"/>
                </a:lnTo>
                <a:lnTo>
                  <a:pt x="50000" y="26538"/>
                </a:lnTo>
                <a:lnTo>
                  <a:pt x="46154" y="26538"/>
                </a:lnTo>
                <a:close/>
                <a:moveTo>
                  <a:pt x="33077" y="41154"/>
                </a:moveTo>
                <a:lnTo>
                  <a:pt x="31923" y="42308"/>
                </a:lnTo>
                <a:lnTo>
                  <a:pt x="31923" y="45385"/>
                </a:lnTo>
                <a:lnTo>
                  <a:pt x="31538" y="45769"/>
                </a:lnTo>
                <a:lnTo>
                  <a:pt x="31154" y="46154"/>
                </a:lnTo>
                <a:lnTo>
                  <a:pt x="31154" y="51538"/>
                </a:lnTo>
                <a:lnTo>
                  <a:pt x="30769" y="51923"/>
                </a:lnTo>
                <a:lnTo>
                  <a:pt x="30385" y="52308"/>
                </a:lnTo>
                <a:lnTo>
                  <a:pt x="30385" y="56923"/>
                </a:lnTo>
                <a:lnTo>
                  <a:pt x="30000" y="57308"/>
                </a:lnTo>
                <a:lnTo>
                  <a:pt x="29615" y="57692"/>
                </a:lnTo>
                <a:lnTo>
                  <a:pt x="29615" y="63077"/>
                </a:lnTo>
                <a:lnTo>
                  <a:pt x="29231" y="63462"/>
                </a:lnTo>
                <a:lnTo>
                  <a:pt x="28846" y="63846"/>
                </a:lnTo>
                <a:lnTo>
                  <a:pt x="28846" y="69231"/>
                </a:lnTo>
                <a:lnTo>
                  <a:pt x="28462" y="69615"/>
                </a:lnTo>
                <a:lnTo>
                  <a:pt x="28077" y="70000"/>
                </a:lnTo>
                <a:lnTo>
                  <a:pt x="28077" y="74615"/>
                </a:lnTo>
                <a:lnTo>
                  <a:pt x="29231" y="75769"/>
                </a:lnTo>
                <a:lnTo>
                  <a:pt x="63077" y="75769"/>
                </a:lnTo>
                <a:lnTo>
                  <a:pt x="63462" y="75385"/>
                </a:lnTo>
                <a:lnTo>
                  <a:pt x="63846" y="75000"/>
                </a:lnTo>
                <a:lnTo>
                  <a:pt x="66923" y="75000"/>
                </a:lnTo>
                <a:lnTo>
                  <a:pt x="67308" y="75385"/>
                </a:lnTo>
                <a:lnTo>
                  <a:pt x="67692" y="75769"/>
                </a:lnTo>
                <a:lnTo>
                  <a:pt x="68846" y="74615"/>
                </a:lnTo>
                <a:lnTo>
                  <a:pt x="68846" y="73846"/>
                </a:lnTo>
                <a:lnTo>
                  <a:pt x="68846" y="68462"/>
                </a:lnTo>
                <a:lnTo>
                  <a:pt x="68462" y="68077"/>
                </a:lnTo>
                <a:lnTo>
                  <a:pt x="68077" y="67692"/>
                </a:lnTo>
                <a:lnTo>
                  <a:pt x="68077" y="61538"/>
                </a:lnTo>
                <a:lnTo>
                  <a:pt x="67692" y="61154"/>
                </a:lnTo>
                <a:lnTo>
                  <a:pt x="67308" y="60769"/>
                </a:lnTo>
                <a:lnTo>
                  <a:pt x="67308" y="55385"/>
                </a:lnTo>
                <a:lnTo>
                  <a:pt x="66923" y="55000"/>
                </a:lnTo>
                <a:lnTo>
                  <a:pt x="66538" y="54615"/>
                </a:lnTo>
                <a:lnTo>
                  <a:pt x="66538" y="49231"/>
                </a:lnTo>
                <a:lnTo>
                  <a:pt x="66154" y="48846"/>
                </a:lnTo>
                <a:lnTo>
                  <a:pt x="65769" y="48462"/>
                </a:lnTo>
                <a:lnTo>
                  <a:pt x="65769" y="43077"/>
                </a:lnTo>
                <a:lnTo>
                  <a:pt x="64615" y="41154"/>
                </a:lnTo>
                <a:lnTo>
                  <a:pt x="59231" y="41154"/>
                </a:lnTo>
                <a:lnTo>
                  <a:pt x="58846" y="43846"/>
                </a:lnTo>
                <a:lnTo>
                  <a:pt x="57692" y="45000"/>
                </a:lnTo>
                <a:lnTo>
                  <a:pt x="56538" y="43846"/>
                </a:lnTo>
                <a:lnTo>
                  <a:pt x="56154" y="41154"/>
                </a:lnTo>
                <a:lnTo>
                  <a:pt x="41538" y="41154"/>
                </a:lnTo>
                <a:lnTo>
                  <a:pt x="41154" y="43846"/>
                </a:lnTo>
                <a:lnTo>
                  <a:pt x="40000" y="45000"/>
                </a:lnTo>
                <a:lnTo>
                  <a:pt x="39231" y="45000"/>
                </a:lnTo>
                <a:lnTo>
                  <a:pt x="38077" y="43846"/>
                </a:lnTo>
                <a:lnTo>
                  <a:pt x="37692" y="41154"/>
                </a:lnTo>
                <a:lnTo>
                  <a:pt x="33077" y="41154"/>
                </a:lnTo>
                <a:close/>
              </a:path>
            </a:pathLst>
          </a:custGeom>
          <a:solidFill>
            <a:srgbClr val="FFFFFF"/>
          </a:solidFill>
          <a:ln>
            <a:noFill/>
          </a:ln>
        </p:spPr>
        <p:txBody>
          <a:bodyPr/>
          <a:p/>
        </p:txBody>
      </p:sp>
      <p:sp>
        <p:nvSpPr>
          <p:cNvPr id="26" name="Text 23"/>
          <p:cNvSpPr/>
          <p:nvPr/>
        </p:nvSpPr>
        <p:spPr>
          <a:xfrm>
            <a:off x="5193792" y="3319272"/>
            <a:ext cx="2359152" cy="603504"/>
          </a:xfrm>
          <a:prstGeom prst="rect">
            <a:avLst/>
          </a:prstGeom>
          <a:noFill/>
          <a:ln/>
        </p:spPr>
        <p:txBody>
          <a:bodyPr wrap="square" lIns="0" tIns="0" rIns="0" bIns="0" rtlCol="0" anchor="ctr"/>
          <a:lstStyle/>
          <a:p>
            <a:pPr indent="0" marL="0">
              <a:buNone/>
            </a:pPr>
            <a:r>
              <a:rPr lang="en-US" sz="4400" b="1" dirty="0">
                <a:solidFill>
                  <a:srgbClr val="17324D"/>
                </a:solidFill>
                <a:latin typeface="Aptos" pitchFamily="34" charset="0"/>
                <a:ea typeface="Segoe UI" pitchFamily="34" charset="-122"/>
                <a:cs typeface="Segoe UI" pitchFamily="34" charset="-120"/>
              </a:rPr>
              <a:t>1 404</a:t>
            </a:r>
            <a:endParaRPr lang="en-US" sz="4400" dirty="0"/>
          </a:p>
        </p:txBody>
      </p:sp>
      <p:sp>
        <p:nvSpPr>
          <p:cNvPr id="27" name="Text 24"/>
          <p:cNvSpPr/>
          <p:nvPr/>
        </p:nvSpPr>
        <p:spPr>
          <a:xfrm>
            <a:off x="5202936" y="3922776"/>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Dépense moyenne (Spent)</a:t>
            </a:r>
            <a:endParaRPr lang="en-US" sz="1400" dirty="0"/>
          </a:p>
        </p:txBody>
      </p:sp>
      <p:sp>
        <p:nvSpPr>
          <p:cNvPr id="28" name="Text 25"/>
          <p:cNvSpPr/>
          <p:nvPr/>
        </p:nvSpPr>
        <p:spPr>
          <a:xfrm>
            <a:off x="5221224" y="4233672"/>
            <a:ext cx="2350008" cy="182880"/>
          </a:xfrm>
          <a:prstGeom prst="rect">
            <a:avLst/>
          </a:prstGeom>
          <a:noFill/>
          <a:ln/>
        </p:spPr>
        <p:txBody>
          <a:bodyPr wrap="square" lIns="0" tIns="0" rIns="0" bIns="0" rtlCol="0" anchor="ctr"/>
          <a:lstStyle/>
          <a:p>
            <a:pPr indent="0" marL="0">
              <a:buNone/>
            </a:pPr>
            <a:r>
              <a:rPr lang="en-US" sz="1100" b="1" dirty="0">
                <a:solidFill>
                  <a:srgbClr val="6D28D9"/>
                </a:solidFill>
                <a:latin typeface="Aptos" pitchFamily="34" charset="0"/>
                <a:ea typeface="Segoe UI" pitchFamily="34" charset="-122"/>
                <a:cs typeface="Segoe UI" pitchFamily="34" charset="-120"/>
              </a:rPr>
              <a:t>Dépense la plus élevée</a:t>
            </a:r>
            <a:endParaRPr lang="en-US" sz="1100" dirty="0"/>
          </a:p>
        </p:txBody>
      </p:sp>
      <p:sp>
        <p:nvSpPr>
          <p:cNvPr id="29" name="Shape 26"/>
          <p:cNvSpPr/>
          <p:nvPr/>
        </p:nvSpPr>
        <p:spPr>
          <a:xfrm>
            <a:off x="7973568" y="3172968"/>
            <a:ext cx="4050792" cy="1325880"/>
          </a:xfrm>
          <a:prstGeom prst="roundRect">
            <a:avLst>
              <a:gd name="adj" fmla="val 9655"/>
            </a:avLst>
          </a:prstGeom>
          <a:solidFill>
            <a:srgbClr val="F0FDFA"/>
          </a:solidFill>
          <a:ln w="12700">
            <a:solidFill>
              <a:srgbClr val="F0FDFA">
                <a:alpha val="0"/>
              </a:srgbClr>
            </a:solidFill>
            <a:prstDash val="solid"/>
          </a:ln>
        </p:spPr>
        <p:txBody>
          <a:bodyPr/>
          <a:p/>
        </p:txBody>
      </p:sp>
      <p:sp>
        <p:nvSpPr>
          <p:cNvPr id="30" name="Shape 27"/>
          <p:cNvSpPr/>
          <p:nvPr/>
        </p:nvSpPr>
        <p:spPr>
          <a:xfrm>
            <a:off x="8174736" y="3310128"/>
            <a:ext cx="923544" cy="923544"/>
          </a:xfrm>
          <a:prstGeom prst="ellipse">
            <a:avLst/>
          </a:prstGeom>
          <a:solidFill>
            <a:srgbClr val="6D28D9"/>
          </a:solidFill>
          <a:ln w="12700">
            <a:solidFill>
              <a:srgbClr val="6D28D9">
                <a:alpha val="0"/>
              </a:srgbClr>
            </a:solidFill>
            <a:prstDash val="solid"/>
          </a:ln>
        </p:spPr>
        <p:txBody>
          <a:bodyPr/>
          <a:p/>
        </p:txBody>
      </p:sp>
      <p:sp>
        <p:nvSpPr>
          <p:cNvPr id="31" name="VECTOR_pram_61"/>
          <p:cNvSpPr/>
          <p:nvPr/>
        </p:nvSpPr>
        <p:spPr>
          <a:xfrm>
            <a:off x="8174736" y="3310128"/>
            <a:ext cx="923544" cy="923544"/>
          </a:xfrm>
          <a:custGeom>
            <a:avLst/>
            <a:gdLst/>
            <a:ahLst/>
            <a:cxnLst/>
            <a:rect l="0" t="0" r="r" b="b"/>
            <a:pathLst>
              <a:path w="100000" h="100000" fill="norm" stroke="false" extrusionOk="false">
                <a:moveTo>
                  <a:pt x="49615" y="24615"/>
                </a:moveTo>
                <a:lnTo>
                  <a:pt x="50000" y="24231"/>
                </a:lnTo>
                <a:lnTo>
                  <a:pt x="53846" y="24231"/>
                </a:lnTo>
                <a:lnTo>
                  <a:pt x="54231" y="24615"/>
                </a:lnTo>
                <a:lnTo>
                  <a:pt x="54615" y="25000"/>
                </a:lnTo>
                <a:lnTo>
                  <a:pt x="56923" y="25000"/>
                </a:lnTo>
                <a:lnTo>
                  <a:pt x="64615" y="28846"/>
                </a:lnTo>
                <a:lnTo>
                  <a:pt x="68846" y="33077"/>
                </a:lnTo>
                <a:lnTo>
                  <a:pt x="68846" y="33846"/>
                </a:lnTo>
                <a:lnTo>
                  <a:pt x="71154" y="36923"/>
                </a:lnTo>
                <a:lnTo>
                  <a:pt x="71154" y="37692"/>
                </a:lnTo>
                <a:lnTo>
                  <a:pt x="71154" y="38462"/>
                </a:lnTo>
                <a:lnTo>
                  <a:pt x="72692" y="41538"/>
                </a:lnTo>
                <a:lnTo>
                  <a:pt x="72692" y="45385"/>
                </a:lnTo>
                <a:lnTo>
                  <a:pt x="73077" y="45769"/>
                </a:lnTo>
                <a:lnTo>
                  <a:pt x="73462" y="46154"/>
                </a:lnTo>
                <a:lnTo>
                  <a:pt x="73462" y="46923"/>
                </a:lnTo>
                <a:lnTo>
                  <a:pt x="73462" y="47692"/>
                </a:lnTo>
                <a:lnTo>
                  <a:pt x="73077" y="48077"/>
                </a:lnTo>
                <a:lnTo>
                  <a:pt x="72692" y="48462"/>
                </a:lnTo>
                <a:lnTo>
                  <a:pt x="72692" y="50769"/>
                </a:lnTo>
                <a:lnTo>
                  <a:pt x="72308" y="51154"/>
                </a:lnTo>
                <a:lnTo>
                  <a:pt x="71923" y="51538"/>
                </a:lnTo>
                <a:lnTo>
                  <a:pt x="71923" y="52308"/>
                </a:lnTo>
                <a:lnTo>
                  <a:pt x="71923" y="53077"/>
                </a:lnTo>
                <a:lnTo>
                  <a:pt x="71538" y="53462"/>
                </a:lnTo>
                <a:lnTo>
                  <a:pt x="71154" y="53846"/>
                </a:lnTo>
                <a:lnTo>
                  <a:pt x="71154" y="54615"/>
                </a:lnTo>
                <a:lnTo>
                  <a:pt x="71154" y="55385"/>
                </a:lnTo>
                <a:lnTo>
                  <a:pt x="69615" y="58462"/>
                </a:lnTo>
                <a:lnTo>
                  <a:pt x="65385" y="62692"/>
                </a:lnTo>
                <a:lnTo>
                  <a:pt x="63077" y="63462"/>
                </a:lnTo>
                <a:lnTo>
                  <a:pt x="61538" y="65000"/>
                </a:lnTo>
                <a:lnTo>
                  <a:pt x="60769" y="65000"/>
                </a:lnTo>
                <a:lnTo>
                  <a:pt x="60385" y="65385"/>
                </a:lnTo>
                <a:lnTo>
                  <a:pt x="62308" y="66538"/>
                </a:lnTo>
                <a:lnTo>
                  <a:pt x="63077" y="66538"/>
                </a:lnTo>
                <a:lnTo>
                  <a:pt x="63846" y="66538"/>
                </a:lnTo>
                <a:lnTo>
                  <a:pt x="65385" y="67308"/>
                </a:lnTo>
                <a:lnTo>
                  <a:pt x="68077" y="70000"/>
                </a:lnTo>
                <a:lnTo>
                  <a:pt x="68077" y="75385"/>
                </a:lnTo>
                <a:lnTo>
                  <a:pt x="65385" y="78846"/>
                </a:lnTo>
                <a:lnTo>
                  <a:pt x="63846" y="79615"/>
                </a:lnTo>
                <a:lnTo>
                  <a:pt x="59231" y="79615"/>
                </a:lnTo>
                <a:lnTo>
                  <a:pt x="57692" y="78846"/>
                </a:lnTo>
                <a:lnTo>
                  <a:pt x="55000" y="76154"/>
                </a:lnTo>
                <a:lnTo>
                  <a:pt x="54231" y="72308"/>
                </a:lnTo>
                <a:lnTo>
                  <a:pt x="54615" y="71923"/>
                </a:lnTo>
                <a:lnTo>
                  <a:pt x="55000" y="71538"/>
                </a:lnTo>
                <a:lnTo>
                  <a:pt x="55000" y="70769"/>
                </a:lnTo>
                <a:lnTo>
                  <a:pt x="55000" y="70000"/>
                </a:lnTo>
                <a:lnTo>
                  <a:pt x="55769" y="68462"/>
                </a:lnTo>
                <a:lnTo>
                  <a:pt x="57308" y="66923"/>
                </a:lnTo>
                <a:lnTo>
                  <a:pt x="56923" y="66538"/>
                </a:lnTo>
                <a:lnTo>
                  <a:pt x="40769" y="66538"/>
                </a:lnTo>
                <a:lnTo>
                  <a:pt x="40385" y="66923"/>
                </a:lnTo>
                <a:lnTo>
                  <a:pt x="40385" y="67692"/>
                </a:lnTo>
                <a:lnTo>
                  <a:pt x="41923" y="69231"/>
                </a:lnTo>
                <a:lnTo>
                  <a:pt x="41923" y="70000"/>
                </a:lnTo>
                <a:lnTo>
                  <a:pt x="42308" y="70385"/>
                </a:lnTo>
                <a:lnTo>
                  <a:pt x="42692" y="70769"/>
                </a:lnTo>
                <a:lnTo>
                  <a:pt x="42692" y="76154"/>
                </a:lnTo>
                <a:lnTo>
                  <a:pt x="40000" y="78846"/>
                </a:lnTo>
                <a:lnTo>
                  <a:pt x="38462" y="79615"/>
                </a:lnTo>
                <a:lnTo>
                  <a:pt x="33846" y="79615"/>
                </a:lnTo>
                <a:lnTo>
                  <a:pt x="30385" y="76923"/>
                </a:lnTo>
                <a:lnTo>
                  <a:pt x="29615" y="75385"/>
                </a:lnTo>
                <a:lnTo>
                  <a:pt x="29615" y="70769"/>
                </a:lnTo>
                <a:lnTo>
                  <a:pt x="30385" y="69231"/>
                </a:lnTo>
                <a:lnTo>
                  <a:pt x="32308" y="67308"/>
                </a:lnTo>
                <a:lnTo>
                  <a:pt x="33846" y="66538"/>
                </a:lnTo>
                <a:lnTo>
                  <a:pt x="37692" y="66538"/>
                </a:lnTo>
                <a:lnTo>
                  <a:pt x="38077" y="66154"/>
                </a:lnTo>
                <a:lnTo>
                  <a:pt x="38077" y="65385"/>
                </a:lnTo>
                <a:lnTo>
                  <a:pt x="35385" y="64231"/>
                </a:lnTo>
                <a:lnTo>
                  <a:pt x="33846" y="62692"/>
                </a:lnTo>
                <a:lnTo>
                  <a:pt x="33077" y="62692"/>
                </a:lnTo>
                <a:lnTo>
                  <a:pt x="29615" y="59231"/>
                </a:lnTo>
                <a:lnTo>
                  <a:pt x="27308" y="54615"/>
                </a:lnTo>
                <a:lnTo>
                  <a:pt x="27308" y="53846"/>
                </a:lnTo>
                <a:lnTo>
                  <a:pt x="27308" y="53077"/>
                </a:lnTo>
                <a:lnTo>
                  <a:pt x="26923" y="52692"/>
                </a:lnTo>
                <a:lnTo>
                  <a:pt x="26538" y="52308"/>
                </a:lnTo>
                <a:lnTo>
                  <a:pt x="26538" y="50000"/>
                </a:lnTo>
                <a:lnTo>
                  <a:pt x="26154" y="49615"/>
                </a:lnTo>
                <a:lnTo>
                  <a:pt x="25769" y="49231"/>
                </a:lnTo>
                <a:lnTo>
                  <a:pt x="25769" y="43846"/>
                </a:lnTo>
                <a:lnTo>
                  <a:pt x="25385" y="43462"/>
                </a:lnTo>
                <a:lnTo>
                  <a:pt x="25000" y="43077"/>
                </a:lnTo>
                <a:lnTo>
                  <a:pt x="25000" y="42308"/>
                </a:lnTo>
                <a:lnTo>
                  <a:pt x="25000" y="41538"/>
                </a:lnTo>
                <a:lnTo>
                  <a:pt x="20769" y="39615"/>
                </a:lnTo>
                <a:lnTo>
                  <a:pt x="19615" y="38462"/>
                </a:lnTo>
                <a:lnTo>
                  <a:pt x="20769" y="37308"/>
                </a:lnTo>
                <a:lnTo>
                  <a:pt x="24615" y="38077"/>
                </a:lnTo>
                <a:lnTo>
                  <a:pt x="27308" y="40769"/>
                </a:lnTo>
                <a:lnTo>
                  <a:pt x="27308" y="44615"/>
                </a:lnTo>
                <a:lnTo>
                  <a:pt x="28462" y="45769"/>
                </a:lnTo>
                <a:lnTo>
                  <a:pt x="47692" y="45769"/>
                </a:lnTo>
                <a:lnTo>
                  <a:pt x="48846" y="44615"/>
                </a:lnTo>
                <a:lnTo>
                  <a:pt x="48846" y="25385"/>
                </a:lnTo>
                <a:lnTo>
                  <a:pt x="49231" y="25000"/>
                </a:lnTo>
                <a:lnTo>
                  <a:pt x="49615" y="24615"/>
                </a:lnTo>
                <a:close/>
                <a:moveTo>
                  <a:pt x="52308" y="26538"/>
                </a:moveTo>
                <a:lnTo>
                  <a:pt x="51154" y="27692"/>
                </a:lnTo>
                <a:lnTo>
                  <a:pt x="51154" y="45385"/>
                </a:lnTo>
                <a:lnTo>
                  <a:pt x="51538" y="45769"/>
                </a:lnTo>
                <a:lnTo>
                  <a:pt x="69231" y="45769"/>
                </a:lnTo>
                <a:lnTo>
                  <a:pt x="70000" y="45769"/>
                </a:lnTo>
                <a:lnTo>
                  <a:pt x="70385" y="45385"/>
                </a:lnTo>
                <a:lnTo>
                  <a:pt x="70385" y="41538"/>
                </a:lnTo>
                <a:lnTo>
                  <a:pt x="70000" y="41154"/>
                </a:lnTo>
                <a:lnTo>
                  <a:pt x="69615" y="40769"/>
                </a:lnTo>
                <a:lnTo>
                  <a:pt x="69615" y="40000"/>
                </a:lnTo>
                <a:lnTo>
                  <a:pt x="69615" y="39231"/>
                </a:lnTo>
                <a:lnTo>
                  <a:pt x="68077" y="36154"/>
                </a:lnTo>
                <a:lnTo>
                  <a:pt x="61538" y="29615"/>
                </a:lnTo>
                <a:lnTo>
                  <a:pt x="56923" y="27308"/>
                </a:lnTo>
                <a:lnTo>
                  <a:pt x="53846" y="27308"/>
                </a:lnTo>
                <a:lnTo>
                  <a:pt x="52308" y="26538"/>
                </a:lnTo>
                <a:close/>
                <a:moveTo>
                  <a:pt x="29231" y="48077"/>
                </a:moveTo>
                <a:lnTo>
                  <a:pt x="28846" y="51538"/>
                </a:lnTo>
                <a:lnTo>
                  <a:pt x="29231" y="51923"/>
                </a:lnTo>
                <a:lnTo>
                  <a:pt x="29615" y="52308"/>
                </a:lnTo>
                <a:lnTo>
                  <a:pt x="30385" y="56154"/>
                </a:lnTo>
                <a:lnTo>
                  <a:pt x="31923" y="57692"/>
                </a:lnTo>
                <a:lnTo>
                  <a:pt x="31923" y="58462"/>
                </a:lnTo>
                <a:lnTo>
                  <a:pt x="35385" y="61154"/>
                </a:lnTo>
                <a:lnTo>
                  <a:pt x="41538" y="64231"/>
                </a:lnTo>
                <a:lnTo>
                  <a:pt x="44615" y="64231"/>
                </a:lnTo>
                <a:lnTo>
                  <a:pt x="45000" y="64615"/>
                </a:lnTo>
                <a:lnTo>
                  <a:pt x="45385" y="65000"/>
                </a:lnTo>
                <a:lnTo>
                  <a:pt x="53846" y="65000"/>
                </a:lnTo>
                <a:lnTo>
                  <a:pt x="54231" y="64615"/>
                </a:lnTo>
                <a:lnTo>
                  <a:pt x="54615" y="64231"/>
                </a:lnTo>
                <a:lnTo>
                  <a:pt x="57692" y="64231"/>
                </a:lnTo>
                <a:lnTo>
                  <a:pt x="59231" y="62692"/>
                </a:lnTo>
                <a:lnTo>
                  <a:pt x="64615" y="60385"/>
                </a:lnTo>
                <a:lnTo>
                  <a:pt x="66154" y="58846"/>
                </a:lnTo>
                <a:lnTo>
                  <a:pt x="67308" y="57692"/>
                </a:lnTo>
                <a:lnTo>
                  <a:pt x="68846" y="54615"/>
                </a:lnTo>
                <a:lnTo>
                  <a:pt x="68846" y="53846"/>
                </a:lnTo>
                <a:lnTo>
                  <a:pt x="68846" y="53077"/>
                </a:lnTo>
                <a:lnTo>
                  <a:pt x="70385" y="50000"/>
                </a:lnTo>
                <a:lnTo>
                  <a:pt x="70000" y="48077"/>
                </a:lnTo>
                <a:lnTo>
                  <a:pt x="50769" y="48077"/>
                </a:lnTo>
                <a:lnTo>
                  <a:pt x="49231" y="50385"/>
                </a:lnTo>
                <a:lnTo>
                  <a:pt x="47692" y="48077"/>
                </a:lnTo>
                <a:lnTo>
                  <a:pt x="29231" y="48077"/>
                </a:lnTo>
                <a:close/>
                <a:moveTo>
                  <a:pt x="36154" y="68077"/>
                </a:moveTo>
                <a:lnTo>
                  <a:pt x="34615" y="68846"/>
                </a:lnTo>
                <a:lnTo>
                  <a:pt x="31923" y="71538"/>
                </a:lnTo>
                <a:lnTo>
                  <a:pt x="31923" y="74615"/>
                </a:lnTo>
                <a:lnTo>
                  <a:pt x="33077" y="76538"/>
                </a:lnTo>
                <a:lnTo>
                  <a:pt x="34615" y="77308"/>
                </a:lnTo>
                <a:lnTo>
                  <a:pt x="36923" y="77308"/>
                </a:lnTo>
                <a:lnTo>
                  <a:pt x="37692" y="77308"/>
                </a:lnTo>
                <a:lnTo>
                  <a:pt x="38462" y="77308"/>
                </a:lnTo>
                <a:lnTo>
                  <a:pt x="40385" y="75385"/>
                </a:lnTo>
                <a:lnTo>
                  <a:pt x="41154" y="73077"/>
                </a:lnTo>
                <a:lnTo>
                  <a:pt x="40769" y="72692"/>
                </a:lnTo>
                <a:lnTo>
                  <a:pt x="40385" y="72308"/>
                </a:lnTo>
                <a:lnTo>
                  <a:pt x="40385" y="71538"/>
                </a:lnTo>
                <a:lnTo>
                  <a:pt x="40385" y="70769"/>
                </a:lnTo>
                <a:lnTo>
                  <a:pt x="38462" y="68846"/>
                </a:lnTo>
                <a:lnTo>
                  <a:pt x="37692" y="68846"/>
                </a:lnTo>
                <a:lnTo>
                  <a:pt x="36923" y="68846"/>
                </a:lnTo>
                <a:lnTo>
                  <a:pt x="36538" y="68462"/>
                </a:lnTo>
                <a:lnTo>
                  <a:pt x="36154" y="68077"/>
                </a:lnTo>
                <a:close/>
                <a:moveTo>
                  <a:pt x="61538" y="68077"/>
                </a:moveTo>
                <a:lnTo>
                  <a:pt x="61154" y="68462"/>
                </a:lnTo>
                <a:lnTo>
                  <a:pt x="60769" y="68846"/>
                </a:lnTo>
                <a:lnTo>
                  <a:pt x="60000" y="68846"/>
                </a:lnTo>
                <a:lnTo>
                  <a:pt x="59231" y="68846"/>
                </a:lnTo>
                <a:lnTo>
                  <a:pt x="57308" y="70769"/>
                </a:lnTo>
                <a:lnTo>
                  <a:pt x="57308" y="74615"/>
                </a:lnTo>
                <a:lnTo>
                  <a:pt x="58077" y="76154"/>
                </a:lnTo>
                <a:lnTo>
                  <a:pt x="60000" y="77308"/>
                </a:lnTo>
                <a:lnTo>
                  <a:pt x="60769" y="77308"/>
                </a:lnTo>
                <a:lnTo>
                  <a:pt x="61538" y="77308"/>
                </a:lnTo>
                <a:lnTo>
                  <a:pt x="62308" y="77308"/>
                </a:lnTo>
                <a:lnTo>
                  <a:pt x="63077" y="77308"/>
                </a:lnTo>
                <a:lnTo>
                  <a:pt x="65769" y="74615"/>
                </a:lnTo>
                <a:lnTo>
                  <a:pt x="65769" y="71538"/>
                </a:lnTo>
                <a:lnTo>
                  <a:pt x="65000" y="70000"/>
                </a:lnTo>
                <a:lnTo>
                  <a:pt x="61538" y="68077"/>
                </a:lnTo>
                <a:close/>
              </a:path>
            </a:pathLst>
          </a:custGeom>
          <a:solidFill>
            <a:srgbClr val="FFFFFF"/>
          </a:solidFill>
          <a:ln>
            <a:noFill/>
          </a:ln>
        </p:spPr>
        <p:txBody>
          <a:bodyPr/>
          <a:p/>
        </p:txBody>
      </p:sp>
      <p:sp>
        <p:nvSpPr>
          <p:cNvPr id="32" name="Text 29"/>
          <p:cNvSpPr/>
          <p:nvPr/>
        </p:nvSpPr>
        <p:spPr>
          <a:xfrm>
            <a:off x="9390888" y="3319272"/>
            <a:ext cx="2359152" cy="603504"/>
          </a:xfrm>
          <a:prstGeom prst="rect">
            <a:avLst/>
          </a:prstGeom>
          <a:noFill/>
          <a:ln/>
        </p:spPr>
        <p:txBody>
          <a:bodyPr wrap="square" lIns="0" tIns="0" rIns="0" bIns="0" rtlCol="0" anchor="ctr"/>
          <a:lstStyle/>
          <a:p>
            <a:pPr indent="0" marL="0">
              <a:buNone/>
            </a:pPr>
            <a:r>
              <a:rPr lang="en-US" sz="3900" b="1" dirty="0">
                <a:solidFill>
                  <a:srgbClr val="17324D"/>
                </a:solidFill>
                <a:latin typeface="Aptos" pitchFamily="34" charset="0"/>
                <a:ea typeface="Segoe UI" pitchFamily="34" charset="-122"/>
                <a:cs typeface="Segoe UI" pitchFamily="34" charset="-120"/>
              </a:rPr>
              <a:t>94,5 %</a:t>
            </a:r>
            <a:endParaRPr lang="en-US" sz="4400" dirty="0"/>
          </a:p>
        </p:txBody>
      </p:sp>
      <p:sp>
        <p:nvSpPr>
          <p:cNvPr id="33" name="Text 30"/>
          <p:cNvSpPr/>
          <p:nvPr/>
        </p:nvSpPr>
        <p:spPr>
          <a:xfrm>
            <a:off x="9400032" y="3922776"/>
            <a:ext cx="2368296" cy="256032"/>
          </a:xfrm>
          <a:prstGeom prst="rect">
            <a:avLst/>
          </a:prstGeom>
          <a:noFill/>
          <a:ln/>
        </p:spPr>
        <p:txBody>
          <a:bodyPr wrap="square" lIns="0" tIns="0" rIns="0" bIns="0" rtlCol="0" anchor="ctr"/>
          <a:lstStyle/>
          <a:p>
            <a:pPr indent="0" marL="0">
              <a:buNone/>
            </a:pPr>
            <a:r>
              <a:rPr lang="en-US" sz="1400" dirty="0">
                <a:solidFill>
                  <a:srgbClr val="334155"/>
                </a:solidFill>
                <a:latin typeface="Aptos" pitchFamily="34" charset="0"/>
                <a:ea typeface="Segoe UI" pitchFamily="34" charset="-122"/>
                <a:cs typeface="Segoe UI" pitchFamily="34" charset="-120"/>
              </a:rPr>
              <a:t>Sans enfant</a:t>
            </a:r>
            <a:endParaRPr lang="en-US" sz="1400" dirty="0"/>
          </a:p>
        </p:txBody>
      </p:sp>
      <p:sp>
        <p:nvSpPr>
          <p:cNvPr id="34" name="Shape 31"/>
          <p:cNvSpPr/>
          <p:nvPr/>
        </p:nvSpPr>
        <p:spPr>
          <a:xfrm>
            <a:off x="3776472" y="4617720"/>
            <a:ext cx="3904488" cy="1691640"/>
          </a:xfrm>
          <a:prstGeom prst="roundRect">
            <a:avLst>
              <a:gd name="adj" fmla="val 7568"/>
            </a:avLst>
          </a:prstGeom>
          <a:solidFill>
            <a:srgbClr val="EFF6FF"/>
          </a:solidFill>
          <a:ln w="12700">
            <a:solidFill>
              <a:srgbClr val="EFF6FF">
                <a:alpha val="0"/>
              </a:srgbClr>
            </a:solidFill>
            <a:prstDash val="solid"/>
          </a:ln>
        </p:spPr>
        <p:txBody>
          <a:bodyPr/>
          <a:p/>
        </p:txBody>
      </p:sp>
      <p:sp>
        <p:nvSpPr>
          <p:cNvPr id="35" name="Shape 32"/>
          <p:cNvSpPr/>
          <p:nvPr/>
        </p:nvSpPr>
        <p:spPr>
          <a:xfrm>
            <a:off x="3922776" y="4818888"/>
            <a:ext cx="914400" cy="914400"/>
          </a:xfrm>
          <a:prstGeom prst="ellipse">
            <a:avLst/>
          </a:prstGeom>
          <a:solidFill>
            <a:srgbClr val="6D28D9"/>
          </a:solidFill>
          <a:ln w="12700">
            <a:solidFill>
              <a:srgbClr val="17324D">
                <a:alpha val="0"/>
              </a:srgbClr>
            </a:solidFill>
            <a:prstDash val="solid"/>
          </a:ln>
        </p:spPr>
        <p:txBody>
          <a:bodyPr/>
          <a:p/>
        </p:txBody>
      </p:sp>
      <p:sp>
        <p:nvSpPr>
          <p:cNvPr id="36" name="Shape 33"/>
          <p:cNvSpPr/>
          <p:nvPr/>
        </p:nvSpPr>
        <p:spPr>
          <a:xfrm flipV="1">
            <a:off x="4105656" y="5001768"/>
            <a:ext cx="274320" cy="228600"/>
          </a:xfrm>
          <a:prstGeom prst="line">
            <a:avLst/>
          </a:prstGeom>
          <a:noFill/>
          <a:ln w="22860">
            <a:solidFill>
              <a:srgbClr val="FFFFFF"/>
            </a:solidFill>
            <a:prstDash val="solid"/>
          </a:ln>
        </p:spPr>
        <p:txBody>
          <a:bodyPr/>
          <a:p/>
        </p:txBody>
      </p:sp>
      <p:sp>
        <p:nvSpPr>
          <p:cNvPr id="37" name="Shape 34"/>
          <p:cNvSpPr/>
          <p:nvPr/>
        </p:nvSpPr>
        <p:spPr>
          <a:xfrm>
            <a:off x="4379976" y="5001768"/>
            <a:ext cx="274320" cy="228600"/>
          </a:xfrm>
          <a:prstGeom prst="line">
            <a:avLst/>
          </a:prstGeom>
          <a:noFill/>
          <a:ln w="22860">
            <a:solidFill>
              <a:srgbClr val="FFFFFF"/>
            </a:solidFill>
            <a:prstDash val="solid"/>
          </a:ln>
        </p:spPr>
        <p:txBody>
          <a:bodyPr/>
          <a:p/>
        </p:txBody>
      </p:sp>
      <p:sp>
        <p:nvSpPr>
          <p:cNvPr id="38" name="Shape 35"/>
          <p:cNvSpPr/>
          <p:nvPr/>
        </p:nvSpPr>
        <p:spPr>
          <a:xfrm>
            <a:off x="4178808" y="5184648"/>
            <a:ext cx="0" cy="347472"/>
          </a:xfrm>
          <a:prstGeom prst="line">
            <a:avLst/>
          </a:prstGeom>
          <a:noFill/>
          <a:ln w="22860">
            <a:solidFill>
              <a:srgbClr val="FFFFFF"/>
            </a:solidFill>
            <a:prstDash val="solid"/>
          </a:ln>
        </p:spPr>
        <p:txBody>
          <a:bodyPr/>
          <a:p/>
        </p:txBody>
      </p:sp>
      <p:sp>
        <p:nvSpPr>
          <p:cNvPr id="39" name="Shape 36"/>
          <p:cNvSpPr/>
          <p:nvPr/>
        </p:nvSpPr>
        <p:spPr>
          <a:xfrm>
            <a:off x="4581144" y="5184648"/>
            <a:ext cx="0" cy="347472"/>
          </a:xfrm>
          <a:prstGeom prst="line">
            <a:avLst/>
          </a:prstGeom>
          <a:noFill/>
          <a:ln w="22860">
            <a:solidFill>
              <a:srgbClr val="FFFFFF"/>
            </a:solidFill>
            <a:prstDash val="solid"/>
          </a:ln>
        </p:spPr>
        <p:txBody>
          <a:bodyPr/>
          <a:p/>
        </p:txBody>
      </p:sp>
      <p:sp>
        <p:nvSpPr>
          <p:cNvPr id="40" name="Shape 37"/>
          <p:cNvSpPr/>
          <p:nvPr/>
        </p:nvSpPr>
        <p:spPr>
          <a:xfrm>
            <a:off x="4178808" y="5532120"/>
            <a:ext cx="402336" cy="0"/>
          </a:xfrm>
          <a:prstGeom prst="line">
            <a:avLst/>
          </a:prstGeom>
          <a:noFill/>
          <a:ln w="22860">
            <a:solidFill>
              <a:srgbClr val="FFFFFF"/>
            </a:solidFill>
            <a:prstDash val="solid"/>
          </a:ln>
        </p:spPr>
        <p:txBody>
          <a:bodyPr/>
          <a:p/>
        </p:txBody>
      </p:sp>
      <p:sp>
        <p:nvSpPr>
          <p:cNvPr id="41" name="Shape 38"/>
          <p:cNvSpPr/>
          <p:nvPr/>
        </p:nvSpPr>
        <p:spPr>
          <a:xfrm>
            <a:off x="4315968" y="5321808"/>
            <a:ext cx="128016" cy="210312"/>
          </a:xfrm>
          <a:prstGeom prst="rect">
            <a:avLst/>
          </a:prstGeom>
          <a:solidFill>
            <a:srgbClr val="FFFFFF">
              <a:alpha val="0"/>
            </a:srgbClr>
          </a:solidFill>
          <a:ln w="22860">
            <a:solidFill>
              <a:srgbClr val="FFFFFF"/>
            </a:solidFill>
            <a:prstDash val="solid"/>
          </a:ln>
        </p:spPr>
        <p:txBody>
          <a:bodyPr/>
          <a:p/>
        </p:txBody>
      </p:sp>
      <p:sp>
        <p:nvSpPr>
          <p:cNvPr id="42" name="Text 39"/>
          <p:cNvSpPr/>
          <p:nvPr/>
        </p:nvSpPr>
        <p:spPr>
          <a:xfrm>
            <a:off x="4946904" y="4828032"/>
            <a:ext cx="2551176" cy="320040"/>
          </a:xfrm>
          <a:prstGeom prst="rect">
            <a:avLst/>
          </a:prstGeom>
          <a:noFill/>
          <a:ln/>
        </p:spPr>
        <p:txBody>
          <a:bodyPr wrap="square" lIns="0" tIns="0" rIns="0" bIns="0" rtlCol="0" anchor="ctr"/>
          <a:lstStyle/>
          <a:p>
            <a:pPr indent="0" marL="0">
              <a:buNone/>
            </a:pPr>
            <a:r>
              <a:rPr lang="en-US" sz="2100" b="1" dirty="0">
                <a:solidFill>
                  <a:srgbClr val="17324D"/>
                </a:solidFill>
                <a:latin typeface="Aptos" pitchFamily="34" charset="0"/>
                <a:ea typeface="Segoe UI" pitchFamily="34" charset="-122"/>
                <a:cs typeface="Segoe UI" pitchFamily="34" charset="-120"/>
              </a:rPr>
              <a:t>Profil du foyer</a:t>
            </a:r>
            <a:endParaRPr lang="en-US" sz="2100" dirty="0"/>
          </a:p>
        </p:txBody>
      </p:sp>
      <p:sp>
        <p:nvSpPr>
          <p:cNvPr id="43" name="Text 40"/>
          <p:cNvSpPr/>
          <p:nvPr/>
        </p:nvSpPr>
        <p:spPr>
          <a:xfrm>
            <a:off x="4946904" y="5340096"/>
            <a:ext cx="2496312" cy="850392"/>
          </a:xfrm>
          <a:prstGeom prst="rect">
            <a:avLst/>
          </a:prstGeom>
          <a:noFill/>
          <a:ln/>
        </p:spPr>
        <p:txBody>
          <a:bodyPr wrap="square" lIns="0" tIns="0" rIns="0" bIns="0" rtlCol="0" anchor="t"/>
          <a:lstStyle/>
          <a:p>
            <a:pPr indent="0" marL="0">
              <a:buNone/>
            </a:pPr>
            <a:r>
              <a:rPr lang="en-US" sz="1400" dirty="0">
                <a:solidFill>
                  <a:srgbClr val="334155"/>
                </a:solidFill>
                <a:latin typeface="Aptos" pitchFamily="34" charset="0"/>
                <a:ea typeface="Segoe UI" pitchFamily="34" charset="-122"/>
                <a:cs typeface="Segoe UI" pitchFamily="34" charset="-120"/>
              </a:rPr>
              <a:t>En couple ou seuls.</a:t>
            </a:r>
            <a:endParaRPr lang="en-US" sz="1400" dirty="0"/>
          </a:p>
          <a:p>
            <a:pPr indent="0" marL="0">
              <a:buNone/>
            </a:pPr>
            <a:r>
              <a:rPr lang="en-US" sz="1400" dirty="0">
                <a:solidFill>
                  <a:srgbClr val="334155"/>
                </a:solidFill>
                <a:latin typeface="Aptos" pitchFamily="34" charset="0"/>
                <a:ea typeface="Segoe UI" pitchFamily="34" charset="-122"/>
                <a:cs typeface="Segoe UI" pitchFamily="34" charset="-120"/>
              </a:rPr>
              <a:t>Foyers de 1 à 2 personnes.</a:t>
            </a:r>
            <a:endParaRPr lang="en-US" sz="1400" dirty="0"/>
          </a:p>
        </p:txBody>
      </p:sp>
      <p:sp>
        <p:nvSpPr>
          <p:cNvPr id="44" name="Shape 41"/>
          <p:cNvSpPr/>
          <p:nvPr/>
        </p:nvSpPr>
        <p:spPr>
          <a:xfrm>
            <a:off x="7790688" y="4617720"/>
            <a:ext cx="4123944" cy="1691640"/>
          </a:xfrm>
          <a:prstGeom prst="roundRect">
            <a:avLst>
              <a:gd name="adj" fmla="val 7568"/>
            </a:avLst>
          </a:prstGeom>
          <a:solidFill>
            <a:srgbClr val="F3F4F6"/>
          </a:solidFill>
          <a:ln w="12700">
            <a:solidFill>
              <a:srgbClr val="F3F4F6">
                <a:alpha val="0"/>
              </a:srgbClr>
            </a:solidFill>
            <a:prstDash val="solid"/>
          </a:ln>
        </p:spPr>
        <p:txBody>
          <a:bodyPr/>
          <a:p/>
        </p:txBody>
      </p:sp>
      <p:sp>
        <p:nvSpPr>
          <p:cNvPr id="45" name="Shape 42"/>
          <p:cNvSpPr/>
          <p:nvPr/>
        </p:nvSpPr>
        <p:spPr>
          <a:xfrm>
            <a:off x="7882128" y="4800600"/>
            <a:ext cx="1005840" cy="1005840"/>
          </a:xfrm>
          <a:prstGeom prst="ellipse">
            <a:avLst/>
          </a:prstGeom>
          <a:solidFill>
            <a:srgbClr val="6D28D9"/>
          </a:solidFill>
          <a:ln w="12700">
            <a:solidFill>
              <a:srgbClr val="6D28D9">
                <a:alpha val="0"/>
              </a:srgbClr>
            </a:solidFill>
            <a:prstDash val="solid"/>
          </a:ln>
        </p:spPr>
        <p:txBody>
          <a:bodyPr/>
          <a:p/>
        </p:txBody>
      </p:sp>
      <p:sp>
        <p:nvSpPr>
          <p:cNvPr id="46" name="VECTOR_diamond_62"/>
          <p:cNvSpPr/>
          <p:nvPr/>
        </p:nvSpPr>
        <p:spPr>
          <a:xfrm>
            <a:off x="7882128" y="4800600"/>
            <a:ext cx="1005840" cy="1005840"/>
          </a:xfrm>
          <a:custGeom>
            <a:avLst/>
            <a:gdLst/>
            <a:ahLst/>
            <a:cxnLst/>
            <a:rect l="0" t="0" r="r" b="b"/>
            <a:pathLst>
              <a:path w="100000" h="100000" fill="norm" stroke="false" extrusionOk="false">
                <a:moveTo>
                  <a:pt x="40873" y="27778"/>
                </a:moveTo>
                <a:lnTo>
                  <a:pt x="41270" y="27381"/>
                </a:lnTo>
                <a:lnTo>
                  <a:pt x="42063" y="27381"/>
                </a:lnTo>
                <a:lnTo>
                  <a:pt x="42460" y="27778"/>
                </a:lnTo>
                <a:lnTo>
                  <a:pt x="42857" y="28175"/>
                </a:lnTo>
                <a:lnTo>
                  <a:pt x="57937" y="28175"/>
                </a:lnTo>
                <a:lnTo>
                  <a:pt x="58333" y="27778"/>
                </a:lnTo>
                <a:lnTo>
                  <a:pt x="58730" y="27381"/>
                </a:lnTo>
                <a:lnTo>
                  <a:pt x="59524" y="27381"/>
                </a:lnTo>
                <a:lnTo>
                  <a:pt x="60317" y="27381"/>
                </a:lnTo>
                <a:lnTo>
                  <a:pt x="60714" y="27778"/>
                </a:lnTo>
                <a:lnTo>
                  <a:pt x="61111" y="28175"/>
                </a:lnTo>
                <a:lnTo>
                  <a:pt x="66667" y="28175"/>
                </a:lnTo>
                <a:lnTo>
                  <a:pt x="71825" y="34127"/>
                </a:lnTo>
                <a:lnTo>
                  <a:pt x="71825" y="34921"/>
                </a:lnTo>
                <a:lnTo>
                  <a:pt x="74206" y="37302"/>
                </a:lnTo>
                <a:lnTo>
                  <a:pt x="74206" y="38095"/>
                </a:lnTo>
                <a:lnTo>
                  <a:pt x="78175" y="42063"/>
                </a:lnTo>
                <a:lnTo>
                  <a:pt x="78968" y="43651"/>
                </a:lnTo>
                <a:lnTo>
                  <a:pt x="78968" y="44444"/>
                </a:lnTo>
                <a:lnTo>
                  <a:pt x="78968" y="45238"/>
                </a:lnTo>
                <a:lnTo>
                  <a:pt x="76587" y="47619"/>
                </a:lnTo>
                <a:lnTo>
                  <a:pt x="76587" y="48413"/>
                </a:lnTo>
                <a:lnTo>
                  <a:pt x="71825" y="53175"/>
                </a:lnTo>
                <a:lnTo>
                  <a:pt x="71825" y="53968"/>
                </a:lnTo>
                <a:lnTo>
                  <a:pt x="67063" y="58730"/>
                </a:lnTo>
                <a:lnTo>
                  <a:pt x="67063" y="59524"/>
                </a:lnTo>
                <a:lnTo>
                  <a:pt x="59921" y="67460"/>
                </a:lnTo>
                <a:lnTo>
                  <a:pt x="57540" y="69841"/>
                </a:lnTo>
                <a:lnTo>
                  <a:pt x="57540" y="70635"/>
                </a:lnTo>
                <a:lnTo>
                  <a:pt x="53968" y="74206"/>
                </a:lnTo>
                <a:lnTo>
                  <a:pt x="53175" y="74206"/>
                </a:lnTo>
                <a:lnTo>
                  <a:pt x="41667" y="61905"/>
                </a:lnTo>
                <a:lnTo>
                  <a:pt x="41667" y="61111"/>
                </a:lnTo>
                <a:lnTo>
                  <a:pt x="32143" y="50794"/>
                </a:lnTo>
                <a:lnTo>
                  <a:pt x="32143" y="50000"/>
                </a:lnTo>
                <a:lnTo>
                  <a:pt x="28175" y="46032"/>
                </a:lnTo>
                <a:lnTo>
                  <a:pt x="27381" y="44444"/>
                </a:lnTo>
                <a:lnTo>
                  <a:pt x="28175" y="42857"/>
                </a:lnTo>
                <a:lnTo>
                  <a:pt x="33730" y="36508"/>
                </a:lnTo>
                <a:lnTo>
                  <a:pt x="33730" y="35714"/>
                </a:lnTo>
                <a:lnTo>
                  <a:pt x="40873" y="27778"/>
                </a:lnTo>
                <a:close/>
                <a:moveTo>
                  <a:pt x="42063" y="28968"/>
                </a:moveTo>
                <a:lnTo>
                  <a:pt x="35317" y="36508"/>
                </a:lnTo>
                <a:lnTo>
                  <a:pt x="35317" y="37302"/>
                </a:lnTo>
                <a:lnTo>
                  <a:pt x="30556" y="42857"/>
                </a:lnTo>
                <a:lnTo>
                  <a:pt x="30952" y="43254"/>
                </a:lnTo>
                <a:lnTo>
                  <a:pt x="34921" y="43254"/>
                </a:lnTo>
                <a:lnTo>
                  <a:pt x="42063" y="43254"/>
                </a:lnTo>
                <a:lnTo>
                  <a:pt x="42460" y="42857"/>
                </a:lnTo>
                <a:lnTo>
                  <a:pt x="43254" y="41270"/>
                </a:lnTo>
                <a:lnTo>
                  <a:pt x="43254" y="40476"/>
                </a:lnTo>
                <a:lnTo>
                  <a:pt x="43254" y="39683"/>
                </a:lnTo>
                <a:lnTo>
                  <a:pt x="43651" y="39286"/>
                </a:lnTo>
                <a:lnTo>
                  <a:pt x="44048" y="38889"/>
                </a:lnTo>
                <a:lnTo>
                  <a:pt x="44048" y="38095"/>
                </a:lnTo>
                <a:lnTo>
                  <a:pt x="44048" y="37302"/>
                </a:lnTo>
                <a:lnTo>
                  <a:pt x="44444" y="36905"/>
                </a:lnTo>
                <a:lnTo>
                  <a:pt x="44841" y="36508"/>
                </a:lnTo>
                <a:lnTo>
                  <a:pt x="44841" y="34127"/>
                </a:lnTo>
                <a:lnTo>
                  <a:pt x="45238" y="33730"/>
                </a:lnTo>
                <a:lnTo>
                  <a:pt x="45635" y="33333"/>
                </a:lnTo>
                <a:lnTo>
                  <a:pt x="46429" y="29365"/>
                </a:lnTo>
                <a:lnTo>
                  <a:pt x="46032" y="28968"/>
                </a:lnTo>
                <a:lnTo>
                  <a:pt x="42063" y="28968"/>
                </a:lnTo>
                <a:close/>
                <a:moveTo>
                  <a:pt x="48413" y="28968"/>
                </a:moveTo>
                <a:lnTo>
                  <a:pt x="47222" y="30952"/>
                </a:lnTo>
                <a:lnTo>
                  <a:pt x="47222" y="31746"/>
                </a:lnTo>
                <a:lnTo>
                  <a:pt x="47222" y="32540"/>
                </a:lnTo>
                <a:lnTo>
                  <a:pt x="46825" y="32937"/>
                </a:lnTo>
                <a:lnTo>
                  <a:pt x="46429" y="33333"/>
                </a:lnTo>
                <a:lnTo>
                  <a:pt x="46429" y="35714"/>
                </a:lnTo>
                <a:lnTo>
                  <a:pt x="46032" y="36111"/>
                </a:lnTo>
                <a:lnTo>
                  <a:pt x="45635" y="36508"/>
                </a:lnTo>
                <a:lnTo>
                  <a:pt x="45635" y="37302"/>
                </a:lnTo>
                <a:lnTo>
                  <a:pt x="45635" y="38095"/>
                </a:lnTo>
                <a:lnTo>
                  <a:pt x="45238" y="38492"/>
                </a:lnTo>
                <a:lnTo>
                  <a:pt x="44841" y="38889"/>
                </a:lnTo>
                <a:lnTo>
                  <a:pt x="44841" y="41270"/>
                </a:lnTo>
                <a:lnTo>
                  <a:pt x="44048" y="42857"/>
                </a:lnTo>
                <a:lnTo>
                  <a:pt x="44444" y="43254"/>
                </a:lnTo>
                <a:lnTo>
                  <a:pt x="58730" y="43254"/>
                </a:lnTo>
                <a:lnTo>
                  <a:pt x="62698" y="43254"/>
                </a:lnTo>
                <a:lnTo>
                  <a:pt x="63095" y="42857"/>
                </a:lnTo>
                <a:lnTo>
                  <a:pt x="62698" y="42460"/>
                </a:lnTo>
                <a:lnTo>
                  <a:pt x="62302" y="42063"/>
                </a:lnTo>
                <a:lnTo>
                  <a:pt x="62302" y="39683"/>
                </a:lnTo>
                <a:lnTo>
                  <a:pt x="61905" y="39286"/>
                </a:lnTo>
                <a:lnTo>
                  <a:pt x="61508" y="38889"/>
                </a:lnTo>
                <a:lnTo>
                  <a:pt x="61508" y="38095"/>
                </a:lnTo>
                <a:lnTo>
                  <a:pt x="61508" y="37302"/>
                </a:lnTo>
                <a:lnTo>
                  <a:pt x="61111" y="36905"/>
                </a:lnTo>
                <a:lnTo>
                  <a:pt x="60714" y="36508"/>
                </a:lnTo>
                <a:lnTo>
                  <a:pt x="60714" y="34127"/>
                </a:lnTo>
                <a:lnTo>
                  <a:pt x="60317" y="33730"/>
                </a:lnTo>
                <a:lnTo>
                  <a:pt x="59921" y="33333"/>
                </a:lnTo>
                <a:lnTo>
                  <a:pt x="59921" y="32540"/>
                </a:lnTo>
                <a:lnTo>
                  <a:pt x="59921" y="31746"/>
                </a:lnTo>
                <a:lnTo>
                  <a:pt x="59127" y="30159"/>
                </a:lnTo>
                <a:lnTo>
                  <a:pt x="57937" y="28968"/>
                </a:lnTo>
                <a:lnTo>
                  <a:pt x="48413" y="28968"/>
                </a:lnTo>
                <a:close/>
                <a:moveTo>
                  <a:pt x="61111" y="28968"/>
                </a:moveTo>
                <a:lnTo>
                  <a:pt x="60714" y="31746"/>
                </a:lnTo>
                <a:lnTo>
                  <a:pt x="61111" y="32143"/>
                </a:lnTo>
                <a:lnTo>
                  <a:pt x="61508" y="32540"/>
                </a:lnTo>
                <a:lnTo>
                  <a:pt x="61508" y="33333"/>
                </a:lnTo>
                <a:lnTo>
                  <a:pt x="61508" y="34127"/>
                </a:lnTo>
                <a:lnTo>
                  <a:pt x="63095" y="37302"/>
                </a:lnTo>
                <a:lnTo>
                  <a:pt x="63095" y="39683"/>
                </a:lnTo>
                <a:lnTo>
                  <a:pt x="63492" y="40079"/>
                </a:lnTo>
                <a:lnTo>
                  <a:pt x="63889" y="40476"/>
                </a:lnTo>
                <a:lnTo>
                  <a:pt x="64286" y="43254"/>
                </a:lnTo>
                <a:lnTo>
                  <a:pt x="76190" y="43254"/>
                </a:lnTo>
                <a:lnTo>
                  <a:pt x="76587" y="42857"/>
                </a:lnTo>
                <a:lnTo>
                  <a:pt x="74206" y="40476"/>
                </a:lnTo>
                <a:lnTo>
                  <a:pt x="74206" y="39683"/>
                </a:lnTo>
                <a:lnTo>
                  <a:pt x="71825" y="37302"/>
                </a:lnTo>
                <a:lnTo>
                  <a:pt x="71825" y="36508"/>
                </a:lnTo>
                <a:lnTo>
                  <a:pt x="65079" y="28968"/>
                </a:lnTo>
                <a:lnTo>
                  <a:pt x="61111" y="28968"/>
                </a:lnTo>
                <a:close/>
                <a:moveTo>
                  <a:pt x="30952" y="44841"/>
                </a:moveTo>
                <a:lnTo>
                  <a:pt x="30556" y="45238"/>
                </a:lnTo>
                <a:lnTo>
                  <a:pt x="30556" y="46032"/>
                </a:lnTo>
                <a:lnTo>
                  <a:pt x="32937" y="48413"/>
                </a:lnTo>
                <a:lnTo>
                  <a:pt x="32937" y="49206"/>
                </a:lnTo>
                <a:lnTo>
                  <a:pt x="39286" y="55556"/>
                </a:lnTo>
                <a:lnTo>
                  <a:pt x="39286" y="56349"/>
                </a:lnTo>
                <a:lnTo>
                  <a:pt x="44048" y="61111"/>
                </a:lnTo>
                <a:lnTo>
                  <a:pt x="44048" y="61905"/>
                </a:lnTo>
                <a:lnTo>
                  <a:pt x="50000" y="67857"/>
                </a:lnTo>
                <a:lnTo>
                  <a:pt x="50794" y="67857"/>
                </a:lnTo>
                <a:lnTo>
                  <a:pt x="51190" y="67460"/>
                </a:lnTo>
                <a:lnTo>
                  <a:pt x="49603" y="65079"/>
                </a:lnTo>
                <a:lnTo>
                  <a:pt x="49603" y="64286"/>
                </a:lnTo>
                <a:lnTo>
                  <a:pt x="49603" y="63492"/>
                </a:lnTo>
                <a:lnTo>
                  <a:pt x="47222" y="58730"/>
                </a:lnTo>
                <a:lnTo>
                  <a:pt x="46429" y="54762"/>
                </a:lnTo>
                <a:lnTo>
                  <a:pt x="44841" y="52381"/>
                </a:lnTo>
                <a:lnTo>
                  <a:pt x="44841" y="51587"/>
                </a:lnTo>
                <a:lnTo>
                  <a:pt x="44841" y="50794"/>
                </a:lnTo>
                <a:lnTo>
                  <a:pt x="42460" y="46032"/>
                </a:lnTo>
                <a:lnTo>
                  <a:pt x="41270" y="44841"/>
                </a:lnTo>
                <a:lnTo>
                  <a:pt x="30952" y="44841"/>
                </a:lnTo>
                <a:close/>
                <a:moveTo>
                  <a:pt x="44444" y="44841"/>
                </a:moveTo>
                <a:lnTo>
                  <a:pt x="44048" y="46825"/>
                </a:lnTo>
                <a:lnTo>
                  <a:pt x="44444" y="47222"/>
                </a:lnTo>
                <a:lnTo>
                  <a:pt x="44841" y="47619"/>
                </a:lnTo>
                <a:lnTo>
                  <a:pt x="44841" y="48413"/>
                </a:lnTo>
                <a:lnTo>
                  <a:pt x="44841" y="49206"/>
                </a:lnTo>
                <a:lnTo>
                  <a:pt x="47222" y="53175"/>
                </a:lnTo>
                <a:lnTo>
                  <a:pt x="47222" y="53968"/>
                </a:lnTo>
                <a:lnTo>
                  <a:pt x="47222" y="54762"/>
                </a:lnTo>
                <a:lnTo>
                  <a:pt x="48810" y="57143"/>
                </a:lnTo>
                <a:lnTo>
                  <a:pt x="48810" y="57937"/>
                </a:lnTo>
                <a:lnTo>
                  <a:pt x="48810" y="58730"/>
                </a:lnTo>
                <a:lnTo>
                  <a:pt x="51190" y="63492"/>
                </a:lnTo>
                <a:lnTo>
                  <a:pt x="51190" y="64286"/>
                </a:lnTo>
                <a:lnTo>
                  <a:pt x="51190" y="65079"/>
                </a:lnTo>
                <a:lnTo>
                  <a:pt x="52778" y="67460"/>
                </a:lnTo>
                <a:lnTo>
                  <a:pt x="52778" y="68254"/>
                </a:lnTo>
                <a:lnTo>
                  <a:pt x="52778" y="69048"/>
                </a:lnTo>
                <a:lnTo>
                  <a:pt x="53175" y="69444"/>
                </a:lnTo>
                <a:lnTo>
                  <a:pt x="53968" y="69444"/>
                </a:lnTo>
                <a:lnTo>
                  <a:pt x="55159" y="68254"/>
                </a:lnTo>
                <a:lnTo>
                  <a:pt x="55159" y="67460"/>
                </a:lnTo>
                <a:lnTo>
                  <a:pt x="55159" y="66667"/>
                </a:lnTo>
                <a:lnTo>
                  <a:pt x="55556" y="66270"/>
                </a:lnTo>
                <a:lnTo>
                  <a:pt x="55952" y="65873"/>
                </a:lnTo>
                <a:lnTo>
                  <a:pt x="56349" y="63889"/>
                </a:lnTo>
                <a:lnTo>
                  <a:pt x="56746" y="61905"/>
                </a:lnTo>
                <a:lnTo>
                  <a:pt x="57143" y="61508"/>
                </a:lnTo>
                <a:lnTo>
                  <a:pt x="57540" y="61111"/>
                </a:lnTo>
                <a:lnTo>
                  <a:pt x="57540" y="60317"/>
                </a:lnTo>
                <a:lnTo>
                  <a:pt x="57540" y="59524"/>
                </a:lnTo>
                <a:lnTo>
                  <a:pt x="57937" y="59127"/>
                </a:lnTo>
                <a:lnTo>
                  <a:pt x="58333" y="58730"/>
                </a:lnTo>
                <a:lnTo>
                  <a:pt x="58333" y="57937"/>
                </a:lnTo>
                <a:lnTo>
                  <a:pt x="58333" y="57143"/>
                </a:lnTo>
                <a:lnTo>
                  <a:pt x="58730" y="56746"/>
                </a:lnTo>
                <a:lnTo>
                  <a:pt x="59127" y="56349"/>
                </a:lnTo>
                <a:lnTo>
                  <a:pt x="59127" y="55556"/>
                </a:lnTo>
                <a:lnTo>
                  <a:pt x="59127" y="54762"/>
                </a:lnTo>
                <a:lnTo>
                  <a:pt x="60714" y="52381"/>
                </a:lnTo>
                <a:lnTo>
                  <a:pt x="60714" y="51587"/>
                </a:lnTo>
                <a:lnTo>
                  <a:pt x="60714" y="50794"/>
                </a:lnTo>
                <a:lnTo>
                  <a:pt x="62302" y="47619"/>
                </a:lnTo>
                <a:lnTo>
                  <a:pt x="62302" y="45238"/>
                </a:lnTo>
                <a:lnTo>
                  <a:pt x="61905" y="44841"/>
                </a:lnTo>
                <a:lnTo>
                  <a:pt x="44444" y="44841"/>
                </a:lnTo>
                <a:close/>
                <a:moveTo>
                  <a:pt x="65079" y="44841"/>
                </a:moveTo>
                <a:lnTo>
                  <a:pt x="63889" y="46032"/>
                </a:lnTo>
                <a:lnTo>
                  <a:pt x="63889" y="46825"/>
                </a:lnTo>
                <a:lnTo>
                  <a:pt x="63889" y="47619"/>
                </a:lnTo>
                <a:lnTo>
                  <a:pt x="61508" y="52381"/>
                </a:lnTo>
                <a:lnTo>
                  <a:pt x="60714" y="56349"/>
                </a:lnTo>
                <a:lnTo>
                  <a:pt x="59127" y="58730"/>
                </a:lnTo>
                <a:lnTo>
                  <a:pt x="59127" y="59524"/>
                </a:lnTo>
                <a:lnTo>
                  <a:pt x="59127" y="60317"/>
                </a:lnTo>
                <a:lnTo>
                  <a:pt x="58730" y="60714"/>
                </a:lnTo>
                <a:lnTo>
                  <a:pt x="58333" y="61111"/>
                </a:lnTo>
                <a:lnTo>
                  <a:pt x="57540" y="65079"/>
                </a:lnTo>
                <a:lnTo>
                  <a:pt x="55952" y="67460"/>
                </a:lnTo>
                <a:lnTo>
                  <a:pt x="57937" y="67857"/>
                </a:lnTo>
                <a:lnTo>
                  <a:pt x="58333" y="67460"/>
                </a:lnTo>
                <a:lnTo>
                  <a:pt x="58333" y="66667"/>
                </a:lnTo>
                <a:lnTo>
                  <a:pt x="61905" y="63095"/>
                </a:lnTo>
                <a:lnTo>
                  <a:pt x="62302" y="62698"/>
                </a:lnTo>
                <a:lnTo>
                  <a:pt x="62302" y="61905"/>
                </a:lnTo>
                <a:lnTo>
                  <a:pt x="67063" y="57143"/>
                </a:lnTo>
                <a:lnTo>
                  <a:pt x="67063" y="56349"/>
                </a:lnTo>
                <a:lnTo>
                  <a:pt x="75794" y="46825"/>
                </a:lnTo>
                <a:lnTo>
                  <a:pt x="75397" y="44841"/>
                </a:lnTo>
                <a:lnTo>
                  <a:pt x="65079" y="44841"/>
                </a:lnTo>
                <a:close/>
              </a:path>
            </a:pathLst>
          </a:custGeom>
          <a:solidFill>
            <a:srgbClr val="FFFFFF"/>
          </a:solidFill>
          <a:ln>
            <a:noFill/>
          </a:ln>
        </p:spPr>
        <p:txBody>
          <a:bodyPr/>
          <a:p/>
        </p:txBody>
      </p:sp>
      <p:sp>
        <p:nvSpPr>
          <p:cNvPr id="47" name="Text 44"/>
          <p:cNvSpPr/>
          <p:nvPr/>
        </p:nvSpPr>
        <p:spPr>
          <a:xfrm>
            <a:off x="9208008" y="4846320"/>
            <a:ext cx="2523744" cy="338328"/>
          </a:xfrm>
          <a:prstGeom prst="rect">
            <a:avLst/>
          </a:prstGeom>
          <a:noFill/>
          <a:ln/>
        </p:spPr>
        <p:txBody>
          <a:bodyPr wrap="square" lIns="0" tIns="0" rIns="0" bIns="0" rtlCol="0" anchor="ctr"/>
          <a:lstStyle/>
          <a:p>
            <a:pPr indent="0" marL="0">
              <a:buNone/>
            </a:pPr>
            <a:r>
              <a:rPr lang="en-US" sz="1640" b="1" dirty="0">
                <a:solidFill>
                  <a:srgbClr val="17324D"/>
                </a:solidFill>
                <a:latin typeface="Aptos" pitchFamily="34" charset="0"/>
                <a:ea typeface="Segoe UI" pitchFamily="34" charset="-122"/>
                <a:cs typeface="Segoe UI" pitchFamily="34" charset="-120"/>
              </a:rPr>
              <a:t>Campagnes &amp; canaux</a:t>
            </a:r>
            <a:endParaRPr lang="en-US" sz="1640" dirty="0"/>
          </a:p>
        </p:txBody>
      </p:sp>
      <p:sp>
        <p:nvSpPr>
          <p:cNvPr id="48" name="Text 45"/>
          <p:cNvSpPr/>
          <p:nvPr/>
        </p:nvSpPr>
        <p:spPr>
          <a:xfrm>
            <a:off x="9208008" y="5340096"/>
            <a:ext cx="2514600" cy="905256"/>
          </a:xfrm>
          <a:prstGeom prst="rect">
            <a:avLst/>
          </a:prstGeom>
          <a:noFill/>
          <a:ln/>
        </p:spPr>
        <p:txBody>
          <a:bodyPr wrap="square" lIns="0" tIns="0" rIns="0" bIns="0" rtlCol="0" anchor="t"/>
          <a:lstStyle/>
          <a:p>
            <a:pPr indent="0" marL="0">
              <a:buNone/>
            </a:pPr>
            <a:r>
              <a:rPr lang="en-US" sz="1350" dirty="0">
                <a:solidFill>
                  <a:srgbClr val="334155"/>
                </a:solidFill>
                <a:latin typeface="Aptos" pitchFamily="34" charset="0"/>
                <a:ea typeface="Segoe UI" pitchFamily="34" charset="-122"/>
                <a:cs typeface="Segoe UI" pitchFamily="34" charset="-120"/>
              </a:rPr>
              <a:t>0,73 campagne acceptée</a:t>
            </a:r>
            <a:endParaRPr lang="en-US" sz="1350" dirty="0"/>
          </a:p>
          <a:p>
            <a:pPr indent="0" marL="0">
              <a:buNone/>
            </a:pPr>
            <a:r>
              <a:rPr lang="en-US" sz="1350" dirty="0">
                <a:solidFill>
                  <a:srgbClr val="334155"/>
                </a:solidFill>
                <a:latin typeface="Aptos" pitchFamily="34" charset="0"/>
                <a:ea typeface="Segoe UI" pitchFamily="34" charset="-122"/>
                <a:cs typeface="Segoe UI" pitchFamily="34" charset="-120"/>
              </a:rPr>
              <a:t>en moyenne. Achats surtout</a:t>
            </a:r>
            <a:endParaRPr lang="en-US" sz="1350" dirty="0"/>
          </a:p>
          <a:p>
            <a:pPr indent="0" marL="0">
              <a:buNone/>
            </a:pPr>
            <a:r>
              <a:rPr lang="en-US" sz="1350" dirty="0">
                <a:solidFill>
                  <a:srgbClr val="334155"/>
                </a:solidFill>
                <a:latin typeface="Aptos" pitchFamily="34" charset="0"/>
                <a:ea typeface="Segoe UI" pitchFamily="34" charset="-122"/>
                <a:cs typeface="Segoe UI" pitchFamily="34" charset="-120"/>
              </a:rPr>
              <a:t>par catalogue et en magasin,</a:t>
            </a:r>
            <a:endParaRPr lang="en-US" sz="1350" dirty="0"/>
          </a:p>
          <a:p>
            <a:pPr indent="0" marL="0">
              <a:buNone/>
            </a:pPr>
            <a:r>
              <a:rPr lang="en-US" sz="1350" dirty="0">
                <a:solidFill>
                  <a:srgbClr val="334155"/>
                </a:solidFill>
                <a:latin typeface="Aptos" pitchFamily="34" charset="0"/>
                <a:ea typeface="Segoe UI" pitchFamily="34" charset="-122"/>
                <a:cs typeface="Segoe UI" pitchFamily="34" charset="-120"/>
              </a:rPr>
              <a:t>peu d’achats en promotion.</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4000" b="1" dirty="0">
                <a:solidFill>
                  <a:srgbClr val="2563EB"/>
                </a:solidFill>
                <a:latin typeface="Aptos" pitchFamily="34" charset="0"/>
                <a:ea typeface="Segoe UI" pitchFamily="34" charset="-122"/>
                <a:cs typeface="Segoe UI" pitchFamily="34" charset="-120"/>
              </a:rPr>
              <a:t>14. Comportements d’achat &amp; canaux</a:t>
            </a:r>
            <a:endParaRPr lang="en-US" sz="40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600" dirty="0">
                <a:solidFill>
                  <a:srgbClr val="17324D"/>
                </a:solidFill>
                <a:latin typeface="Aptos" pitchFamily="34" charset="0"/>
                <a:ea typeface="Segoe UI" pitchFamily="34" charset="-122"/>
                <a:cs typeface="Segoe UI" pitchFamily="34" charset="-120"/>
              </a:rPr>
              <a:t>Les achats promotionnels et les réponses aux campagnes diffèrent selon les segments.</a:t>
            </a:r>
            <a:endParaRPr lang="en-US" sz="162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Customer Personality Analysis · Projet collectif ENSEA · Abdoulaye KONE</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14</a:t>
            </a:r>
            <a:endParaRPr lang="en-US" sz="1000" dirty="0"/>
          </a:p>
        </p:txBody>
      </p:sp>
      <p:sp>
        <p:nvSpPr>
          <p:cNvPr id="7" name="Shape 4"/>
          <p:cNvSpPr/>
          <p:nvPr/>
        </p:nvSpPr>
        <p:spPr>
          <a:xfrm>
            <a:off x="457200" y="1755648"/>
            <a:ext cx="3639312" cy="3090672"/>
          </a:xfrm>
          <a:prstGeom prst="roundRect">
            <a:avLst>
              <a:gd name="adj" fmla="val 4142"/>
            </a:avLst>
          </a:prstGeom>
          <a:solidFill>
            <a:srgbClr val="EFF6FF"/>
          </a:solidFill>
          <a:ln w="12700">
            <a:solidFill>
              <a:srgbClr val="EFF6FF">
                <a:alpha val="0"/>
              </a:srgbClr>
            </a:solidFill>
            <a:prstDash val="solid"/>
          </a:ln>
        </p:spPr>
        <p:txBody>
          <a:bodyPr/>
          <a:p/>
        </p:txBody>
      </p:sp>
      <p:sp>
        <p:nvSpPr>
          <p:cNvPr id="8" name="Shape 5"/>
          <p:cNvSpPr/>
          <p:nvPr/>
        </p:nvSpPr>
        <p:spPr>
          <a:xfrm>
            <a:off x="640080" y="1965960"/>
            <a:ext cx="987552" cy="987552"/>
          </a:xfrm>
          <a:prstGeom prst="ellipse">
            <a:avLst/>
          </a:prstGeom>
          <a:solidFill>
            <a:srgbClr val="1D4ED8"/>
          </a:solidFill>
          <a:ln w="12700">
            <a:solidFill>
              <a:srgbClr val="1D4ED8">
                <a:alpha val="0"/>
              </a:srgbClr>
            </a:solidFill>
            <a:prstDash val="solid"/>
          </a:ln>
        </p:spPr>
        <p:txBody>
          <a:bodyPr/>
          <a:p/>
        </p:txBody>
      </p:sp>
      <p:sp>
        <p:nvSpPr>
          <p:cNvPr id="9" name="Shape 6"/>
          <p:cNvSpPr/>
          <p:nvPr/>
        </p:nvSpPr>
        <p:spPr>
          <a:xfrm>
            <a:off x="738835" y="2262226"/>
            <a:ext cx="345643" cy="335768"/>
          </a:xfrm>
          <a:prstGeom prst="roundRect">
            <a:avLst>
              <a:gd name="adj" fmla="val 10893"/>
            </a:avLst>
          </a:prstGeom>
          <a:solidFill>
            <a:srgbClr val="FFFFFF">
              <a:alpha val="0"/>
            </a:srgbClr>
          </a:solidFill>
          <a:ln w="17780">
            <a:solidFill>
              <a:srgbClr val="FFFFFF"/>
            </a:solidFill>
            <a:prstDash val="solid"/>
          </a:ln>
        </p:spPr>
        <p:txBody>
          <a:bodyPr/>
          <a:p/>
        </p:txBody>
      </p:sp>
      <p:sp>
        <p:nvSpPr>
          <p:cNvPr id="10" name="Shape 7"/>
          <p:cNvSpPr/>
          <p:nvPr/>
        </p:nvSpPr>
        <p:spPr>
          <a:xfrm>
            <a:off x="738835" y="2331354"/>
            <a:ext cx="345643" cy="0"/>
          </a:xfrm>
          <a:prstGeom prst="line">
            <a:avLst/>
          </a:prstGeom>
          <a:noFill/>
          <a:ln w="17780">
            <a:solidFill>
              <a:srgbClr val="FFFFFF"/>
            </a:solidFill>
            <a:prstDash val="solid"/>
          </a:ln>
        </p:spPr>
        <p:txBody>
          <a:bodyPr/>
          <a:p/>
        </p:txBody>
      </p:sp>
      <p:sp>
        <p:nvSpPr>
          <p:cNvPr id="11" name="Shape 8"/>
          <p:cNvSpPr/>
          <p:nvPr/>
        </p:nvSpPr>
        <p:spPr>
          <a:xfrm>
            <a:off x="788213" y="2292840"/>
            <a:ext cx="13826" cy="13826"/>
          </a:xfrm>
          <a:prstGeom prst="ellipse">
            <a:avLst/>
          </a:prstGeom>
          <a:solidFill>
            <a:srgbClr val="FFFFFF"/>
          </a:solidFill>
          <a:ln w="12700">
            <a:solidFill>
              <a:srgbClr val="FFFFFF">
                <a:alpha val="0"/>
              </a:srgbClr>
            </a:solidFill>
            <a:prstDash val="solid"/>
          </a:ln>
        </p:spPr>
        <p:txBody>
          <a:bodyPr/>
          <a:p/>
        </p:txBody>
      </p:sp>
      <p:sp>
        <p:nvSpPr>
          <p:cNvPr id="12" name="Shape 9"/>
          <p:cNvSpPr/>
          <p:nvPr/>
        </p:nvSpPr>
        <p:spPr>
          <a:xfrm>
            <a:off x="837590" y="2292840"/>
            <a:ext cx="13826" cy="13826"/>
          </a:xfrm>
          <a:prstGeom prst="ellipse">
            <a:avLst/>
          </a:prstGeom>
          <a:solidFill>
            <a:srgbClr val="FFFFFF"/>
          </a:solidFill>
          <a:ln w="12700">
            <a:solidFill>
              <a:srgbClr val="FFFFFF">
                <a:alpha val="0"/>
              </a:srgbClr>
            </a:solidFill>
            <a:prstDash val="solid"/>
          </a:ln>
        </p:spPr>
        <p:txBody>
          <a:bodyPr/>
          <a:p/>
        </p:txBody>
      </p:sp>
      <p:sp>
        <p:nvSpPr>
          <p:cNvPr id="13" name="Shape 10"/>
          <p:cNvSpPr/>
          <p:nvPr/>
        </p:nvSpPr>
        <p:spPr>
          <a:xfrm>
            <a:off x="886968" y="2292840"/>
            <a:ext cx="13826" cy="13826"/>
          </a:xfrm>
          <a:prstGeom prst="ellipse">
            <a:avLst/>
          </a:prstGeom>
          <a:solidFill>
            <a:srgbClr val="FFFFFF"/>
          </a:solidFill>
          <a:ln w="12700">
            <a:solidFill>
              <a:srgbClr val="FFFFFF">
                <a:alpha val="0"/>
              </a:srgbClr>
            </a:solidFill>
            <a:prstDash val="solid"/>
          </a:ln>
        </p:spPr>
        <p:txBody>
          <a:bodyPr/>
          <a:p/>
        </p:txBody>
      </p:sp>
      <p:sp>
        <p:nvSpPr>
          <p:cNvPr id="14" name="Shape 11"/>
          <p:cNvSpPr/>
          <p:nvPr/>
        </p:nvSpPr>
        <p:spPr>
          <a:xfrm>
            <a:off x="1133856" y="2430109"/>
            <a:ext cx="88880" cy="0"/>
          </a:xfrm>
          <a:prstGeom prst="line">
            <a:avLst/>
          </a:prstGeom>
          <a:noFill/>
          <a:ln w="17780">
            <a:solidFill>
              <a:srgbClr val="FFFFFF"/>
            </a:solidFill>
            <a:prstDash val="solid"/>
          </a:ln>
        </p:spPr>
        <p:txBody>
          <a:bodyPr/>
          <a:p/>
        </p:txBody>
      </p:sp>
      <p:sp>
        <p:nvSpPr>
          <p:cNvPr id="15" name="Shape 12"/>
          <p:cNvSpPr/>
          <p:nvPr/>
        </p:nvSpPr>
        <p:spPr>
          <a:xfrm>
            <a:off x="1202985" y="2410358"/>
            <a:ext cx="19751" cy="19751"/>
          </a:xfrm>
          <a:prstGeom prst="line">
            <a:avLst/>
          </a:prstGeom>
          <a:noFill/>
          <a:ln w="17780">
            <a:solidFill>
              <a:srgbClr val="FFFFFF"/>
            </a:solidFill>
            <a:prstDash val="solid"/>
          </a:ln>
        </p:spPr>
        <p:txBody>
          <a:bodyPr/>
          <a:p/>
        </p:txBody>
      </p:sp>
      <p:sp>
        <p:nvSpPr>
          <p:cNvPr id="16" name="Shape 13"/>
          <p:cNvSpPr/>
          <p:nvPr/>
        </p:nvSpPr>
        <p:spPr>
          <a:xfrm flipV="1">
            <a:off x="1202985" y="2430109"/>
            <a:ext cx="19751" cy="19751"/>
          </a:xfrm>
          <a:prstGeom prst="line">
            <a:avLst/>
          </a:prstGeom>
          <a:noFill/>
          <a:ln w="17780">
            <a:solidFill>
              <a:srgbClr val="FFFFFF"/>
            </a:solidFill>
            <a:prstDash val="solid"/>
          </a:ln>
        </p:spPr>
        <p:txBody>
          <a:bodyPr/>
          <a:p/>
        </p:txBody>
      </p:sp>
      <p:sp>
        <p:nvSpPr>
          <p:cNvPr id="17" name="Shape 14"/>
          <p:cNvSpPr/>
          <p:nvPr/>
        </p:nvSpPr>
        <p:spPr>
          <a:xfrm>
            <a:off x="1291864" y="2400483"/>
            <a:ext cx="276515" cy="0"/>
          </a:xfrm>
          <a:prstGeom prst="line">
            <a:avLst/>
          </a:prstGeom>
          <a:noFill/>
          <a:ln w="17780">
            <a:solidFill>
              <a:srgbClr val="FFFFFF"/>
            </a:solidFill>
            <a:prstDash val="solid"/>
          </a:ln>
        </p:spPr>
        <p:txBody>
          <a:bodyPr/>
          <a:p/>
        </p:txBody>
      </p:sp>
      <p:sp>
        <p:nvSpPr>
          <p:cNvPr id="18" name="Shape 15"/>
          <p:cNvSpPr/>
          <p:nvPr/>
        </p:nvSpPr>
        <p:spPr>
          <a:xfrm flipH="1">
            <a:off x="1519001" y="2400483"/>
            <a:ext cx="49378" cy="227137"/>
          </a:xfrm>
          <a:prstGeom prst="line">
            <a:avLst/>
          </a:prstGeom>
          <a:noFill/>
          <a:ln w="17780">
            <a:solidFill>
              <a:srgbClr val="FFFFFF"/>
            </a:solidFill>
            <a:prstDash val="solid"/>
          </a:ln>
        </p:spPr>
        <p:txBody>
          <a:bodyPr/>
          <a:p/>
        </p:txBody>
      </p:sp>
      <p:sp>
        <p:nvSpPr>
          <p:cNvPr id="19" name="Shape 16"/>
          <p:cNvSpPr/>
          <p:nvPr/>
        </p:nvSpPr>
        <p:spPr>
          <a:xfrm flipH="1">
            <a:off x="1341242" y="2627620"/>
            <a:ext cx="177759" cy="0"/>
          </a:xfrm>
          <a:prstGeom prst="line">
            <a:avLst/>
          </a:prstGeom>
          <a:noFill/>
          <a:ln w="17780">
            <a:solidFill>
              <a:srgbClr val="FFFFFF"/>
            </a:solidFill>
            <a:prstDash val="solid"/>
          </a:ln>
        </p:spPr>
        <p:txBody>
          <a:bodyPr/>
          <a:p/>
        </p:txBody>
      </p:sp>
      <p:sp>
        <p:nvSpPr>
          <p:cNvPr id="20" name="Shape 17"/>
          <p:cNvSpPr/>
          <p:nvPr/>
        </p:nvSpPr>
        <p:spPr>
          <a:xfrm flipH="1" flipV="1">
            <a:off x="1291864" y="2400483"/>
            <a:ext cx="49378" cy="227137"/>
          </a:xfrm>
          <a:prstGeom prst="line">
            <a:avLst/>
          </a:prstGeom>
          <a:noFill/>
          <a:ln w="17780">
            <a:solidFill>
              <a:srgbClr val="FFFFFF"/>
            </a:solidFill>
            <a:prstDash val="solid"/>
          </a:ln>
        </p:spPr>
        <p:txBody>
          <a:bodyPr/>
          <a:p/>
        </p:txBody>
      </p:sp>
      <p:sp>
        <p:nvSpPr>
          <p:cNvPr id="21" name="Shape 18"/>
          <p:cNvSpPr/>
          <p:nvPr/>
        </p:nvSpPr>
        <p:spPr>
          <a:xfrm flipV="1">
            <a:off x="1341242" y="2291852"/>
            <a:ext cx="59253" cy="98755"/>
          </a:xfrm>
          <a:prstGeom prst="line">
            <a:avLst/>
          </a:prstGeom>
          <a:noFill/>
          <a:ln w="17780">
            <a:solidFill>
              <a:srgbClr val="FFFFFF"/>
            </a:solidFill>
            <a:prstDash val="solid"/>
          </a:ln>
        </p:spPr>
        <p:txBody>
          <a:bodyPr/>
          <a:p/>
        </p:txBody>
      </p:sp>
      <p:sp>
        <p:nvSpPr>
          <p:cNvPr id="22" name="Shape 19"/>
          <p:cNvSpPr/>
          <p:nvPr/>
        </p:nvSpPr>
        <p:spPr>
          <a:xfrm flipH="1" flipV="1">
            <a:off x="1459748" y="2291852"/>
            <a:ext cx="59253" cy="98755"/>
          </a:xfrm>
          <a:prstGeom prst="line">
            <a:avLst/>
          </a:prstGeom>
          <a:noFill/>
          <a:ln w="17780">
            <a:solidFill>
              <a:srgbClr val="FFFFFF"/>
            </a:solidFill>
            <a:prstDash val="solid"/>
          </a:ln>
        </p:spPr>
        <p:txBody>
          <a:bodyPr/>
          <a:p/>
        </p:txBody>
      </p:sp>
      <p:sp>
        <p:nvSpPr>
          <p:cNvPr id="23" name="Shape 20"/>
          <p:cNvSpPr/>
          <p:nvPr/>
        </p:nvSpPr>
        <p:spPr>
          <a:xfrm>
            <a:off x="1380744" y="2439985"/>
            <a:ext cx="0" cy="138257"/>
          </a:xfrm>
          <a:prstGeom prst="line">
            <a:avLst/>
          </a:prstGeom>
          <a:noFill/>
          <a:ln w="17780">
            <a:solidFill>
              <a:srgbClr val="FFFFFF"/>
            </a:solidFill>
            <a:prstDash val="solid"/>
          </a:ln>
        </p:spPr>
        <p:txBody>
          <a:bodyPr/>
          <a:p/>
        </p:txBody>
      </p:sp>
      <p:sp>
        <p:nvSpPr>
          <p:cNvPr id="24" name="Shape 21"/>
          <p:cNvSpPr/>
          <p:nvPr/>
        </p:nvSpPr>
        <p:spPr>
          <a:xfrm>
            <a:off x="1439997" y="2439985"/>
            <a:ext cx="0" cy="138257"/>
          </a:xfrm>
          <a:prstGeom prst="line">
            <a:avLst/>
          </a:prstGeom>
          <a:noFill/>
          <a:ln w="17780">
            <a:solidFill>
              <a:srgbClr val="FFFFFF"/>
            </a:solidFill>
            <a:prstDash val="solid"/>
          </a:ln>
        </p:spPr>
        <p:txBody>
          <a:bodyPr/>
          <a:p/>
        </p:txBody>
      </p:sp>
      <p:sp>
        <p:nvSpPr>
          <p:cNvPr id="25" name="Shape 22"/>
          <p:cNvSpPr/>
          <p:nvPr/>
        </p:nvSpPr>
        <p:spPr>
          <a:xfrm>
            <a:off x="1499250" y="2439985"/>
            <a:ext cx="0" cy="138257"/>
          </a:xfrm>
          <a:prstGeom prst="line">
            <a:avLst/>
          </a:prstGeom>
          <a:noFill/>
          <a:ln w="17780">
            <a:solidFill>
              <a:srgbClr val="FFFFFF"/>
            </a:solidFill>
            <a:prstDash val="solid"/>
          </a:ln>
        </p:spPr>
        <p:txBody>
          <a:bodyPr/>
          <a:p/>
        </p:txBody>
      </p:sp>
      <p:sp>
        <p:nvSpPr>
          <p:cNvPr id="26" name="Text 23"/>
          <p:cNvSpPr/>
          <p:nvPr/>
        </p:nvSpPr>
        <p:spPr>
          <a:xfrm>
            <a:off x="1865376" y="2011680"/>
            <a:ext cx="1984248" cy="356616"/>
          </a:xfrm>
          <a:prstGeom prst="rect">
            <a:avLst/>
          </a:prstGeom>
          <a:noFill/>
          <a:ln/>
        </p:spPr>
        <p:txBody>
          <a:bodyPr wrap="square" lIns="0" tIns="0" rIns="0" bIns="0" rtlCol="0" anchor="ctr"/>
          <a:lstStyle/>
          <a:p>
            <a:pPr indent="0" marL="0">
              <a:buNone/>
            </a:pPr>
            <a:r>
              <a:rPr lang="en-US" sz="2900" b="1" dirty="0">
                <a:solidFill>
                  <a:srgbClr val="1D4ED8"/>
                </a:solidFill>
                <a:latin typeface="Aptos" pitchFamily="34" charset="0"/>
                <a:ea typeface="Segoe UI" pitchFamily="34" charset="-122"/>
                <a:cs typeface="Segoe UI" pitchFamily="34" charset="-120"/>
              </a:rPr>
              <a:t>C0 &amp; C1</a:t>
            </a:r>
            <a:endParaRPr lang="en-US" sz="2900" dirty="0"/>
          </a:p>
        </p:txBody>
      </p:sp>
      <p:sp>
        <p:nvSpPr>
          <p:cNvPr id="27" name="Text 24"/>
          <p:cNvSpPr/>
          <p:nvPr/>
        </p:nvSpPr>
        <p:spPr>
          <a:xfrm>
            <a:off x="667512" y="3163824"/>
            <a:ext cx="3163824" cy="640080"/>
          </a:xfrm>
          <a:prstGeom prst="rect">
            <a:avLst/>
          </a:prstGeom>
          <a:noFill/>
          <a:ln/>
        </p:spPr>
        <p:txBody>
          <a:bodyPr wrap="square" lIns="0" tIns="0" rIns="0" bIns="0" rtlCol="0" anchor="ctr"/>
          <a:lstStyle/>
          <a:p>
            <a:pPr indent="0" marL="0">
              <a:buNone/>
            </a:pPr>
            <a:r>
              <a:rPr lang="en-US" sz="2600" b="1" dirty="0">
                <a:solidFill>
                  <a:srgbClr val="17324D"/>
                </a:solidFill>
                <a:latin typeface="Aptos" pitchFamily="34" charset="0"/>
                <a:ea typeface="Segoe UI" pitchFamily="34" charset="-122"/>
                <a:cs typeface="Segoe UI" pitchFamily="34" charset="-120"/>
              </a:rPr>
              <a:t>Visites web</a:t>
            </a:r>
            <a:endParaRPr lang="en-US" sz="2600" dirty="0"/>
          </a:p>
          <a:p>
            <a:pPr indent="0" marL="0">
              <a:buNone/>
            </a:pPr>
            <a:r>
              <a:rPr lang="en-US" sz="2600" b="1" dirty="0">
                <a:solidFill>
                  <a:srgbClr val="17324D"/>
                </a:solidFill>
                <a:latin typeface="Aptos" pitchFamily="34" charset="0"/>
                <a:ea typeface="Segoe UI" pitchFamily="34" charset="-122"/>
                <a:cs typeface="Segoe UI" pitchFamily="34" charset="-120"/>
              </a:rPr>
              <a:t>et faibles achats</a:t>
            </a:r>
          </a:p>
        </p:txBody>
      </p:sp>
      <p:sp>
        <p:nvSpPr>
          <p:cNvPr id="28" name="Text 25"/>
          <p:cNvSpPr/>
          <p:nvPr/>
        </p:nvSpPr>
        <p:spPr>
          <a:xfrm>
            <a:off x="667512" y="4014216"/>
            <a:ext cx="3182112" cy="566928"/>
          </a:xfrm>
          <a:prstGeom prst="rect">
            <a:avLst/>
          </a:prstGeom>
          <a:noFill/>
          <a:ln/>
        </p:spPr>
        <p:txBody>
          <a:bodyPr wrap="square" lIns="0" tIns="0" rIns="0" bIns="0" rtlCol="0" anchor="ctr"/>
          <a:lstStyle/>
          <a:p>
            <a:pPr indent="0" marL="0">
              <a:buNone/>
            </a:pPr>
            <a:r>
              <a:rPr lang="en-US" sz="1600" dirty="0">
                <a:solidFill>
                  <a:srgbClr val="334155"/>
                </a:solidFill>
                <a:latin typeface="Aptos" pitchFamily="34" charset="0"/>
                <a:ea typeface="Segoe UI" pitchFamily="34" charset="-122"/>
                <a:cs typeface="Segoe UI" pitchFamily="34" charset="-120"/>
              </a:rPr>
              <a:t>Les clients visitent souvent</a:t>
            </a:r>
            <a:endParaRPr lang="en-US" sz="1600" dirty="0"/>
          </a:p>
          <a:p>
            <a:pPr indent="0" marL="0">
              <a:buNone/>
            </a:pPr>
            <a:r>
              <a:rPr lang="en-US" sz="1600" dirty="0">
                <a:solidFill>
                  <a:srgbClr val="334155"/>
                </a:solidFill>
                <a:latin typeface="Aptos" pitchFamily="34" charset="0"/>
                <a:ea typeface="Segoe UI" pitchFamily="34" charset="-122"/>
                <a:cs typeface="Segoe UI" pitchFamily="34" charset="-120"/>
              </a:rPr>
              <a:t>le site, mais achètent peu.</a:t>
            </a:r>
            <a:endParaRPr lang="en-US" sz="1600" dirty="0"/>
          </a:p>
        </p:txBody>
      </p:sp>
      <p:sp>
        <p:nvSpPr>
          <p:cNvPr id="29" name="Shape 26"/>
          <p:cNvSpPr/>
          <p:nvPr/>
        </p:nvSpPr>
        <p:spPr>
          <a:xfrm>
            <a:off x="4251960" y="1755648"/>
            <a:ext cx="3639312" cy="3090672"/>
          </a:xfrm>
          <a:prstGeom prst="roundRect">
            <a:avLst>
              <a:gd name="adj" fmla="val 4142"/>
            </a:avLst>
          </a:prstGeom>
          <a:solidFill>
            <a:srgbClr val="F3F4F6"/>
          </a:solidFill>
          <a:ln w="12700">
            <a:solidFill>
              <a:srgbClr val="F3F4F6">
                <a:alpha val="0"/>
              </a:srgbClr>
            </a:solidFill>
            <a:prstDash val="solid"/>
          </a:ln>
        </p:spPr>
        <p:txBody>
          <a:bodyPr/>
          <a:p/>
        </p:txBody>
      </p:sp>
      <p:sp>
        <p:nvSpPr>
          <p:cNvPr id="30" name="Shape 27"/>
          <p:cNvSpPr/>
          <p:nvPr/>
        </p:nvSpPr>
        <p:spPr>
          <a:xfrm>
            <a:off x="4434840" y="1965960"/>
            <a:ext cx="987552" cy="987552"/>
          </a:xfrm>
          <a:prstGeom prst="ellipse">
            <a:avLst/>
          </a:prstGeom>
          <a:solidFill>
            <a:srgbClr val="B45309"/>
          </a:solidFill>
          <a:ln w="12700">
            <a:solidFill>
              <a:srgbClr val="6D28D9">
                <a:alpha val="0"/>
              </a:srgbClr>
            </a:solidFill>
            <a:prstDash val="solid"/>
          </a:ln>
        </p:spPr>
        <p:txBody>
          <a:bodyPr/>
          <a:p/>
        </p:txBody>
      </p:sp>
      <p:sp>
        <p:nvSpPr>
          <p:cNvPr id="31" name="VECTOR_bag_63"/>
          <p:cNvSpPr/>
          <p:nvPr/>
        </p:nvSpPr>
        <p:spPr>
          <a:xfrm>
            <a:off x="4434840" y="1965960"/>
            <a:ext cx="987552" cy="987552"/>
          </a:xfrm>
          <a:custGeom>
            <a:avLst/>
            <a:gdLst/>
            <a:ahLst/>
            <a:cxnLst/>
            <a:rect l="0" t="0" r="r" b="b"/>
            <a:pathLst>
              <a:path w="100000" h="100000" fill="norm" stroke="false" extrusionOk="false">
                <a:moveTo>
                  <a:pt x="45000" y="24615"/>
                </a:moveTo>
                <a:lnTo>
                  <a:pt x="45385" y="24231"/>
                </a:lnTo>
                <a:lnTo>
                  <a:pt x="51538" y="24231"/>
                </a:lnTo>
                <a:lnTo>
                  <a:pt x="54615" y="25769"/>
                </a:lnTo>
                <a:lnTo>
                  <a:pt x="57308" y="28462"/>
                </a:lnTo>
                <a:lnTo>
                  <a:pt x="58846" y="31538"/>
                </a:lnTo>
                <a:lnTo>
                  <a:pt x="58846" y="37692"/>
                </a:lnTo>
                <a:lnTo>
                  <a:pt x="59231" y="38077"/>
                </a:lnTo>
                <a:lnTo>
                  <a:pt x="66154" y="38077"/>
                </a:lnTo>
                <a:lnTo>
                  <a:pt x="68077" y="40000"/>
                </a:lnTo>
                <a:lnTo>
                  <a:pt x="68077" y="44615"/>
                </a:lnTo>
                <a:lnTo>
                  <a:pt x="68462" y="45000"/>
                </a:lnTo>
                <a:lnTo>
                  <a:pt x="68846" y="45385"/>
                </a:lnTo>
                <a:lnTo>
                  <a:pt x="68846" y="51538"/>
                </a:lnTo>
                <a:lnTo>
                  <a:pt x="69231" y="51923"/>
                </a:lnTo>
                <a:lnTo>
                  <a:pt x="69615" y="52308"/>
                </a:lnTo>
                <a:lnTo>
                  <a:pt x="69615" y="57692"/>
                </a:lnTo>
                <a:lnTo>
                  <a:pt x="70000" y="58077"/>
                </a:lnTo>
                <a:lnTo>
                  <a:pt x="70385" y="58462"/>
                </a:lnTo>
                <a:lnTo>
                  <a:pt x="70385" y="63846"/>
                </a:lnTo>
                <a:lnTo>
                  <a:pt x="70769" y="64231"/>
                </a:lnTo>
                <a:lnTo>
                  <a:pt x="71154" y="64615"/>
                </a:lnTo>
                <a:lnTo>
                  <a:pt x="71154" y="70769"/>
                </a:lnTo>
                <a:lnTo>
                  <a:pt x="71538" y="71154"/>
                </a:lnTo>
                <a:lnTo>
                  <a:pt x="71923" y="71538"/>
                </a:lnTo>
                <a:lnTo>
                  <a:pt x="71923" y="76923"/>
                </a:lnTo>
                <a:lnTo>
                  <a:pt x="70000" y="78077"/>
                </a:lnTo>
                <a:lnTo>
                  <a:pt x="52308" y="78077"/>
                </a:lnTo>
                <a:lnTo>
                  <a:pt x="26923" y="78077"/>
                </a:lnTo>
                <a:lnTo>
                  <a:pt x="25000" y="76154"/>
                </a:lnTo>
                <a:lnTo>
                  <a:pt x="25000" y="73846"/>
                </a:lnTo>
                <a:lnTo>
                  <a:pt x="25385" y="73462"/>
                </a:lnTo>
                <a:lnTo>
                  <a:pt x="25769" y="73077"/>
                </a:lnTo>
                <a:lnTo>
                  <a:pt x="25769" y="67692"/>
                </a:lnTo>
                <a:lnTo>
                  <a:pt x="26154" y="67308"/>
                </a:lnTo>
                <a:lnTo>
                  <a:pt x="26538" y="66923"/>
                </a:lnTo>
                <a:lnTo>
                  <a:pt x="26538" y="62308"/>
                </a:lnTo>
                <a:lnTo>
                  <a:pt x="26923" y="61923"/>
                </a:lnTo>
                <a:lnTo>
                  <a:pt x="27308" y="61538"/>
                </a:lnTo>
                <a:lnTo>
                  <a:pt x="27308" y="56154"/>
                </a:lnTo>
                <a:lnTo>
                  <a:pt x="27692" y="55769"/>
                </a:lnTo>
                <a:lnTo>
                  <a:pt x="28077" y="55385"/>
                </a:lnTo>
                <a:lnTo>
                  <a:pt x="28077" y="49231"/>
                </a:lnTo>
                <a:lnTo>
                  <a:pt x="28462" y="48846"/>
                </a:lnTo>
                <a:lnTo>
                  <a:pt x="28846" y="48462"/>
                </a:lnTo>
                <a:lnTo>
                  <a:pt x="28846" y="43846"/>
                </a:lnTo>
                <a:lnTo>
                  <a:pt x="29231" y="43462"/>
                </a:lnTo>
                <a:lnTo>
                  <a:pt x="29615" y="43077"/>
                </a:lnTo>
                <a:lnTo>
                  <a:pt x="29615" y="39231"/>
                </a:lnTo>
                <a:lnTo>
                  <a:pt x="30769" y="38077"/>
                </a:lnTo>
                <a:lnTo>
                  <a:pt x="37692" y="38077"/>
                </a:lnTo>
                <a:lnTo>
                  <a:pt x="38077" y="37692"/>
                </a:lnTo>
                <a:lnTo>
                  <a:pt x="38077" y="32308"/>
                </a:lnTo>
                <a:lnTo>
                  <a:pt x="38462" y="31923"/>
                </a:lnTo>
                <a:lnTo>
                  <a:pt x="38846" y="31538"/>
                </a:lnTo>
                <a:lnTo>
                  <a:pt x="38846" y="30769"/>
                </a:lnTo>
                <a:lnTo>
                  <a:pt x="38846" y="30000"/>
                </a:lnTo>
                <a:lnTo>
                  <a:pt x="39615" y="28462"/>
                </a:lnTo>
                <a:lnTo>
                  <a:pt x="42308" y="25769"/>
                </a:lnTo>
                <a:lnTo>
                  <a:pt x="45000" y="24615"/>
                </a:lnTo>
                <a:close/>
                <a:moveTo>
                  <a:pt x="46154" y="26538"/>
                </a:moveTo>
                <a:lnTo>
                  <a:pt x="44615" y="27308"/>
                </a:lnTo>
                <a:lnTo>
                  <a:pt x="41923" y="30000"/>
                </a:lnTo>
                <a:lnTo>
                  <a:pt x="41154" y="31538"/>
                </a:lnTo>
                <a:lnTo>
                  <a:pt x="41154" y="37692"/>
                </a:lnTo>
                <a:lnTo>
                  <a:pt x="41538" y="38077"/>
                </a:lnTo>
                <a:lnTo>
                  <a:pt x="51538" y="38077"/>
                </a:lnTo>
                <a:lnTo>
                  <a:pt x="56154" y="38077"/>
                </a:lnTo>
                <a:lnTo>
                  <a:pt x="56538" y="37692"/>
                </a:lnTo>
                <a:lnTo>
                  <a:pt x="56538" y="33077"/>
                </a:lnTo>
                <a:lnTo>
                  <a:pt x="56154" y="32692"/>
                </a:lnTo>
                <a:lnTo>
                  <a:pt x="55769" y="32308"/>
                </a:lnTo>
                <a:lnTo>
                  <a:pt x="55769" y="31538"/>
                </a:lnTo>
                <a:lnTo>
                  <a:pt x="55769" y="30769"/>
                </a:lnTo>
                <a:lnTo>
                  <a:pt x="52308" y="27308"/>
                </a:lnTo>
                <a:lnTo>
                  <a:pt x="51538" y="27308"/>
                </a:lnTo>
                <a:lnTo>
                  <a:pt x="50769" y="27308"/>
                </a:lnTo>
                <a:lnTo>
                  <a:pt x="50385" y="26923"/>
                </a:lnTo>
                <a:lnTo>
                  <a:pt x="50000" y="26538"/>
                </a:lnTo>
                <a:lnTo>
                  <a:pt x="46154" y="26538"/>
                </a:lnTo>
                <a:close/>
                <a:moveTo>
                  <a:pt x="33077" y="41154"/>
                </a:moveTo>
                <a:lnTo>
                  <a:pt x="31923" y="42308"/>
                </a:lnTo>
                <a:lnTo>
                  <a:pt x="31923" y="45385"/>
                </a:lnTo>
                <a:lnTo>
                  <a:pt x="31538" y="45769"/>
                </a:lnTo>
                <a:lnTo>
                  <a:pt x="31154" y="46154"/>
                </a:lnTo>
                <a:lnTo>
                  <a:pt x="31154" y="51538"/>
                </a:lnTo>
                <a:lnTo>
                  <a:pt x="30769" y="51923"/>
                </a:lnTo>
                <a:lnTo>
                  <a:pt x="30385" y="52308"/>
                </a:lnTo>
                <a:lnTo>
                  <a:pt x="30385" y="56923"/>
                </a:lnTo>
                <a:lnTo>
                  <a:pt x="30000" y="57308"/>
                </a:lnTo>
                <a:lnTo>
                  <a:pt x="29615" y="57692"/>
                </a:lnTo>
                <a:lnTo>
                  <a:pt x="29615" y="63077"/>
                </a:lnTo>
                <a:lnTo>
                  <a:pt x="29231" y="63462"/>
                </a:lnTo>
                <a:lnTo>
                  <a:pt x="28846" y="63846"/>
                </a:lnTo>
                <a:lnTo>
                  <a:pt x="28846" y="69231"/>
                </a:lnTo>
                <a:lnTo>
                  <a:pt x="28462" y="69615"/>
                </a:lnTo>
                <a:lnTo>
                  <a:pt x="28077" y="70000"/>
                </a:lnTo>
                <a:lnTo>
                  <a:pt x="28077" y="74615"/>
                </a:lnTo>
                <a:lnTo>
                  <a:pt x="29231" y="75769"/>
                </a:lnTo>
                <a:lnTo>
                  <a:pt x="63077" y="75769"/>
                </a:lnTo>
                <a:lnTo>
                  <a:pt x="63462" y="75385"/>
                </a:lnTo>
                <a:lnTo>
                  <a:pt x="63846" y="75000"/>
                </a:lnTo>
                <a:lnTo>
                  <a:pt x="66923" y="75000"/>
                </a:lnTo>
                <a:lnTo>
                  <a:pt x="67308" y="75385"/>
                </a:lnTo>
                <a:lnTo>
                  <a:pt x="67692" y="75769"/>
                </a:lnTo>
                <a:lnTo>
                  <a:pt x="68846" y="74615"/>
                </a:lnTo>
                <a:lnTo>
                  <a:pt x="68846" y="73846"/>
                </a:lnTo>
                <a:lnTo>
                  <a:pt x="68846" y="68462"/>
                </a:lnTo>
                <a:lnTo>
                  <a:pt x="68462" y="68077"/>
                </a:lnTo>
                <a:lnTo>
                  <a:pt x="68077" y="67692"/>
                </a:lnTo>
                <a:lnTo>
                  <a:pt x="68077" y="61538"/>
                </a:lnTo>
                <a:lnTo>
                  <a:pt x="67692" y="61154"/>
                </a:lnTo>
                <a:lnTo>
                  <a:pt x="67308" y="60769"/>
                </a:lnTo>
                <a:lnTo>
                  <a:pt x="67308" y="55385"/>
                </a:lnTo>
                <a:lnTo>
                  <a:pt x="66923" y="55000"/>
                </a:lnTo>
                <a:lnTo>
                  <a:pt x="66538" y="54615"/>
                </a:lnTo>
                <a:lnTo>
                  <a:pt x="66538" y="49231"/>
                </a:lnTo>
                <a:lnTo>
                  <a:pt x="66154" y="48846"/>
                </a:lnTo>
                <a:lnTo>
                  <a:pt x="65769" y="48462"/>
                </a:lnTo>
                <a:lnTo>
                  <a:pt x="65769" y="43077"/>
                </a:lnTo>
                <a:lnTo>
                  <a:pt x="64615" y="41154"/>
                </a:lnTo>
                <a:lnTo>
                  <a:pt x="59231" y="41154"/>
                </a:lnTo>
                <a:lnTo>
                  <a:pt x="58846" y="43846"/>
                </a:lnTo>
                <a:lnTo>
                  <a:pt x="57692" y="45000"/>
                </a:lnTo>
                <a:lnTo>
                  <a:pt x="56538" y="43846"/>
                </a:lnTo>
                <a:lnTo>
                  <a:pt x="56154" y="41154"/>
                </a:lnTo>
                <a:lnTo>
                  <a:pt x="41538" y="41154"/>
                </a:lnTo>
                <a:lnTo>
                  <a:pt x="41154" y="43846"/>
                </a:lnTo>
                <a:lnTo>
                  <a:pt x="40000" y="45000"/>
                </a:lnTo>
                <a:lnTo>
                  <a:pt x="39231" y="45000"/>
                </a:lnTo>
                <a:lnTo>
                  <a:pt x="38077" y="43846"/>
                </a:lnTo>
                <a:lnTo>
                  <a:pt x="37692" y="41154"/>
                </a:lnTo>
                <a:lnTo>
                  <a:pt x="33077" y="41154"/>
                </a:lnTo>
                <a:close/>
              </a:path>
            </a:pathLst>
          </a:custGeom>
          <a:solidFill>
            <a:srgbClr val="FFFFFF"/>
          </a:solidFill>
          <a:ln>
            <a:noFill/>
          </a:ln>
        </p:spPr>
        <p:txBody>
          <a:bodyPr/>
          <a:p/>
        </p:txBody>
      </p:sp>
      <p:sp>
        <p:nvSpPr>
          <p:cNvPr id="32" name="Text 29"/>
          <p:cNvSpPr/>
          <p:nvPr/>
        </p:nvSpPr>
        <p:spPr>
          <a:xfrm>
            <a:off x="5660136" y="2011680"/>
            <a:ext cx="1984248" cy="356616"/>
          </a:xfrm>
          <a:prstGeom prst="rect">
            <a:avLst/>
          </a:prstGeom>
          <a:noFill/>
          <a:ln/>
        </p:spPr>
        <p:txBody>
          <a:bodyPr wrap="square" lIns="0" tIns="0" rIns="0" bIns="0" rtlCol="0" anchor="ctr"/>
          <a:lstStyle/>
          <a:p>
            <a:pPr indent="0" marL="0">
              <a:buNone/>
            </a:pPr>
            <a:r>
              <a:rPr lang="en-US" sz="2900" b="1" dirty="0">
                <a:solidFill>
                  <a:srgbClr val="6D28D9"/>
                </a:solidFill>
                <a:latin typeface="Aptos" pitchFamily="34" charset="0"/>
                <a:ea typeface="Segoe UI" pitchFamily="34" charset="-122"/>
                <a:cs typeface="Segoe UI" pitchFamily="34" charset="-120"/>
              </a:rPr>
              <a:t>C2</a:t>
            </a:r>
            <a:endParaRPr lang="en-US" sz="2900" dirty="0"/>
          </a:p>
        </p:txBody>
      </p:sp>
      <p:sp>
        <p:nvSpPr>
          <p:cNvPr id="33" name="Text 30"/>
          <p:cNvSpPr/>
          <p:nvPr/>
        </p:nvSpPr>
        <p:spPr>
          <a:xfrm>
            <a:off x="4462272" y="3163824"/>
            <a:ext cx="3163824" cy="640080"/>
          </a:xfrm>
          <a:prstGeom prst="rect">
            <a:avLst/>
          </a:prstGeom>
          <a:noFill/>
          <a:ln/>
        </p:spPr>
        <p:txBody>
          <a:bodyPr wrap="square" lIns="0" tIns="0" rIns="0" bIns="0" rtlCol="0" anchor="ctr"/>
          <a:lstStyle/>
          <a:p>
            <a:pPr indent="0" marL="0">
              <a:buNone/>
            </a:pPr>
            <a:r>
              <a:rPr lang="en-US" sz="2600" b="1" dirty="0">
                <a:solidFill>
                  <a:srgbClr val="17324D"/>
                </a:solidFill>
                <a:latin typeface="Aptos" pitchFamily="34" charset="0"/>
                <a:ea typeface="Segoe UI" pitchFamily="34" charset="-122"/>
                <a:cs typeface="Segoe UI" pitchFamily="34" charset="-120"/>
              </a:rPr>
              <a:t>Web actif</a:t>
            </a:r>
            <a:endParaRPr lang="en-US" sz="2600" dirty="0"/>
          </a:p>
          <a:p>
            <a:pPr indent="0" marL="0">
              <a:buNone/>
            </a:pPr>
            <a:r>
              <a:rPr lang="en-US" sz="2600" b="1" dirty="0">
                <a:solidFill>
                  <a:srgbClr val="17324D"/>
                </a:solidFill>
                <a:latin typeface="Aptos" pitchFamily="34" charset="0"/>
                <a:ea typeface="Segoe UI" pitchFamily="34" charset="-122"/>
                <a:cs typeface="Segoe UI" pitchFamily="34" charset="-120"/>
              </a:rPr>
              <a:t>et promotions</a:t>
            </a:r>
            <a:endParaRPr lang="en-US" sz="2600" dirty="0"/>
          </a:p>
        </p:txBody>
      </p:sp>
      <p:sp>
        <p:nvSpPr>
          <p:cNvPr id="34" name="Text 31"/>
          <p:cNvSpPr/>
          <p:nvPr/>
        </p:nvSpPr>
        <p:spPr>
          <a:xfrm>
            <a:off x="4462272" y="4014216"/>
            <a:ext cx="3182112" cy="566928"/>
          </a:xfrm>
          <a:prstGeom prst="rect">
            <a:avLst/>
          </a:prstGeom>
          <a:noFill/>
          <a:ln/>
        </p:spPr>
        <p:txBody>
          <a:bodyPr wrap="square" lIns="0" tIns="0" rIns="0" bIns="0" rtlCol="0" anchor="ctr"/>
          <a:lstStyle/>
          <a:p>
            <a:pPr indent="0" marL="0">
              <a:buNone/>
            </a:pPr>
            <a:r>
              <a:rPr lang="en-US" sz="1600" dirty="0">
                <a:solidFill>
                  <a:srgbClr val="334155"/>
                </a:solidFill>
                <a:latin typeface="Aptos" pitchFamily="34" charset="0"/>
                <a:ea typeface="Segoe UI" pitchFamily="34" charset="-122"/>
                <a:cs typeface="Segoe UI" pitchFamily="34" charset="-120"/>
              </a:rPr>
              <a:t>Le plus actif sur le web,</a:t>
            </a:r>
            <a:endParaRPr lang="en-US" sz="1600" dirty="0"/>
          </a:p>
          <a:p>
            <a:pPr indent="0" marL="0">
              <a:buNone/>
            </a:pPr>
            <a:r>
              <a:rPr lang="en-US" sz="1600" dirty="0">
                <a:solidFill>
                  <a:srgbClr val="334155"/>
                </a:solidFill>
                <a:latin typeface="Aptos" pitchFamily="34" charset="0"/>
                <a:ea typeface="Segoe UI" pitchFamily="34" charset="-122"/>
                <a:cs typeface="Segoe UI" pitchFamily="34" charset="-120"/>
              </a:rPr>
              <a:t>avec aussi de nombreux</a:t>
            </a:r>
            <a:endParaRPr lang="en-US" sz="1600" dirty="0"/>
          </a:p>
          <a:p>
            <a:pPr indent="0" marL="0">
              <a:buNone/>
            </a:pPr>
            <a:r>
              <a:rPr lang="en-US" sz="1600" dirty="0">
                <a:solidFill>
                  <a:srgbClr val="334155"/>
                </a:solidFill>
                <a:latin typeface="Aptos" pitchFamily="34" charset="0"/>
                <a:ea typeface="Segoe UI" pitchFamily="34" charset="-122"/>
                <a:cs typeface="Segoe UI" pitchFamily="34" charset="-120"/>
              </a:rPr>
              <a:t>achats en magasin.</a:t>
            </a:r>
            <a:endParaRPr lang="en-US" sz="1600" dirty="0"/>
          </a:p>
        </p:txBody>
      </p:sp>
      <p:sp>
        <p:nvSpPr>
          <p:cNvPr id="35" name="Shape 32"/>
          <p:cNvSpPr/>
          <p:nvPr/>
        </p:nvSpPr>
        <p:spPr>
          <a:xfrm>
            <a:off x="8046720" y="1755648"/>
            <a:ext cx="3639312" cy="3090672"/>
          </a:xfrm>
          <a:prstGeom prst="roundRect">
            <a:avLst>
              <a:gd name="adj" fmla="val 4142"/>
            </a:avLst>
          </a:prstGeom>
          <a:solidFill>
            <a:srgbClr val="F3F4F6"/>
          </a:solidFill>
          <a:ln w="12700">
            <a:solidFill>
              <a:srgbClr val="F3F4F6">
                <a:alpha val="0"/>
              </a:srgbClr>
            </a:solidFill>
            <a:prstDash val="solid"/>
          </a:ln>
        </p:spPr>
        <p:txBody>
          <a:bodyPr/>
          <a:p/>
        </p:txBody>
      </p:sp>
      <p:sp>
        <p:nvSpPr>
          <p:cNvPr id="36" name="Shape 33"/>
          <p:cNvSpPr/>
          <p:nvPr/>
        </p:nvSpPr>
        <p:spPr>
          <a:xfrm>
            <a:off x="8229600" y="1965960"/>
            <a:ext cx="987552" cy="987552"/>
          </a:xfrm>
          <a:prstGeom prst="ellipse">
            <a:avLst/>
          </a:prstGeom>
          <a:solidFill>
            <a:srgbClr val="6D28D9"/>
          </a:solidFill>
          <a:ln w="12700">
            <a:solidFill>
              <a:srgbClr val="17324D">
                <a:alpha val="0"/>
              </a:srgbClr>
            </a:solidFill>
            <a:prstDash val="solid"/>
          </a:ln>
        </p:spPr>
        <p:txBody>
          <a:bodyPr/>
          <a:p/>
        </p:txBody>
      </p:sp>
      <p:sp>
        <p:nvSpPr>
          <p:cNvPr id="37" name="VECTOR_diamond_64"/>
          <p:cNvSpPr/>
          <p:nvPr/>
        </p:nvSpPr>
        <p:spPr>
          <a:xfrm>
            <a:off x="8229600" y="1965960"/>
            <a:ext cx="987552" cy="987552"/>
          </a:xfrm>
          <a:custGeom>
            <a:avLst/>
            <a:gdLst/>
            <a:ahLst/>
            <a:cxnLst/>
            <a:rect l="0" t="0" r="r" b="b"/>
            <a:pathLst>
              <a:path w="100000" h="100000" fill="norm" stroke="false" extrusionOk="false">
                <a:moveTo>
                  <a:pt x="40873" y="27778"/>
                </a:moveTo>
                <a:lnTo>
                  <a:pt x="41270" y="27381"/>
                </a:lnTo>
                <a:lnTo>
                  <a:pt x="42063" y="27381"/>
                </a:lnTo>
                <a:lnTo>
                  <a:pt x="42460" y="27778"/>
                </a:lnTo>
                <a:lnTo>
                  <a:pt x="42857" y="28175"/>
                </a:lnTo>
                <a:lnTo>
                  <a:pt x="57937" y="28175"/>
                </a:lnTo>
                <a:lnTo>
                  <a:pt x="58333" y="27778"/>
                </a:lnTo>
                <a:lnTo>
                  <a:pt x="58730" y="27381"/>
                </a:lnTo>
                <a:lnTo>
                  <a:pt x="59524" y="27381"/>
                </a:lnTo>
                <a:lnTo>
                  <a:pt x="60317" y="27381"/>
                </a:lnTo>
                <a:lnTo>
                  <a:pt x="60714" y="27778"/>
                </a:lnTo>
                <a:lnTo>
                  <a:pt x="61111" y="28175"/>
                </a:lnTo>
                <a:lnTo>
                  <a:pt x="66667" y="28175"/>
                </a:lnTo>
                <a:lnTo>
                  <a:pt x="71825" y="34127"/>
                </a:lnTo>
                <a:lnTo>
                  <a:pt x="71825" y="34921"/>
                </a:lnTo>
                <a:lnTo>
                  <a:pt x="74206" y="37302"/>
                </a:lnTo>
                <a:lnTo>
                  <a:pt x="74206" y="38095"/>
                </a:lnTo>
                <a:lnTo>
                  <a:pt x="78175" y="42063"/>
                </a:lnTo>
                <a:lnTo>
                  <a:pt x="78968" y="43651"/>
                </a:lnTo>
                <a:lnTo>
                  <a:pt x="78968" y="44444"/>
                </a:lnTo>
                <a:lnTo>
                  <a:pt x="78968" y="45238"/>
                </a:lnTo>
                <a:lnTo>
                  <a:pt x="76587" y="47619"/>
                </a:lnTo>
                <a:lnTo>
                  <a:pt x="76587" y="48413"/>
                </a:lnTo>
                <a:lnTo>
                  <a:pt x="71825" y="53175"/>
                </a:lnTo>
                <a:lnTo>
                  <a:pt x="71825" y="53968"/>
                </a:lnTo>
                <a:lnTo>
                  <a:pt x="67063" y="58730"/>
                </a:lnTo>
                <a:lnTo>
                  <a:pt x="67063" y="59524"/>
                </a:lnTo>
                <a:lnTo>
                  <a:pt x="59921" y="67460"/>
                </a:lnTo>
                <a:lnTo>
                  <a:pt x="57540" y="69841"/>
                </a:lnTo>
                <a:lnTo>
                  <a:pt x="57540" y="70635"/>
                </a:lnTo>
                <a:lnTo>
                  <a:pt x="53968" y="74206"/>
                </a:lnTo>
                <a:lnTo>
                  <a:pt x="53175" y="74206"/>
                </a:lnTo>
                <a:lnTo>
                  <a:pt x="41667" y="61905"/>
                </a:lnTo>
                <a:lnTo>
                  <a:pt x="41667" y="61111"/>
                </a:lnTo>
                <a:lnTo>
                  <a:pt x="32143" y="50794"/>
                </a:lnTo>
                <a:lnTo>
                  <a:pt x="32143" y="50000"/>
                </a:lnTo>
                <a:lnTo>
                  <a:pt x="28175" y="46032"/>
                </a:lnTo>
                <a:lnTo>
                  <a:pt x="27381" y="44444"/>
                </a:lnTo>
                <a:lnTo>
                  <a:pt x="28175" y="42857"/>
                </a:lnTo>
                <a:lnTo>
                  <a:pt x="33730" y="36508"/>
                </a:lnTo>
                <a:lnTo>
                  <a:pt x="33730" y="35714"/>
                </a:lnTo>
                <a:lnTo>
                  <a:pt x="40873" y="27778"/>
                </a:lnTo>
                <a:close/>
                <a:moveTo>
                  <a:pt x="42063" y="28968"/>
                </a:moveTo>
                <a:lnTo>
                  <a:pt x="35317" y="36508"/>
                </a:lnTo>
                <a:lnTo>
                  <a:pt x="35317" y="37302"/>
                </a:lnTo>
                <a:lnTo>
                  <a:pt x="30556" y="42857"/>
                </a:lnTo>
                <a:lnTo>
                  <a:pt x="30952" y="43254"/>
                </a:lnTo>
                <a:lnTo>
                  <a:pt x="34921" y="43254"/>
                </a:lnTo>
                <a:lnTo>
                  <a:pt x="42063" y="43254"/>
                </a:lnTo>
                <a:lnTo>
                  <a:pt x="42460" y="42857"/>
                </a:lnTo>
                <a:lnTo>
                  <a:pt x="43254" y="41270"/>
                </a:lnTo>
                <a:lnTo>
                  <a:pt x="43254" y="40476"/>
                </a:lnTo>
                <a:lnTo>
                  <a:pt x="43254" y="39683"/>
                </a:lnTo>
                <a:lnTo>
                  <a:pt x="43651" y="39286"/>
                </a:lnTo>
                <a:lnTo>
                  <a:pt x="44048" y="38889"/>
                </a:lnTo>
                <a:lnTo>
                  <a:pt x="44048" y="38095"/>
                </a:lnTo>
                <a:lnTo>
                  <a:pt x="44048" y="37302"/>
                </a:lnTo>
                <a:lnTo>
                  <a:pt x="44444" y="36905"/>
                </a:lnTo>
                <a:lnTo>
                  <a:pt x="44841" y="36508"/>
                </a:lnTo>
                <a:lnTo>
                  <a:pt x="44841" y="34127"/>
                </a:lnTo>
                <a:lnTo>
                  <a:pt x="45238" y="33730"/>
                </a:lnTo>
                <a:lnTo>
                  <a:pt x="45635" y="33333"/>
                </a:lnTo>
                <a:lnTo>
                  <a:pt x="46429" y="29365"/>
                </a:lnTo>
                <a:lnTo>
                  <a:pt x="46032" y="28968"/>
                </a:lnTo>
                <a:lnTo>
                  <a:pt x="42063" y="28968"/>
                </a:lnTo>
                <a:close/>
                <a:moveTo>
                  <a:pt x="48413" y="28968"/>
                </a:moveTo>
                <a:lnTo>
                  <a:pt x="47222" y="30952"/>
                </a:lnTo>
                <a:lnTo>
                  <a:pt x="47222" y="31746"/>
                </a:lnTo>
                <a:lnTo>
                  <a:pt x="47222" y="32540"/>
                </a:lnTo>
                <a:lnTo>
                  <a:pt x="46825" y="32937"/>
                </a:lnTo>
                <a:lnTo>
                  <a:pt x="46429" y="33333"/>
                </a:lnTo>
                <a:lnTo>
                  <a:pt x="46429" y="35714"/>
                </a:lnTo>
                <a:lnTo>
                  <a:pt x="46032" y="36111"/>
                </a:lnTo>
                <a:lnTo>
                  <a:pt x="45635" y="36508"/>
                </a:lnTo>
                <a:lnTo>
                  <a:pt x="45635" y="37302"/>
                </a:lnTo>
                <a:lnTo>
                  <a:pt x="45635" y="38095"/>
                </a:lnTo>
                <a:lnTo>
                  <a:pt x="45238" y="38492"/>
                </a:lnTo>
                <a:lnTo>
                  <a:pt x="44841" y="38889"/>
                </a:lnTo>
                <a:lnTo>
                  <a:pt x="44841" y="41270"/>
                </a:lnTo>
                <a:lnTo>
                  <a:pt x="44048" y="42857"/>
                </a:lnTo>
                <a:lnTo>
                  <a:pt x="44444" y="43254"/>
                </a:lnTo>
                <a:lnTo>
                  <a:pt x="58730" y="43254"/>
                </a:lnTo>
                <a:lnTo>
                  <a:pt x="62698" y="43254"/>
                </a:lnTo>
                <a:lnTo>
                  <a:pt x="63095" y="42857"/>
                </a:lnTo>
                <a:lnTo>
                  <a:pt x="62698" y="42460"/>
                </a:lnTo>
                <a:lnTo>
                  <a:pt x="62302" y="42063"/>
                </a:lnTo>
                <a:lnTo>
                  <a:pt x="62302" y="39683"/>
                </a:lnTo>
                <a:lnTo>
                  <a:pt x="61905" y="39286"/>
                </a:lnTo>
                <a:lnTo>
                  <a:pt x="61508" y="38889"/>
                </a:lnTo>
                <a:lnTo>
                  <a:pt x="61508" y="38095"/>
                </a:lnTo>
                <a:lnTo>
                  <a:pt x="61508" y="37302"/>
                </a:lnTo>
                <a:lnTo>
                  <a:pt x="61111" y="36905"/>
                </a:lnTo>
                <a:lnTo>
                  <a:pt x="60714" y="36508"/>
                </a:lnTo>
                <a:lnTo>
                  <a:pt x="60714" y="34127"/>
                </a:lnTo>
                <a:lnTo>
                  <a:pt x="60317" y="33730"/>
                </a:lnTo>
                <a:lnTo>
                  <a:pt x="59921" y="33333"/>
                </a:lnTo>
                <a:lnTo>
                  <a:pt x="59921" y="32540"/>
                </a:lnTo>
                <a:lnTo>
                  <a:pt x="59921" y="31746"/>
                </a:lnTo>
                <a:lnTo>
                  <a:pt x="59127" y="30159"/>
                </a:lnTo>
                <a:lnTo>
                  <a:pt x="57937" y="28968"/>
                </a:lnTo>
                <a:lnTo>
                  <a:pt x="48413" y="28968"/>
                </a:lnTo>
                <a:close/>
                <a:moveTo>
                  <a:pt x="61111" y="28968"/>
                </a:moveTo>
                <a:lnTo>
                  <a:pt x="60714" y="31746"/>
                </a:lnTo>
                <a:lnTo>
                  <a:pt x="61111" y="32143"/>
                </a:lnTo>
                <a:lnTo>
                  <a:pt x="61508" y="32540"/>
                </a:lnTo>
                <a:lnTo>
                  <a:pt x="61508" y="33333"/>
                </a:lnTo>
                <a:lnTo>
                  <a:pt x="61508" y="34127"/>
                </a:lnTo>
                <a:lnTo>
                  <a:pt x="63095" y="37302"/>
                </a:lnTo>
                <a:lnTo>
                  <a:pt x="63095" y="39683"/>
                </a:lnTo>
                <a:lnTo>
                  <a:pt x="63492" y="40079"/>
                </a:lnTo>
                <a:lnTo>
                  <a:pt x="63889" y="40476"/>
                </a:lnTo>
                <a:lnTo>
                  <a:pt x="64286" y="43254"/>
                </a:lnTo>
                <a:lnTo>
                  <a:pt x="76190" y="43254"/>
                </a:lnTo>
                <a:lnTo>
                  <a:pt x="76587" y="42857"/>
                </a:lnTo>
                <a:lnTo>
                  <a:pt x="74206" y="40476"/>
                </a:lnTo>
                <a:lnTo>
                  <a:pt x="74206" y="39683"/>
                </a:lnTo>
                <a:lnTo>
                  <a:pt x="71825" y="37302"/>
                </a:lnTo>
                <a:lnTo>
                  <a:pt x="71825" y="36508"/>
                </a:lnTo>
                <a:lnTo>
                  <a:pt x="65079" y="28968"/>
                </a:lnTo>
                <a:lnTo>
                  <a:pt x="61111" y="28968"/>
                </a:lnTo>
                <a:close/>
                <a:moveTo>
                  <a:pt x="30952" y="44841"/>
                </a:moveTo>
                <a:lnTo>
                  <a:pt x="30556" y="45238"/>
                </a:lnTo>
                <a:lnTo>
                  <a:pt x="30556" y="46032"/>
                </a:lnTo>
                <a:lnTo>
                  <a:pt x="32937" y="48413"/>
                </a:lnTo>
                <a:lnTo>
                  <a:pt x="32937" y="49206"/>
                </a:lnTo>
                <a:lnTo>
                  <a:pt x="39286" y="55556"/>
                </a:lnTo>
                <a:lnTo>
                  <a:pt x="39286" y="56349"/>
                </a:lnTo>
                <a:lnTo>
                  <a:pt x="44048" y="61111"/>
                </a:lnTo>
                <a:lnTo>
                  <a:pt x="44048" y="61905"/>
                </a:lnTo>
                <a:lnTo>
                  <a:pt x="50000" y="67857"/>
                </a:lnTo>
                <a:lnTo>
                  <a:pt x="50794" y="67857"/>
                </a:lnTo>
                <a:lnTo>
                  <a:pt x="51190" y="67460"/>
                </a:lnTo>
                <a:lnTo>
                  <a:pt x="49603" y="65079"/>
                </a:lnTo>
                <a:lnTo>
                  <a:pt x="49603" y="64286"/>
                </a:lnTo>
                <a:lnTo>
                  <a:pt x="49603" y="63492"/>
                </a:lnTo>
                <a:lnTo>
                  <a:pt x="47222" y="58730"/>
                </a:lnTo>
                <a:lnTo>
                  <a:pt x="46429" y="54762"/>
                </a:lnTo>
                <a:lnTo>
                  <a:pt x="44841" y="52381"/>
                </a:lnTo>
                <a:lnTo>
                  <a:pt x="44841" y="51587"/>
                </a:lnTo>
                <a:lnTo>
                  <a:pt x="44841" y="50794"/>
                </a:lnTo>
                <a:lnTo>
                  <a:pt x="42460" y="46032"/>
                </a:lnTo>
                <a:lnTo>
                  <a:pt x="41270" y="44841"/>
                </a:lnTo>
                <a:lnTo>
                  <a:pt x="30952" y="44841"/>
                </a:lnTo>
                <a:close/>
                <a:moveTo>
                  <a:pt x="44444" y="44841"/>
                </a:moveTo>
                <a:lnTo>
                  <a:pt x="44048" y="46825"/>
                </a:lnTo>
                <a:lnTo>
                  <a:pt x="44444" y="47222"/>
                </a:lnTo>
                <a:lnTo>
                  <a:pt x="44841" y="47619"/>
                </a:lnTo>
                <a:lnTo>
                  <a:pt x="44841" y="48413"/>
                </a:lnTo>
                <a:lnTo>
                  <a:pt x="44841" y="49206"/>
                </a:lnTo>
                <a:lnTo>
                  <a:pt x="47222" y="53175"/>
                </a:lnTo>
                <a:lnTo>
                  <a:pt x="47222" y="53968"/>
                </a:lnTo>
                <a:lnTo>
                  <a:pt x="47222" y="54762"/>
                </a:lnTo>
                <a:lnTo>
                  <a:pt x="48810" y="57143"/>
                </a:lnTo>
                <a:lnTo>
                  <a:pt x="48810" y="57937"/>
                </a:lnTo>
                <a:lnTo>
                  <a:pt x="48810" y="58730"/>
                </a:lnTo>
                <a:lnTo>
                  <a:pt x="51190" y="63492"/>
                </a:lnTo>
                <a:lnTo>
                  <a:pt x="51190" y="64286"/>
                </a:lnTo>
                <a:lnTo>
                  <a:pt x="51190" y="65079"/>
                </a:lnTo>
                <a:lnTo>
                  <a:pt x="52778" y="67460"/>
                </a:lnTo>
                <a:lnTo>
                  <a:pt x="52778" y="68254"/>
                </a:lnTo>
                <a:lnTo>
                  <a:pt x="52778" y="69048"/>
                </a:lnTo>
                <a:lnTo>
                  <a:pt x="53175" y="69444"/>
                </a:lnTo>
                <a:lnTo>
                  <a:pt x="53968" y="69444"/>
                </a:lnTo>
                <a:lnTo>
                  <a:pt x="55159" y="68254"/>
                </a:lnTo>
                <a:lnTo>
                  <a:pt x="55159" y="67460"/>
                </a:lnTo>
                <a:lnTo>
                  <a:pt x="55159" y="66667"/>
                </a:lnTo>
                <a:lnTo>
                  <a:pt x="55556" y="66270"/>
                </a:lnTo>
                <a:lnTo>
                  <a:pt x="55952" y="65873"/>
                </a:lnTo>
                <a:lnTo>
                  <a:pt x="56349" y="63889"/>
                </a:lnTo>
                <a:lnTo>
                  <a:pt x="56746" y="61905"/>
                </a:lnTo>
                <a:lnTo>
                  <a:pt x="57143" y="61508"/>
                </a:lnTo>
                <a:lnTo>
                  <a:pt x="57540" y="61111"/>
                </a:lnTo>
                <a:lnTo>
                  <a:pt x="57540" y="60317"/>
                </a:lnTo>
                <a:lnTo>
                  <a:pt x="57540" y="59524"/>
                </a:lnTo>
                <a:lnTo>
                  <a:pt x="57937" y="59127"/>
                </a:lnTo>
                <a:lnTo>
                  <a:pt x="58333" y="58730"/>
                </a:lnTo>
                <a:lnTo>
                  <a:pt x="58333" y="57937"/>
                </a:lnTo>
                <a:lnTo>
                  <a:pt x="58333" y="57143"/>
                </a:lnTo>
                <a:lnTo>
                  <a:pt x="58730" y="56746"/>
                </a:lnTo>
                <a:lnTo>
                  <a:pt x="59127" y="56349"/>
                </a:lnTo>
                <a:lnTo>
                  <a:pt x="59127" y="55556"/>
                </a:lnTo>
                <a:lnTo>
                  <a:pt x="59127" y="54762"/>
                </a:lnTo>
                <a:lnTo>
                  <a:pt x="60714" y="52381"/>
                </a:lnTo>
                <a:lnTo>
                  <a:pt x="60714" y="51587"/>
                </a:lnTo>
                <a:lnTo>
                  <a:pt x="60714" y="50794"/>
                </a:lnTo>
                <a:lnTo>
                  <a:pt x="62302" y="47619"/>
                </a:lnTo>
                <a:lnTo>
                  <a:pt x="62302" y="45238"/>
                </a:lnTo>
                <a:lnTo>
                  <a:pt x="61905" y="44841"/>
                </a:lnTo>
                <a:lnTo>
                  <a:pt x="44444" y="44841"/>
                </a:lnTo>
                <a:close/>
                <a:moveTo>
                  <a:pt x="65079" y="44841"/>
                </a:moveTo>
                <a:lnTo>
                  <a:pt x="63889" y="46032"/>
                </a:lnTo>
                <a:lnTo>
                  <a:pt x="63889" y="46825"/>
                </a:lnTo>
                <a:lnTo>
                  <a:pt x="63889" y="47619"/>
                </a:lnTo>
                <a:lnTo>
                  <a:pt x="61508" y="52381"/>
                </a:lnTo>
                <a:lnTo>
                  <a:pt x="60714" y="56349"/>
                </a:lnTo>
                <a:lnTo>
                  <a:pt x="59127" y="58730"/>
                </a:lnTo>
                <a:lnTo>
                  <a:pt x="59127" y="59524"/>
                </a:lnTo>
                <a:lnTo>
                  <a:pt x="59127" y="60317"/>
                </a:lnTo>
                <a:lnTo>
                  <a:pt x="58730" y="60714"/>
                </a:lnTo>
                <a:lnTo>
                  <a:pt x="58333" y="61111"/>
                </a:lnTo>
                <a:lnTo>
                  <a:pt x="57540" y="65079"/>
                </a:lnTo>
                <a:lnTo>
                  <a:pt x="55952" y="67460"/>
                </a:lnTo>
                <a:lnTo>
                  <a:pt x="57937" y="67857"/>
                </a:lnTo>
                <a:lnTo>
                  <a:pt x="58333" y="67460"/>
                </a:lnTo>
                <a:lnTo>
                  <a:pt x="58333" y="66667"/>
                </a:lnTo>
                <a:lnTo>
                  <a:pt x="61905" y="63095"/>
                </a:lnTo>
                <a:lnTo>
                  <a:pt x="62302" y="62698"/>
                </a:lnTo>
                <a:lnTo>
                  <a:pt x="62302" y="61905"/>
                </a:lnTo>
                <a:lnTo>
                  <a:pt x="67063" y="57143"/>
                </a:lnTo>
                <a:lnTo>
                  <a:pt x="67063" y="56349"/>
                </a:lnTo>
                <a:lnTo>
                  <a:pt x="75794" y="46825"/>
                </a:lnTo>
                <a:lnTo>
                  <a:pt x="75397" y="44841"/>
                </a:lnTo>
                <a:lnTo>
                  <a:pt x="65079" y="44841"/>
                </a:lnTo>
                <a:close/>
              </a:path>
            </a:pathLst>
          </a:custGeom>
          <a:solidFill>
            <a:srgbClr val="FFFFFF"/>
          </a:solidFill>
          <a:ln>
            <a:noFill/>
          </a:ln>
        </p:spPr>
        <p:txBody>
          <a:bodyPr/>
          <a:p/>
        </p:txBody>
      </p:sp>
      <p:sp>
        <p:nvSpPr>
          <p:cNvPr id="38" name="Text 35"/>
          <p:cNvSpPr/>
          <p:nvPr/>
        </p:nvSpPr>
        <p:spPr>
          <a:xfrm>
            <a:off x="9454896" y="2011680"/>
            <a:ext cx="1984248" cy="356616"/>
          </a:xfrm>
          <a:prstGeom prst="rect">
            <a:avLst/>
          </a:prstGeom>
          <a:noFill/>
          <a:ln/>
        </p:spPr>
        <p:txBody>
          <a:bodyPr wrap="square" lIns="0" tIns="0" rIns="0" bIns="0" rtlCol="0" anchor="ctr"/>
          <a:lstStyle/>
          <a:p>
            <a:pPr indent="0" marL="0">
              <a:buNone/>
            </a:pPr>
            <a:r>
              <a:rPr lang="en-US" sz="2900" b="1" dirty="0">
                <a:solidFill>
                  <a:srgbClr val="17324D"/>
                </a:solidFill>
                <a:latin typeface="Aptos" pitchFamily="34" charset="0"/>
                <a:ea typeface="Segoe UI" pitchFamily="34" charset="-122"/>
                <a:cs typeface="Segoe UI" pitchFamily="34" charset="-120"/>
              </a:rPr>
              <a:t>C3</a:t>
            </a:r>
            <a:endParaRPr lang="en-US" sz="2900" dirty="0"/>
          </a:p>
        </p:txBody>
      </p:sp>
      <p:sp>
        <p:nvSpPr>
          <p:cNvPr id="39" name="Text 36"/>
          <p:cNvSpPr/>
          <p:nvPr/>
        </p:nvSpPr>
        <p:spPr>
          <a:xfrm>
            <a:off x="8257032" y="3163824"/>
            <a:ext cx="3163824" cy="640080"/>
          </a:xfrm>
          <a:prstGeom prst="rect">
            <a:avLst/>
          </a:prstGeom>
          <a:noFill/>
          <a:ln/>
        </p:spPr>
        <p:txBody>
          <a:bodyPr wrap="square" lIns="0" tIns="0" rIns="0" bIns="0" rtlCol="0" anchor="ctr"/>
          <a:lstStyle/>
          <a:p>
            <a:pPr indent="0" marL="0">
              <a:buNone/>
            </a:pPr>
            <a:r>
              <a:rPr lang="en-US" sz="2600" b="1" dirty="0">
                <a:solidFill>
                  <a:srgbClr val="17324D"/>
                </a:solidFill>
                <a:latin typeface="Aptos" pitchFamily="34" charset="0"/>
                <a:ea typeface="Segoe UI" pitchFamily="34" charset="-122"/>
                <a:cs typeface="Segoe UI" pitchFamily="34" charset="-120"/>
              </a:rPr>
              <a:t>Catalogue</a:t>
            </a:r>
            <a:endParaRPr lang="en-US" sz="2600" dirty="0"/>
          </a:p>
          <a:p>
            <a:pPr indent="0" marL="0">
              <a:buNone/>
            </a:pPr>
            <a:r>
              <a:rPr lang="en-US" sz="2600" b="1" dirty="0">
                <a:solidFill>
                  <a:srgbClr val="17324D"/>
                </a:solidFill>
                <a:latin typeface="Aptos" pitchFamily="34" charset="0"/>
                <a:ea typeface="Segoe UI" pitchFamily="34" charset="-122"/>
                <a:cs typeface="Segoe UI" pitchFamily="34" charset="-120"/>
              </a:rPr>
              <a:t>et magasin</a:t>
            </a:r>
            <a:endParaRPr lang="en-US" sz="2600" dirty="0"/>
          </a:p>
        </p:txBody>
      </p:sp>
      <p:sp>
        <p:nvSpPr>
          <p:cNvPr id="40" name="Text 37"/>
          <p:cNvSpPr/>
          <p:nvPr/>
        </p:nvSpPr>
        <p:spPr>
          <a:xfrm>
            <a:off x="8257032" y="4014216"/>
            <a:ext cx="3182112" cy="566928"/>
          </a:xfrm>
          <a:prstGeom prst="rect">
            <a:avLst/>
          </a:prstGeom>
          <a:noFill/>
          <a:ln/>
        </p:spPr>
        <p:txBody>
          <a:bodyPr wrap="square" lIns="0" tIns="0" rIns="0" bIns="0" rtlCol="0" anchor="ctr"/>
          <a:lstStyle/>
          <a:p>
            <a:pPr indent="0" marL="0">
              <a:buNone/>
            </a:pPr>
            <a:r>
              <a:rPr lang="en-US" sz="1500" dirty="0">
                <a:solidFill>
                  <a:srgbClr val="334155"/>
                </a:solidFill>
                <a:latin typeface="Aptos" pitchFamily="34" charset="0"/>
                <a:ea typeface="Segoe UI" pitchFamily="34" charset="-122"/>
                <a:cs typeface="Segoe UI" pitchFamily="34" charset="-120"/>
              </a:rPr>
              <a:t>Peu de visites web.</a:t>
            </a:r>
            <a:endParaRPr lang="en-US" sz="1600" dirty="0"/>
          </a:p>
          <a:p>
            <a:pPr indent="0" marL="0">
              <a:buNone/>
            </a:pPr>
            <a:r>
              <a:rPr lang="en-US" sz="1500" dirty="0">
                <a:solidFill>
                  <a:srgbClr val="334155"/>
                </a:solidFill>
                <a:latin typeface="Aptos" pitchFamily="34" charset="0"/>
                <a:ea typeface="Segoe UI" pitchFamily="34" charset="-122"/>
                <a:cs typeface="Segoe UI" pitchFamily="34" charset="-120"/>
              </a:rPr>
              <a:t>Réponses positives plus fréquentes.</a:t>
            </a:r>
          </a:p>
          <a:p>
            <a:pPr indent="0" marL="0">
              <a:buNone/>
            </a:pPr>
            <a:r>
              <a:rPr lang="en-US" sz="1500" dirty="0">
                <a:solidFill>
                  <a:srgbClr val="334155"/>
                </a:solidFill>
                <a:latin typeface="Aptos" pitchFamily="34" charset="0"/>
                <a:ea typeface="Segoe UI" pitchFamily="34" charset="-122"/>
                <a:cs typeface="Segoe UI" pitchFamily="34" charset="-120"/>
              </a:rPr>
              <a:t>Peu d’achats en promotion.</a:t>
            </a:r>
          </a:p>
        </p:txBody>
      </p:sp>
      <p:sp>
        <p:nvSpPr>
          <p:cNvPr id="41" name="Shape 38"/>
          <p:cNvSpPr/>
          <p:nvPr/>
        </p:nvSpPr>
        <p:spPr>
          <a:xfrm>
            <a:off x="457200" y="5038344"/>
            <a:ext cx="11228832" cy="1225296"/>
          </a:xfrm>
          <a:prstGeom prst="roundRect">
            <a:avLst>
              <a:gd name="adj" fmla="val 10448"/>
            </a:avLst>
          </a:prstGeom>
          <a:solidFill>
            <a:srgbClr val="17324D"/>
          </a:solidFill>
          <a:ln w="12700">
            <a:solidFill>
              <a:srgbClr val="17324D">
                <a:alpha val="0"/>
              </a:srgbClr>
            </a:solidFill>
            <a:prstDash val="solid"/>
          </a:ln>
        </p:spPr>
        <p:txBody>
          <a:bodyPr/>
          <a:p/>
        </p:txBody>
      </p:sp>
      <p:sp>
        <p:nvSpPr>
          <p:cNvPr id="42" name="Text 39"/>
          <p:cNvSpPr/>
          <p:nvPr/>
        </p:nvSpPr>
        <p:spPr>
          <a:xfrm>
            <a:off x="740664" y="5239512"/>
            <a:ext cx="3456432" cy="566928"/>
          </a:xfrm>
          <a:prstGeom prst="rect">
            <a:avLst/>
          </a:prstGeom>
          <a:noFill/>
          <a:ln/>
        </p:spPr>
        <p:txBody>
          <a:bodyPr wrap="square" lIns="0" tIns="0" rIns="0" bIns="0" rtlCol="0" anchor="ctr"/>
          <a:lstStyle/>
          <a:p>
            <a:pPr indent="0" marL="0">
              <a:buNone/>
            </a:pPr>
            <a:r>
              <a:rPr lang="en-US" sz="4300" b="1" dirty="0">
                <a:solidFill>
                  <a:srgbClr val="FFFFFF"/>
                </a:solidFill>
                <a:latin typeface="Aptos" pitchFamily="34" charset="0"/>
                <a:ea typeface="Segoe UI" pitchFamily="34" charset="-122"/>
                <a:cs typeface="Segoe UI" pitchFamily="34" charset="-120"/>
              </a:rPr>
              <a:t>≈ 8 sur 10</a:t>
            </a:r>
            <a:endParaRPr lang="en-US" sz="4300" dirty="0"/>
          </a:p>
        </p:txBody>
      </p:sp>
      <p:sp>
        <p:nvSpPr>
          <p:cNvPr id="43" name="Text 40"/>
          <p:cNvSpPr/>
          <p:nvPr/>
        </p:nvSpPr>
        <p:spPr>
          <a:xfrm>
            <a:off x="4014216" y="5266944"/>
            <a:ext cx="4434840" cy="557784"/>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Segoe UI" pitchFamily="34" charset="-122"/>
                <a:cs typeface="Segoe UI" pitchFamily="34" charset="-120"/>
              </a:rPr>
              <a:t>clients n’ont accepté aucune</a:t>
            </a:r>
            <a:endParaRPr lang="en-US" sz="2000" dirty="0"/>
          </a:p>
          <a:p>
            <a:pPr indent="0" marL="0">
              <a:buNone/>
            </a:pPr>
            <a:r>
              <a:rPr lang="en-US" sz="2000" b="1" dirty="0">
                <a:solidFill>
                  <a:srgbClr val="FFFFFF"/>
                </a:solidFill>
                <a:latin typeface="Aptos" pitchFamily="34" charset="0"/>
                <a:ea typeface="Segoe UI" pitchFamily="34" charset="-122"/>
                <a:cs typeface="Segoe UI" pitchFamily="34" charset="-120"/>
              </a:rPr>
              <a:t>des cinq campagnes passées</a:t>
            </a:r>
            <a:endParaRPr lang="en-US" sz="2000" dirty="0"/>
          </a:p>
        </p:txBody>
      </p:sp>
      <p:sp>
        <p:nvSpPr>
          <p:cNvPr id="44" name="Text 41"/>
          <p:cNvSpPr/>
          <p:nvPr/>
        </p:nvSpPr>
        <p:spPr>
          <a:xfrm>
            <a:off x="8833104" y="5303520"/>
            <a:ext cx="2487168" cy="539496"/>
          </a:xfrm>
          <a:prstGeom prst="rect">
            <a:avLst/>
          </a:prstGeom>
          <a:noFill/>
          <a:ln/>
        </p:spPr>
        <p:txBody>
          <a:bodyPr wrap="square" lIns="0" tIns="0" rIns="0" bIns="0" rtlCol="0" anchor="ctr"/>
          <a:lstStyle/>
          <a:p>
            <a:pPr indent="0" marL="0">
              <a:buNone/>
            </a:pPr>
            <a:r>
              <a:rPr lang="en-US" sz="1500" dirty="0">
                <a:solidFill>
                  <a:srgbClr val="E2E8F0"/>
                </a:solidFill>
                <a:latin typeface="Aptos" pitchFamily="34" charset="0"/>
                <a:ea typeface="Segoe UI" pitchFamily="34" charset="-122"/>
                <a:cs typeface="Segoe UI" pitchFamily="34" charset="-120"/>
              </a:rPr>
              <a:t>Associations descriptives.</a:t>
            </a:r>
            <a:endParaRPr lang="en-US" sz="1500" dirty="0"/>
          </a:p>
          <a:p>
            <a:pPr indent="0" marL="0">
              <a:buNone/>
            </a:pPr>
            <a:r>
              <a:rPr lang="en-US" sz="1500" dirty="0">
                <a:solidFill>
                  <a:srgbClr val="E2E8F0"/>
                </a:solidFill>
                <a:latin typeface="Aptos" pitchFamily="34" charset="0"/>
                <a:ea typeface="Segoe UI" pitchFamily="34" charset="-122"/>
                <a:cs typeface="Segoe UI" pitchFamily="34" charset="-120"/>
              </a:rPr>
              <a:t>Aucun effet causal démontré.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4000" b="1" dirty="0">
                <a:solidFill>
                  <a:srgbClr val="2563EB"/>
                </a:solidFill>
                <a:latin typeface="Aptos" pitchFamily="34" charset="0"/>
                <a:ea typeface="Segoe UI" pitchFamily="34" charset="-122"/>
                <a:cs typeface="Segoe UI" pitchFamily="34" charset="-120"/>
              </a:rPr>
              <a:t>15. Hypothèses marketing à tester</a:t>
            </a:r>
            <a:endParaRPr lang="en-US" sz="42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600" dirty="0">
                <a:solidFill>
                  <a:srgbClr val="17324D"/>
                </a:solidFill>
                <a:latin typeface="Aptos" pitchFamily="34" charset="0"/>
                <a:ea typeface="Segoe UI" pitchFamily="34" charset="-122"/>
                <a:cs typeface="Segoe UI" pitchFamily="34" charset="-120"/>
              </a:rPr>
              <a:t>Comparer chaque action à un groupe témoin avant de conclure à un effet commercial.</a:t>
            </a:r>
            <a:endParaRPr lang="en-US" sz="165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Customer Personality Analysis · Projet collectif ENSEA · Abdoulaye KONE</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15</a:t>
            </a:r>
            <a:endParaRPr lang="en-US" sz="1000" dirty="0"/>
          </a:p>
        </p:txBody>
      </p:sp>
      <p:sp>
        <p:nvSpPr>
          <p:cNvPr id="7" name="Shape 4"/>
          <p:cNvSpPr/>
          <p:nvPr/>
        </p:nvSpPr>
        <p:spPr>
          <a:xfrm>
            <a:off x="457200" y="1773936"/>
            <a:ext cx="5550408" cy="2084832"/>
          </a:xfrm>
          <a:prstGeom prst="roundRect">
            <a:avLst>
              <a:gd name="adj" fmla="val 6140"/>
            </a:avLst>
          </a:prstGeom>
          <a:solidFill>
            <a:srgbClr val="EFF6FF"/>
          </a:solidFill>
          <a:ln w="12700">
            <a:solidFill>
              <a:srgbClr val="EFF6FF">
                <a:alpha val="0"/>
              </a:srgbClr>
            </a:solidFill>
            <a:prstDash val="solid"/>
          </a:ln>
        </p:spPr>
        <p:txBody>
          <a:bodyPr/>
          <a:p/>
        </p:txBody>
      </p:sp>
      <p:sp>
        <p:nvSpPr>
          <p:cNvPr id="8" name="Shape 5"/>
          <p:cNvSpPr/>
          <p:nvPr/>
        </p:nvSpPr>
        <p:spPr>
          <a:xfrm>
            <a:off x="676656" y="1984248"/>
            <a:ext cx="969264" cy="969264"/>
          </a:xfrm>
          <a:prstGeom prst="ellipse">
            <a:avLst/>
          </a:prstGeom>
          <a:solidFill>
            <a:srgbClr val="1D4ED8"/>
          </a:solidFill>
          <a:ln w="12700">
            <a:solidFill>
              <a:srgbClr val="1D4ED8">
                <a:alpha val="0"/>
              </a:srgbClr>
            </a:solidFill>
            <a:prstDash val="solid"/>
          </a:ln>
        </p:spPr>
        <p:txBody>
          <a:bodyPr/>
          <a:p/>
        </p:txBody>
      </p:sp>
      <p:sp>
        <p:nvSpPr>
          <p:cNvPr id="9" name="Shape 6"/>
          <p:cNvSpPr/>
          <p:nvPr/>
        </p:nvSpPr>
        <p:spPr>
          <a:xfrm>
            <a:off x="773582" y="2275027"/>
            <a:ext cx="339242" cy="329550"/>
          </a:xfrm>
          <a:prstGeom prst="roundRect">
            <a:avLst>
              <a:gd name="adj" fmla="val 11099"/>
            </a:avLst>
          </a:prstGeom>
          <a:solidFill>
            <a:srgbClr val="FFFFFF">
              <a:alpha val="0"/>
            </a:srgbClr>
          </a:solidFill>
          <a:ln w="17780">
            <a:solidFill>
              <a:srgbClr val="FFFFFF"/>
            </a:solidFill>
            <a:prstDash val="solid"/>
          </a:ln>
        </p:spPr>
        <p:txBody>
          <a:bodyPr/>
          <a:p/>
        </p:txBody>
      </p:sp>
      <p:sp>
        <p:nvSpPr>
          <p:cNvPr id="10" name="Shape 7"/>
          <p:cNvSpPr/>
          <p:nvPr/>
        </p:nvSpPr>
        <p:spPr>
          <a:xfrm>
            <a:off x="773582" y="2342876"/>
            <a:ext cx="339242" cy="0"/>
          </a:xfrm>
          <a:prstGeom prst="line">
            <a:avLst/>
          </a:prstGeom>
          <a:noFill/>
          <a:ln w="17780">
            <a:solidFill>
              <a:srgbClr val="FFFFFF"/>
            </a:solidFill>
            <a:prstDash val="solid"/>
          </a:ln>
        </p:spPr>
        <p:txBody>
          <a:bodyPr/>
          <a:p/>
        </p:txBody>
      </p:sp>
      <p:sp>
        <p:nvSpPr>
          <p:cNvPr id="11" name="Shape 8"/>
          <p:cNvSpPr/>
          <p:nvPr/>
        </p:nvSpPr>
        <p:spPr>
          <a:xfrm>
            <a:off x="822046" y="2305074"/>
            <a:ext cx="13570" cy="13570"/>
          </a:xfrm>
          <a:prstGeom prst="ellipse">
            <a:avLst/>
          </a:prstGeom>
          <a:solidFill>
            <a:srgbClr val="FFFFFF"/>
          </a:solidFill>
          <a:ln w="12700">
            <a:solidFill>
              <a:srgbClr val="FFFFFF">
                <a:alpha val="0"/>
              </a:srgbClr>
            </a:solidFill>
            <a:prstDash val="solid"/>
          </a:ln>
        </p:spPr>
        <p:txBody>
          <a:bodyPr/>
          <a:p/>
        </p:txBody>
      </p:sp>
      <p:sp>
        <p:nvSpPr>
          <p:cNvPr id="12" name="Shape 9"/>
          <p:cNvSpPr/>
          <p:nvPr/>
        </p:nvSpPr>
        <p:spPr>
          <a:xfrm>
            <a:off x="870509" y="2305074"/>
            <a:ext cx="13570" cy="13570"/>
          </a:xfrm>
          <a:prstGeom prst="ellipse">
            <a:avLst/>
          </a:prstGeom>
          <a:solidFill>
            <a:srgbClr val="FFFFFF"/>
          </a:solidFill>
          <a:ln w="12700">
            <a:solidFill>
              <a:srgbClr val="FFFFFF">
                <a:alpha val="0"/>
              </a:srgbClr>
            </a:solidFill>
            <a:prstDash val="solid"/>
          </a:ln>
        </p:spPr>
        <p:txBody>
          <a:bodyPr/>
          <a:p/>
        </p:txBody>
      </p:sp>
      <p:sp>
        <p:nvSpPr>
          <p:cNvPr id="13" name="Shape 10"/>
          <p:cNvSpPr/>
          <p:nvPr/>
        </p:nvSpPr>
        <p:spPr>
          <a:xfrm>
            <a:off x="918972" y="2305074"/>
            <a:ext cx="13570" cy="13570"/>
          </a:xfrm>
          <a:prstGeom prst="ellipse">
            <a:avLst/>
          </a:prstGeom>
          <a:solidFill>
            <a:srgbClr val="FFFFFF"/>
          </a:solidFill>
          <a:ln w="12700">
            <a:solidFill>
              <a:srgbClr val="FFFFFF">
                <a:alpha val="0"/>
              </a:srgbClr>
            </a:solidFill>
            <a:prstDash val="solid"/>
          </a:ln>
        </p:spPr>
        <p:txBody>
          <a:bodyPr/>
          <a:p/>
        </p:txBody>
      </p:sp>
      <p:sp>
        <p:nvSpPr>
          <p:cNvPr id="14" name="Shape 11"/>
          <p:cNvSpPr/>
          <p:nvPr/>
        </p:nvSpPr>
        <p:spPr>
          <a:xfrm>
            <a:off x="1161288" y="2439802"/>
            <a:ext cx="87234" cy="0"/>
          </a:xfrm>
          <a:prstGeom prst="line">
            <a:avLst/>
          </a:prstGeom>
          <a:noFill/>
          <a:ln w="17780">
            <a:solidFill>
              <a:srgbClr val="FFFFFF"/>
            </a:solidFill>
            <a:prstDash val="solid"/>
          </a:ln>
        </p:spPr>
        <p:txBody>
          <a:bodyPr/>
          <a:p/>
        </p:txBody>
      </p:sp>
      <p:sp>
        <p:nvSpPr>
          <p:cNvPr id="15" name="Shape 12"/>
          <p:cNvSpPr/>
          <p:nvPr/>
        </p:nvSpPr>
        <p:spPr>
          <a:xfrm>
            <a:off x="1229136" y="2420417"/>
            <a:ext cx="19385" cy="19385"/>
          </a:xfrm>
          <a:prstGeom prst="line">
            <a:avLst/>
          </a:prstGeom>
          <a:noFill/>
          <a:ln w="17780">
            <a:solidFill>
              <a:srgbClr val="FFFFFF"/>
            </a:solidFill>
            <a:prstDash val="solid"/>
          </a:ln>
        </p:spPr>
        <p:txBody>
          <a:bodyPr/>
          <a:p/>
        </p:txBody>
      </p:sp>
      <p:sp>
        <p:nvSpPr>
          <p:cNvPr id="16" name="Shape 13"/>
          <p:cNvSpPr/>
          <p:nvPr/>
        </p:nvSpPr>
        <p:spPr>
          <a:xfrm flipV="1">
            <a:off x="1229136" y="2439802"/>
            <a:ext cx="19385" cy="19385"/>
          </a:xfrm>
          <a:prstGeom prst="line">
            <a:avLst/>
          </a:prstGeom>
          <a:noFill/>
          <a:ln w="17780">
            <a:solidFill>
              <a:srgbClr val="FFFFFF"/>
            </a:solidFill>
            <a:prstDash val="solid"/>
          </a:ln>
        </p:spPr>
        <p:txBody>
          <a:bodyPr/>
          <a:p/>
        </p:txBody>
      </p:sp>
      <p:sp>
        <p:nvSpPr>
          <p:cNvPr id="17" name="Shape 14"/>
          <p:cNvSpPr/>
          <p:nvPr/>
        </p:nvSpPr>
        <p:spPr>
          <a:xfrm>
            <a:off x="1316370" y="2410724"/>
            <a:ext cx="271394" cy="0"/>
          </a:xfrm>
          <a:prstGeom prst="line">
            <a:avLst/>
          </a:prstGeom>
          <a:noFill/>
          <a:ln w="17780">
            <a:solidFill>
              <a:srgbClr val="FFFFFF"/>
            </a:solidFill>
            <a:prstDash val="solid"/>
          </a:ln>
        </p:spPr>
        <p:txBody>
          <a:bodyPr/>
          <a:p/>
        </p:txBody>
      </p:sp>
      <p:sp>
        <p:nvSpPr>
          <p:cNvPr id="18" name="Shape 15"/>
          <p:cNvSpPr/>
          <p:nvPr/>
        </p:nvSpPr>
        <p:spPr>
          <a:xfrm flipH="1">
            <a:off x="1539301" y="2410724"/>
            <a:ext cx="48463" cy="222931"/>
          </a:xfrm>
          <a:prstGeom prst="line">
            <a:avLst/>
          </a:prstGeom>
          <a:noFill/>
          <a:ln w="17780">
            <a:solidFill>
              <a:srgbClr val="FFFFFF"/>
            </a:solidFill>
            <a:prstDash val="solid"/>
          </a:ln>
        </p:spPr>
        <p:txBody>
          <a:bodyPr/>
          <a:p/>
        </p:txBody>
      </p:sp>
      <p:sp>
        <p:nvSpPr>
          <p:cNvPr id="19" name="Shape 16"/>
          <p:cNvSpPr/>
          <p:nvPr/>
        </p:nvSpPr>
        <p:spPr>
          <a:xfrm flipH="1">
            <a:off x="1364833" y="2633655"/>
            <a:ext cx="174468" cy="0"/>
          </a:xfrm>
          <a:prstGeom prst="line">
            <a:avLst/>
          </a:prstGeom>
          <a:noFill/>
          <a:ln w="17780">
            <a:solidFill>
              <a:srgbClr val="FFFFFF"/>
            </a:solidFill>
            <a:prstDash val="solid"/>
          </a:ln>
        </p:spPr>
        <p:txBody>
          <a:bodyPr/>
          <a:p/>
        </p:txBody>
      </p:sp>
      <p:sp>
        <p:nvSpPr>
          <p:cNvPr id="20" name="Shape 17"/>
          <p:cNvSpPr/>
          <p:nvPr/>
        </p:nvSpPr>
        <p:spPr>
          <a:xfrm flipH="1" flipV="1">
            <a:off x="1316370" y="2410724"/>
            <a:ext cx="48463" cy="222931"/>
          </a:xfrm>
          <a:prstGeom prst="line">
            <a:avLst/>
          </a:prstGeom>
          <a:noFill/>
          <a:ln w="17780">
            <a:solidFill>
              <a:srgbClr val="FFFFFF"/>
            </a:solidFill>
            <a:prstDash val="solid"/>
          </a:ln>
        </p:spPr>
        <p:txBody>
          <a:bodyPr/>
          <a:p/>
        </p:txBody>
      </p:sp>
      <p:sp>
        <p:nvSpPr>
          <p:cNvPr id="21" name="Shape 18"/>
          <p:cNvSpPr/>
          <p:nvPr/>
        </p:nvSpPr>
        <p:spPr>
          <a:xfrm flipV="1">
            <a:off x="1364833" y="2304105"/>
            <a:ext cx="58156" cy="96926"/>
          </a:xfrm>
          <a:prstGeom prst="line">
            <a:avLst/>
          </a:prstGeom>
          <a:noFill/>
          <a:ln w="17780">
            <a:solidFill>
              <a:srgbClr val="FFFFFF"/>
            </a:solidFill>
            <a:prstDash val="solid"/>
          </a:ln>
        </p:spPr>
        <p:txBody>
          <a:bodyPr/>
          <a:p/>
        </p:txBody>
      </p:sp>
      <p:sp>
        <p:nvSpPr>
          <p:cNvPr id="22" name="Shape 19"/>
          <p:cNvSpPr/>
          <p:nvPr/>
        </p:nvSpPr>
        <p:spPr>
          <a:xfrm flipH="1" flipV="1">
            <a:off x="1481145" y="2304105"/>
            <a:ext cx="58156" cy="96926"/>
          </a:xfrm>
          <a:prstGeom prst="line">
            <a:avLst/>
          </a:prstGeom>
          <a:noFill/>
          <a:ln w="17780">
            <a:solidFill>
              <a:srgbClr val="FFFFFF"/>
            </a:solidFill>
            <a:prstDash val="solid"/>
          </a:ln>
        </p:spPr>
        <p:txBody>
          <a:bodyPr/>
          <a:p/>
        </p:txBody>
      </p:sp>
      <p:sp>
        <p:nvSpPr>
          <p:cNvPr id="23" name="Shape 20"/>
          <p:cNvSpPr/>
          <p:nvPr/>
        </p:nvSpPr>
        <p:spPr>
          <a:xfrm>
            <a:off x="1403604" y="2449495"/>
            <a:ext cx="0" cy="135697"/>
          </a:xfrm>
          <a:prstGeom prst="line">
            <a:avLst/>
          </a:prstGeom>
          <a:noFill/>
          <a:ln w="17780">
            <a:solidFill>
              <a:srgbClr val="FFFFFF"/>
            </a:solidFill>
            <a:prstDash val="solid"/>
          </a:ln>
        </p:spPr>
        <p:txBody>
          <a:bodyPr/>
          <a:p/>
        </p:txBody>
      </p:sp>
      <p:sp>
        <p:nvSpPr>
          <p:cNvPr id="24" name="Shape 21"/>
          <p:cNvSpPr/>
          <p:nvPr/>
        </p:nvSpPr>
        <p:spPr>
          <a:xfrm>
            <a:off x="1461760" y="2449495"/>
            <a:ext cx="0" cy="135697"/>
          </a:xfrm>
          <a:prstGeom prst="line">
            <a:avLst/>
          </a:prstGeom>
          <a:noFill/>
          <a:ln w="17780">
            <a:solidFill>
              <a:srgbClr val="FFFFFF"/>
            </a:solidFill>
            <a:prstDash val="solid"/>
          </a:ln>
        </p:spPr>
        <p:txBody>
          <a:bodyPr/>
          <a:p/>
        </p:txBody>
      </p:sp>
      <p:sp>
        <p:nvSpPr>
          <p:cNvPr id="25" name="Shape 22"/>
          <p:cNvSpPr/>
          <p:nvPr/>
        </p:nvSpPr>
        <p:spPr>
          <a:xfrm>
            <a:off x="1519916" y="2449495"/>
            <a:ext cx="0" cy="135697"/>
          </a:xfrm>
          <a:prstGeom prst="line">
            <a:avLst/>
          </a:prstGeom>
          <a:noFill/>
          <a:ln w="17780">
            <a:solidFill>
              <a:srgbClr val="FFFFFF"/>
            </a:solidFill>
            <a:prstDash val="solid"/>
          </a:ln>
        </p:spPr>
        <p:txBody>
          <a:bodyPr/>
          <a:p/>
        </p:txBody>
      </p:sp>
      <p:sp>
        <p:nvSpPr>
          <p:cNvPr id="26" name="Text 23"/>
          <p:cNvSpPr/>
          <p:nvPr/>
        </p:nvSpPr>
        <p:spPr>
          <a:xfrm>
            <a:off x="1874520" y="1984248"/>
            <a:ext cx="3831336" cy="310896"/>
          </a:xfrm>
          <a:prstGeom prst="rect">
            <a:avLst/>
          </a:prstGeom>
          <a:noFill/>
          <a:ln/>
        </p:spPr>
        <p:txBody>
          <a:bodyPr wrap="square" lIns="0" tIns="0" rIns="0" bIns="0" rtlCol="0" anchor="ctr"/>
          <a:lstStyle/>
          <a:p>
            <a:pPr indent="0" marL="0">
              <a:buNone/>
            </a:pPr>
            <a:r>
              <a:rPr lang="en-US" sz="1700" b="1" dirty="0">
                <a:solidFill>
                  <a:srgbClr val="1D4ED8"/>
                </a:solidFill>
                <a:latin typeface="Aptos" pitchFamily="34" charset="0"/>
                <a:ea typeface="Segoe UI" pitchFamily="34" charset="-122"/>
                <a:cs typeface="Segoe UI" pitchFamily="34" charset="-120"/>
              </a:rPr>
              <a:t>C0 · Jeunes foyers modestes</a:t>
            </a:r>
            <a:endParaRPr lang="en-US" sz="1700" dirty="0"/>
          </a:p>
        </p:txBody>
      </p:sp>
      <p:sp>
        <p:nvSpPr>
          <p:cNvPr id="27" name="Text 24"/>
          <p:cNvSpPr/>
          <p:nvPr/>
        </p:nvSpPr>
        <p:spPr>
          <a:xfrm>
            <a:off x="1874520" y="2441448"/>
            <a:ext cx="3840480" cy="365760"/>
          </a:xfrm>
          <a:prstGeom prst="rect">
            <a:avLst/>
          </a:prstGeom>
          <a:noFill/>
          <a:ln/>
        </p:spPr>
        <p:txBody>
          <a:bodyPr wrap="square" lIns="0" tIns="0" rIns="0" bIns="0" rtlCol="0" anchor="ctr"/>
          <a:lstStyle/>
          <a:p>
            <a:pPr indent="0" marL="0">
              <a:buNone/>
            </a:pPr>
            <a:r>
              <a:rPr lang="en-US" sz="1800" b="1" dirty="0">
                <a:solidFill>
                  <a:srgbClr val="17324D"/>
                </a:solidFill>
                <a:latin typeface="Aptos" pitchFamily="34" charset="0"/>
                <a:ea typeface="Segoe UI" pitchFamily="34" charset="-122"/>
                <a:cs typeface="Segoe UI" pitchFamily="34" charset="-120"/>
              </a:rPr>
              <a:t>Tester le parcours web</a:t>
            </a:r>
            <a:endParaRPr lang="en-US" sz="1800" dirty="0"/>
          </a:p>
        </p:txBody>
      </p:sp>
      <p:sp>
        <p:nvSpPr>
          <p:cNvPr id="28" name="Text 25"/>
          <p:cNvSpPr/>
          <p:nvPr/>
        </p:nvSpPr>
        <p:spPr>
          <a:xfrm>
            <a:off x="1874520" y="2926080"/>
            <a:ext cx="3831336" cy="795528"/>
          </a:xfrm>
          <a:prstGeom prst="rect">
            <a:avLst/>
          </a:prstGeom>
          <a:noFill/>
          <a:ln/>
        </p:spPr>
        <p:txBody>
          <a:bodyPr wrap="square" lIns="0" tIns="0" rIns="0" bIns="0" rtlCol="0" anchor="t"/>
          <a:lstStyle/>
          <a:p>
            <a:pPr indent="0" marL="0">
              <a:buNone/>
            </a:pPr>
            <a:r>
              <a:rPr lang="en-US" sz="1300" dirty="0">
                <a:solidFill>
                  <a:srgbClr val="334155"/>
                </a:solidFill>
                <a:latin typeface="Aptos" pitchFamily="34" charset="0"/>
                <a:ea typeface="Segoe UI" pitchFamily="34" charset="-122"/>
                <a:cs typeface="Segoe UI" pitchFamily="34" charset="-120"/>
              </a:rPr>
              <a:t>Comparer plusieurs messages</a:t>
            </a:r>
            <a:endParaRPr lang="en-US" sz="1420" dirty="0"/>
          </a:p>
          <a:p>
            <a:pPr indent="0" marL="0">
              <a:buNone/>
            </a:pPr>
            <a:r>
              <a:rPr lang="en-US" sz="1300" dirty="0">
                <a:solidFill>
                  <a:srgbClr val="334155"/>
                </a:solidFill>
                <a:latin typeface="Aptos" pitchFamily="34" charset="0"/>
                <a:ea typeface="Segoe UI" pitchFamily="34" charset="-122"/>
                <a:cs typeface="Segoe UI" pitchFamily="34" charset="-120"/>
              </a:rPr>
              <a:t>Mesurer visites et achats sur la même période</a:t>
            </a:r>
          </a:p>
          <a:p>
            <a:pPr indent="0" marL="0">
              <a:buNone/>
            </a:pPr>
            <a:r>
              <a:rPr lang="en-US" sz="1300" dirty="0">
                <a:solidFill>
                  <a:srgbClr val="334155"/>
                </a:solidFill>
                <a:latin typeface="Aptos" pitchFamily="34" charset="0"/>
                <a:ea typeface="Segoe UI" pitchFamily="34" charset="-122"/>
                <a:cs typeface="Segoe UI" pitchFamily="34" charset="-120"/>
              </a:rPr>
              <a:t>Évaluer les achats additionnels</a:t>
            </a:r>
          </a:p>
        </p:txBody>
      </p:sp>
      <p:sp>
        <p:nvSpPr>
          <p:cNvPr id="29" name="Shape 26"/>
          <p:cNvSpPr/>
          <p:nvPr/>
        </p:nvSpPr>
        <p:spPr>
          <a:xfrm>
            <a:off x="6217920" y="1773936"/>
            <a:ext cx="5550408" cy="2084832"/>
          </a:xfrm>
          <a:prstGeom prst="roundRect">
            <a:avLst>
              <a:gd name="adj" fmla="val 6140"/>
            </a:avLst>
          </a:prstGeom>
          <a:solidFill>
            <a:srgbClr val="F0FDFA"/>
          </a:solidFill>
          <a:ln w="12700">
            <a:solidFill>
              <a:srgbClr val="F0FDFA">
                <a:alpha val="0"/>
              </a:srgbClr>
            </a:solidFill>
            <a:prstDash val="solid"/>
          </a:ln>
        </p:spPr>
        <p:txBody>
          <a:bodyPr/>
          <a:p/>
        </p:txBody>
      </p:sp>
      <p:sp>
        <p:nvSpPr>
          <p:cNvPr id="30" name="Shape 27"/>
          <p:cNvSpPr/>
          <p:nvPr/>
        </p:nvSpPr>
        <p:spPr>
          <a:xfrm>
            <a:off x="6437376" y="1984248"/>
            <a:ext cx="969264" cy="969264"/>
          </a:xfrm>
          <a:prstGeom prst="ellipse">
            <a:avLst/>
          </a:prstGeom>
          <a:solidFill>
            <a:srgbClr val="0F766E"/>
          </a:solidFill>
          <a:ln w="12700">
            <a:solidFill>
              <a:srgbClr val="0F766E">
                <a:alpha val="0"/>
              </a:srgbClr>
            </a:solidFill>
            <a:prstDash val="solid"/>
          </a:ln>
        </p:spPr>
        <p:txBody>
          <a:bodyPr/>
          <a:p/>
        </p:txBody>
      </p:sp>
      <p:sp>
        <p:nvSpPr>
          <p:cNvPr id="31" name="VECTOR_target2_65"/>
          <p:cNvSpPr/>
          <p:nvPr/>
        </p:nvSpPr>
        <p:spPr>
          <a:xfrm>
            <a:off x="6437376" y="1984248"/>
            <a:ext cx="969264" cy="969264"/>
          </a:xfrm>
          <a:custGeom>
            <a:avLst/>
            <a:gdLst/>
            <a:ahLst/>
            <a:cxnLst/>
            <a:rect l="0" t="0" r="r" b="b"/>
            <a:pathLst>
              <a:path w="100000" h="100000" fill="norm" stroke="false" extrusionOk="false">
                <a:moveTo>
                  <a:pt x="71875" y="19643"/>
                </a:moveTo>
                <a:lnTo>
                  <a:pt x="72321" y="19196"/>
                </a:lnTo>
                <a:lnTo>
                  <a:pt x="72768" y="19643"/>
                </a:lnTo>
                <a:lnTo>
                  <a:pt x="72768" y="24107"/>
                </a:lnTo>
                <a:lnTo>
                  <a:pt x="73214" y="24554"/>
                </a:lnTo>
                <a:lnTo>
                  <a:pt x="73661" y="25000"/>
                </a:lnTo>
                <a:lnTo>
                  <a:pt x="73661" y="25893"/>
                </a:lnTo>
                <a:lnTo>
                  <a:pt x="73661" y="26786"/>
                </a:lnTo>
                <a:lnTo>
                  <a:pt x="75000" y="28125"/>
                </a:lnTo>
                <a:lnTo>
                  <a:pt x="80357" y="28125"/>
                </a:lnTo>
                <a:lnTo>
                  <a:pt x="80804" y="28571"/>
                </a:lnTo>
                <a:lnTo>
                  <a:pt x="72321" y="37054"/>
                </a:lnTo>
                <a:lnTo>
                  <a:pt x="71875" y="36607"/>
                </a:lnTo>
                <a:lnTo>
                  <a:pt x="71429" y="36161"/>
                </a:lnTo>
                <a:lnTo>
                  <a:pt x="68750" y="36161"/>
                </a:lnTo>
                <a:lnTo>
                  <a:pt x="66964" y="35268"/>
                </a:lnTo>
                <a:lnTo>
                  <a:pt x="57589" y="44643"/>
                </a:lnTo>
                <a:lnTo>
                  <a:pt x="54464" y="48661"/>
                </a:lnTo>
                <a:lnTo>
                  <a:pt x="52679" y="49554"/>
                </a:lnTo>
                <a:lnTo>
                  <a:pt x="51339" y="48214"/>
                </a:lnTo>
                <a:lnTo>
                  <a:pt x="64732" y="34821"/>
                </a:lnTo>
                <a:lnTo>
                  <a:pt x="64732" y="26786"/>
                </a:lnTo>
                <a:lnTo>
                  <a:pt x="71875" y="19643"/>
                </a:lnTo>
                <a:close/>
                <a:moveTo>
                  <a:pt x="70536" y="23661"/>
                </a:moveTo>
                <a:lnTo>
                  <a:pt x="66518" y="27679"/>
                </a:lnTo>
                <a:lnTo>
                  <a:pt x="66518" y="33036"/>
                </a:lnTo>
                <a:lnTo>
                  <a:pt x="67857" y="34375"/>
                </a:lnTo>
                <a:lnTo>
                  <a:pt x="72321" y="34375"/>
                </a:lnTo>
                <a:lnTo>
                  <a:pt x="75000" y="31696"/>
                </a:lnTo>
                <a:lnTo>
                  <a:pt x="75893" y="31696"/>
                </a:lnTo>
                <a:lnTo>
                  <a:pt x="76339" y="31250"/>
                </a:lnTo>
                <a:lnTo>
                  <a:pt x="76339" y="30357"/>
                </a:lnTo>
                <a:lnTo>
                  <a:pt x="76339" y="29464"/>
                </a:lnTo>
                <a:lnTo>
                  <a:pt x="72321" y="29018"/>
                </a:lnTo>
                <a:lnTo>
                  <a:pt x="71875" y="28571"/>
                </a:lnTo>
                <a:lnTo>
                  <a:pt x="71875" y="24107"/>
                </a:lnTo>
                <a:lnTo>
                  <a:pt x="71429" y="23661"/>
                </a:lnTo>
                <a:lnTo>
                  <a:pt x="70536" y="23661"/>
                </a:lnTo>
                <a:close/>
                <a:moveTo>
                  <a:pt x="45982" y="27679"/>
                </a:moveTo>
                <a:lnTo>
                  <a:pt x="46429" y="27232"/>
                </a:lnTo>
                <a:lnTo>
                  <a:pt x="51786" y="27232"/>
                </a:lnTo>
                <a:lnTo>
                  <a:pt x="52232" y="27679"/>
                </a:lnTo>
                <a:lnTo>
                  <a:pt x="52679" y="28125"/>
                </a:lnTo>
                <a:lnTo>
                  <a:pt x="55357" y="28125"/>
                </a:lnTo>
                <a:lnTo>
                  <a:pt x="55804" y="28571"/>
                </a:lnTo>
                <a:lnTo>
                  <a:pt x="56250" y="29018"/>
                </a:lnTo>
                <a:lnTo>
                  <a:pt x="57143" y="29018"/>
                </a:lnTo>
                <a:lnTo>
                  <a:pt x="58036" y="29018"/>
                </a:lnTo>
                <a:lnTo>
                  <a:pt x="59821" y="29911"/>
                </a:lnTo>
                <a:lnTo>
                  <a:pt x="60268" y="30357"/>
                </a:lnTo>
                <a:lnTo>
                  <a:pt x="60268" y="31250"/>
                </a:lnTo>
                <a:lnTo>
                  <a:pt x="59821" y="31696"/>
                </a:lnTo>
                <a:lnTo>
                  <a:pt x="58929" y="31696"/>
                </a:lnTo>
                <a:lnTo>
                  <a:pt x="56250" y="29911"/>
                </a:lnTo>
                <a:lnTo>
                  <a:pt x="52679" y="29911"/>
                </a:lnTo>
                <a:lnTo>
                  <a:pt x="52232" y="29464"/>
                </a:lnTo>
                <a:lnTo>
                  <a:pt x="51786" y="29018"/>
                </a:lnTo>
                <a:lnTo>
                  <a:pt x="47321" y="29018"/>
                </a:lnTo>
                <a:lnTo>
                  <a:pt x="46875" y="29464"/>
                </a:lnTo>
                <a:lnTo>
                  <a:pt x="46429" y="29911"/>
                </a:lnTo>
                <a:lnTo>
                  <a:pt x="43750" y="29911"/>
                </a:lnTo>
                <a:lnTo>
                  <a:pt x="43304" y="30357"/>
                </a:lnTo>
                <a:lnTo>
                  <a:pt x="42857" y="30804"/>
                </a:lnTo>
                <a:lnTo>
                  <a:pt x="41964" y="30804"/>
                </a:lnTo>
                <a:lnTo>
                  <a:pt x="41071" y="30804"/>
                </a:lnTo>
                <a:lnTo>
                  <a:pt x="37500" y="32589"/>
                </a:lnTo>
                <a:lnTo>
                  <a:pt x="30804" y="39286"/>
                </a:lnTo>
                <a:lnTo>
                  <a:pt x="29018" y="42857"/>
                </a:lnTo>
                <a:lnTo>
                  <a:pt x="29018" y="43750"/>
                </a:lnTo>
                <a:lnTo>
                  <a:pt x="29018" y="44643"/>
                </a:lnTo>
                <a:lnTo>
                  <a:pt x="28571" y="45089"/>
                </a:lnTo>
                <a:lnTo>
                  <a:pt x="28125" y="45536"/>
                </a:lnTo>
                <a:lnTo>
                  <a:pt x="28125" y="54464"/>
                </a:lnTo>
                <a:lnTo>
                  <a:pt x="28571" y="54911"/>
                </a:lnTo>
                <a:lnTo>
                  <a:pt x="29018" y="55357"/>
                </a:lnTo>
                <a:lnTo>
                  <a:pt x="29018" y="58036"/>
                </a:lnTo>
                <a:lnTo>
                  <a:pt x="31696" y="63393"/>
                </a:lnTo>
                <a:lnTo>
                  <a:pt x="37500" y="69196"/>
                </a:lnTo>
                <a:lnTo>
                  <a:pt x="44643" y="72768"/>
                </a:lnTo>
                <a:lnTo>
                  <a:pt x="53571" y="72768"/>
                </a:lnTo>
                <a:lnTo>
                  <a:pt x="54018" y="72321"/>
                </a:lnTo>
                <a:lnTo>
                  <a:pt x="54464" y="71875"/>
                </a:lnTo>
                <a:lnTo>
                  <a:pt x="57143" y="71875"/>
                </a:lnTo>
                <a:lnTo>
                  <a:pt x="62500" y="69196"/>
                </a:lnTo>
                <a:lnTo>
                  <a:pt x="67411" y="64286"/>
                </a:lnTo>
                <a:lnTo>
                  <a:pt x="67411" y="63393"/>
                </a:lnTo>
                <a:lnTo>
                  <a:pt x="70089" y="59821"/>
                </a:lnTo>
                <a:lnTo>
                  <a:pt x="70089" y="58929"/>
                </a:lnTo>
                <a:lnTo>
                  <a:pt x="70089" y="58036"/>
                </a:lnTo>
                <a:lnTo>
                  <a:pt x="71875" y="54464"/>
                </a:lnTo>
                <a:lnTo>
                  <a:pt x="71875" y="50000"/>
                </a:lnTo>
                <a:lnTo>
                  <a:pt x="71429" y="49554"/>
                </a:lnTo>
                <a:lnTo>
                  <a:pt x="70982" y="49107"/>
                </a:lnTo>
                <a:lnTo>
                  <a:pt x="70982" y="45536"/>
                </a:lnTo>
                <a:lnTo>
                  <a:pt x="68304" y="41071"/>
                </a:lnTo>
                <a:lnTo>
                  <a:pt x="69643" y="39732"/>
                </a:lnTo>
                <a:lnTo>
                  <a:pt x="71875" y="41964"/>
                </a:lnTo>
                <a:lnTo>
                  <a:pt x="71875" y="42857"/>
                </a:lnTo>
                <a:lnTo>
                  <a:pt x="71875" y="43750"/>
                </a:lnTo>
                <a:lnTo>
                  <a:pt x="72321" y="44196"/>
                </a:lnTo>
                <a:lnTo>
                  <a:pt x="72768" y="44643"/>
                </a:lnTo>
                <a:lnTo>
                  <a:pt x="72768" y="47321"/>
                </a:lnTo>
                <a:lnTo>
                  <a:pt x="73214" y="47768"/>
                </a:lnTo>
                <a:lnTo>
                  <a:pt x="73661" y="48214"/>
                </a:lnTo>
                <a:lnTo>
                  <a:pt x="73661" y="54464"/>
                </a:lnTo>
                <a:lnTo>
                  <a:pt x="73214" y="54911"/>
                </a:lnTo>
                <a:lnTo>
                  <a:pt x="72768" y="55357"/>
                </a:lnTo>
                <a:lnTo>
                  <a:pt x="72768" y="58036"/>
                </a:lnTo>
                <a:lnTo>
                  <a:pt x="72321" y="58482"/>
                </a:lnTo>
                <a:lnTo>
                  <a:pt x="71875" y="58929"/>
                </a:lnTo>
                <a:lnTo>
                  <a:pt x="71875" y="59821"/>
                </a:lnTo>
                <a:lnTo>
                  <a:pt x="71875" y="60714"/>
                </a:lnTo>
                <a:lnTo>
                  <a:pt x="69196" y="64286"/>
                </a:lnTo>
                <a:lnTo>
                  <a:pt x="69196" y="65179"/>
                </a:lnTo>
                <a:lnTo>
                  <a:pt x="64286" y="70089"/>
                </a:lnTo>
                <a:lnTo>
                  <a:pt x="63393" y="70089"/>
                </a:lnTo>
                <a:lnTo>
                  <a:pt x="61607" y="71875"/>
                </a:lnTo>
                <a:lnTo>
                  <a:pt x="58036" y="73661"/>
                </a:lnTo>
                <a:lnTo>
                  <a:pt x="57143" y="73661"/>
                </a:lnTo>
                <a:lnTo>
                  <a:pt x="56250" y="73661"/>
                </a:lnTo>
                <a:lnTo>
                  <a:pt x="55804" y="74107"/>
                </a:lnTo>
                <a:lnTo>
                  <a:pt x="55357" y="74554"/>
                </a:lnTo>
                <a:lnTo>
                  <a:pt x="44643" y="74554"/>
                </a:lnTo>
                <a:lnTo>
                  <a:pt x="44196" y="74107"/>
                </a:lnTo>
                <a:lnTo>
                  <a:pt x="43750" y="73661"/>
                </a:lnTo>
                <a:lnTo>
                  <a:pt x="39286" y="72768"/>
                </a:lnTo>
                <a:lnTo>
                  <a:pt x="37500" y="70982"/>
                </a:lnTo>
                <a:lnTo>
                  <a:pt x="33929" y="69196"/>
                </a:lnTo>
                <a:lnTo>
                  <a:pt x="29018" y="63393"/>
                </a:lnTo>
                <a:lnTo>
                  <a:pt x="27232" y="59821"/>
                </a:lnTo>
                <a:lnTo>
                  <a:pt x="27232" y="57143"/>
                </a:lnTo>
                <a:lnTo>
                  <a:pt x="26786" y="56696"/>
                </a:lnTo>
                <a:lnTo>
                  <a:pt x="26339" y="56250"/>
                </a:lnTo>
                <a:lnTo>
                  <a:pt x="26339" y="44643"/>
                </a:lnTo>
                <a:lnTo>
                  <a:pt x="26786" y="44196"/>
                </a:lnTo>
                <a:lnTo>
                  <a:pt x="27232" y="43750"/>
                </a:lnTo>
                <a:lnTo>
                  <a:pt x="27232" y="42857"/>
                </a:lnTo>
                <a:lnTo>
                  <a:pt x="27232" y="41964"/>
                </a:lnTo>
                <a:lnTo>
                  <a:pt x="29018" y="38393"/>
                </a:lnTo>
                <a:lnTo>
                  <a:pt x="30804" y="36607"/>
                </a:lnTo>
                <a:lnTo>
                  <a:pt x="30804" y="35714"/>
                </a:lnTo>
                <a:lnTo>
                  <a:pt x="34821" y="31696"/>
                </a:lnTo>
                <a:lnTo>
                  <a:pt x="41964" y="28125"/>
                </a:lnTo>
                <a:lnTo>
                  <a:pt x="45982" y="27679"/>
                </a:lnTo>
                <a:close/>
                <a:moveTo>
                  <a:pt x="45089" y="37500"/>
                </a:moveTo>
                <a:lnTo>
                  <a:pt x="45536" y="37054"/>
                </a:lnTo>
                <a:lnTo>
                  <a:pt x="52679" y="37054"/>
                </a:lnTo>
                <a:lnTo>
                  <a:pt x="54464" y="37946"/>
                </a:lnTo>
                <a:lnTo>
                  <a:pt x="54911" y="38393"/>
                </a:lnTo>
                <a:lnTo>
                  <a:pt x="54911" y="39286"/>
                </a:lnTo>
                <a:lnTo>
                  <a:pt x="51786" y="39732"/>
                </a:lnTo>
                <a:lnTo>
                  <a:pt x="51339" y="39286"/>
                </a:lnTo>
                <a:lnTo>
                  <a:pt x="50893" y="38839"/>
                </a:lnTo>
                <a:lnTo>
                  <a:pt x="45536" y="38839"/>
                </a:lnTo>
                <a:lnTo>
                  <a:pt x="43750" y="39732"/>
                </a:lnTo>
                <a:lnTo>
                  <a:pt x="38839" y="44643"/>
                </a:lnTo>
                <a:lnTo>
                  <a:pt x="37946" y="46429"/>
                </a:lnTo>
                <a:lnTo>
                  <a:pt x="37946" y="49107"/>
                </a:lnTo>
                <a:lnTo>
                  <a:pt x="37054" y="50893"/>
                </a:lnTo>
                <a:lnTo>
                  <a:pt x="37500" y="51339"/>
                </a:lnTo>
                <a:lnTo>
                  <a:pt x="37946" y="51786"/>
                </a:lnTo>
                <a:lnTo>
                  <a:pt x="37946" y="54464"/>
                </a:lnTo>
                <a:lnTo>
                  <a:pt x="38393" y="54911"/>
                </a:lnTo>
                <a:lnTo>
                  <a:pt x="38839" y="55357"/>
                </a:lnTo>
                <a:lnTo>
                  <a:pt x="38839" y="56250"/>
                </a:lnTo>
                <a:lnTo>
                  <a:pt x="38839" y="57143"/>
                </a:lnTo>
                <a:lnTo>
                  <a:pt x="44643" y="62946"/>
                </a:lnTo>
                <a:lnTo>
                  <a:pt x="45536" y="62946"/>
                </a:lnTo>
                <a:lnTo>
                  <a:pt x="46429" y="62946"/>
                </a:lnTo>
                <a:lnTo>
                  <a:pt x="46875" y="63393"/>
                </a:lnTo>
                <a:lnTo>
                  <a:pt x="47321" y="63839"/>
                </a:lnTo>
                <a:lnTo>
                  <a:pt x="51786" y="63839"/>
                </a:lnTo>
                <a:lnTo>
                  <a:pt x="52232" y="63393"/>
                </a:lnTo>
                <a:lnTo>
                  <a:pt x="52679" y="62946"/>
                </a:lnTo>
                <a:lnTo>
                  <a:pt x="53571" y="62946"/>
                </a:lnTo>
                <a:lnTo>
                  <a:pt x="54464" y="62946"/>
                </a:lnTo>
                <a:lnTo>
                  <a:pt x="56250" y="62054"/>
                </a:lnTo>
                <a:lnTo>
                  <a:pt x="60268" y="58036"/>
                </a:lnTo>
                <a:lnTo>
                  <a:pt x="62054" y="54464"/>
                </a:lnTo>
                <a:lnTo>
                  <a:pt x="62054" y="50000"/>
                </a:lnTo>
                <a:lnTo>
                  <a:pt x="61161" y="48214"/>
                </a:lnTo>
                <a:lnTo>
                  <a:pt x="61161" y="47321"/>
                </a:lnTo>
                <a:lnTo>
                  <a:pt x="61161" y="46429"/>
                </a:lnTo>
                <a:lnTo>
                  <a:pt x="62500" y="45089"/>
                </a:lnTo>
                <a:lnTo>
                  <a:pt x="63839" y="47321"/>
                </a:lnTo>
                <a:lnTo>
                  <a:pt x="63839" y="55357"/>
                </a:lnTo>
                <a:lnTo>
                  <a:pt x="62054" y="58929"/>
                </a:lnTo>
                <a:lnTo>
                  <a:pt x="58036" y="62946"/>
                </a:lnTo>
                <a:lnTo>
                  <a:pt x="54464" y="64732"/>
                </a:lnTo>
                <a:lnTo>
                  <a:pt x="48214" y="65625"/>
                </a:lnTo>
                <a:lnTo>
                  <a:pt x="47768" y="65179"/>
                </a:lnTo>
                <a:lnTo>
                  <a:pt x="47321" y="64732"/>
                </a:lnTo>
                <a:lnTo>
                  <a:pt x="42857" y="63839"/>
                </a:lnTo>
                <a:lnTo>
                  <a:pt x="41071" y="62054"/>
                </a:lnTo>
                <a:lnTo>
                  <a:pt x="40179" y="62054"/>
                </a:lnTo>
                <a:lnTo>
                  <a:pt x="37946" y="59821"/>
                </a:lnTo>
                <a:lnTo>
                  <a:pt x="35268" y="54464"/>
                </a:lnTo>
                <a:lnTo>
                  <a:pt x="35268" y="48214"/>
                </a:lnTo>
                <a:lnTo>
                  <a:pt x="35714" y="47768"/>
                </a:lnTo>
                <a:lnTo>
                  <a:pt x="36161" y="47321"/>
                </a:lnTo>
                <a:lnTo>
                  <a:pt x="36161" y="46429"/>
                </a:lnTo>
                <a:lnTo>
                  <a:pt x="36161" y="45536"/>
                </a:lnTo>
                <a:lnTo>
                  <a:pt x="37946" y="41964"/>
                </a:lnTo>
                <a:lnTo>
                  <a:pt x="40179" y="39732"/>
                </a:lnTo>
                <a:lnTo>
                  <a:pt x="45089" y="37500"/>
                </a:lnTo>
                <a:close/>
                <a:moveTo>
                  <a:pt x="47768" y="45536"/>
                </a:moveTo>
                <a:lnTo>
                  <a:pt x="48214" y="45089"/>
                </a:lnTo>
                <a:lnTo>
                  <a:pt x="50446" y="45536"/>
                </a:lnTo>
                <a:lnTo>
                  <a:pt x="45982" y="50000"/>
                </a:lnTo>
                <a:lnTo>
                  <a:pt x="45982" y="50893"/>
                </a:lnTo>
                <a:lnTo>
                  <a:pt x="49107" y="54018"/>
                </a:lnTo>
                <a:lnTo>
                  <a:pt x="50000" y="54018"/>
                </a:lnTo>
                <a:lnTo>
                  <a:pt x="50893" y="54018"/>
                </a:lnTo>
                <a:lnTo>
                  <a:pt x="54464" y="50446"/>
                </a:lnTo>
                <a:lnTo>
                  <a:pt x="54911" y="50893"/>
                </a:lnTo>
                <a:lnTo>
                  <a:pt x="54911" y="51786"/>
                </a:lnTo>
                <a:lnTo>
                  <a:pt x="54911" y="52679"/>
                </a:lnTo>
                <a:lnTo>
                  <a:pt x="54911" y="53571"/>
                </a:lnTo>
                <a:lnTo>
                  <a:pt x="52679" y="55804"/>
                </a:lnTo>
                <a:lnTo>
                  <a:pt x="51786" y="55804"/>
                </a:lnTo>
                <a:lnTo>
                  <a:pt x="50893" y="55804"/>
                </a:lnTo>
                <a:lnTo>
                  <a:pt x="50446" y="56250"/>
                </a:lnTo>
                <a:lnTo>
                  <a:pt x="50000" y="56696"/>
                </a:lnTo>
                <a:lnTo>
                  <a:pt x="49554" y="56250"/>
                </a:lnTo>
                <a:lnTo>
                  <a:pt x="49107" y="55804"/>
                </a:lnTo>
                <a:lnTo>
                  <a:pt x="48214" y="55804"/>
                </a:lnTo>
                <a:lnTo>
                  <a:pt x="47321" y="55804"/>
                </a:lnTo>
                <a:lnTo>
                  <a:pt x="44196" y="52679"/>
                </a:lnTo>
                <a:lnTo>
                  <a:pt x="44196" y="49107"/>
                </a:lnTo>
                <a:lnTo>
                  <a:pt x="45089" y="47321"/>
                </a:lnTo>
                <a:lnTo>
                  <a:pt x="47768" y="45536"/>
                </a:lnTo>
                <a:close/>
              </a:path>
            </a:pathLst>
          </a:custGeom>
          <a:solidFill>
            <a:srgbClr val="FFFFFF"/>
          </a:solidFill>
          <a:ln>
            <a:noFill/>
          </a:ln>
        </p:spPr>
        <p:txBody>
          <a:bodyPr/>
          <a:p/>
        </p:txBody>
      </p:sp>
      <p:sp>
        <p:nvSpPr>
          <p:cNvPr id="32" name="Text 29"/>
          <p:cNvSpPr/>
          <p:nvPr/>
        </p:nvSpPr>
        <p:spPr>
          <a:xfrm>
            <a:off x="7635240" y="1984248"/>
            <a:ext cx="3831336" cy="310896"/>
          </a:xfrm>
          <a:prstGeom prst="rect">
            <a:avLst/>
          </a:prstGeom>
          <a:noFill/>
          <a:ln/>
        </p:spPr>
        <p:txBody>
          <a:bodyPr wrap="square" lIns="0" tIns="0" rIns="0" bIns="0" rtlCol="0" anchor="ctr"/>
          <a:lstStyle/>
          <a:p>
            <a:pPr indent="0" marL="0">
              <a:buNone/>
            </a:pPr>
            <a:r>
              <a:rPr lang="en-US" sz="1700" b="1" dirty="0">
                <a:solidFill>
                  <a:srgbClr val="0F766E"/>
                </a:solidFill>
                <a:latin typeface="Aptos" pitchFamily="34" charset="0"/>
                <a:ea typeface="Segoe UI" pitchFamily="34" charset="-122"/>
                <a:cs typeface="Segoe UI" pitchFamily="34" charset="-120"/>
              </a:rPr>
              <a:t>C1 · Foyers avec enfants</a:t>
            </a:r>
            <a:endParaRPr lang="en-US" sz="1700" dirty="0"/>
          </a:p>
        </p:txBody>
      </p:sp>
      <p:sp>
        <p:nvSpPr>
          <p:cNvPr id="33" name="Text 30"/>
          <p:cNvSpPr/>
          <p:nvPr/>
        </p:nvSpPr>
        <p:spPr>
          <a:xfrm>
            <a:off x="7635240" y="2441448"/>
            <a:ext cx="3840480" cy="365760"/>
          </a:xfrm>
          <a:prstGeom prst="rect">
            <a:avLst/>
          </a:prstGeom>
          <a:noFill/>
          <a:ln/>
        </p:spPr>
        <p:txBody>
          <a:bodyPr wrap="square" lIns="0" tIns="0" rIns="0" bIns="0" rtlCol="0" anchor="ctr"/>
          <a:lstStyle/>
          <a:p>
            <a:pPr indent="0" marL="0">
              <a:buNone/>
            </a:pPr>
            <a:r>
              <a:rPr lang="en-US" sz="1800" b="1" dirty="0">
                <a:solidFill>
                  <a:srgbClr val="17324D"/>
                </a:solidFill>
                <a:latin typeface="Aptos" pitchFamily="34" charset="0"/>
                <a:ea typeface="Segoe UI" pitchFamily="34" charset="-122"/>
                <a:cs typeface="Segoe UI" pitchFamily="34" charset="-120"/>
              </a:rPr>
              <a:t>Comparer plusieurs offres</a:t>
            </a:r>
            <a:endParaRPr lang="en-US" sz="1800" dirty="0"/>
          </a:p>
        </p:txBody>
      </p:sp>
      <p:sp>
        <p:nvSpPr>
          <p:cNvPr id="34" name="Text 31"/>
          <p:cNvSpPr/>
          <p:nvPr/>
        </p:nvSpPr>
        <p:spPr>
          <a:xfrm>
            <a:off x="7635240" y="2926080"/>
            <a:ext cx="3831336" cy="795528"/>
          </a:xfrm>
          <a:prstGeom prst="rect">
            <a:avLst/>
          </a:prstGeom>
          <a:noFill/>
          <a:ln/>
        </p:spPr>
        <p:txBody>
          <a:bodyPr wrap="square" lIns="0" tIns="0" rIns="0" bIns="0" rtlCol="0" anchor="t"/>
          <a:lstStyle/>
          <a:p>
            <a:pPr indent="0" marL="0">
              <a:buNone/>
            </a:pPr>
            <a:r>
              <a:rPr lang="en-US" sz="1300" dirty="0">
                <a:solidFill>
                  <a:srgbClr val="334155"/>
                </a:solidFill>
                <a:latin typeface="Aptos" pitchFamily="34" charset="0"/>
                <a:ea typeface="Segoe UI" pitchFamily="34" charset="-122"/>
                <a:cs typeface="Segoe UI" pitchFamily="34" charset="-120"/>
              </a:rPr>
              <a:t>Tester des offres pour les foyers avec enfants</a:t>
            </a:r>
            <a:endParaRPr lang="en-US" sz="1420" dirty="0"/>
          </a:p>
          <a:p>
            <a:pPr indent="0" marL="0">
              <a:buNone/>
            </a:pPr>
            <a:r>
              <a:rPr lang="en-US" sz="1300" dirty="0">
                <a:solidFill>
                  <a:srgbClr val="334155"/>
                </a:solidFill>
                <a:latin typeface="Aptos" pitchFamily="34" charset="0"/>
                <a:ea typeface="Segoe UI" pitchFamily="34" charset="-122"/>
                <a:cs typeface="Segoe UI" pitchFamily="34" charset="-120"/>
              </a:rPr>
              <a:t>Comparer à un groupe témoin</a:t>
            </a:r>
          </a:p>
          <a:p>
            <a:pPr indent="0" marL="0">
              <a:buNone/>
            </a:pPr>
            <a:r>
              <a:rPr lang="en-US" sz="1300" dirty="0">
                <a:solidFill>
                  <a:srgbClr val="334155"/>
                </a:solidFill>
                <a:latin typeface="Aptos" pitchFamily="34" charset="0"/>
                <a:ea typeface="Segoe UI" pitchFamily="34" charset="-122"/>
                <a:cs typeface="Segoe UI" pitchFamily="34" charset="-120"/>
              </a:rPr>
              <a:t>Mesurer réponses et achats supplémentaires</a:t>
            </a:r>
          </a:p>
        </p:txBody>
      </p:sp>
      <p:sp>
        <p:nvSpPr>
          <p:cNvPr id="35" name="Shape 32"/>
          <p:cNvSpPr/>
          <p:nvPr/>
        </p:nvSpPr>
        <p:spPr>
          <a:xfrm>
            <a:off x="457200" y="4050792"/>
            <a:ext cx="5550408" cy="2084832"/>
          </a:xfrm>
          <a:prstGeom prst="roundRect">
            <a:avLst>
              <a:gd name="adj" fmla="val 6140"/>
            </a:avLst>
          </a:prstGeom>
          <a:solidFill>
            <a:srgbClr val="F3F4F6"/>
          </a:solidFill>
          <a:ln w="12700">
            <a:solidFill>
              <a:srgbClr val="F3F4F6">
                <a:alpha val="0"/>
              </a:srgbClr>
            </a:solidFill>
            <a:prstDash val="solid"/>
          </a:ln>
        </p:spPr>
        <p:txBody>
          <a:bodyPr/>
          <a:p/>
        </p:txBody>
      </p:sp>
      <p:sp>
        <p:nvSpPr>
          <p:cNvPr id="36" name="Shape 33"/>
          <p:cNvSpPr/>
          <p:nvPr/>
        </p:nvSpPr>
        <p:spPr>
          <a:xfrm>
            <a:off x="676656" y="4261104"/>
            <a:ext cx="969264" cy="969264"/>
          </a:xfrm>
          <a:prstGeom prst="ellipse">
            <a:avLst/>
          </a:prstGeom>
          <a:solidFill>
            <a:srgbClr val="B45309"/>
          </a:solidFill>
          <a:ln w="12700">
            <a:solidFill>
              <a:srgbClr val="6D28D9">
                <a:alpha val="0"/>
              </a:srgbClr>
            </a:solidFill>
            <a:prstDash val="solid"/>
          </a:ln>
        </p:spPr>
        <p:txBody>
          <a:bodyPr/>
          <a:p/>
        </p:txBody>
      </p:sp>
      <p:sp>
        <p:nvSpPr>
          <p:cNvPr id="37" name="VECTOR_bag_66"/>
          <p:cNvSpPr/>
          <p:nvPr/>
        </p:nvSpPr>
        <p:spPr>
          <a:xfrm>
            <a:off x="676656" y="4261104"/>
            <a:ext cx="969264" cy="969264"/>
          </a:xfrm>
          <a:custGeom>
            <a:avLst/>
            <a:gdLst/>
            <a:ahLst/>
            <a:cxnLst/>
            <a:rect l="0" t="0" r="r" b="b"/>
            <a:pathLst>
              <a:path w="100000" h="100000" fill="norm" stroke="false" extrusionOk="false">
                <a:moveTo>
                  <a:pt x="45000" y="24615"/>
                </a:moveTo>
                <a:lnTo>
                  <a:pt x="45385" y="24231"/>
                </a:lnTo>
                <a:lnTo>
                  <a:pt x="51538" y="24231"/>
                </a:lnTo>
                <a:lnTo>
                  <a:pt x="54615" y="25769"/>
                </a:lnTo>
                <a:lnTo>
                  <a:pt x="57308" y="28462"/>
                </a:lnTo>
                <a:lnTo>
                  <a:pt x="58846" y="31538"/>
                </a:lnTo>
                <a:lnTo>
                  <a:pt x="58846" y="37692"/>
                </a:lnTo>
                <a:lnTo>
                  <a:pt x="59231" y="38077"/>
                </a:lnTo>
                <a:lnTo>
                  <a:pt x="66154" y="38077"/>
                </a:lnTo>
                <a:lnTo>
                  <a:pt x="68077" y="40000"/>
                </a:lnTo>
                <a:lnTo>
                  <a:pt x="68077" y="44615"/>
                </a:lnTo>
                <a:lnTo>
                  <a:pt x="68462" y="45000"/>
                </a:lnTo>
                <a:lnTo>
                  <a:pt x="68846" y="45385"/>
                </a:lnTo>
                <a:lnTo>
                  <a:pt x="68846" y="51538"/>
                </a:lnTo>
                <a:lnTo>
                  <a:pt x="69231" y="51923"/>
                </a:lnTo>
                <a:lnTo>
                  <a:pt x="69615" y="52308"/>
                </a:lnTo>
                <a:lnTo>
                  <a:pt x="69615" y="57692"/>
                </a:lnTo>
                <a:lnTo>
                  <a:pt x="70000" y="58077"/>
                </a:lnTo>
                <a:lnTo>
                  <a:pt x="70385" y="58462"/>
                </a:lnTo>
                <a:lnTo>
                  <a:pt x="70385" y="63846"/>
                </a:lnTo>
                <a:lnTo>
                  <a:pt x="70769" y="64231"/>
                </a:lnTo>
                <a:lnTo>
                  <a:pt x="71154" y="64615"/>
                </a:lnTo>
                <a:lnTo>
                  <a:pt x="71154" y="70769"/>
                </a:lnTo>
                <a:lnTo>
                  <a:pt x="71538" y="71154"/>
                </a:lnTo>
                <a:lnTo>
                  <a:pt x="71923" y="71538"/>
                </a:lnTo>
                <a:lnTo>
                  <a:pt x="71923" y="76923"/>
                </a:lnTo>
                <a:lnTo>
                  <a:pt x="70000" y="78077"/>
                </a:lnTo>
                <a:lnTo>
                  <a:pt x="52308" y="78077"/>
                </a:lnTo>
                <a:lnTo>
                  <a:pt x="26923" y="78077"/>
                </a:lnTo>
                <a:lnTo>
                  <a:pt x="25000" y="76154"/>
                </a:lnTo>
                <a:lnTo>
                  <a:pt x="25000" y="73846"/>
                </a:lnTo>
                <a:lnTo>
                  <a:pt x="25385" y="73462"/>
                </a:lnTo>
                <a:lnTo>
                  <a:pt x="25769" y="73077"/>
                </a:lnTo>
                <a:lnTo>
                  <a:pt x="25769" y="67692"/>
                </a:lnTo>
                <a:lnTo>
                  <a:pt x="26154" y="67308"/>
                </a:lnTo>
                <a:lnTo>
                  <a:pt x="26538" y="66923"/>
                </a:lnTo>
                <a:lnTo>
                  <a:pt x="26538" y="62308"/>
                </a:lnTo>
                <a:lnTo>
                  <a:pt x="26923" y="61923"/>
                </a:lnTo>
                <a:lnTo>
                  <a:pt x="27308" y="61538"/>
                </a:lnTo>
                <a:lnTo>
                  <a:pt x="27308" y="56154"/>
                </a:lnTo>
                <a:lnTo>
                  <a:pt x="27692" y="55769"/>
                </a:lnTo>
                <a:lnTo>
                  <a:pt x="28077" y="55385"/>
                </a:lnTo>
                <a:lnTo>
                  <a:pt x="28077" y="49231"/>
                </a:lnTo>
                <a:lnTo>
                  <a:pt x="28462" y="48846"/>
                </a:lnTo>
                <a:lnTo>
                  <a:pt x="28846" y="48462"/>
                </a:lnTo>
                <a:lnTo>
                  <a:pt x="28846" y="43846"/>
                </a:lnTo>
                <a:lnTo>
                  <a:pt x="29231" y="43462"/>
                </a:lnTo>
                <a:lnTo>
                  <a:pt x="29615" y="43077"/>
                </a:lnTo>
                <a:lnTo>
                  <a:pt x="29615" y="39231"/>
                </a:lnTo>
                <a:lnTo>
                  <a:pt x="30769" y="38077"/>
                </a:lnTo>
                <a:lnTo>
                  <a:pt x="37692" y="38077"/>
                </a:lnTo>
                <a:lnTo>
                  <a:pt x="38077" y="37692"/>
                </a:lnTo>
                <a:lnTo>
                  <a:pt x="38077" y="32308"/>
                </a:lnTo>
                <a:lnTo>
                  <a:pt x="38462" y="31923"/>
                </a:lnTo>
                <a:lnTo>
                  <a:pt x="38846" y="31538"/>
                </a:lnTo>
                <a:lnTo>
                  <a:pt x="38846" y="30769"/>
                </a:lnTo>
                <a:lnTo>
                  <a:pt x="38846" y="30000"/>
                </a:lnTo>
                <a:lnTo>
                  <a:pt x="39615" y="28462"/>
                </a:lnTo>
                <a:lnTo>
                  <a:pt x="42308" y="25769"/>
                </a:lnTo>
                <a:lnTo>
                  <a:pt x="45000" y="24615"/>
                </a:lnTo>
                <a:close/>
                <a:moveTo>
                  <a:pt x="46154" y="26538"/>
                </a:moveTo>
                <a:lnTo>
                  <a:pt x="44615" y="27308"/>
                </a:lnTo>
                <a:lnTo>
                  <a:pt x="41923" y="30000"/>
                </a:lnTo>
                <a:lnTo>
                  <a:pt x="41154" y="31538"/>
                </a:lnTo>
                <a:lnTo>
                  <a:pt x="41154" y="37692"/>
                </a:lnTo>
                <a:lnTo>
                  <a:pt x="41538" y="38077"/>
                </a:lnTo>
                <a:lnTo>
                  <a:pt x="51538" y="38077"/>
                </a:lnTo>
                <a:lnTo>
                  <a:pt x="56154" y="38077"/>
                </a:lnTo>
                <a:lnTo>
                  <a:pt x="56538" y="37692"/>
                </a:lnTo>
                <a:lnTo>
                  <a:pt x="56538" y="33077"/>
                </a:lnTo>
                <a:lnTo>
                  <a:pt x="56154" y="32692"/>
                </a:lnTo>
                <a:lnTo>
                  <a:pt x="55769" y="32308"/>
                </a:lnTo>
                <a:lnTo>
                  <a:pt x="55769" y="31538"/>
                </a:lnTo>
                <a:lnTo>
                  <a:pt x="55769" y="30769"/>
                </a:lnTo>
                <a:lnTo>
                  <a:pt x="52308" y="27308"/>
                </a:lnTo>
                <a:lnTo>
                  <a:pt x="51538" y="27308"/>
                </a:lnTo>
                <a:lnTo>
                  <a:pt x="50769" y="27308"/>
                </a:lnTo>
                <a:lnTo>
                  <a:pt x="50385" y="26923"/>
                </a:lnTo>
                <a:lnTo>
                  <a:pt x="50000" y="26538"/>
                </a:lnTo>
                <a:lnTo>
                  <a:pt x="46154" y="26538"/>
                </a:lnTo>
                <a:close/>
                <a:moveTo>
                  <a:pt x="33077" y="41154"/>
                </a:moveTo>
                <a:lnTo>
                  <a:pt x="31923" y="42308"/>
                </a:lnTo>
                <a:lnTo>
                  <a:pt x="31923" y="45385"/>
                </a:lnTo>
                <a:lnTo>
                  <a:pt x="31538" y="45769"/>
                </a:lnTo>
                <a:lnTo>
                  <a:pt x="31154" y="46154"/>
                </a:lnTo>
                <a:lnTo>
                  <a:pt x="31154" y="51538"/>
                </a:lnTo>
                <a:lnTo>
                  <a:pt x="30769" y="51923"/>
                </a:lnTo>
                <a:lnTo>
                  <a:pt x="30385" y="52308"/>
                </a:lnTo>
                <a:lnTo>
                  <a:pt x="30385" y="56923"/>
                </a:lnTo>
                <a:lnTo>
                  <a:pt x="30000" y="57308"/>
                </a:lnTo>
                <a:lnTo>
                  <a:pt x="29615" y="57692"/>
                </a:lnTo>
                <a:lnTo>
                  <a:pt x="29615" y="63077"/>
                </a:lnTo>
                <a:lnTo>
                  <a:pt x="29231" y="63462"/>
                </a:lnTo>
                <a:lnTo>
                  <a:pt x="28846" y="63846"/>
                </a:lnTo>
                <a:lnTo>
                  <a:pt x="28846" y="69231"/>
                </a:lnTo>
                <a:lnTo>
                  <a:pt x="28462" y="69615"/>
                </a:lnTo>
                <a:lnTo>
                  <a:pt x="28077" y="70000"/>
                </a:lnTo>
                <a:lnTo>
                  <a:pt x="28077" y="74615"/>
                </a:lnTo>
                <a:lnTo>
                  <a:pt x="29231" y="75769"/>
                </a:lnTo>
                <a:lnTo>
                  <a:pt x="63077" y="75769"/>
                </a:lnTo>
                <a:lnTo>
                  <a:pt x="63462" y="75385"/>
                </a:lnTo>
                <a:lnTo>
                  <a:pt x="63846" y="75000"/>
                </a:lnTo>
                <a:lnTo>
                  <a:pt x="66923" y="75000"/>
                </a:lnTo>
                <a:lnTo>
                  <a:pt x="67308" y="75385"/>
                </a:lnTo>
                <a:lnTo>
                  <a:pt x="67692" y="75769"/>
                </a:lnTo>
                <a:lnTo>
                  <a:pt x="68846" y="74615"/>
                </a:lnTo>
                <a:lnTo>
                  <a:pt x="68846" y="73846"/>
                </a:lnTo>
                <a:lnTo>
                  <a:pt x="68846" y="68462"/>
                </a:lnTo>
                <a:lnTo>
                  <a:pt x="68462" y="68077"/>
                </a:lnTo>
                <a:lnTo>
                  <a:pt x="68077" y="67692"/>
                </a:lnTo>
                <a:lnTo>
                  <a:pt x="68077" y="61538"/>
                </a:lnTo>
                <a:lnTo>
                  <a:pt x="67692" y="61154"/>
                </a:lnTo>
                <a:lnTo>
                  <a:pt x="67308" y="60769"/>
                </a:lnTo>
                <a:lnTo>
                  <a:pt x="67308" y="55385"/>
                </a:lnTo>
                <a:lnTo>
                  <a:pt x="66923" y="55000"/>
                </a:lnTo>
                <a:lnTo>
                  <a:pt x="66538" y="54615"/>
                </a:lnTo>
                <a:lnTo>
                  <a:pt x="66538" y="49231"/>
                </a:lnTo>
                <a:lnTo>
                  <a:pt x="66154" y="48846"/>
                </a:lnTo>
                <a:lnTo>
                  <a:pt x="65769" y="48462"/>
                </a:lnTo>
                <a:lnTo>
                  <a:pt x="65769" y="43077"/>
                </a:lnTo>
                <a:lnTo>
                  <a:pt x="64615" y="41154"/>
                </a:lnTo>
                <a:lnTo>
                  <a:pt x="59231" y="41154"/>
                </a:lnTo>
                <a:lnTo>
                  <a:pt x="58846" y="43846"/>
                </a:lnTo>
                <a:lnTo>
                  <a:pt x="57692" y="45000"/>
                </a:lnTo>
                <a:lnTo>
                  <a:pt x="56538" y="43846"/>
                </a:lnTo>
                <a:lnTo>
                  <a:pt x="56154" y="41154"/>
                </a:lnTo>
                <a:lnTo>
                  <a:pt x="41538" y="41154"/>
                </a:lnTo>
                <a:lnTo>
                  <a:pt x="41154" y="43846"/>
                </a:lnTo>
                <a:lnTo>
                  <a:pt x="40000" y="45000"/>
                </a:lnTo>
                <a:lnTo>
                  <a:pt x="39231" y="45000"/>
                </a:lnTo>
                <a:lnTo>
                  <a:pt x="38077" y="43846"/>
                </a:lnTo>
                <a:lnTo>
                  <a:pt x="37692" y="41154"/>
                </a:lnTo>
                <a:lnTo>
                  <a:pt x="33077" y="41154"/>
                </a:lnTo>
                <a:close/>
              </a:path>
            </a:pathLst>
          </a:custGeom>
          <a:solidFill>
            <a:srgbClr val="FFFFFF"/>
          </a:solidFill>
          <a:ln>
            <a:noFill/>
          </a:ln>
        </p:spPr>
        <p:txBody>
          <a:bodyPr/>
          <a:p/>
        </p:txBody>
      </p:sp>
      <p:sp>
        <p:nvSpPr>
          <p:cNvPr id="38" name="Text 35"/>
          <p:cNvSpPr/>
          <p:nvPr/>
        </p:nvSpPr>
        <p:spPr>
          <a:xfrm>
            <a:off x="1874520" y="4261104"/>
            <a:ext cx="3831336" cy="310896"/>
          </a:xfrm>
          <a:prstGeom prst="rect">
            <a:avLst/>
          </a:prstGeom>
          <a:noFill/>
          <a:ln/>
        </p:spPr>
        <p:txBody>
          <a:bodyPr wrap="square" lIns="0" tIns="0" rIns="0" bIns="0" rtlCol="0" anchor="ctr"/>
          <a:lstStyle/>
          <a:p>
            <a:pPr indent="0" marL="0">
              <a:buNone/>
            </a:pPr>
            <a:r>
              <a:rPr lang="en-US" sz="1700" b="1" dirty="0">
                <a:solidFill>
                  <a:srgbClr val="B45309"/>
                </a:solidFill>
                <a:latin typeface="Aptos" pitchFamily="34" charset="0"/>
                <a:ea typeface="Segoe UI" pitchFamily="34" charset="-122"/>
                <a:cs typeface="Segoe UI" pitchFamily="34" charset="-120"/>
              </a:rPr>
              <a:t>C2 · Dépenses intermédiaires</a:t>
            </a:r>
            <a:endParaRPr lang="en-US" sz="1700" dirty="0"/>
          </a:p>
        </p:txBody>
      </p:sp>
      <p:sp>
        <p:nvSpPr>
          <p:cNvPr id="39" name="Text 36"/>
          <p:cNvSpPr/>
          <p:nvPr/>
        </p:nvSpPr>
        <p:spPr>
          <a:xfrm>
            <a:off x="1874520" y="4718304"/>
            <a:ext cx="3840480" cy="365760"/>
          </a:xfrm>
          <a:prstGeom prst="rect">
            <a:avLst/>
          </a:prstGeom>
          <a:noFill/>
          <a:ln/>
        </p:spPr>
        <p:txBody>
          <a:bodyPr wrap="square" lIns="0" tIns="0" rIns="0" bIns="0" rtlCol="0" anchor="ctr"/>
          <a:lstStyle/>
          <a:p>
            <a:pPr indent="0" marL="0">
              <a:buNone/>
            </a:pPr>
            <a:r>
              <a:rPr lang="en-US" sz="1800" b="1" dirty="0">
                <a:solidFill>
                  <a:srgbClr val="17324D"/>
                </a:solidFill>
                <a:latin typeface="Aptos" pitchFamily="34" charset="0"/>
                <a:ea typeface="Segoe UI" pitchFamily="34" charset="-122"/>
                <a:cs typeface="Segoe UI" pitchFamily="34" charset="-120"/>
              </a:rPr>
              <a:t>Tester avec et sans remise</a:t>
            </a:r>
            <a:endParaRPr lang="en-US" sz="1800" dirty="0"/>
          </a:p>
        </p:txBody>
      </p:sp>
      <p:sp>
        <p:nvSpPr>
          <p:cNvPr id="40" name="Text 37"/>
          <p:cNvSpPr/>
          <p:nvPr/>
        </p:nvSpPr>
        <p:spPr>
          <a:xfrm>
            <a:off x="1874520" y="5202936"/>
            <a:ext cx="3831336" cy="795528"/>
          </a:xfrm>
          <a:prstGeom prst="rect">
            <a:avLst/>
          </a:prstGeom>
          <a:noFill/>
          <a:ln/>
        </p:spPr>
        <p:txBody>
          <a:bodyPr wrap="square" lIns="0" tIns="0" rIns="0" bIns="0" rtlCol="0" anchor="t"/>
          <a:lstStyle/>
          <a:p>
            <a:pPr indent="0" marL="0">
              <a:buNone/>
            </a:pPr>
            <a:r>
              <a:rPr lang="en-US" sz="1300" dirty="0">
                <a:solidFill>
                  <a:srgbClr val="334155"/>
                </a:solidFill>
                <a:latin typeface="Aptos" pitchFamily="34" charset="0"/>
                <a:ea typeface="Segoe UI" pitchFamily="34" charset="-122"/>
                <a:cs typeface="Segoe UI" pitchFamily="34" charset="-120"/>
              </a:rPr>
              <a:t>Comparer la même offre avec et sans remise</a:t>
            </a:r>
            <a:endParaRPr lang="en-US" sz="1420" dirty="0"/>
          </a:p>
          <a:p>
            <a:pPr indent="0" marL="0">
              <a:buNone/>
            </a:pPr>
            <a:r>
              <a:rPr lang="en-US" sz="1300" dirty="0">
                <a:solidFill>
                  <a:srgbClr val="334155"/>
                </a:solidFill>
                <a:latin typeface="Aptos" pitchFamily="34" charset="0"/>
                <a:ea typeface="Segoe UI" pitchFamily="34" charset="-122"/>
                <a:cs typeface="Segoe UI" pitchFamily="34" charset="-120"/>
              </a:rPr>
              <a:t>Mesurer les achats additionnels</a:t>
            </a:r>
          </a:p>
          <a:p>
            <a:pPr indent="0" marL="0">
              <a:buNone/>
            </a:pPr>
            <a:r>
              <a:rPr lang="en-US" sz="1300" dirty="0">
                <a:solidFill>
                  <a:srgbClr val="334155"/>
                </a:solidFill>
                <a:latin typeface="Aptos" pitchFamily="34" charset="0"/>
                <a:ea typeface="Segoe UI" pitchFamily="34" charset="-122"/>
                <a:cs typeface="Segoe UI" pitchFamily="34" charset="-120"/>
              </a:rPr>
              <a:t>Intégrer le coût réel et la marge</a:t>
            </a:r>
          </a:p>
        </p:txBody>
      </p:sp>
      <p:sp>
        <p:nvSpPr>
          <p:cNvPr id="41" name="Shape 38"/>
          <p:cNvSpPr/>
          <p:nvPr/>
        </p:nvSpPr>
        <p:spPr>
          <a:xfrm>
            <a:off x="6217920" y="4050792"/>
            <a:ext cx="5550408" cy="2084832"/>
          </a:xfrm>
          <a:prstGeom prst="roundRect">
            <a:avLst>
              <a:gd name="adj" fmla="val 6140"/>
            </a:avLst>
          </a:prstGeom>
          <a:solidFill>
            <a:srgbClr val="F3F4F6"/>
          </a:solidFill>
          <a:ln w="12700">
            <a:solidFill>
              <a:srgbClr val="F3F4F6">
                <a:alpha val="0"/>
              </a:srgbClr>
            </a:solidFill>
            <a:prstDash val="solid"/>
          </a:ln>
        </p:spPr>
        <p:txBody>
          <a:bodyPr/>
          <a:p/>
        </p:txBody>
      </p:sp>
      <p:sp>
        <p:nvSpPr>
          <p:cNvPr id="42" name="Shape 39"/>
          <p:cNvSpPr/>
          <p:nvPr/>
        </p:nvSpPr>
        <p:spPr>
          <a:xfrm>
            <a:off x="6437376" y="4261104"/>
            <a:ext cx="969264" cy="969264"/>
          </a:xfrm>
          <a:prstGeom prst="ellipse">
            <a:avLst/>
          </a:prstGeom>
          <a:solidFill>
            <a:srgbClr val="6D28D9"/>
          </a:solidFill>
          <a:ln w="12700">
            <a:solidFill>
              <a:srgbClr val="17324D">
                <a:alpha val="0"/>
              </a:srgbClr>
            </a:solidFill>
            <a:prstDash val="solid"/>
          </a:ln>
        </p:spPr>
        <p:txBody>
          <a:bodyPr/>
          <a:p/>
        </p:txBody>
      </p:sp>
      <p:sp>
        <p:nvSpPr>
          <p:cNvPr id="43" name="VECTOR_diamond_67"/>
          <p:cNvSpPr/>
          <p:nvPr/>
        </p:nvSpPr>
        <p:spPr>
          <a:xfrm>
            <a:off x="6437376" y="4261104"/>
            <a:ext cx="969264" cy="969264"/>
          </a:xfrm>
          <a:custGeom>
            <a:avLst/>
            <a:gdLst/>
            <a:ahLst/>
            <a:cxnLst/>
            <a:rect l="0" t="0" r="r" b="b"/>
            <a:pathLst>
              <a:path w="100000" h="100000" fill="norm" stroke="false" extrusionOk="false">
                <a:moveTo>
                  <a:pt x="40873" y="27778"/>
                </a:moveTo>
                <a:lnTo>
                  <a:pt x="41270" y="27381"/>
                </a:lnTo>
                <a:lnTo>
                  <a:pt x="42063" y="27381"/>
                </a:lnTo>
                <a:lnTo>
                  <a:pt x="42460" y="27778"/>
                </a:lnTo>
                <a:lnTo>
                  <a:pt x="42857" y="28175"/>
                </a:lnTo>
                <a:lnTo>
                  <a:pt x="57937" y="28175"/>
                </a:lnTo>
                <a:lnTo>
                  <a:pt x="58333" y="27778"/>
                </a:lnTo>
                <a:lnTo>
                  <a:pt x="58730" y="27381"/>
                </a:lnTo>
                <a:lnTo>
                  <a:pt x="59524" y="27381"/>
                </a:lnTo>
                <a:lnTo>
                  <a:pt x="60317" y="27381"/>
                </a:lnTo>
                <a:lnTo>
                  <a:pt x="60714" y="27778"/>
                </a:lnTo>
                <a:lnTo>
                  <a:pt x="61111" y="28175"/>
                </a:lnTo>
                <a:lnTo>
                  <a:pt x="66667" y="28175"/>
                </a:lnTo>
                <a:lnTo>
                  <a:pt x="71825" y="34127"/>
                </a:lnTo>
                <a:lnTo>
                  <a:pt x="71825" y="34921"/>
                </a:lnTo>
                <a:lnTo>
                  <a:pt x="74206" y="37302"/>
                </a:lnTo>
                <a:lnTo>
                  <a:pt x="74206" y="38095"/>
                </a:lnTo>
                <a:lnTo>
                  <a:pt x="78175" y="42063"/>
                </a:lnTo>
                <a:lnTo>
                  <a:pt x="78968" y="43651"/>
                </a:lnTo>
                <a:lnTo>
                  <a:pt x="78968" y="44444"/>
                </a:lnTo>
                <a:lnTo>
                  <a:pt x="78968" y="45238"/>
                </a:lnTo>
                <a:lnTo>
                  <a:pt x="76587" y="47619"/>
                </a:lnTo>
                <a:lnTo>
                  <a:pt x="76587" y="48413"/>
                </a:lnTo>
                <a:lnTo>
                  <a:pt x="71825" y="53175"/>
                </a:lnTo>
                <a:lnTo>
                  <a:pt x="71825" y="53968"/>
                </a:lnTo>
                <a:lnTo>
                  <a:pt x="67063" y="58730"/>
                </a:lnTo>
                <a:lnTo>
                  <a:pt x="67063" y="59524"/>
                </a:lnTo>
                <a:lnTo>
                  <a:pt x="59921" y="67460"/>
                </a:lnTo>
                <a:lnTo>
                  <a:pt x="57540" y="69841"/>
                </a:lnTo>
                <a:lnTo>
                  <a:pt x="57540" y="70635"/>
                </a:lnTo>
                <a:lnTo>
                  <a:pt x="53968" y="74206"/>
                </a:lnTo>
                <a:lnTo>
                  <a:pt x="53175" y="74206"/>
                </a:lnTo>
                <a:lnTo>
                  <a:pt x="41667" y="61905"/>
                </a:lnTo>
                <a:lnTo>
                  <a:pt x="41667" y="61111"/>
                </a:lnTo>
                <a:lnTo>
                  <a:pt x="32143" y="50794"/>
                </a:lnTo>
                <a:lnTo>
                  <a:pt x="32143" y="50000"/>
                </a:lnTo>
                <a:lnTo>
                  <a:pt x="28175" y="46032"/>
                </a:lnTo>
                <a:lnTo>
                  <a:pt x="27381" y="44444"/>
                </a:lnTo>
                <a:lnTo>
                  <a:pt x="28175" y="42857"/>
                </a:lnTo>
                <a:lnTo>
                  <a:pt x="33730" y="36508"/>
                </a:lnTo>
                <a:lnTo>
                  <a:pt x="33730" y="35714"/>
                </a:lnTo>
                <a:lnTo>
                  <a:pt x="40873" y="27778"/>
                </a:lnTo>
                <a:close/>
                <a:moveTo>
                  <a:pt x="42063" y="28968"/>
                </a:moveTo>
                <a:lnTo>
                  <a:pt x="35317" y="36508"/>
                </a:lnTo>
                <a:lnTo>
                  <a:pt x="35317" y="37302"/>
                </a:lnTo>
                <a:lnTo>
                  <a:pt x="30556" y="42857"/>
                </a:lnTo>
                <a:lnTo>
                  <a:pt x="30952" y="43254"/>
                </a:lnTo>
                <a:lnTo>
                  <a:pt x="34921" y="43254"/>
                </a:lnTo>
                <a:lnTo>
                  <a:pt x="42063" y="43254"/>
                </a:lnTo>
                <a:lnTo>
                  <a:pt x="42460" y="42857"/>
                </a:lnTo>
                <a:lnTo>
                  <a:pt x="43254" y="41270"/>
                </a:lnTo>
                <a:lnTo>
                  <a:pt x="43254" y="40476"/>
                </a:lnTo>
                <a:lnTo>
                  <a:pt x="43254" y="39683"/>
                </a:lnTo>
                <a:lnTo>
                  <a:pt x="43651" y="39286"/>
                </a:lnTo>
                <a:lnTo>
                  <a:pt x="44048" y="38889"/>
                </a:lnTo>
                <a:lnTo>
                  <a:pt x="44048" y="38095"/>
                </a:lnTo>
                <a:lnTo>
                  <a:pt x="44048" y="37302"/>
                </a:lnTo>
                <a:lnTo>
                  <a:pt x="44444" y="36905"/>
                </a:lnTo>
                <a:lnTo>
                  <a:pt x="44841" y="36508"/>
                </a:lnTo>
                <a:lnTo>
                  <a:pt x="44841" y="34127"/>
                </a:lnTo>
                <a:lnTo>
                  <a:pt x="45238" y="33730"/>
                </a:lnTo>
                <a:lnTo>
                  <a:pt x="45635" y="33333"/>
                </a:lnTo>
                <a:lnTo>
                  <a:pt x="46429" y="29365"/>
                </a:lnTo>
                <a:lnTo>
                  <a:pt x="46032" y="28968"/>
                </a:lnTo>
                <a:lnTo>
                  <a:pt x="42063" y="28968"/>
                </a:lnTo>
                <a:close/>
                <a:moveTo>
                  <a:pt x="48413" y="28968"/>
                </a:moveTo>
                <a:lnTo>
                  <a:pt x="47222" y="30952"/>
                </a:lnTo>
                <a:lnTo>
                  <a:pt x="47222" y="31746"/>
                </a:lnTo>
                <a:lnTo>
                  <a:pt x="47222" y="32540"/>
                </a:lnTo>
                <a:lnTo>
                  <a:pt x="46825" y="32937"/>
                </a:lnTo>
                <a:lnTo>
                  <a:pt x="46429" y="33333"/>
                </a:lnTo>
                <a:lnTo>
                  <a:pt x="46429" y="35714"/>
                </a:lnTo>
                <a:lnTo>
                  <a:pt x="46032" y="36111"/>
                </a:lnTo>
                <a:lnTo>
                  <a:pt x="45635" y="36508"/>
                </a:lnTo>
                <a:lnTo>
                  <a:pt x="45635" y="37302"/>
                </a:lnTo>
                <a:lnTo>
                  <a:pt x="45635" y="38095"/>
                </a:lnTo>
                <a:lnTo>
                  <a:pt x="45238" y="38492"/>
                </a:lnTo>
                <a:lnTo>
                  <a:pt x="44841" y="38889"/>
                </a:lnTo>
                <a:lnTo>
                  <a:pt x="44841" y="41270"/>
                </a:lnTo>
                <a:lnTo>
                  <a:pt x="44048" y="42857"/>
                </a:lnTo>
                <a:lnTo>
                  <a:pt x="44444" y="43254"/>
                </a:lnTo>
                <a:lnTo>
                  <a:pt x="58730" y="43254"/>
                </a:lnTo>
                <a:lnTo>
                  <a:pt x="62698" y="43254"/>
                </a:lnTo>
                <a:lnTo>
                  <a:pt x="63095" y="42857"/>
                </a:lnTo>
                <a:lnTo>
                  <a:pt x="62698" y="42460"/>
                </a:lnTo>
                <a:lnTo>
                  <a:pt x="62302" y="42063"/>
                </a:lnTo>
                <a:lnTo>
                  <a:pt x="62302" y="39683"/>
                </a:lnTo>
                <a:lnTo>
                  <a:pt x="61905" y="39286"/>
                </a:lnTo>
                <a:lnTo>
                  <a:pt x="61508" y="38889"/>
                </a:lnTo>
                <a:lnTo>
                  <a:pt x="61508" y="38095"/>
                </a:lnTo>
                <a:lnTo>
                  <a:pt x="61508" y="37302"/>
                </a:lnTo>
                <a:lnTo>
                  <a:pt x="61111" y="36905"/>
                </a:lnTo>
                <a:lnTo>
                  <a:pt x="60714" y="36508"/>
                </a:lnTo>
                <a:lnTo>
                  <a:pt x="60714" y="34127"/>
                </a:lnTo>
                <a:lnTo>
                  <a:pt x="60317" y="33730"/>
                </a:lnTo>
                <a:lnTo>
                  <a:pt x="59921" y="33333"/>
                </a:lnTo>
                <a:lnTo>
                  <a:pt x="59921" y="32540"/>
                </a:lnTo>
                <a:lnTo>
                  <a:pt x="59921" y="31746"/>
                </a:lnTo>
                <a:lnTo>
                  <a:pt x="59127" y="30159"/>
                </a:lnTo>
                <a:lnTo>
                  <a:pt x="57937" y="28968"/>
                </a:lnTo>
                <a:lnTo>
                  <a:pt x="48413" y="28968"/>
                </a:lnTo>
                <a:close/>
                <a:moveTo>
                  <a:pt x="61111" y="28968"/>
                </a:moveTo>
                <a:lnTo>
                  <a:pt x="60714" y="31746"/>
                </a:lnTo>
                <a:lnTo>
                  <a:pt x="61111" y="32143"/>
                </a:lnTo>
                <a:lnTo>
                  <a:pt x="61508" y="32540"/>
                </a:lnTo>
                <a:lnTo>
                  <a:pt x="61508" y="33333"/>
                </a:lnTo>
                <a:lnTo>
                  <a:pt x="61508" y="34127"/>
                </a:lnTo>
                <a:lnTo>
                  <a:pt x="63095" y="37302"/>
                </a:lnTo>
                <a:lnTo>
                  <a:pt x="63095" y="39683"/>
                </a:lnTo>
                <a:lnTo>
                  <a:pt x="63492" y="40079"/>
                </a:lnTo>
                <a:lnTo>
                  <a:pt x="63889" y="40476"/>
                </a:lnTo>
                <a:lnTo>
                  <a:pt x="64286" y="43254"/>
                </a:lnTo>
                <a:lnTo>
                  <a:pt x="76190" y="43254"/>
                </a:lnTo>
                <a:lnTo>
                  <a:pt x="76587" y="42857"/>
                </a:lnTo>
                <a:lnTo>
                  <a:pt x="74206" y="40476"/>
                </a:lnTo>
                <a:lnTo>
                  <a:pt x="74206" y="39683"/>
                </a:lnTo>
                <a:lnTo>
                  <a:pt x="71825" y="37302"/>
                </a:lnTo>
                <a:lnTo>
                  <a:pt x="71825" y="36508"/>
                </a:lnTo>
                <a:lnTo>
                  <a:pt x="65079" y="28968"/>
                </a:lnTo>
                <a:lnTo>
                  <a:pt x="61111" y="28968"/>
                </a:lnTo>
                <a:close/>
                <a:moveTo>
                  <a:pt x="30952" y="44841"/>
                </a:moveTo>
                <a:lnTo>
                  <a:pt x="30556" y="45238"/>
                </a:lnTo>
                <a:lnTo>
                  <a:pt x="30556" y="46032"/>
                </a:lnTo>
                <a:lnTo>
                  <a:pt x="32937" y="48413"/>
                </a:lnTo>
                <a:lnTo>
                  <a:pt x="32937" y="49206"/>
                </a:lnTo>
                <a:lnTo>
                  <a:pt x="39286" y="55556"/>
                </a:lnTo>
                <a:lnTo>
                  <a:pt x="39286" y="56349"/>
                </a:lnTo>
                <a:lnTo>
                  <a:pt x="44048" y="61111"/>
                </a:lnTo>
                <a:lnTo>
                  <a:pt x="44048" y="61905"/>
                </a:lnTo>
                <a:lnTo>
                  <a:pt x="50000" y="67857"/>
                </a:lnTo>
                <a:lnTo>
                  <a:pt x="50794" y="67857"/>
                </a:lnTo>
                <a:lnTo>
                  <a:pt x="51190" y="67460"/>
                </a:lnTo>
                <a:lnTo>
                  <a:pt x="49603" y="65079"/>
                </a:lnTo>
                <a:lnTo>
                  <a:pt x="49603" y="64286"/>
                </a:lnTo>
                <a:lnTo>
                  <a:pt x="49603" y="63492"/>
                </a:lnTo>
                <a:lnTo>
                  <a:pt x="47222" y="58730"/>
                </a:lnTo>
                <a:lnTo>
                  <a:pt x="46429" y="54762"/>
                </a:lnTo>
                <a:lnTo>
                  <a:pt x="44841" y="52381"/>
                </a:lnTo>
                <a:lnTo>
                  <a:pt x="44841" y="51587"/>
                </a:lnTo>
                <a:lnTo>
                  <a:pt x="44841" y="50794"/>
                </a:lnTo>
                <a:lnTo>
                  <a:pt x="42460" y="46032"/>
                </a:lnTo>
                <a:lnTo>
                  <a:pt x="41270" y="44841"/>
                </a:lnTo>
                <a:lnTo>
                  <a:pt x="30952" y="44841"/>
                </a:lnTo>
                <a:close/>
                <a:moveTo>
                  <a:pt x="44444" y="44841"/>
                </a:moveTo>
                <a:lnTo>
                  <a:pt x="44048" y="46825"/>
                </a:lnTo>
                <a:lnTo>
                  <a:pt x="44444" y="47222"/>
                </a:lnTo>
                <a:lnTo>
                  <a:pt x="44841" y="47619"/>
                </a:lnTo>
                <a:lnTo>
                  <a:pt x="44841" y="48413"/>
                </a:lnTo>
                <a:lnTo>
                  <a:pt x="44841" y="49206"/>
                </a:lnTo>
                <a:lnTo>
                  <a:pt x="47222" y="53175"/>
                </a:lnTo>
                <a:lnTo>
                  <a:pt x="47222" y="53968"/>
                </a:lnTo>
                <a:lnTo>
                  <a:pt x="47222" y="54762"/>
                </a:lnTo>
                <a:lnTo>
                  <a:pt x="48810" y="57143"/>
                </a:lnTo>
                <a:lnTo>
                  <a:pt x="48810" y="57937"/>
                </a:lnTo>
                <a:lnTo>
                  <a:pt x="48810" y="58730"/>
                </a:lnTo>
                <a:lnTo>
                  <a:pt x="51190" y="63492"/>
                </a:lnTo>
                <a:lnTo>
                  <a:pt x="51190" y="64286"/>
                </a:lnTo>
                <a:lnTo>
                  <a:pt x="51190" y="65079"/>
                </a:lnTo>
                <a:lnTo>
                  <a:pt x="52778" y="67460"/>
                </a:lnTo>
                <a:lnTo>
                  <a:pt x="52778" y="68254"/>
                </a:lnTo>
                <a:lnTo>
                  <a:pt x="52778" y="69048"/>
                </a:lnTo>
                <a:lnTo>
                  <a:pt x="53175" y="69444"/>
                </a:lnTo>
                <a:lnTo>
                  <a:pt x="53968" y="69444"/>
                </a:lnTo>
                <a:lnTo>
                  <a:pt x="55159" y="68254"/>
                </a:lnTo>
                <a:lnTo>
                  <a:pt x="55159" y="67460"/>
                </a:lnTo>
                <a:lnTo>
                  <a:pt x="55159" y="66667"/>
                </a:lnTo>
                <a:lnTo>
                  <a:pt x="55556" y="66270"/>
                </a:lnTo>
                <a:lnTo>
                  <a:pt x="55952" y="65873"/>
                </a:lnTo>
                <a:lnTo>
                  <a:pt x="56349" y="63889"/>
                </a:lnTo>
                <a:lnTo>
                  <a:pt x="56746" y="61905"/>
                </a:lnTo>
                <a:lnTo>
                  <a:pt x="57143" y="61508"/>
                </a:lnTo>
                <a:lnTo>
                  <a:pt x="57540" y="61111"/>
                </a:lnTo>
                <a:lnTo>
                  <a:pt x="57540" y="60317"/>
                </a:lnTo>
                <a:lnTo>
                  <a:pt x="57540" y="59524"/>
                </a:lnTo>
                <a:lnTo>
                  <a:pt x="57937" y="59127"/>
                </a:lnTo>
                <a:lnTo>
                  <a:pt x="58333" y="58730"/>
                </a:lnTo>
                <a:lnTo>
                  <a:pt x="58333" y="57937"/>
                </a:lnTo>
                <a:lnTo>
                  <a:pt x="58333" y="57143"/>
                </a:lnTo>
                <a:lnTo>
                  <a:pt x="58730" y="56746"/>
                </a:lnTo>
                <a:lnTo>
                  <a:pt x="59127" y="56349"/>
                </a:lnTo>
                <a:lnTo>
                  <a:pt x="59127" y="55556"/>
                </a:lnTo>
                <a:lnTo>
                  <a:pt x="59127" y="54762"/>
                </a:lnTo>
                <a:lnTo>
                  <a:pt x="60714" y="52381"/>
                </a:lnTo>
                <a:lnTo>
                  <a:pt x="60714" y="51587"/>
                </a:lnTo>
                <a:lnTo>
                  <a:pt x="60714" y="50794"/>
                </a:lnTo>
                <a:lnTo>
                  <a:pt x="62302" y="47619"/>
                </a:lnTo>
                <a:lnTo>
                  <a:pt x="62302" y="45238"/>
                </a:lnTo>
                <a:lnTo>
                  <a:pt x="61905" y="44841"/>
                </a:lnTo>
                <a:lnTo>
                  <a:pt x="44444" y="44841"/>
                </a:lnTo>
                <a:close/>
                <a:moveTo>
                  <a:pt x="65079" y="44841"/>
                </a:moveTo>
                <a:lnTo>
                  <a:pt x="63889" y="46032"/>
                </a:lnTo>
                <a:lnTo>
                  <a:pt x="63889" y="46825"/>
                </a:lnTo>
                <a:lnTo>
                  <a:pt x="63889" y="47619"/>
                </a:lnTo>
                <a:lnTo>
                  <a:pt x="61508" y="52381"/>
                </a:lnTo>
                <a:lnTo>
                  <a:pt x="60714" y="56349"/>
                </a:lnTo>
                <a:lnTo>
                  <a:pt x="59127" y="58730"/>
                </a:lnTo>
                <a:lnTo>
                  <a:pt x="59127" y="59524"/>
                </a:lnTo>
                <a:lnTo>
                  <a:pt x="59127" y="60317"/>
                </a:lnTo>
                <a:lnTo>
                  <a:pt x="58730" y="60714"/>
                </a:lnTo>
                <a:lnTo>
                  <a:pt x="58333" y="61111"/>
                </a:lnTo>
                <a:lnTo>
                  <a:pt x="57540" y="65079"/>
                </a:lnTo>
                <a:lnTo>
                  <a:pt x="55952" y="67460"/>
                </a:lnTo>
                <a:lnTo>
                  <a:pt x="57937" y="67857"/>
                </a:lnTo>
                <a:lnTo>
                  <a:pt x="58333" y="67460"/>
                </a:lnTo>
                <a:lnTo>
                  <a:pt x="58333" y="66667"/>
                </a:lnTo>
                <a:lnTo>
                  <a:pt x="61905" y="63095"/>
                </a:lnTo>
                <a:lnTo>
                  <a:pt x="62302" y="62698"/>
                </a:lnTo>
                <a:lnTo>
                  <a:pt x="62302" y="61905"/>
                </a:lnTo>
                <a:lnTo>
                  <a:pt x="67063" y="57143"/>
                </a:lnTo>
                <a:lnTo>
                  <a:pt x="67063" y="56349"/>
                </a:lnTo>
                <a:lnTo>
                  <a:pt x="75794" y="46825"/>
                </a:lnTo>
                <a:lnTo>
                  <a:pt x="75397" y="44841"/>
                </a:lnTo>
                <a:lnTo>
                  <a:pt x="65079" y="44841"/>
                </a:lnTo>
                <a:close/>
              </a:path>
            </a:pathLst>
          </a:custGeom>
          <a:solidFill>
            <a:srgbClr val="FFFFFF"/>
          </a:solidFill>
          <a:ln>
            <a:noFill/>
          </a:ln>
        </p:spPr>
        <p:txBody>
          <a:bodyPr/>
          <a:p/>
        </p:txBody>
      </p:sp>
      <p:sp>
        <p:nvSpPr>
          <p:cNvPr id="44" name="Text 41"/>
          <p:cNvSpPr/>
          <p:nvPr/>
        </p:nvSpPr>
        <p:spPr>
          <a:xfrm>
            <a:off x="7635240" y="4261104"/>
            <a:ext cx="3831336" cy="310896"/>
          </a:xfrm>
          <a:prstGeom prst="rect">
            <a:avLst/>
          </a:prstGeom>
          <a:noFill/>
          <a:ln/>
        </p:spPr>
        <p:txBody>
          <a:bodyPr wrap="square" lIns="0" tIns="0" rIns="0" bIns="0" rtlCol="0" anchor="ctr"/>
          <a:lstStyle/>
          <a:p>
            <a:pPr indent="0" marL="0">
              <a:buNone/>
            </a:pPr>
            <a:r>
              <a:rPr lang="en-US" sz="1700" b="1" dirty="0">
                <a:solidFill>
                  <a:srgbClr val="6D28D9"/>
                </a:solidFill>
                <a:latin typeface="Aptos" pitchFamily="34" charset="0"/>
                <a:ea typeface="Segoe UI" pitchFamily="34" charset="-122"/>
                <a:cs typeface="Segoe UI" pitchFamily="34" charset="-120"/>
              </a:rPr>
              <a:t>C3 · Fortes dépenses</a:t>
            </a:r>
            <a:endParaRPr lang="en-US" sz="1700" dirty="0"/>
          </a:p>
        </p:txBody>
      </p:sp>
      <p:sp>
        <p:nvSpPr>
          <p:cNvPr id="45" name="Text 42"/>
          <p:cNvSpPr/>
          <p:nvPr/>
        </p:nvSpPr>
        <p:spPr>
          <a:xfrm>
            <a:off x="7635240" y="4718304"/>
            <a:ext cx="3840480" cy="365760"/>
          </a:xfrm>
          <a:prstGeom prst="rect">
            <a:avLst/>
          </a:prstGeom>
          <a:noFill/>
          <a:ln/>
        </p:spPr>
        <p:txBody>
          <a:bodyPr wrap="square" lIns="0" tIns="0" rIns="0" bIns="0" rtlCol="0" anchor="ctr"/>
          <a:lstStyle/>
          <a:p>
            <a:pPr indent="0" marL="0">
              <a:buNone/>
            </a:pPr>
            <a:r>
              <a:rPr lang="en-US" sz="1800" b="1" dirty="0">
                <a:solidFill>
                  <a:srgbClr val="17324D"/>
                </a:solidFill>
                <a:latin typeface="Aptos" pitchFamily="34" charset="0"/>
                <a:ea typeface="Segoe UI" pitchFamily="34" charset="-122"/>
                <a:cs typeface="Segoe UI" pitchFamily="34" charset="-120"/>
              </a:rPr>
              <a:t>Tester une sélection de produits</a:t>
            </a:r>
            <a:endParaRPr lang="en-US" sz="1800" dirty="0"/>
          </a:p>
        </p:txBody>
      </p:sp>
      <p:sp>
        <p:nvSpPr>
          <p:cNvPr id="46" name="Text 43"/>
          <p:cNvSpPr/>
          <p:nvPr/>
        </p:nvSpPr>
        <p:spPr>
          <a:xfrm>
            <a:off x="7635240" y="5202936"/>
            <a:ext cx="3831336" cy="795528"/>
          </a:xfrm>
          <a:prstGeom prst="rect">
            <a:avLst/>
          </a:prstGeom>
          <a:noFill/>
          <a:ln/>
        </p:spPr>
        <p:txBody>
          <a:bodyPr wrap="square" lIns="0" tIns="0" rIns="0" bIns="0" rtlCol="0" anchor="t"/>
          <a:lstStyle/>
          <a:p>
            <a:pPr indent="0" marL="0">
              <a:buNone/>
            </a:pPr>
            <a:r>
              <a:rPr lang="en-US" sz="1300" dirty="0">
                <a:solidFill>
                  <a:srgbClr val="334155"/>
                </a:solidFill>
                <a:latin typeface="Aptos" pitchFamily="34" charset="0"/>
                <a:ea typeface="Segoe UI" pitchFamily="34" charset="-122"/>
                <a:cs typeface="Segoe UI" pitchFamily="34" charset="-120"/>
              </a:rPr>
              <a:t>Tester une campagne de sélection de produits</a:t>
            </a:r>
            <a:endParaRPr lang="en-US" sz="1420" dirty="0"/>
          </a:p>
          <a:p>
            <a:pPr indent="0" marL="0">
              <a:buNone/>
            </a:pPr>
            <a:r>
              <a:rPr lang="en-US" sz="1300" dirty="0">
                <a:solidFill>
                  <a:srgbClr val="334155"/>
                </a:solidFill>
                <a:latin typeface="Aptos" pitchFamily="34" charset="0"/>
                <a:ea typeface="Segoe UI" pitchFamily="34" charset="-122"/>
                <a:cs typeface="Segoe UI" pitchFamily="34" charset="-120"/>
              </a:rPr>
              <a:t>Comparer à un groupe témoin</a:t>
            </a:r>
          </a:p>
          <a:p>
            <a:pPr indent="0" marL="0">
              <a:buNone/>
            </a:pPr>
            <a:r>
              <a:rPr lang="en-US" sz="1300" dirty="0">
                <a:solidFill>
                  <a:srgbClr val="334155"/>
                </a:solidFill>
                <a:latin typeface="Aptos" pitchFamily="34" charset="0"/>
                <a:ea typeface="Segoe UI" pitchFamily="34" charset="-122"/>
                <a:cs typeface="Segoe UI" pitchFamily="34" charset="-120"/>
              </a:rPr>
              <a:t>Mesurer achats additionnels et marge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324D"/>
        </a:solidFill>
      </p:bgPr>
    </p:bg>
    <p:spTree>
      <p:nvGrpSpPr>
        <p:cNvPr id="1" name=""/>
        <p:cNvGrpSpPr/>
        <p:nvPr/>
      </p:nvGrpSpPr>
      <p:grpSpPr>
        <a:xfrm>
          <a:off x="0" y="0"/>
          <a:ext cx="0" cy="0"/>
          <a:chOff x="0" y="0"/>
          <a:chExt cx="0" cy="0"/>
        </a:xfrm>
      </p:grpSpPr>
      <p:sp>
        <p:nvSpPr>
          <p:cNvPr id="2" name="Text 0"/>
          <p:cNvSpPr/>
          <p:nvPr/>
        </p:nvSpPr>
        <p:spPr>
          <a:xfrm>
            <a:off x="457200" y="329184"/>
            <a:ext cx="11247120" cy="685800"/>
          </a:xfrm>
          <a:prstGeom prst="rect">
            <a:avLst/>
          </a:prstGeom>
          <a:noFill/>
          <a:ln/>
        </p:spPr>
        <p:txBody>
          <a:bodyPr wrap="square" lIns="0" tIns="0" rIns="0" bIns="0" rtlCol="0" anchor="ctr"/>
          <a:lstStyle/>
          <a:p>
            <a:pPr indent="0" marL="0">
              <a:buNone/>
            </a:pPr>
            <a:r>
              <a:rPr lang="en-US" sz="4200" b="1" dirty="0">
                <a:solidFill>
                  <a:srgbClr val="93C5FD"/>
                </a:solidFill>
                <a:latin typeface="Aptos" pitchFamily="34" charset="0"/>
                <a:ea typeface="Segoe UI" pitchFamily="34" charset="-122"/>
                <a:cs typeface="Segoe UI" pitchFamily="34" charset="-120"/>
              </a:rPr>
              <a:t>16. Conclusion &amp; limites</a:t>
            </a:r>
            <a:endParaRPr lang="en-US" sz="4200" dirty="0"/>
          </a:p>
        </p:txBody>
      </p:sp>
      <p:sp>
        <p:nvSpPr>
          <p:cNvPr id="3" name="Text 1"/>
          <p:cNvSpPr/>
          <p:nvPr/>
        </p:nvSpPr>
        <p:spPr>
          <a:xfrm>
            <a:off x="475488" y="1106424"/>
            <a:ext cx="11201400" cy="365760"/>
          </a:xfrm>
          <a:prstGeom prst="rect">
            <a:avLst/>
          </a:prstGeom>
          <a:noFill/>
          <a:ln/>
        </p:spPr>
        <p:txBody>
          <a:bodyPr wrap="square" lIns="0" tIns="0" rIns="0" bIns="0" rtlCol="0" anchor="ctr"/>
          <a:lstStyle/>
          <a:p>
            <a:pPr indent="0" marL="0">
              <a:buNone/>
            </a:pPr>
            <a:r>
              <a:rPr lang="en-US" sz="1600" dirty="0">
                <a:solidFill>
                  <a:srgbClr val="E2E8F0"/>
                </a:solidFill>
                <a:latin typeface="Aptos" pitchFamily="34" charset="0"/>
                <a:ea typeface="Segoe UI" pitchFamily="34" charset="-122"/>
                <a:cs typeface="Segoe UI" pitchFamily="34" charset="-120"/>
              </a:rPr>
              <a:t>Les profils observés suggèrent des hypothèses ; leur efficacité commerciale reste à démontrer.</a:t>
            </a:r>
            <a:endParaRPr lang="en-US" sz="1700" dirty="0"/>
          </a:p>
        </p:txBody>
      </p:sp>
      <p:sp>
        <p:nvSpPr>
          <p:cNvPr id="4" name="Shape 2"/>
          <p:cNvSpPr/>
          <p:nvPr/>
        </p:nvSpPr>
        <p:spPr>
          <a:xfrm>
            <a:off x="685800" y="1847088"/>
            <a:ext cx="1234440" cy="1234440"/>
          </a:xfrm>
          <a:prstGeom prst="ellipse">
            <a:avLst/>
          </a:prstGeom>
          <a:solidFill>
            <a:srgbClr val="1D4ED8"/>
          </a:solidFill>
          <a:ln w="12700">
            <a:solidFill>
              <a:srgbClr val="1D4ED8">
                <a:alpha val="0"/>
              </a:srgbClr>
            </a:solidFill>
            <a:prstDash val="solid"/>
          </a:ln>
        </p:spPr>
        <p:txBody>
          <a:bodyPr/>
          <a:p/>
        </p:txBody>
      </p:sp>
      <p:sp>
        <p:nvSpPr>
          <p:cNvPr id="5" name="VECTOR_database_68"/>
          <p:cNvSpPr/>
          <p:nvPr/>
        </p:nvSpPr>
        <p:spPr>
          <a:xfrm>
            <a:off x="685800" y="1847088"/>
            <a:ext cx="1234440" cy="1234440"/>
          </a:xfrm>
          <a:custGeom>
            <a:avLst/>
            <a:gdLst/>
            <a:ahLst/>
            <a:cxnLst/>
            <a:rect l="0" t="0" r="r" b="b"/>
            <a:pathLst>
              <a:path w="100000" h="100000" fill="norm" stroke="false" extrusionOk="false">
                <a:moveTo>
                  <a:pt x="41154" y="22308"/>
                </a:moveTo>
                <a:lnTo>
                  <a:pt x="41538" y="21923"/>
                </a:lnTo>
                <a:lnTo>
                  <a:pt x="53846" y="21923"/>
                </a:lnTo>
                <a:lnTo>
                  <a:pt x="54231" y="22308"/>
                </a:lnTo>
                <a:lnTo>
                  <a:pt x="54615" y="22692"/>
                </a:lnTo>
                <a:lnTo>
                  <a:pt x="58462" y="22692"/>
                </a:lnTo>
                <a:lnTo>
                  <a:pt x="58846" y="23077"/>
                </a:lnTo>
                <a:lnTo>
                  <a:pt x="59231" y="23462"/>
                </a:lnTo>
                <a:lnTo>
                  <a:pt x="60000" y="23462"/>
                </a:lnTo>
                <a:lnTo>
                  <a:pt x="60769" y="23462"/>
                </a:lnTo>
                <a:lnTo>
                  <a:pt x="62308" y="24231"/>
                </a:lnTo>
                <a:lnTo>
                  <a:pt x="65769" y="27692"/>
                </a:lnTo>
                <a:lnTo>
                  <a:pt x="65769" y="63077"/>
                </a:lnTo>
                <a:lnTo>
                  <a:pt x="63077" y="65769"/>
                </a:lnTo>
                <a:lnTo>
                  <a:pt x="60000" y="67308"/>
                </a:lnTo>
                <a:lnTo>
                  <a:pt x="52308" y="68846"/>
                </a:lnTo>
                <a:lnTo>
                  <a:pt x="40769" y="68846"/>
                </a:lnTo>
                <a:lnTo>
                  <a:pt x="40385" y="68462"/>
                </a:lnTo>
                <a:lnTo>
                  <a:pt x="40000" y="68077"/>
                </a:lnTo>
                <a:lnTo>
                  <a:pt x="36923" y="68077"/>
                </a:lnTo>
                <a:lnTo>
                  <a:pt x="36538" y="67692"/>
                </a:lnTo>
                <a:lnTo>
                  <a:pt x="36154" y="67308"/>
                </a:lnTo>
                <a:lnTo>
                  <a:pt x="35385" y="67308"/>
                </a:lnTo>
                <a:lnTo>
                  <a:pt x="34615" y="67308"/>
                </a:lnTo>
                <a:lnTo>
                  <a:pt x="31538" y="65769"/>
                </a:lnTo>
                <a:lnTo>
                  <a:pt x="28846" y="63077"/>
                </a:lnTo>
                <a:lnTo>
                  <a:pt x="28846" y="55385"/>
                </a:lnTo>
                <a:lnTo>
                  <a:pt x="29231" y="55000"/>
                </a:lnTo>
                <a:lnTo>
                  <a:pt x="29615" y="54615"/>
                </a:lnTo>
                <a:lnTo>
                  <a:pt x="28846" y="53077"/>
                </a:lnTo>
                <a:lnTo>
                  <a:pt x="28846" y="46923"/>
                </a:lnTo>
                <a:lnTo>
                  <a:pt x="29231" y="46538"/>
                </a:lnTo>
                <a:lnTo>
                  <a:pt x="29615" y="46154"/>
                </a:lnTo>
                <a:lnTo>
                  <a:pt x="29615" y="43846"/>
                </a:lnTo>
                <a:lnTo>
                  <a:pt x="29231" y="43462"/>
                </a:lnTo>
                <a:lnTo>
                  <a:pt x="28846" y="43077"/>
                </a:lnTo>
                <a:lnTo>
                  <a:pt x="28846" y="28462"/>
                </a:lnTo>
                <a:lnTo>
                  <a:pt x="31538" y="25000"/>
                </a:lnTo>
                <a:lnTo>
                  <a:pt x="34615" y="23462"/>
                </a:lnTo>
                <a:lnTo>
                  <a:pt x="35385" y="23462"/>
                </a:lnTo>
                <a:lnTo>
                  <a:pt x="36154" y="23462"/>
                </a:lnTo>
                <a:lnTo>
                  <a:pt x="36538" y="23077"/>
                </a:lnTo>
                <a:lnTo>
                  <a:pt x="36923" y="22692"/>
                </a:lnTo>
                <a:lnTo>
                  <a:pt x="40769" y="22692"/>
                </a:lnTo>
                <a:lnTo>
                  <a:pt x="41154" y="22308"/>
                </a:lnTo>
                <a:close/>
                <a:moveTo>
                  <a:pt x="40769" y="24231"/>
                </a:moveTo>
                <a:lnTo>
                  <a:pt x="40385" y="24615"/>
                </a:lnTo>
                <a:lnTo>
                  <a:pt x="40000" y="25000"/>
                </a:lnTo>
                <a:lnTo>
                  <a:pt x="37692" y="25000"/>
                </a:lnTo>
                <a:lnTo>
                  <a:pt x="37308" y="25385"/>
                </a:lnTo>
                <a:lnTo>
                  <a:pt x="36923" y="25769"/>
                </a:lnTo>
                <a:lnTo>
                  <a:pt x="36154" y="25769"/>
                </a:lnTo>
                <a:lnTo>
                  <a:pt x="35385" y="25769"/>
                </a:lnTo>
                <a:lnTo>
                  <a:pt x="33846" y="26538"/>
                </a:lnTo>
                <a:lnTo>
                  <a:pt x="31154" y="29231"/>
                </a:lnTo>
                <a:lnTo>
                  <a:pt x="31154" y="30000"/>
                </a:lnTo>
                <a:lnTo>
                  <a:pt x="31154" y="30769"/>
                </a:lnTo>
                <a:lnTo>
                  <a:pt x="33846" y="33462"/>
                </a:lnTo>
                <a:lnTo>
                  <a:pt x="35385" y="34231"/>
                </a:lnTo>
                <a:lnTo>
                  <a:pt x="36154" y="34231"/>
                </a:lnTo>
                <a:lnTo>
                  <a:pt x="36923" y="34231"/>
                </a:lnTo>
                <a:lnTo>
                  <a:pt x="37308" y="34615"/>
                </a:lnTo>
                <a:lnTo>
                  <a:pt x="37692" y="35000"/>
                </a:lnTo>
                <a:lnTo>
                  <a:pt x="40000" y="35000"/>
                </a:lnTo>
                <a:lnTo>
                  <a:pt x="40385" y="35385"/>
                </a:lnTo>
                <a:lnTo>
                  <a:pt x="40769" y="35769"/>
                </a:lnTo>
                <a:lnTo>
                  <a:pt x="53077" y="35769"/>
                </a:lnTo>
                <a:lnTo>
                  <a:pt x="53462" y="35385"/>
                </a:lnTo>
                <a:lnTo>
                  <a:pt x="56923" y="35000"/>
                </a:lnTo>
                <a:lnTo>
                  <a:pt x="57308" y="34615"/>
                </a:lnTo>
                <a:lnTo>
                  <a:pt x="57692" y="34231"/>
                </a:lnTo>
                <a:lnTo>
                  <a:pt x="58462" y="34231"/>
                </a:lnTo>
                <a:lnTo>
                  <a:pt x="59231" y="34231"/>
                </a:lnTo>
                <a:lnTo>
                  <a:pt x="62308" y="32692"/>
                </a:lnTo>
                <a:lnTo>
                  <a:pt x="63462" y="31538"/>
                </a:lnTo>
                <a:lnTo>
                  <a:pt x="63462" y="28462"/>
                </a:lnTo>
                <a:lnTo>
                  <a:pt x="62308" y="27308"/>
                </a:lnTo>
                <a:lnTo>
                  <a:pt x="59231" y="25769"/>
                </a:lnTo>
                <a:lnTo>
                  <a:pt x="58462" y="25769"/>
                </a:lnTo>
                <a:lnTo>
                  <a:pt x="57692" y="25769"/>
                </a:lnTo>
                <a:lnTo>
                  <a:pt x="57308" y="25385"/>
                </a:lnTo>
                <a:lnTo>
                  <a:pt x="56923" y="25000"/>
                </a:lnTo>
                <a:lnTo>
                  <a:pt x="54615" y="25000"/>
                </a:lnTo>
                <a:lnTo>
                  <a:pt x="54231" y="24615"/>
                </a:lnTo>
                <a:lnTo>
                  <a:pt x="53846" y="24231"/>
                </a:lnTo>
                <a:lnTo>
                  <a:pt x="40769" y="24231"/>
                </a:lnTo>
                <a:close/>
                <a:moveTo>
                  <a:pt x="31538" y="35000"/>
                </a:moveTo>
                <a:lnTo>
                  <a:pt x="31154" y="35385"/>
                </a:lnTo>
                <a:lnTo>
                  <a:pt x="31154" y="41538"/>
                </a:lnTo>
                <a:lnTo>
                  <a:pt x="34615" y="44231"/>
                </a:lnTo>
                <a:lnTo>
                  <a:pt x="35385" y="44231"/>
                </a:lnTo>
                <a:lnTo>
                  <a:pt x="36154" y="44231"/>
                </a:lnTo>
                <a:lnTo>
                  <a:pt x="36538" y="44615"/>
                </a:lnTo>
                <a:lnTo>
                  <a:pt x="36923" y="45000"/>
                </a:lnTo>
                <a:lnTo>
                  <a:pt x="40000" y="45000"/>
                </a:lnTo>
                <a:lnTo>
                  <a:pt x="40385" y="45385"/>
                </a:lnTo>
                <a:lnTo>
                  <a:pt x="40769" y="45769"/>
                </a:lnTo>
                <a:lnTo>
                  <a:pt x="53846" y="45769"/>
                </a:lnTo>
                <a:lnTo>
                  <a:pt x="54231" y="45385"/>
                </a:lnTo>
                <a:lnTo>
                  <a:pt x="54615" y="45000"/>
                </a:lnTo>
                <a:lnTo>
                  <a:pt x="56923" y="45000"/>
                </a:lnTo>
                <a:lnTo>
                  <a:pt x="57308" y="44615"/>
                </a:lnTo>
                <a:lnTo>
                  <a:pt x="57692" y="44231"/>
                </a:lnTo>
                <a:lnTo>
                  <a:pt x="58462" y="44231"/>
                </a:lnTo>
                <a:lnTo>
                  <a:pt x="59231" y="44231"/>
                </a:lnTo>
                <a:lnTo>
                  <a:pt x="62308" y="42692"/>
                </a:lnTo>
                <a:lnTo>
                  <a:pt x="63462" y="41538"/>
                </a:lnTo>
                <a:lnTo>
                  <a:pt x="63462" y="40769"/>
                </a:lnTo>
                <a:lnTo>
                  <a:pt x="63462" y="40000"/>
                </a:lnTo>
                <a:lnTo>
                  <a:pt x="63462" y="35385"/>
                </a:lnTo>
                <a:lnTo>
                  <a:pt x="63077" y="35000"/>
                </a:lnTo>
                <a:lnTo>
                  <a:pt x="61538" y="35769"/>
                </a:lnTo>
                <a:lnTo>
                  <a:pt x="60769" y="35769"/>
                </a:lnTo>
                <a:lnTo>
                  <a:pt x="60000" y="35769"/>
                </a:lnTo>
                <a:lnTo>
                  <a:pt x="59615" y="36154"/>
                </a:lnTo>
                <a:lnTo>
                  <a:pt x="59231" y="36538"/>
                </a:lnTo>
                <a:lnTo>
                  <a:pt x="58462" y="36538"/>
                </a:lnTo>
                <a:lnTo>
                  <a:pt x="57692" y="36538"/>
                </a:lnTo>
                <a:lnTo>
                  <a:pt x="57308" y="36923"/>
                </a:lnTo>
                <a:lnTo>
                  <a:pt x="56923" y="37308"/>
                </a:lnTo>
                <a:lnTo>
                  <a:pt x="56154" y="37308"/>
                </a:lnTo>
                <a:lnTo>
                  <a:pt x="55385" y="37308"/>
                </a:lnTo>
                <a:lnTo>
                  <a:pt x="55000" y="37692"/>
                </a:lnTo>
                <a:lnTo>
                  <a:pt x="54615" y="38077"/>
                </a:lnTo>
                <a:lnTo>
                  <a:pt x="49231" y="38077"/>
                </a:lnTo>
                <a:lnTo>
                  <a:pt x="47308" y="39231"/>
                </a:lnTo>
                <a:lnTo>
                  <a:pt x="46923" y="41154"/>
                </a:lnTo>
                <a:lnTo>
                  <a:pt x="46538" y="39231"/>
                </a:lnTo>
                <a:lnTo>
                  <a:pt x="45385" y="38077"/>
                </a:lnTo>
                <a:lnTo>
                  <a:pt x="40000" y="38077"/>
                </a:lnTo>
                <a:lnTo>
                  <a:pt x="39615" y="37692"/>
                </a:lnTo>
                <a:lnTo>
                  <a:pt x="39231" y="37308"/>
                </a:lnTo>
                <a:lnTo>
                  <a:pt x="36923" y="37308"/>
                </a:lnTo>
                <a:lnTo>
                  <a:pt x="36538" y="36923"/>
                </a:lnTo>
                <a:lnTo>
                  <a:pt x="36154" y="36538"/>
                </a:lnTo>
                <a:lnTo>
                  <a:pt x="35385" y="36538"/>
                </a:lnTo>
                <a:lnTo>
                  <a:pt x="34615" y="36538"/>
                </a:lnTo>
                <a:lnTo>
                  <a:pt x="31538" y="35000"/>
                </a:lnTo>
                <a:close/>
                <a:moveTo>
                  <a:pt x="32308" y="45000"/>
                </a:moveTo>
                <a:lnTo>
                  <a:pt x="31154" y="46154"/>
                </a:lnTo>
                <a:lnTo>
                  <a:pt x="31154" y="51538"/>
                </a:lnTo>
                <a:lnTo>
                  <a:pt x="32308" y="52692"/>
                </a:lnTo>
                <a:lnTo>
                  <a:pt x="35385" y="54231"/>
                </a:lnTo>
                <a:lnTo>
                  <a:pt x="36154" y="54231"/>
                </a:lnTo>
                <a:lnTo>
                  <a:pt x="36923" y="54231"/>
                </a:lnTo>
                <a:lnTo>
                  <a:pt x="40000" y="55769"/>
                </a:lnTo>
                <a:lnTo>
                  <a:pt x="54615" y="55769"/>
                </a:lnTo>
                <a:lnTo>
                  <a:pt x="55000" y="55385"/>
                </a:lnTo>
                <a:lnTo>
                  <a:pt x="55385" y="55000"/>
                </a:lnTo>
                <a:lnTo>
                  <a:pt x="58462" y="55000"/>
                </a:lnTo>
                <a:lnTo>
                  <a:pt x="62308" y="52692"/>
                </a:lnTo>
                <a:lnTo>
                  <a:pt x="63077" y="52692"/>
                </a:lnTo>
                <a:lnTo>
                  <a:pt x="63462" y="52308"/>
                </a:lnTo>
                <a:lnTo>
                  <a:pt x="63462" y="45385"/>
                </a:lnTo>
                <a:lnTo>
                  <a:pt x="63077" y="45000"/>
                </a:lnTo>
                <a:lnTo>
                  <a:pt x="60000" y="46538"/>
                </a:lnTo>
                <a:lnTo>
                  <a:pt x="56154" y="47308"/>
                </a:lnTo>
                <a:lnTo>
                  <a:pt x="55769" y="47692"/>
                </a:lnTo>
                <a:lnTo>
                  <a:pt x="55385" y="48077"/>
                </a:lnTo>
                <a:lnTo>
                  <a:pt x="39231" y="48077"/>
                </a:lnTo>
                <a:lnTo>
                  <a:pt x="38846" y="47692"/>
                </a:lnTo>
                <a:lnTo>
                  <a:pt x="38462" y="47308"/>
                </a:lnTo>
                <a:lnTo>
                  <a:pt x="37692" y="47308"/>
                </a:lnTo>
                <a:lnTo>
                  <a:pt x="36923" y="47308"/>
                </a:lnTo>
                <a:lnTo>
                  <a:pt x="32308" y="45000"/>
                </a:lnTo>
                <a:close/>
                <a:moveTo>
                  <a:pt x="62308" y="55000"/>
                </a:moveTo>
                <a:lnTo>
                  <a:pt x="60769" y="56538"/>
                </a:lnTo>
                <a:lnTo>
                  <a:pt x="60000" y="56538"/>
                </a:lnTo>
                <a:lnTo>
                  <a:pt x="59231" y="56538"/>
                </a:lnTo>
                <a:lnTo>
                  <a:pt x="58846" y="56923"/>
                </a:lnTo>
                <a:lnTo>
                  <a:pt x="58462" y="57308"/>
                </a:lnTo>
                <a:lnTo>
                  <a:pt x="56154" y="57308"/>
                </a:lnTo>
                <a:lnTo>
                  <a:pt x="53077" y="58846"/>
                </a:lnTo>
                <a:lnTo>
                  <a:pt x="52692" y="58462"/>
                </a:lnTo>
                <a:lnTo>
                  <a:pt x="52308" y="58077"/>
                </a:lnTo>
                <a:lnTo>
                  <a:pt x="50000" y="58077"/>
                </a:lnTo>
                <a:lnTo>
                  <a:pt x="48462" y="58846"/>
                </a:lnTo>
                <a:lnTo>
                  <a:pt x="47692" y="60385"/>
                </a:lnTo>
                <a:lnTo>
                  <a:pt x="45385" y="58077"/>
                </a:lnTo>
                <a:lnTo>
                  <a:pt x="40000" y="58077"/>
                </a:lnTo>
                <a:lnTo>
                  <a:pt x="39615" y="57692"/>
                </a:lnTo>
                <a:lnTo>
                  <a:pt x="39231" y="57308"/>
                </a:lnTo>
                <a:lnTo>
                  <a:pt x="36154" y="57308"/>
                </a:lnTo>
                <a:lnTo>
                  <a:pt x="35769" y="56923"/>
                </a:lnTo>
                <a:lnTo>
                  <a:pt x="35385" y="56538"/>
                </a:lnTo>
                <a:lnTo>
                  <a:pt x="31538" y="55769"/>
                </a:lnTo>
                <a:lnTo>
                  <a:pt x="31154" y="56154"/>
                </a:lnTo>
                <a:lnTo>
                  <a:pt x="31154" y="61538"/>
                </a:lnTo>
                <a:lnTo>
                  <a:pt x="31538" y="61923"/>
                </a:lnTo>
                <a:lnTo>
                  <a:pt x="33846" y="64231"/>
                </a:lnTo>
                <a:lnTo>
                  <a:pt x="35385" y="65000"/>
                </a:lnTo>
                <a:lnTo>
                  <a:pt x="37692" y="65000"/>
                </a:lnTo>
                <a:lnTo>
                  <a:pt x="38077" y="65385"/>
                </a:lnTo>
                <a:lnTo>
                  <a:pt x="38462" y="65769"/>
                </a:lnTo>
                <a:lnTo>
                  <a:pt x="43077" y="65769"/>
                </a:lnTo>
                <a:lnTo>
                  <a:pt x="43462" y="66154"/>
                </a:lnTo>
                <a:lnTo>
                  <a:pt x="43846" y="66538"/>
                </a:lnTo>
                <a:lnTo>
                  <a:pt x="51538" y="66538"/>
                </a:lnTo>
                <a:lnTo>
                  <a:pt x="51923" y="66154"/>
                </a:lnTo>
                <a:lnTo>
                  <a:pt x="52308" y="65769"/>
                </a:lnTo>
                <a:lnTo>
                  <a:pt x="56923" y="65769"/>
                </a:lnTo>
                <a:lnTo>
                  <a:pt x="57308" y="65385"/>
                </a:lnTo>
                <a:lnTo>
                  <a:pt x="57692" y="65000"/>
                </a:lnTo>
                <a:lnTo>
                  <a:pt x="58462" y="65000"/>
                </a:lnTo>
                <a:lnTo>
                  <a:pt x="59231" y="65000"/>
                </a:lnTo>
                <a:lnTo>
                  <a:pt x="62308" y="63462"/>
                </a:lnTo>
                <a:lnTo>
                  <a:pt x="63462" y="62308"/>
                </a:lnTo>
                <a:lnTo>
                  <a:pt x="63462" y="55385"/>
                </a:lnTo>
                <a:lnTo>
                  <a:pt x="63077" y="55000"/>
                </a:lnTo>
                <a:lnTo>
                  <a:pt x="62308" y="55000"/>
                </a:lnTo>
                <a:close/>
              </a:path>
            </a:pathLst>
          </a:custGeom>
          <a:solidFill>
            <a:srgbClr val="FFFFFF"/>
          </a:solidFill>
          <a:ln>
            <a:noFill/>
          </a:ln>
        </p:spPr>
        <p:txBody>
          <a:bodyPr/>
          <a:p/>
        </p:txBody>
      </p:sp>
      <p:sp>
        <p:nvSpPr>
          <p:cNvPr id="6" name="Shape 4"/>
          <p:cNvSpPr/>
          <p:nvPr/>
        </p:nvSpPr>
        <p:spPr>
          <a:xfrm>
            <a:off x="2139696" y="1847088"/>
            <a:ext cx="1234440" cy="1234440"/>
          </a:xfrm>
          <a:prstGeom prst="ellipse">
            <a:avLst/>
          </a:prstGeom>
          <a:solidFill>
            <a:srgbClr val="0F766E"/>
          </a:solidFill>
          <a:ln w="12700">
            <a:solidFill>
              <a:srgbClr val="0F766E">
                <a:alpha val="0"/>
              </a:srgbClr>
            </a:solidFill>
            <a:prstDash val="solid"/>
          </a:ln>
        </p:spPr>
        <p:txBody>
          <a:bodyPr/>
          <a:p/>
        </p:txBody>
      </p:sp>
      <p:sp>
        <p:nvSpPr>
          <p:cNvPr id="7" name="VECTOR_hero_family_69"/>
          <p:cNvSpPr/>
          <p:nvPr/>
        </p:nvSpPr>
        <p:spPr>
          <a:xfrm>
            <a:off x="2139696" y="1847088"/>
            <a:ext cx="1234440" cy="1234440"/>
          </a:xfrm>
          <a:custGeom>
            <a:avLst/>
            <a:gdLst/>
            <a:ahLst/>
            <a:cxnLst/>
            <a:rect l="0" t="0" r="r" b="b"/>
            <a:pathLst>
              <a:path w="100000" h="100000" fill="norm" stroke="false" extrusionOk="false">
                <a:moveTo>
                  <a:pt x="28668" y="25815"/>
                </a:moveTo>
                <a:lnTo>
                  <a:pt x="28804" y="25679"/>
                </a:lnTo>
                <a:lnTo>
                  <a:pt x="32065" y="25679"/>
                </a:lnTo>
                <a:lnTo>
                  <a:pt x="32880" y="26223"/>
                </a:lnTo>
                <a:lnTo>
                  <a:pt x="33152" y="26223"/>
                </a:lnTo>
                <a:lnTo>
                  <a:pt x="33424" y="26223"/>
                </a:lnTo>
                <a:lnTo>
                  <a:pt x="33967" y="26495"/>
                </a:lnTo>
                <a:lnTo>
                  <a:pt x="36005" y="28533"/>
                </a:lnTo>
                <a:lnTo>
                  <a:pt x="36821" y="30163"/>
                </a:lnTo>
                <a:lnTo>
                  <a:pt x="37092" y="32609"/>
                </a:lnTo>
                <a:lnTo>
                  <a:pt x="36957" y="32745"/>
                </a:lnTo>
                <a:lnTo>
                  <a:pt x="36821" y="32880"/>
                </a:lnTo>
                <a:lnTo>
                  <a:pt x="36821" y="33696"/>
                </a:lnTo>
                <a:lnTo>
                  <a:pt x="36685" y="33832"/>
                </a:lnTo>
                <a:lnTo>
                  <a:pt x="36549" y="33967"/>
                </a:lnTo>
                <a:lnTo>
                  <a:pt x="36549" y="34239"/>
                </a:lnTo>
                <a:lnTo>
                  <a:pt x="36549" y="34511"/>
                </a:lnTo>
                <a:lnTo>
                  <a:pt x="36277" y="35054"/>
                </a:lnTo>
                <a:lnTo>
                  <a:pt x="35734" y="35598"/>
                </a:lnTo>
                <a:lnTo>
                  <a:pt x="35734" y="35870"/>
                </a:lnTo>
                <a:lnTo>
                  <a:pt x="34511" y="37092"/>
                </a:lnTo>
                <a:lnTo>
                  <a:pt x="34239" y="37092"/>
                </a:lnTo>
                <a:lnTo>
                  <a:pt x="33152" y="37908"/>
                </a:lnTo>
                <a:lnTo>
                  <a:pt x="32880" y="37908"/>
                </a:lnTo>
                <a:lnTo>
                  <a:pt x="32609" y="37908"/>
                </a:lnTo>
                <a:lnTo>
                  <a:pt x="32065" y="38179"/>
                </a:lnTo>
                <a:lnTo>
                  <a:pt x="31522" y="38451"/>
                </a:lnTo>
                <a:lnTo>
                  <a:pt x="29348" y="38451"/>
                </a:lnTo>
                <a:lnTo>
                  <a:pt x="29212" y="38315"/>
                </a:lnTo>
                <a:lnTo>
                  <a:pt x="29076" y="38179"/>
                </a:lnTo>
                <a:lnTo>
                  <a:pt x="28261" y="38179"/>
                </a:lnTo>
                <a:lnTo>
                  <a:pt x="26630" y="37364"/>
                </a:lnTo>
                <a:lnTo>
                  <a:pt x="24592" y="35326"/>
                </a:lnTo>
                <a:lnTo>
                  <a:pt x="24049" y="34239"/>
                </a:lnTo>
                <a:lnTo>
                  <a:pt x="24049" y="33967"/>
                </a:lnTo>
                <a:lnTo>
                  <a:pt x="24049" y="33696"/>
                </a:lnTo>
                <a:lnTo>
                  <a:pt x="23913" y="33560"/>
                </a:lnTo>
                <a:lnTo>
                  <a:pt x="23777" y="33424"/>
                </a:lnTo>
                <a:lnTo>
                  <a:pt x="23777" y="30707"/>
                </a:lnTo>
                <a:lnTo>
                  <a:pt x="23913" y="30571"/>
                </a:lnTo>
                <a:lnTo>
                  <a:pt x="24049" y="30435"/>
                </a:lnTo>
                <a:lnTo>
                  <a:pt x="24321" y="29076"/>
                </a:lnTo>
                <a:lnTo>
                  <a:pt x="24864" y="28533"/>
                </a:lnTo>
                <a:lnTo>
                  <a:pt x="24864" y="28261"/>
                </a:lnTo>
                <a:lnTo>
                  <a:pt x="26359" y="26766"/>
                </a:lnTo>
                <a:lnTo>
                  <a:pt x="27989" y="25951"/>
                </a:lnTo>
                <a:lnTo>
                  <a:pt x="28668" y="25815"/>
                </a:lnTo>
                <a:close/>
                <a:moveTo>
                  <a:pt x="67255" y="25815"/>
                </a:moveTo>
                <a:lnTo>
                  <a:pt x="67391" y="25679"/>
                </a:lnTo>
                <a:lnTo>
                  <a:pt x="70109" y="25679"/>
                </a:lnTo>
                <a:lnTo>
                  <a:pt x="70245" y="25815"/>
                </a:lnTo>
                <a:lnTo>
                  <a:pt x="70380" y="25951"/>
                </a:lnTo>
                <a:lnTo>
                  <a:pt x="71196" y="25951"/>
                </a:lnTo>
                <a:lnTo>
                  <a:pt x="72826" y="26766"/>
                </a:lnTo>
                <a:lnTo>
                  <a:pt x="74592" y="28533"/>
                </a:lnTo>
                <a:lnTo>
                  <a:pt x="75679" y="30707"/>
                </a:lnTo>
                <a:lnTo>
                  <a:pt x="75679" y="31522"/>
                </a:lnTo>
                <a:lnTo>
                  <a:pt x="75815" y="31658"/>
                </a:lnTo>
                <a:lnTo>
                  <a:pt x="75951" y="31793"/>
                </a:lnTo>
                <a:lnTo>
                  <a:pt x="75951" y="34239"/>
                </a:lnTo>
                <a:lnTo>
                  <a:pt x="76087" y="34375"/>
                </a:lnTo>
                <a:lnTo>
                  <a:pt x="76223" y="34511"/>
                </a:lnTo>
                <a:lnTo>
                  <a:pt x="76223" y="35326"/>
                </a:lnTo>
                <a:lnTo>
                  <a:pt x="76359" y="35462"/>
                </a:lnTo>
                <a:lnTo>
                  <a:pt x="76495" y="35598"/>
                </a:lnTo>
                <a:lnTo>
                  <a:pt x="76495" y="35870"/>
                </a:lnTo>
                <a:lnTo>
                  <a:pt x="76495" y="36141"/>
                </a:lnTo>
                <a:lnTo>
                  <a:pt x="77310" y="37772"/>
                </a:lnTo>
                <a:lnTo>
                  <a:pt x="78397" y="38859"/>
                </a:lnTo>
                <a:lnTo>
                  <a:pt x="77989" y="39810"/>
                </a:lnTo>
                <a:lnTo>
                  <a:pt x="77446" y="40082"/>
                </a:lnTo>
                <a:lnTo>
                  <a:pt x="76630" y="40082"/>
                </a:lnTo>
                <a:lnTo>
                  <a:pt x="76495" y="39402"/>
                </a:lnTo>
                <a:lnTo>
                  <a:pt x="76766" y="38859"/>
                </a:lnTo>
                <a:lnTo>
                  <a:pt x="75679" y="37500"/>
                </a:lnTo>
                <a:lnTo>
                  <a:pt x="75136" y="36141"/>
                </a:lnTo>
                <a:lnTo>
                  <a:pt x="75000" y="36005"/>
                </a:lnTo>
                <a:lnTo>
                  <a:pt x="74728" y="36005"/>
                </a:lnTo>
                <a:lnTo>
                  <a:pt x="73777" y="37228"/>
                </a:lnTo>
                <a:lnTo>
                  <a:pt x="73777" y="37500"/>
                </a:lnTo>
                <a:lnTo>
                  <a:pt x="72826" y="38451"/>
                </a:lnTo>
                <a:lnTo>
                  <a:pt x="71196" y="39266"/>
                </a:lnTo>
                <a:lnTo>
                  <a:pt x="70924" y="39266"/>
                </a:lnTo>
                <a:lnTo>
                  <a:pt x="70652" y="39266"/>
                </a:lnTo>
                <a:lnTo>
                  <a:pt x="70109" y="39538"/>
                </a:lnTo>
                <a:lnTo>
                  <a:pt x="67120" y="39538"/>
                </a:lnTo>
                <a:lnTo>
                  <a:pt x="66984" y="39402"/>
                </a:lnTo>
                <a:lnTo>
                  <a:pt x="66848" y="39266"/>
                </a:lnTo>
                <a:lnTo>
                  <a:pt x="66576" y="39266"/>
                </a:lnTo>
                <a:lnTo>
                  <a:pt x="66304" y="39266"/>
                </a:lnTo>
                <a:lnTo>
                  <a:pt x="65761" y="38995"/>
                </a:lnTo>
                <a:lnTo>
                  <a:pt x="63995" y="37500"/>
                </a:lnTo>
                <a:lnTo>
                  <a:pt x="63995" y="37228"/>
                </a:lnTo>
                <a:lnTo>
                  <a:pt x="63451" y="36685"/>
                </a:lnTo>
                <a:lnTo>
                  <a:pt x="63043" y="35734"/>
                </a:lnTo>
                <a:lnTo>
                  <a:pt x="62772" y="35734"/>
                </a:lnTo>
                <a:lnTo>
                  <a:pt x="62636" y="35870"/>
                </a:lnTo>
                <a:lnTo>
                  <a:pt x="62364" y="36413"/>
                </a:lnTo>
                <a:lnTo>
                  <a:pt x="62364" y="36685"/>
                </a:lnTo>
                <a:lnTo>
                  <a:pt x="62364" y="36957"/>
                </a:lnTo>
                <a:lnTo>
                  <a:pt x="61277" y="38587"/>
                </a:lnTo>
                <a:lnTo>
                  <a:pt x="61277" y="39674"/>
                </a:lnTo>
                <a:lnTo>
                  <a:pt x="61413" y="39810"/>
                </a:lnTo>
                <a:lnTo>
                  <a:pt x="61549" y="39946"/>
                </a:lnTo>
                <a:lnTo>
                  <a:pt x="61141" y="40353"/>
                </a:lnTo>
                <a:lnTo>
                  <a:pt x="60326" y="40082"/>
                </a:lnTo>
                <a:lnTo>
                  <a:pt x="59375" y="38859"/>
                </a:lnTo>
                <a:lnTo>
                  <a:pt x="60734" y="37228"/>
                </a:lnTo>
                <a:lnTo>
                  <a:pt x="61277" y="36141"/>
                </a:lnTo>
                <a:lnTo>
                  <a:pt x="61277" y="35870"/>
                </a:lnTo>
                <a:lnTo>
                  <a:pt x="61277" y="35598"/>
                </a:lnTo>
                <a:lnTo>
                  <a:pt x="61413" y="35462"/>
                </a:lnTo>
                <a:lnTo>
                  <a:pt x="61549" y="35326"/>
                </a:lnTo>
                <a:lnTo>
                  <a:pt x="61549" y="33967"/>
                </a:lnTo>
                <a:lnTo>
                  <a:pt x="61685" y="33832"/>
                </a:lnTo>
                <a:lnTo>
                  <a:pt x="61821" y="33696"/>
                </a:lnTo>
                <a:lnTo>
                  <a:pt x="61821" y="31250"/>
                </a:lnTo>
                <a:lnTo>
                  <a:pt x="61957" y="31114"/>
                </a:lnTo>
                <a:lnTo>
                  <a:pt x="62092" y="30978"/>
                </a:lnTo>
                <a:lnTo>
                  <a:pt x="62092" y="30707"/>
                </a:lnTo>
                <a:lnTo>
                  <a:pt x="62092" y="30435"/>
                </a:lnTo>
                <a:lnTo>
                  <a:pt x="63179" y="28261"/>
                </a:lnTo>
                <a:lnTo>
                  <a:pt x="64402" y="27038"/>
                </a:lnTo>
                <a:lnTo>
                  <a:pt x="64674" y="27038"/>
                </a:lnTo>
                <a:lnTo>
                  <a:pt x="65217" y="26495"/>
                </a:lnTo>
                <a:lnTo>
                  <a:pt x="67255" y="25815"/>
                </a:lnTo>
                <a:close/>
                <a:moveTo>
                  <a:pt x="29076" y="27038"/>
                </a:moveTo>
                <a:lnTo>
                  <a:pt x="26902" y="28125"/>
                </a:lnTo>
                <a:lnTo>
                  <a:pt x="25679" y="29620"/>
                </a:lnTo>
                <a:lnTo>
                  <a:pt x="25408" y="30163"/>
                </a:lnTo>
                <a:lnTo>
                  <a:pt x="25408" y="30435"/>
                </a:lnTo>
                <a:lnTo>
                  <a:pt x="25408" y="30707"/>
                </a:lnTo>
                <a:lnTo>
                  <a:pt x="25272" y="30842"/>
                </a:lnTo>
                <a:lnTo>
                  <a:pt x="25136" y="30978"/>
                </a:lnTo>
                <a:lnTo>
                  <a:pt x="25136" y="33152"/>
                </a:lnTo>
                <a:lnTo>
                  <a:pt x="25951" y="34783"/>
                </a:lnTo>
                <a:lnTo>
                  <a:pt x="27446" y="36277"/>
                </a:lnTo>
                <a:lnTo>
                  <a:pt x="28533" y="36821"/>
                </a:lnTo>
                <a:lnTo>
                  <a:pt x="28804" y="36821"/>
                </a:lnTo>
                <a:lnTo>
                  <a:pt x="29076" y="36821"/>
                </a:lnTo>
                <a:lnTo>
                  <a:pt x="29212" y="36957"/>
                </a:lnTo>
                <a:lnTo>
                  <a:pt x="29348" y="37092"/>
                </a:lnTo>
                <a:lnTo>
                  <a:pt x="31250" y="37092"/>
                </a:lnTo>
                <a:lnTo>
                  <a:pt x="31386" y="36957"/>
                </a:lnTo>
                <a:lnTo>
                  <a:pt x="33152" y="36277"/>
                </a:lnTo>
                <a:lnTo>
                  <a:pt x="34375" y="35326"/>
                </a:lnTo>
                <a:lnTo>
                  <a:pt x="35462" y="33152"/>
                </a:lnTo>
                <a:lnTo>
                  <a:pt x="35462" y="30978"/>
                </a:lnTo>
                <a:lnTo>
                  <a:pt x="34375" y="28804"/>
                </a:lnTo>
                <a:lnTo>
                  <a:pt x="32880" y="27582"/>
                </a:lnTo>
                <a:lnTo>
                  <a:pt x="32337" y="27310"/>
                </a:lnTo>
                <a:lnTo>
                  <a:pt x="32065" y="27310"/>
                </a:lnTo>
                <a:lnTo>
                  <a:pt x="31793" y="27310"/>
                </a:lnTo>
                <a:lnTo>
                  <a:pt x="31658" y="27174"/>
                </a:lnTo>
                <a:lnTo>
                  <a:pt x="31522" y="27038"/>
                </a:lnTo>
                <a:lnTo>
                  <a:pt x="29076" y="27038"/>
                </a:lnTo>
                <a:close/>
                <a:moveTo>
                  <a:pt x="67663" y="27038"/>
                </a:moveTo>
                <a:lnTo>
                  <a:pt x="67527" y="27174"/>
                </a:lnTo>
                <a:lnTo>
                  <a:pt x="67391" y="27310"/>
                </a:lnTo>
                <a:lnTo>
                  <a:pt x="67120" y="27310"/>
                </a:lnTo>
                <a:lnTo>
                  <a:pt x="66848" y="27310"/>
                </a:lnTo>
                <a:lnTo>
                  <a:pt x="65761" y="27853"/>
                </a:lnTo>
                <a:lnTo>
                  <a:pt x="63723" y="29891"/>
                </a:lnTo>
                <a:lnTo>
                  <a:pt x="63451" y="30435"/>
                </a:lnTo>
                <a:lnTo>
                  <a:pt x="63451" y="30707"/>
                </a:lnTo>
                <a:lnTo>
                  <a:pt x="63451" y="30978"/>
                </a:lnTo>
                <a:lnTo>
                  <a:pt x="63315" y="31114"/>
                </a:lnTo>
                <a:lnTo>
                  <a:pt x="63179" y="31250"/>
                </a:lnTo>
                <a:lnTo>
                  <a:pt x="63179" y="32609"/>
                </a:lnTo>
                <a:lnTo>
                  <a:pt x="63995" y="32880"/>
                </a:lnTo>
                <a:lnTo>
                  <a:pt x="63995" y="34511"/>
                </a:lnTo>
                <a:lnTo>
                  <a:pt x="64130" y="34647"/>
                </a:lnTo>
                <a:lnTo>
                  <a:pt x="64266" y="34783"/>
                </a:lnTo>
                <a:lnTo>
                  <a:pt x="64266" y="35054"/>
                </a:lnTo>
                <a:lnTo>
                  <a:pt x="64266" y="35326"/>
                </a:lnTo>
                <a:lnTo>
                  <a:pt x="64538" y="35870"/>
                </a:lnTo>
                <a:lnTo>
                  <a:pt x="66304" y="37636"/>
                </a:lnTo>
                <a:lnTo>
                  <a:pt x="67391" y="38179"/>
                </a:lnTo>
                <a:lnTo>
                  <a:pt x="68207" y="38179"/>
                </a:lnTo>
                <a:lnTo>
                  <a:pt x="68342" y="38315"/>
                </a:lnTo>
                <a:lnTo>
                  <a:pt x="68478" y="38451"/>
                </a:lnTo>
                <a:lnTo>
                  <a:pt x="69293" y="38451"/>
                </a:lnTo>
                <a:lnTo>
                  <a:pt x="69837" y="38179"/>
                </a:lnTo>
                <a:lnTo>
                  <a:pt x="70109" y="38179"/>
                </a:lnTo>
                <a:lnTo>
                  <a:pt x="70380" y="38179"/>
                </a:lnTo>
                <a:lnTo>
                  <a:pt x="71467" y="37364"/>
                </a:lnTo>
                <a:lnTo>
                  <a:pt x="71739" y="37364"/>
                </a:lnTo>
                <a:lnTo>
                  <a:pt x="73505" y="35598"/>
                </a:lnTo>
                <a:lnTo>
                  <a:pt x="73505" y="35326"/>
                </a:lnTo>
                <a:lnTo>
                  <a:pt x="73505" y="35054"/>
                </a:lnTo>
                <a:lnTo>
                  <a:pt x="73641" y="34918"/>
                </a:lnTo>
                <a:lnTo>
                  <a:pt x="73777" y="34783"/>
                </a:lnTo>
                <a:lnTo>
                  <a:pt x="73777" y="33152"/>
                </a:lnTo>
                <a:lnTo>
                  <a:pt x="74049" y="32609"/>
                </a:lnTo>
                <a:lnTo>
                  <a:pt x="74592" y="32337"/>
                </a:lnTo>
                <a:lnTo>
                  <a:pt x="74592" y="32065"/>
                </a:lnTo>
                <a:lnTo>
                  <a:pt x="74457" y="31929"/>
                </a:lnTo>
                <a:lnTo>
                  <a:pt x="74321" y="31793"/>
                </a:lnTo>
                <a:lnTo>
                  <a:pt x="74321" y="30978"/>
                </a:lnTo>
                <a:lnTo>
                  <a:pt x="73777" y="29891"/>
                </a:lnTo>
                <a:lnTo>
                  <a:pt x="72554" y="28397"/>
                </a:lnTo>
                <a:lnTo>
                  <a:pt x="69837" y="27038"/>
                </a:lnTo>
                <a:lnTo>
                  <a:pt x="67663" y="27038"/>
                </a:lnTo>
                <a:close/>
                <a:moveTo>
                  <a:pt x="27853" y="40489"/>
                </a:moveTo>
                <a:lnTo>
                  <a:pt x="27989" y="40353"/>
                </a:lnTo>
                <a:lnTo>
                  <a:pt x="32609" y="40353"/>
                </a:lnTo>
                <a:lnTo>
                  <a:pt x="32745" y="40489"/>
                </a:lnTo>
                <a:lnTo>
                  <a:pt x="32880" y="40625"/>
                </a:lnTo>
                <a:lnTo>
                  <a:pt x="33967" y="40625"/>
                </a:lnTo>
                <a:lnTo>
                  <a:pt x="34103" y="40761"/>
                </a:lnTo>
                <a:lnTo>
                  <a:pt x="34239" y="40897"/>
                </a:lnTo>
                <a:lnTo>
                  <a:pt x="34511" y="40897"/>
                </a:lnTo>
                <a:lnTo>
                  <a:pt x="34783" y="40897"/>
                </a:lnTo>
                <a:lnTo>
                  <a:pt x="36957" y="41984"/>
                </a:lnTo>
                <a:lnTo>
                  <a:pt x="37772" y="42799"/>
                </a:lnTo>
                <a:lnTo>
                  <a:pt x="38043" y="42799"/>
                </a:lnTo>
                <a:lnTo>
                  <a:pt x="39810" y="44837"/>
                </a:lnTo>
                <a:lnTo>
                  <a:pt x="40353" y="45924"/>
                </a:lnTo>
                <a:lnTo>
                  <a:pt x="40353" y="46196"/>
                </a:lnTo>
                <a:lnTo>
                  <a:pt x="40353" y="46467"/>
                </a:lnTo>
                <a:lnTo>
                  <a:pt x="40489" y="46603"/>
                </a:lnTo>
                <a:lnTo>
                  <a:pt x="40625" y="46739"/>
                </a:lnTo>
                <a:lnTo>
                  <a:pt x="40625" y="47826"/>
                </a:lnTo>
                <a:lnTo>
                  <a:pt x="40761" y="47962"/>
                </a:lnTo>
                <a:lnTo>
                  <a:pt x="40897" y="48098"/>
                </a:lnTo>
                <a:lnTo>
                  <a:pt x="40897" y="52174"/>
                </a:lnTo>
                <a:lnTo>
                  <a:pt x="39946" y="52310"/>
                </a:lnTo>
                <a:lnTo>
                  <a:pt x="39538" y="51902"/>
                </a:lnTo>
                <a:lnTo>
                  <a:pt x="39538" y="48913"/>
                </a:lnTo>
                <a:lnTo>
                  <a:pt x="39402" y="48777"/>
                </a:lnTo>
                <a:lnTo>
                  <a:pt x="39266" y="48641"/>
                </a:lnTo>
                <a:lnTo>
                  <a:pt x="39266" y="47554"/>
                </a:lnTo>
                <a:lnTo>
                  <a:pt x="39130" y="47418"/>
                </a:lnTo>
                <a:lnTo>
                  <a:pt x="38995" y="47283"/>
                </a:lnTo>
                <a:lnTo>
                  <a:pt x="38995" y="47011"/>
                </a:lnTo>
                <a:lnTo>
                  <a:pt x="38995" y="46739"/>
                </a:lnTo>
                <a:lnTo>
                  <a:pt x="38179" y="45109"/>
                </a:lnTo>
                <a:lnTo>
                  <a:pt x="36413" y="43342"/>
                </a:lnTo>
                <a:lnTo>
                  <a:pt x="36141" y="43342"/>
                </a:lnTo>
                <a:lnTo>
                  <a:pt x="35598" y="42799"/>
                </a:lnTo>
                <a:lnTo>
                  <a:pt x="34511" y="42255"/>
                </a:lnTo>
                <a:lnTo>
                  <a:pt x="33152" y="41984"/>
                </a:lnTo>
                <a:lnTo>
                  <a:pt x="33016" y="41848"/>
                </a:lnTo>
                <a:lnTo>
                  <a:pt x="32880" y="41712"/>
                </a:lnTo>
                <a:lnTo>
                  <a:pt x="27717" y="41712"/>
                </a:lnTo>
                <a:lnTo>
                  <a:pt x="27582" y="41848"/>
                </a:lnTo>
                <a:lnTo>
                  <a:pt x="27446" y="41984"/>
                </a:lnTo>
                <a:lnTo>
                  <a:pt x="26630" y="41984"/>
                </a:lnTo>
                <a:lnTo>
                  <a:pt x="26495" y="42120"/>
                </a:lnTo>
                <a:lnTo>
                  <a:pt x="26359" y="42255"/>
                </a:lnTo>
                <a:lnTo>
                  <a:pt x="26087" y="42255"/>
                </a:lnTo>
                <a:lnTo>
                  <a:pt x="25815" y="42255"/>
                </a:lnTo>
                <a:lnTo>
                  <a:pt x="24728" y="42799"/>
                </a:lnTo>
                <a:lnTo>
                  <a:pt x="23913" y="43614"/>
                </a:lnTo>
                <a:lnTo>
                  <a:pt x="23641" y="43614"/>
                </a:lnTo>
                <a:lnTo>
                  <a:pt x="22418" y="44837"/>
                </a:lnTo>
                <a:lnTo>
                  <a:pt x="22418" y="45109"/>
                </a:lnTo>
                <a:lnTo>
                  <a:pt x="21875" y="45652"/>
                </a:lnTo>
                <a:lnTo>
                  <a:pt x="21332" y="46739"/>
                </a:lnTo>
                <a:lnTo>
                  <a:pt x="21332" y="47011"/>
                </a:lnTo>
                <a:lnTo>
                  <a:pt x="21332" y="47283"/>
                </a:lnTo>
                <a:lnTo>
                  <a:pt x="21196" y="47418"/>
                </a:lnTo>
                <a:lnTo>
                  <a:pt x="21060" y="47554"/>
                </a:lnTo>
                <a:lnTo>
                  <a:pt x="21060" y="49457"/>
                </a:lnTo>
                <a:lnTo>
                  <a:pt x="20924" y="49592"/>
                </a:lnTo>
                <a:lnTo>
                  <a:pt x="20788" y="49728"/>
                </a:lnTo>
                <a:lnTo>
                  <a:pt x="20788" y="56793"/>
                </a:lnTo>
                <a:lnTo>
                  <a:pt x="20652" y="56929"/>
                </a:lnTo>
                <a:lnTo>
                  <a:pt x="20516" y="57065"/>
                </a:lnTo>
                <a:lnTo>
                  <a:pt x="20516" y="58967"/>
                </a:lnTo>
                <a:lnTo>
                  <a:pt x="20788" y="59511"/>
                </a:lnTo>
                <a:lnTo>
                  <a:pt x="21739" y="60190"/>
                </a:lnTo>
                <a:lnTo>
                  <a:pt x="23098" y="60190"/>
                </a:lnTo>
                <a:lnTo>
                  <a:pt x="23913" y="59103"/>
                </a:lnTo>
                <a:lnTo>
                  <a:pt x="24185" y="59103"/>
                </a:lnTo>
                <a:lnTo>
                  <a:pt x="24592" y="59783"/>
                </a:lnTo>
                <a:lnTo>
                  <a:pt x="24592" y="63315"/>
                </a:lnTo>
                <a:lnTo>
                  <a:pt x="24728" y="63451"/>
                </a:lnTo>
                <a:lnTo>
                  <a:pt x="24864" y="63587"/>
                </a:lnTo>
                <a:lnTo>
                  <a:pt x="24864" y="69837"/>
                </a:lnTo>
                <a:lnTo>
                  <a:pt x="25000" y="69973"/>
                </a:lnTo>
                <a:lnTo>
                  <a:pt x="25136" y="70109"/>
                </a:lnTo>
                <a:lnTo>
                  <a:pt x="25136" y="75543"/>
                </a:lnTo>
                <a:lnTo>
                  <a:pt x="25272" y="75679"/>
                </a:lnTo>
                <a:lnTo>
                  <a:pt x="25408" y="75815"/>
                </a:lnTo>
                <a:lnTo>
                  <a:pt x="25408" y="76630"/>
                </a:lnTo>
                <a:lnTo>
                  <a:pt x="25543" y="76766"/>
                </a:lnTo>
                <a:lnTo>
                  <a:pt x="29348" y="76766"/>
                </a:lnTo>
                <a:lnTo>
                  <a:pt x="29484" y="76630"/>
                </a:lnTo>
                <a:lnTo>
                  <a:pt x="29484" y="72826"/>
                </a:lnTo>
                <a:lnTo>
                  <a:pt x="29620" y="72690"/>
                </a:lnTo>
                <a:lnTo>
                  <a:pt x="29755" y="72554"/>
                </a:lnTo>
                <a:lnTo>
                  <a:pt x="29755" y="68478"/>
                </a:lnTo>
                <a:lnTo>
                  <a:pt x="30163" y="68071"/>
                </a:lnTo>
                <a:lnTo>
                  <a:pt x="30435" y="68071"/>
                </a:lnTo>
                <a:lnTo>
                  <a:pt x="30842" y="68478"/>
                </a:lnTo>
                <a:lnTo>
                  <a:pt x="30842" y="69293"/>
                </a:lnTo>
                <a:lnTo>
                  <a:pt x="30842" y="75815"/>
                </a:lnTo>
                <a:lnTo>
                  <a:pt x="31114" y="76359"/>
                </a:lnTo>
                <a:lnTo>
                  <a:pt x="31522" y="76766"/>
                </a:lnTo>
                <a:lnTo>
                  <a:pt x="35054" y="76766"/>
                </a:lnTo>
                <a:lnTo>
                  <a:pt x="35190" y="76630"/>
                </a:lnTo>
                <a:lnTo>
                  <a:pt x="35190" y="73913"/>
                </a:lnTo>
                <a:lnTo>
                  <a:pt x="35326" y="73777"/>
                </a:lnTo>
                <a:lnTo>
                  <a:pt x="35462" y="73641"/>
                </a:lnTo>
                <a:lnTo>
                  <a:pt x="35462" y="68478"/>
                </a:lnTo>
                <a:lnTo>
                  <a:pt x="35598" y="68342"/>
                </a:lnTo>
                <a:lnTo>
                  <a:pt x="35734" y="68207"/>
                </a:lnTo>
                <a:lnTo>
                  <a:pt x="35734" y="63587"/>
                </a:lnTo>
                <a:lnTo>
                  <a:pt x="35870" y="63451"/>
                </a:lnTo>
                <a:lnTo>
                  <a:pt x="36005" y="63315"/>
                </a:lnTo>
                <a:lnTo>
                  <a:pt x="36005" y="60326"/>
                </a:lnTo>
                <a:lnTo>
                  <a:pt x="36141" y="60190"/>
                </a:lnTo>
                <a:lnTo>
                  <a:pt x="37092" y="61141"/>
                </a:lnTo>
                <a:lnTo>
                  <a:pt x="37364" y="61685"/>
                </a:lnTo>
                <a:lnTo>
                  <a:pt x="37364" y="63587"/>
                </a:lnTo>
                <a:lnTo>
                  <a:pt x="37228" y="63723"/>
                </a:lnTo>
                <a:lnTo>
                  <a:pt x="37092" y="63859"/>
                </a:lnTo>
                <a:lnTo>
                  <a:pt x="37092" y="69565"/>
                </a:lnTo>
                <a:lnTo>
                  <a:pt x="36957" y="69701"/>
                </a:lnTo>
                <a:lnTo>
                  <a:pt x="36821" y="69837"/>
                </a:lnTo>
                <a:lnTo>
                  <a:pt x="36821" y="75272"/>
                </a:lnTo>
                <a:lnTo>
                  <a:pt x="36685" y="75408"/>
                </a:lnTo>
                <a:lnTo>
                  <a:pt x="36549" y="75543"/>
                </a:lnTo>
                <a:lnTo>
                  <a:pt x="36549" y="77717"/>
                </a:lnTo>
                <a:lnTo>
                  <a:pt x="35870" y="78125"/>
                </a:lnTo>
                <a:lnTo>
                  <a:pt x="30978" y="78125"/>
                </a:lnTo>
                <a:lnTo>
                  <a:pt x="30842" y="77989"/>
                </a:lnTo>
                <a:lnTo>
                  <a:pt x="30707" y="77853"/>
                </a:lnTo>
                <a:lnTo>
                  <a:pt x="29891" y="77853"/>
                </a:lnTo>
                <a:lnTo>
                  <a:pt x="29755" y="77989"/>
                </a:lnTo>
                <a:lnTo>
                  <a:pt x="29620" y="78125"/>
                </a:lnTo>
                <a:lnTo>
                  <a:pt x="24457" y="78125"/>
                </a:lnTo>
                <a:lnTo>
                  <a:pt x="24049" y="77717"/>
                </a:lnTo>
                <a:lnTo>
                  <a:pt x="24049" y="76359"/>
                </a:lnTo>
                <a:lnTo>
                  <a:pt x="23913" y="76223"/>
                </a:lnTo>
                <a:lnTo>
                  <a:pt x="23777" y="76087"/>
                </a:lnTo>
                <a:lnTo>
                  <a:pt x="23777" y="70109"/>
                </a:lnTo>
                <a:lnTo>
                  <a:pt x="23641" y="69973"/>
                </a:lnTo>
                <a:lnTo>
                  <a:pt x="23505" y="69837"/>
                </a:lnTo>
                <a:lnTo>
                  <a:pt x="23505" y="63587"/>
                </a:lnTo>
                <a:lnTo>
                  <a:pt x="23370" y="63451"/>
                </a:lnTo>
                <a:lnTo>
                  <a:pt x="23234" y="63315"/>
                </a:lnTo>
                <a:lnTo>
                  <a:pt x="23234" y="61685"/>
                </a:lnTo>
                <a:lnTo>
                  <a:pt x="23098" y="61549"/>
                </a:lnTo>
                <a:lnTo>
                  <a:pt x="21467" y="61549"/>
                </a:lnTo>
                <a:lnTo>
                  <a:pt x="20380" y="61005"/>
                </a:lnTo>
                <a:lnTo>
                  <a:pt x="19429" y="60054"/>
                </a:lnTo>
                <a:lnTo>
                  <a:pt x="19429" y="59783"/>
                </a:lnTo>
                <a:lnTo>
                  <a:pt x="19429" y="59511"/>
                </a:lnTo>
                <a:lnTo>
                  <a:pt x="19293" y="59375"/>
                </a:lnTo>
                <a:lnTo>
                  <a:pt x="19158" y="59239"/>
                </a:lnTo>
                <a:lnTo>
                  <a:pt x="19158" y="57065"/>
                </a:lnTo>
                <a:lnTo>
                  <a:pt x="19293" y="56929"/>
                </a:lnTo>
                <a:lnTo>
                  <a:pt x="19429" y="56793"/>
                </a:lnTo>
                <a:lnTo>
                  <a:pt x="19429" y="48913"/>
                </a:lnTo>
                <a:lnTo>
                  <a:pt x="19565" y="48777"/>
                </a:lnTo>
                <a:lnTo>
                  <a:pt x="19701" y="48641"/>
                </a:lnTo>
                <a:lnTo>
                  <a:pt x="19701" y="47283"/>
                </a:lnTo>
                <a:lnTo>
                  <a:pt x="19837" y="47147"/>
                </a:lnTo>
                <a:lnTo>
                  <a:pt x="19973" y="47011"/>
                </a:lnTo>
                <a:lnTo>
                  <a:pt x="20245" y="45652"/>
                </a:lnTo>
                <a:lnTo>
                  <a:pt x="21060" y="44565"/>
                </a:lnTo>
                <a:lnTo>
                  <a:pt x="21060" y="44293"/>
                </a:lnTo>
                <a:lnTo>
                  <a:pt x="23098" y="42255"/>
                </a:lnTo>
                <a:lnTo>
                  <a:pt x="25815" y="40897"/>
                </a:lnTo>
                <a:lnTo>
                  <a:pt x="27853" y="40489"/>
                </a:lnTo>
                <a:close/>
                <a:moveTo>
                  <a:pt x="67527" y="41576"/>
                </a:moveTo>
                <a:lnTo>
                  <a:pt x="67663" y="41440"/>
                </a:lnTo>
                <a:lnTo>
                  <a:pt x="70109" y="41440"/>
                </a:lnTo>
                <a:lnTo>
                  <a:pt x="70245" y="41576"/>
                </a:lnTo>
                <a:lnTo>
                  <a:pt x="70380" y="41712"/>
                </a:lnTo>
                <a:lnTo>
                  <a:pt x="71467" y="41712"/>
                </a:lnTo>
                <a:lnTo>
                  <a:pt x="71603" y="41848"/>
                </a:lnTo>
                <a:lnTo>
                  <a:pt x="71739" y="41984"/>
                </a:lnTo>
                <a:lnTo>
                  <a:pt x="73098" y="42255"/>
                </a:lnTo>
                <a:lnTo>
                  <a:pt x="74185" y="42799"/>
                </a:lnTo>
                <a:lnTo>
                  <a:pt x="74728" y="43342"/>
                </a:lnTo>
                <a:lnTo>
                  <a:pt x="75000" y="43342"/>
                </a:lnTo>
                <a:lnTo>
                  <a:pt x="77038" y="45380"/>
                </a:lnTo>
                <a:lnTo>
                  <a:pt x="78125" y="47554"/>
                </a:lnTo>
                <a:lnTo>
                  <a:pt x="78125" y="48370"/>
                </a:lnTo>
                <a:lnTo>
                  <a:pt x="78261" y="48505"/>
                </a:lnTo>
                <a:lnTo>
                  <a:pt x="78397" y="48641"/>
                </a:lnTo>
                <a:lnTo>
                  <a:pt x="78668" y="51087"/>
                </a:lnTo>
                <a:lnTo>
                  <a:pt x="78804" y="51223"/>
                </a:lnTo>
                <a:lnTo>
                  <a:pt x="78940" y="51359"/>
                </a:lnTo>
                <a:lnTo>
                  <a:pt x="78940" y="52174"/>
                </a:lnTo>
                <a:lnTo>
                  <a:pt x="79076" y="52310"/>
                </a:lnTo>
                <a:lnTo>
                  <a:pt x="79212" y="52446"/>
                </a:lnTo>
                <a:lnTo>
                  <a:pt x="79212" y="53261"/>
                </a:lnTo>
                <a:lnTo>
                  <a:pt x="79348" y="53397"/>
                </a:lnTo>
                <a:lnTo>
                  <a:pt x="79484" y="53533"/>
                </a:lnTo>
                <a:lnTo>
                  <a:pt x="79484" y="54348"/>
                </a:lnTo>
                <a:lnTo>
                  <a:pt x="79620" y="54484"/>
                </a:lnTo>
                <a:lnTo>
                  <a:pt x="79755" y="54620"/>
                </a:lnTo>
                <a:lnTo>
                  <a:pt x="79755" y="55435"/>
                </a:lnTo>
                <a:lnTo>
                  <a:pt x="79891" y="55571"/>
                </a:lnTo>
                <a:lnTo>
                  <a:pt x="80027" y="55707"/>
                </a:lnTo>
                <a:lnTo>
                  <a:pt x="80027" y="56793"/>
                </a:lnTo>
                <a:lnTo>
                  <a:pt x="80163" y="56929"/>
                </a:lnTo>
                <a:lnTo>
                  <a:pt x="80299" y="57065"/>
                </a:lnTo>
                <a:lnTo>
                  <a:pt x="80299" y="57880"/>
                </a:lnTo>
                <a:lnTo>
                  <a:pt x="80435" y="58016"/>
                </a:lnTo>
                <a:lnTo>
                  <a:pt x="80571" y="58152"/>
                </a:lnTo>
                <a:lnTo>
                  <a:pt x="80571" y="60326"/>
                </a:lnTo>
                <a:lnTo>
                  <a:pt x="79620" y="61277"/>
                </a:lnTo>
                <a:lnTo>
                  <a:pt x="79076" y="61549"/>
                </a:lnTo>
                <a:lnTo>
                  <a:pt x="78261" y="61549"/>
                </a:lnTo>
                <a:lnTo>
                  <a:pt x="77853" y="61957"/>
                </a:lnTo>
                <a:lnTo>
                  <a:pt x="77989" y="62092"/>
                </a:lnTo>
                <a:lnTo>
                  <a:pt x="78125" y="62228"/>
                </a:lnTo>
                <a:lnTo>
                  <a:pt x="78397" y="64130"/>
                </a:lnTo>
                <a:lnTo>
                  <a:pt x="78533" y="64266"/>
                </a:lnTo>
                <a:lnTo>
                  <a:pt x="78668" y="64402"/>
                </a:lnTo>
                <a:lnTo>
                  <a:pt x="78668" y="64674"/>
                </a:lnTo>
                <a:lnTo>
                  <a:pt x="78668" y="64946"/>
                </a:lnTo>
                <a:lnTo>
                  <a:pt x="79212" y="66033"/>
                </a:lnTo>
                <a:lnTo>
                  <a:pt x="79212" y="66848"/>
                </a:lnTo>
                <a:lnTo>
                  <a:pt x="79348" y="66984"/>
                </a:lnTo>
                <a:lnTo>
                  <a:pt x="79484" y="67120"/>
                </a:lnTo>
                <a:lnTo>
                  <a:pt x="79484" y="67935"/>
                </a:lnTo>
                <a:lnTo>
                  <a:pt x="79620" y="68071"/>
                </a:lnTo>
                <a:lnTo>
                  <a:pt x="79755" y="68207"/>
                </a:lnTo>
                <a:lnTo>
                  <a:pt x="79076" y="68886"/>
                </a:lnTo>
                <a:lnTo>
                  <a:pt x="75000" y="68886"/>
                </a:lnTo>
                <a:lnTo>
                  <a:pt x="74864" y="69022"/>
                </a:lnTo>
                <a:lnTo>
                  <a:pt x="74864" y="70652"/>
                </a:lnTo>
                <a:lnTo>
                  <a:pt x="74728" y="70788"/>
                </a:lnTo>
                <a:lnTo>
                  <a:pt x="74592" y="70924"/>
                </a:lnTo>
                <a:lnTo>
                  <a:pt x="74592" y="76087"/>
                </a:lnTo>
                <a:lnTo>
                  <a:pt x="74457" y="76223"/>
                </a:lnTo>
                <a:lnTo>
                  <a:pt x="74321" y="76359"/>
                </a:lnTo>
                <a:lnTo>
                  <a:pt x="74321" y="77717"/>
                </a:lnTo>
                <a:lnTo>
                  <a:pt x="73913" y="78125"/>
                </a:lnTo>
                <a:lnTo>
                  <a:pt x="69293" y="78125"/>
                </a:lnTo>
                <a:lnTo>
                  <a:pt x="69158" y="77989"/>
                </a:lnTo>
                <a:lnTo>
                  <a:pt x="69022" y="77853"/>
                </a:lnTo>
                <a:lnTo>
                  <a:pt x="68750" y="77853"/>
                </a:lnTo>
                <a:lnTo>
                  <a:pt x="68478" y="77853"/>
                </a:lnTo>
                <a:lnTo>
                  <a:pt x="68342" y="77989"/>
                </a:lnTo>
                <a:lnTo>
                  <a:pt x="68207" y="78125"/>
                </a:lnTo>
                <a:lnTo>
                  <a:pt x="63587" y="78125"/>
                </a:lnTo>
                <a:lnTo>
                  <a:pt x="63179" y="77717"/>
                </a:lnTo>
                <a:lnTo>
                  <a:pt x="63179" y="75543"/>
                </a:lnTo>
                <a:lnTo>
                  <a:pt x="63043" y="75408"/>
                </a:lnTo>
                <a:lnTo>
                  <a:pt x="62908" y="75272"/>
                </a:lnTo>
                <a:lnTo>
                  <a:pt x="62908" y="70109"/>
                </a:lnTo>
                <a:lnTo>
                  <a:pt x="62772" y="69973"/>
                </a:lnTo>
                <a:lnTo>
                  <a:pt x="62636" y="69837"/>
                </a:lnTo>
                <a:lnTo>
                  <a:pt x="62636" y="69022"/>
                </a:lnTo>
                <a:lnTo>
                  <a:pt x="62500" y="68886"/>
                </a:lnTo>
                <a:lnTo>
                  <a:pt x="58696" y="68886"/>
                </a:lnTo>
                <a:lnTo>
                  <a:pt x="58016" y="68207"/>
                </a:lnTo>
                <a:lnTo>
                  <a:pt x="58016" y="67935"/>
                </a:lnTo>
                <a:lnTo>
                  <a:pt x="58152" y="67799"/>
                </a:lnTo>
                <a:lnTo>
                  <a:pt x="58288" y="67663"/>
                </a:lnTo>
                <a:lnTo>
                  <a:pt x="58288" y="66848"/>
                </a:lnTo>
                <a:lnTo>
                  <a:pt x="58424" y="66712"/>
                </a:lnTo>
                <a:lnTo>
                  <a:pt x="58560" y="66576"/>
                </a:lnTo>
                <a:lnTo>
                  <a:pt x="58832" y="65217"/>
                </a:lnTo>
                <a:lnTo>
                  <a:pt x="60326" y="63723"/>
                </a:lnTo>
                <a:lnTo>
                  <a:pt x="60462" y="64674"/>
                </a:lnTo>
                <a:lnTo>
                  <a:pt x="60326" y="64810"/>
                </a:lnTo>
                <a:lnTo>
                  <a:pt x="60190" y="64946"/>
                </a:lnTo>
                <a:lnTo>
                  <a:pt x="60190" y="65761"/>
                </a:lnTo>
                <a:lnTo>
                  <a:pt x="59647" y="66848"/>
                </a:lnTo>
                <a:lnTo>
                  <a:pt x="59647" y="67120"/>
                </a:lnTo>
                <a:lnTo>
                  <a:pt x="59783" y="67255"/>
                </a:lnTo>
                <a:lnTo>
                  <a:pt x="63859" y="67255"/>
                </a:lnTo>
                <a:lnTo>
                  <a:pt x="63995" y="67391"/>
                </a:lnTo>
                <a:lnTo>
                  <a:pt x="64130" y="67527"/>
                </a:lnTo>
                <a:lnTo>
                  <a:pt x="65082" y="67663"/>
                </a:lnTo>
                <a:lnTo>
                  <a:pt x="65082" y="68478"/>
                </a:lnTo>
                <a:lnTo>
                  <a:pt x="64674" y="68886"/>
                </a:lnTo>
                <a:lnTo>
                  <a:pt x="63995" y="69022"/>
                </a:lnTo>
                <a:lnTo>
                  <a:pt x="63995" y="70924"/>
                </a:lnTo>
                <a:lnTo>
                  <a:pt x="64130" y="71060"/>
                </a:lnTo>
                <a:lnTo>
                  <a:pt x="64266" y="71196"/>
                </a:lnTo>
                <a:lnTo>
                  <a:pt x="64266" y="76359"/>
                </a:lnTo>
                <a:lnTo>
                  <a:pt x="64674" y="76766"/>
                </a:lnTo>
                <a:lnTo>
                  <a:pt x="64946" y="76766"/>
                </a:lnTo>
                <a:lnTo>
                  <a:pt x="65217" y="76766"/>
                </a:lnTo>
                <a:lnTo>
                  <a:pt x="67663" y="76766"/>
                </a:lnTo>
                <a:lnTo>
                  <a:pt x="68071" y="76359"/>
                </a:lnTo>
                <a:lnTo>
                  <a:pt x="68071" y="73913"/>
                </a:lnTo>
                <a:lnTo>
                  <a:pt x="68207" y="73777"/>
                </a:lnTo>
                <a:lnTo>
                  <a:pt x="68342" y="73641"/>
                </a:lnTo>
                <a:lnTo>
                  <a:pt x="68342" y="71467"/>
                </a:lnTo>
                <a:lnTo>
                  <a:pt x="68478" y="71332"/>
                </a:lnTo>
                <a:lnTo>
                  <a:pt x="69158" y="71467"/>
                </a:lnTo>
                <a:lnTo>
                  <a:pt x="69158" y="72554"/>
                </a:lnTo>
                <a:lnTo>
                  <a:pt x="69293" y="72690"/>
                </a:lnTo>
                <a:lnTo>
                  <a:pt x="69429" y="72826"/>
                </a:lnTo>
                <a:lnTo>
                  <a:pt x="69429" y="76359"/>
                </a:lnTo>
                <a:lnTo>
                  <a:pt x="69837" y="76766"/>
                </a:lnTo>
                <a:lnTo>
                  <a:pt x="72826" y="76766"/>
                </a:lnTo>
                <a:lnTo>
                  <a:pt x="73234" y="76359"/>
                </a:lnTo>
                <a:lnTo>
                  <a:pt x="73234" y="72554"/>
                </a:lnTo>
                <a:lnTo>
                  <a:pt x="73370" y="72418"/>
                </a:lnTo>
                <a:lnTo>
                  <a:pt x="73505" y="72283"/>
                </a:lnTo>
                <a:lnTo>
                  <a:pt x="73505" y="69022"/>
                </a:lnTo>
                <a:lnTo>
                  <a:pt x="72554" y="68614"/>
                </a:lnTo>
                <a:lnTo>
                  <a:pt x="72418" y="67935"/>
                </a:lnTo>
                <a:lnTo>
                  <a:pt x="72826" y="67527"/>
                </a:lnTo>
                <a:lnTo>
                  <a:pt x="77717" y="67527"/>
                </a:lnTo>
                <a:lnTo>
                  <a:pt x="78125" y="67120"/>
                </a:lnTo>
                <a:lnTo>
                  <a:pt x="77853" y="66576"/>
                </a:lnTo>
                <a:lnTo>
                  <a:pt x="77853" y="65761"/>
                </a:lnTo>
                <a:lnTo>
                  <a:pt x="77717" y="65625"/>
                </a:lnTo>
                <a:lnTo>
                  <a:pt x="77582" y="65489"/>
                </a:lnTo>
                <a:lnTo>
                  <a:pt x="77582" y="65217"/>
                </a:lnTo>
                <a:lnTo>
                  <a:pt x="77582" y="64946"/>
                </a:lnTo>
                <a:lnTo>
                  <a:pt x="77446" y="64810"/>
                </a:lnTo>
                <a:lnTo>
                  <a:pt x="77310" y="64674"/>
                </a:lnTo>
                <a:lnTo>
                  <a:pt x="77310" y="64402"/>
                </a:lnTo>
                <a:lnTo>
                  <a:pt x="77310" y="64130"/>
                </a:lnTo>
                <a:lnTo>
                  <a:pt x="77174" y="63995"/>
                </a:lnTo>
                <a:lnTo>
                  <a:pt x="77038" y="63859"/>
                </a:lnTo>
                <a:lnTo>
                  <a:pt x="77038" y="63587"/>
                </a:lnTo>
                <a:lnTo>
                  <a:pt x="77038" y="63315"/>
                </a:lnTo>
                <a:lnTo>
                  <a:pt x="76495" y="62228"/>
                </a:lnTo>
                <a:lnTo>
                  <a:pt x="76223" y="60326"/>
                </a:lnTo>
                <a:lnTo>
                  <a:pt x="77174" y="60190"/>
                </a:lnTo>
                <a:lnTo>
                  <a:pt x="77310" y="60326"/>
                </a:lnTo>
                <a:lnTo>
                  <a:pt x="77446" y="60462"/>
                </a:lnTo>
                <a:lnTo>
                  <a:pt x="78261" y="60462"/>
                </a:lnTo>
                <a:lnTo>
                  <a:pt x="79212" y="59783"/>
                </a:lnTo>
                <a:lnTo>
                  <a:pt x="79212" y="58152"/>
                </a:lnTo>
                <a:lnTo>
                  <a:pt x="79076" y="58016"/>
                </a:lnTo>
                <a:lnTo>
                  <a:pt x="78940" y="57880"/>
                </a:lnTo>
                <a:lnTo>
                  <a:pt x="78940" y="57065"/>
                </a:lnTo>
                <a:lnTo>
                  <a:pt x="78804" y="56929"/>
                </a:lnTo>
                <a:lnTo>
                  <a:pt x="78668" y="56793"/>
                </a:lnTo>
                <a:lnTo>
                  <a:pt x="78668" y="55978"/>
                </a:lnTo>
                <a:lnTo>
                  <a:pt x="78533" y="55842"/>
                </a:lnTo>
                <a:lnTo>
                  <a:pt x="78397" y="55707"/>
                </a:lnTo>
                <a:lnTo>
                  <a:pt x="78397" y="54620"/>
                </a:lnTo>
                <a:lnTo>
                  <a:pt x="78261" y="54484"/>
                </a:lnTo>
                <a:lnTo>
                  <a:pt x="78125" y="54348"/>
                </a:lnTo>
                <a:lnTo>
                  <a:pt x="78125" y="53533"/>
                </a:lnTo>
                <a:lnTo>
                  <a:pt x="77989" y="53397"/>
                </a:lnTo>
                <a:lnTo>
                  <a:pt x="77853" y="53261"/>
                </a:lnTo>
                <a:lnTo>
                  <a:pt x="77853" y="52446"/>
                </a:lnTo>
                <a:lnTo>
                  <a:pt x="77717" y="52310"/>
                </a:lnTo>
                <a:lnTo>
                  <a:pt x="77582" y="52174"/>
                </a:lnTo>
                <a:lnTo>
                  <a:pt x="77582" y="51087"/>
                </a:lnTo>
                <a:lnTo>
                  <a:pt x="77446" y="50951"/>
                </a:lnTo>
                <a:lnTo>
                  <a:pt x="77310" y="50815"/>
                </a:lnTo>
                <a:lnTo>
                  <a:pt x="77310" y="50000"/>
                </a:lnTo>
                <a:lnTo>
                  <a:pt x="77174" y="49864"/>
                </a:lnTo>
                <a:lnTo>
                  <a:pt x="77038" y="49728"/>
                </a:lnTo>
                <a:lnTo>
                  <a:pt x="77038" y="48641"/>
                </a:lnTo>
                <a:lnTo>
                  <a:pt x="76902" y="48505"/>
                </a:lnTo>
                <a:lnTo>
                  <a:pt x="76766" y="48370"/>
                </a:lnTo>
                <a:lnTo>
                  <a:pt x="76766" y="48098"/>
                </a:lnTo>
                <a:lnTo>
                  <a:pt x="76766" y="47826"/>
                </a:lnTo>
                <a:lnTo>
                  <a:pt x="75951" y="46196"/>
                </a:lnTo>
                <a:lnTo>
                  <a:pt x="73913" y="44158"/>
                </a:lnTo>
                <a:lnTo>
                  <a:pt x="72826" y="43614"/>
                </a:lnTo>
                <a:lnTo>
                  <a:pt x="72554" y="43614"/>
                </a:lnTo>
                <a:lnTo>
                  <a:pt x="72283" y="43614"/>
                </a:lnTo>
                <a:lnTo>
                  <a:pt x="71196" y="43071"/>
                </a:lnTo>
                <a:lnTo>
                  <a:pt x="69837" y="43071"/>
                </a:lnTo>
                <a:lnTo>
                  <a:pt x="69701" y="42935"/>
                </a:lnTo>
                <a:lnTo>
                  <a:pt x="69565" y="42799"/>
                </a:lnTo>
                <a:lnTo>
                  <a:pt x="67663" y="42799"/>
                </a:lnTo>
                <a:lnTo>
                  <a:pt x="67527" y="42935"/>
                </a:lnTo>
                <a:lnTo>
                  <a:pt x="67391" y="43071"/>
                </a:lnTo>
                <a:lnTo>
                  <a:pt x="66304" y="43071"/>
                </a:lnTo>
                <a:lnTo>
                  <a:pt x="66168" y="43207"/>
                </a:lnTo>
                <a:lnTo>
                  <a:pt x="66033" y="43342"/>
                </a:lnTo>
                <a:lnTo>
                  <a:pt x="65761" y="43342"/>
                </a:lnTo>
                <a:lnTo>
                  <a:pt x="65489" y="43342"/>
                </a:lnTo>
                <a:lnTo>
                  <a:pt x="63859" y="44158"/>
                </a:lnTo>
                <a:lnTo>
                  <a:pt x="62092" y="45652"/>
                </a:lnTo>
                <a:lnTo>
                  <a:pt x="62092" y="45924"/>
                </a:lnTo>
                <a:lnTo>
                  <a:pt x="61005" y="47283"/>
                </a:lnTo>
                <a:lnTo>
                  <a:pt x="61005" y="47554"/>
                </a:lnTo>
                <a:lnTo>
                  <a:pt x="61005" y="47826"/>
                </a:lnTo>
                <a:lnTo>
                  <a:pt x="60462" y="48913"/>
                </a:lnTo>
                <a:lnTo>
                  <a:pt x="60462" y="49728"/>
                </a:lnTo>
                <a:lnTo>
                  <a:pt x="60326" y="49864"/>
                </a:lnTo>
                <a:lnTo>
                  <a:pt x="60190" y="50000"/>
                </a:lnTo>
                <a:lnTo>
                  <a:pt x="60190" y="50815"/>
                </a:lnTo>
                <a:lnTo>
                  <a:pt x="60054" y="50951"/>
                </a:lnTo>
                <a:lnTo>
                  <a:pt x="59918" y="51087"/>
                </a:lnTo>
                <a:lnTo>
                  <a:pt x="59918" y="51902"/>
                </a:lnTo>
                <a:lnTo>
                  <a:pt x="59239" y="52310"/>
                </a:lnTo>
                <a:lnTo>
                  <a:pt x="58560" y="52174"/>
                </a:lnTo>
                <a:lnTo>
                  <a:pt x="58560" y="51902"/>
                </a:lnTo>
                <a:lnTo>
                  <a:pt x="58560" y="51630"/>
                </a:lnTo>
                <a:lnTo>
                  <a:pt x="58696" y="51495"/>
                </a:lnTo>
                <a:lnTo>
                  <a:pt x="58832" y="51359"/>
                </a:lnTo>
                <a:lnTo>
                  <a:pt x="58832" y="50272"/>
                </a:lnTo>
                <a:lnTo>
                  <a:pt x="58967" y="50136"/>
                </a:lnTo>
                <a:lnTo>
                  <a:pt x="59103" y="50000"/>
                </a:lnTo>
                <a:lnTo>
                  <a:pt x="59103" y="48913"/>
                </a:lnTo>
                <a:lnTo>
                  <a:pt x="59239" y="48777"/>
                </a:lnTo>
                <a:lnTo>
                  <a:pt x="59375" y="48641"/>
                </a:lnTo>
                <a:lnTo>
                  <a:pt x="59375" y="47826"/>
                </a:lnTo>
                <a:lnTo>
                  <a:pt x="60734" y="45109"/>
                </a:lnTo>
                <a:lnTo>
                  <a:pt x="62500" y="43342"/>
                </a:lnTo>
                <a:lnTo>
                  <a:pt x="62772" y="43342"/>
                </a:lnTo>
                <a:lnTo>
                  <a:pt x="63315" y="42799"/>
                </a:lnTo>
                <a:lnTo>
                  <a:pt x="64402" y="42255"/>
                </a:lnTo>
                <a:lnTo>
                  <a:pt x="64674" y="42255"/>
                </a:lnTo>
                <a:lnTo>
                  <a:pt x="64946" y="42255"/>
                </a:lnTo>
                <a:lnTo>
                  <a:pt x="65082" y="42120"/>
                </a:lnTo>
                <a:lnTo>
                  <a:pt x="65217" y="41984"/>
                </a:lnTo>
                <a:lnTo>
                  <a:pt x="66033" y="41984"/>
                </a:lnTo>
                <a:lnTo>
                  <a:pt x="66168" y="41848"/>
                </a:lnTo>
                <a:lnTo>
                  <a:pt x="66304" y="41712"/>
                </a:lnTo>
                <a:lnTo>
                  <a:pt x="67527" y="41576"/>
                </a:lnTo>
                <a:close/>
                <a:moveTo>
                  <a:pt x="48505" y="47826"/>
                </a:moveTo>
                <a:lnTo>
                  <a:pt x="48641" y="47690"/>
                </a:lnTo>
                <a:lnTo>
                  <a:pt x="50815" y="47690"/>
                </a:lnTo>
                <a:lnTo>
                  <a:pt x="50951" y="47826"/>
                </a:lnTo>
                <a:lnTo>
                  <a:pt x="51087" y="47962"/>
                </a:lnTo>
                <a:lnTo>
                  <a:pt x="51359" y="47962"/>
                </a:lnTo>
                <a:lnTo>
                  <a:pt x="51630" y="47962"/>
                </a:lnTo>
                <a:lnTo>
                  <a:pt x="52717" y="48505"/>
                </a:lnTo>
                <a:lnTo>
                  <a:pt x="54484" y="50272"/>
                </a:lnTo>
                <a:lnTo>
                  <a:pt x="54755" y="50815"/>
                </a:lnTo>
                <a:lnTo>
                  <a:pt x="54755" y="51087"/>
                </a:lnTo>
                <a:lnTo>
                  <a:pt x="54755" y="51359"/>
                </a:lnTo>
                <a:lnTo>
                  <a:pt x="54891" y="51495"/>
                </a:lnTo>
                <a:lnTo>
                  <a:pt x="55027" y="51630"/>
                </a:lnTo>
                <a:lnTo>
                  <a:pt x="55027" y="54076"/>
                </a:lnTo>
                <a:lnTo>
                  <a:pt x="54891" y="54212"/>
                </a:lnTo>
                <a:lnTo>
                  <a:pt x="54755" y="54348"/>
                </a:lnTo>
                <a:lnTo>
                  <a:pt x="54755" y="54620"/>
                </a:lnTo>
                <a:lnTo>
                  <a:pt x="54755" y="54891"/>
                </a:lnTo>
                <a:lnTo>
                  <a:pt x="54484" y="55435"/>
                </a:lnTo>
                <a:lnTo>
                  <a:pt x="52717" y="57201"/>
                </a:lnTo>
                <a:lnTo>
                  <a:pt x="50951" y="57880"/>
                </a:lnTo>
                <a:lnTo>
                  <a:pt x="50815" y="58016"/>
                </a:lnTo>
                <a:lnTo>
                  <a:pt x="48641" y="58016"/>
                </a:lnTo>
                <a:lnTo>
                  <a:pt x="48505" y="57880"/>
                </a:lnTo>
                <a:lnTo>
                  <a:pt x="48370" y="57745"/>
                </a:lnTo>
                <a:lnTo>
                  <a:pt x="48098" y="57745"/>
                </a:lnTo>
                <a:lnTo>
                  <a:pt x="47826" y="57745"/>
                </a:lnTo>
                <a:lnTo>
                  <a:pt x="47283" y="57473"/>
                </a:lnTo>
                <a:lnTo>
                  <a:pt x="45516" y="55978"/>
                </a:lnTo>
                <a:lnTo>
                  <a:pt x="44701" y="54348"/>
                </a:lnTo>
                <a:lnTo>
                  <a:pt x="44701" y="53261"/>
                </a:lnTo>
                <a:lnTo>
                  <a:pt x="44429" y="52717"/>
                </a:lnTo>
                <a:lnTo>
                  <a:pt x="44565" y="52582"/>
                </a:lnTo>
                <a:lnTo>
                  <a:pt x="44701" y="52446"/>
                </a:lnTo>
                <a:lnTo>
                  <a:pt x="44701" y="51359"/>
                </a:lnTo>
                <a:lnTo>
                  <a:pt x="44837" y="51223"/>
                </a:lnTo>
                <a:lnTo>
                  <a:pt x="44973" y="51087"/>
                </a:lnTo>
                <a:lnTo>
                  <a:pt x="44973" y="50815"/>
                </a:lnTo>
                <a:lnTo>
                  <a:pt x="44973" y="50543"/>
                </a:lnTo>
                <a:lnTo>
                  <a:pt x="46467" y="48777"/>
                </a:lnTo>
                <a:lnTo>
                  <a:pt x="46739" y="48777"/>
                </a:lnTo>
                <a:lnTo>
                  <a:pt x="47826" y="47962"/>
                </a:lnTo>
                <a:lnTo>
                  <a:pt x="48505" y="47826"/>
                </a:lnTo>
                <a:close/>
                <a:moveTo>
                  <a:pt x="48913" y="49049"/>
                </a:moveTo>
                <a:lnTo>
                  <a:pt x="47826" y="49592"/>
                </a:lnTo>
                <a:lnTo>
                  <a:pt x="46332" y="51087"/>
                </a:lnTo>
                <a:lnTo>
                  <a:pt x="46332" y="51359"/>
                </a:lnTo>
                <a:lnTo>
                  <a:pt x="46332" y="51630"/>
                </a:lnTo>
                <a:lnTo>
                  <a:pt x="46196" y="51766"/>
                </a:lnTo>
                <a:lnTo>
                  <a:pt x="46060" y="51902"/>
                </a:lnTo>
                <a:lnTo>
                  <a:pt x="46060" y="53804"/>
                </a:lnTo>
                <a:lnTo>
                  <a:pt x="46196" y="53940"/>
                </a:lnTo>
                <a:lnTo>
                  <a:pt x="46332" y="54076"/>
                </a:lnTo>
                <a:lnTo>
                  <a:pt x="46332" y="54348"/>
                </a:lnTo>
                <a:lnTo>
                  <a:pt x="46332" y="54620"/>
                </a:lnTo>
                <a:lnTo>
                  <a:pt x="47826" y="56114"/>
                </a:lnTo>
                <a:lnTo>
                  <a:pt x="48913" y="56658"/>
                </a:lnTo>
                <a:lnTo>
                  <a:pt x="50543" y="56658"/>
                </a:lnTo>
                <a:lnTo>
                  <a:pt x="50679" y="56522"/>
                </a:lnTo>
                <a:lnTo>
                  <a:pt x="51359" y="56386"/>
                </a:lnTo>
                <a:lnTo>
                  <a:pt x="53125" y="54891"/>
                </a:lnTo>
                <a:lnTo>
                  <a:pt x="53668" y="53804"/>
                </a:lnTo>
                <a:lnTo>
                  <a:pt x="53668" y="51902"/>
                </a:lnTo>
                <a:lnTo>
                  <a:pt x="52853" y="50815"/>
                </a:lnTo>
                <a:lnTo>
                  <a:pt x="52853" y="50543"/>
                </a:lnTo>
                <a:lnTo>
                  <a:pt x="51359" y="49321"/>
                </a:lnTo>
                <a:lnTo>
                  <a:pt x="51087" y="49321"/>
                </a:lnTo>
                <a:lnTo>
                  <a:pt x="50815" y="49321"/>
                </a:lnTo>
                <a:lnTo>
                  <a:pt x="50679" y="49185"/>
                </a:lnTo>
                <a:lnTo>
                  <a:pt x="50543" y="49049"/>
                </a:lnTo>
                <a:lnTo>
                  <a:pt x="48913" y="49049"/>
                </a:lnTo>
                <a:close/>
                <a:moveTo>
                  <a:pt x="38179" y="53533"/>
                </a:moveTo>
                <a:lnTo>
                  <a:pt x="38315" y="53397"/>
                </a:lnTo>
                <a:lnTo>
                  <a:pt x="40489" y="53397"/>
                </a:lnTo>
                <a:lnTo>
                  <a:pt x="42255" y="54891"/>
                </a:lnTo>
                <a:lnTo>
                  <a:pt x="42255" y="55163"/>
                </a:lnTo>
                <a:lnTo>
                  <a:pt x="43886" y="56793"/>
                </a:lnTo>
                <a:lnTo>
                  <a:pt x="43886" y="57065"/>
                </a:lnTo>
                <a:lnTo>
                  <a:pt x="44565" y="57745"/>
                </a:lnTo>
                <a:lnTo>
                  <a:pt x="46196" y="58560"/>
                </a:lnTo>
                <a:lnTo>
                  <a:pt x="46603" y="58967"/>
                </a:lnTo>
                <a:lnTo>
                  <a:pt x="46603" y="59239"/>
                </a:lnTo>
                <a:lnTo>
                  <a:pt x="47147" y="59511"/>
                </a:lnTo>
                <a:lnTo>
                  <a:pt x="47147" y="59783"/>
                </a:lnTo>
                <a:lnTo>
                  <a:pt x="47011" y="59918"/>
                </a:lnTo>
                <a:lnTo>
                  <a:pt x="46739" y="59918"/>
                </a:lnTo>
                <a:lnTo>
                  <a:pt x="46603" y="59783"/>
                </a:lnTo>
                <a:lnTo>
                  <a:pt x="46467" y="59647"/>
                </a:lnTo>
                <a:lnTo>
                  <a:pt x="45109" y="59647"/>
                </a:lnTo>
                <a:lnTo>
                  <a:pt x="44022" y="59103"/>
                </a:lnTo>
                <a:lnTo>
                  <a:pt x="39946" y="54755"/>
                </a:lnTo>
                <a:lnTo>
                  <a:pt x="38859" y="54755"/>
                </a:lnTo>
                <a:lnTo>
                  <a:pt x="37908" y="55707"/>
                </a:lnTo>
                <a:lnTo>
                  <a:pt x="37908" y="55978"/>
                </a:lnTo>
                <a:lnTo>
                  <a:pt x="37908" y="56250"/>
                </a:lnTo>
                <a:lnTo>
                  <a:pt x="38451" y="57337"/>
                </a:lnTo>
                <a:lnTo>
                  <a:pt x="38995" y="57880"/>
                </a:lnTo>
                <a:lnTo>
                  <a:pt x="39538" y="58967"/>
                </a:lnTo>
                <a:lnTo>
                  <a:pt x="41168" y="60598"/>
                </a:lnTo>
                <a:lnTo>
                  <a:pt x="41168" y="60870"/>
                </a:lnTo>
                <a:lnTo>
                  <a:pt x="41576" y="61277"/>
                </a:lnTo>
                <a:lnTo>
                  <a:pt x="41848" y="61277"/>
                </a:lnTo>
                <a:lnTo>
                  <a:pt x="42935" y="62364"/>
                </a:lnTo>
                <a:lnTo>
                  <a:pt x="44565" y="63179"/>
                </a:lnTo>
                <a:lnTo>
                  <a:pt x="45245" y="63859"/>
                </a:lnTo>
                <a:lnTo>
                  <a:pt x="45245" y="68478"/>
                </a:lnTo>
                <a:lnTo>
                  <a:pt x="45380" y="68614"/>
                </a:lnTo>
                <a:lnTo>
                  <a:pt x="45516" y="68750"/>
                </a:lnTo>
                <a:lnTo>
                  <a:pt x="45516" y="76359"/>
                </a:lnTo>
                <a:lnTo>
                  <a:pt x="45924" y="76766"/>
                </a:lnTo>
                <a:lnTo>
                  <a:pt x="48641" y="76766"/>
                </a:lnTo>
                <a:lnTo>
                  <a:pt x="49049" y="76087"/>
                </a:lnTo>
                <a:lnTo>
                  <a:pt x="49049" y="75815"/>
                </a:lnTo>
                <a:lnTo>
                  <a:pt x="49049" y="75543"/>
                </a:lnTo>
                <a:lnTo>
                  <a:pt x="49457" y="75136"/>
                </a:lnTo>
                <a:lnTo>
                  <a:pt x="49728" y="75136"/>
                </a:lnTo>
                <a:lnTo>
                  <a:pt x="50000" y="75136"/>
                </a:lnTo>
                <a:lnTo>
                  <a:pt x="50408" y="75543"/>
                </a:lnTo>
                <a:lnTo>
                  <a:pt x="50408" y="75815"/>
                </a:lnTo>
                <a:lnTo>
                  <a:pt x="50408" y="76087"/>
                </a:lnTo>
                <a:lnTo>
                  <a:pt x="50815" y="76766"/>
                </a:lnTo>
                <a:lnTo>
                  <a:pt x="53804" y="76766"/>
                </a:lnTo>
                <a:lnTo>
                  <a:pt x="53940" y="76630"/>
                </a:lnTo>
                <a:lnTo>
                  <a:pt x="53940" y="71467"/>
                </a:lnTo>
                <a:lnTo>
                  <a:pt x="54076" y="71332"/>
                </a:lnTo>
                <a:lnTo>
                  <a:pt x="54212" y="71196"/>
                </a:lnTo>
                <a:lnTo>
                  <a:pt x="54212" y="66848"/>
                </a:lnTo>
                <a:lnTo>
                  <a:pt x="54348" y="66712"/>
                </a:lnTo>
                <a:lnTo>
                  <a:pt x="54484" y="66576"/>
                </a:lnTo>
                <a:lnTo>
                  <a:pt x="54484" y="66304"/>
                </a:lnTo>
                <a:lnTo>
                  <a:pt x="54484" y="66033"/>
                </a:lnTo>
                <a:lnTo>
                  <a:pt x="54348" y="65897"/>
                </a:lnTo>
                <a:lnTo>
                  <a:pt x="54212" y="65761"/>
                </a:lnTo>
                <a:lnTo>
                  <a:pt x="54348" y="65625"/>
                </a:lnTo>
                <a:lnTo>
                  <a:pt x="54484" y="65489"/>
                </a:lnTo>
                <a:lnTo>
                  <a:pt x="54484" y="63587"/>
                </a:lnTo>
                <a:lnTo>
                  <a:pt x="55978" y="62908"/>
                </a:lnTo>
                <a:lnTo>
                  <a:pt x="56793" y="62092"/>
                </a:lnTo>
                <a:lnTo>
                  <a:pt x="57065" y="62092"/>
                </a:lnTo>
                <a:lnTo>
                  <a:pt x="59103" y="60054"/>
                </a:lnTo>
                <a:lnTo>
                  <a:pt x="59103" y="59783"/>
                </a:lnTo>
                <a:lnTo>
                  <a:pt x="60462" y="58424"/>
                </a:lnTo>
                <a:lnTo>
                  <a:pt x="60462" y="58152"/>
                </a:lnTo>
                <a:lnTo>
                  <a:pt x="61005" y="57609"/>
                </a:lnTo>
                <a:lnTo>
                  <a:pt x="61821" y="55978"/>
                </a:lnTo>
                <a:lnTo>
                  <a:pt x="60870" y="54755"/>
                </a:lnTo>
                <a:lnTo>
                  <a:pt x="59783" y="54755"/>
                </a:lnTo>
                <a:lnTo>
                  <a:pt x="58967" y="55571"/>
                </a:lnTo>
                <a:lnTo>
                  <a:pt x="55435" y="59103"/>
                </a:lnTo>
                <a:lnTo>
                  <a:pt x="54348" y="59647"/>
                </a:lnTo>
                <a:lnTo>
                  <a:pt x="52717" y="59647"/>
                </a:lnTo>
                <a:lnTo>
                  <a:pt x="52582" y="59511"/>
                </a:lnTo>
                <a:lnTo>
                  <a:pt x="53261" y="58560"/>
                </a:lnTo>
                <a:lnTo>
                  <a:pt x="54620" y="58016"/>
                </a:lnTo>
                <a:lnTo>
                  <a:pt x="57201" y="55435"/>
                </a:lnTo>
                <a:lnTo>
                  <a:pt x="57201" y="55163"/>
                </a:lnTo>
                <a:lnTo>
                  <a:pt x="58424" y="53940"/>
                </a:lnTo>
                <a:lnTo>
                  <a:pt x="59511" y="53397"/>
                </a:lnTo>
                <a:lnTo>
                  <a:pt x="61413" y="53397"/>
                </a:lnTo>
                <a:lnTo>
                  <a:pt x="61957" y="53668"/>
                </a:lnTo>
                <a:lnTo>
                  <a:pt x="62636" y="54348"/>
                </a:lnTo>
                <a:lnTo>
                  <a:pt x="63179" y="55435"/>
                </a:lnTo>
                <a:lnTo>
                  <a:pt x="63179" y="56250"/>
                </a:lnTo>
                <a:lnTo>
                  <a:pt x="62364" y="57880"/>
                </a:lnTo>
                <a:lnTo>
                  <a:pt x="61821" y="58424"/>
                </a:lnTo>
                <a:lnTo>
                  <a:pt x="61549" y="59239"/>
                </a:lnTo>
                <a:lnTo>
                  <a:pt x="61005" y="59783"/>
                </a:lnTo>
                <a:lnTo>
                  <a:pt x="61005" y="60054"/>
                </a:lnTo>
                <a:lnTo>
                  <a:pt x="58967" y="62364"/>
                </a:lnTo>
                <a:lnTo>
                  <a:pt x="58696" y="62364"/>
                </a:lnTo>
                <a:lnTo>
                  <a:pt x="57880" y="63179"/>
                </a:lnTo>
                <a:lnTo>
                  <a:pt x="57609" y="63179"/>
                </a:lnTo>
                <a:lnTo>
                  <a:pt x="57065" y="63723"/>
                </a:lnTo>
                <a:lnTo>
                  <a:pt x="56793" y="63723"/>
                </a:lnTo>
                <a:lnTo>
                  <a:pt x="56250" y="64266"/>
                </a:lnTo>
                <a:lnTo>
                  <a:pt x="55978" y="64266"/>
                </a:lnTo>
                <a:lnTo>
                  <a:pt x="55842" y="64402"/>
                </a:lnTo>
                <a:lnTo>
                  <a:pt x="55842" y="65489"/>
                </a:lnTo>
                <a:lnTo>
                  <a:pt x="55707" y="65625"/>
                </a:lnTo>
                <a:lnTo>
                  <a:pt x="55571" y="65761"/>
                </a:lnTo>
                <a:lnTo>
                  <a:pt x="55571" y="71196"/>
                </a:lnTo>
                <a:lnTo>
                  <a:pt x="55435" y="71332"/>
                </a:lnTo>
                <a:lnTo>
                  <a:pt x="55299" y="71467"/>
                </a:lnTo>
                <a:lnTo>
                  <a:pt x="55299" y="77446"/>
                </a:lnTo>
                <a:lnTo>
                  <a:pt x="54620" y="78125"/>
                </a:lnTo>
                <a:lnTo>
                  <a:pt x="50272" y="78125"/>
                </a:lnTo>
                <a:lnTo>
                  <a:pt x="50136" y="77989"/>
                </a:lnTo>
                <a:lnTo>
                  <a:pt x="50000" y="77853"/>
                </a:lnTo>
                <a:lnTo>
                  <a:pt x="49728" y="77853"/>
                </a:lnTo>
                <a:lnTo>
                  <a:pt x="49457" y="77853"/>
                </a:lnTo>
                <a:lnTo>
                  <a:pt x="49321" y="77989"/>
                </a:lnTo>
                <a:lnTo>
                  <a:pt x="49185" y="78125"/>
                </a:lnTo>
                <a:lnTo>
                  <a:pt x="44837" y="78125"/>
                </a:lnTo>
                <a:lnTo>
                  <a:pt x="44429" y="77717"/>
                </a:lnTo>
                <a:lnTo>
                  <a:pt x="44429" y="76630"/>
                </a:lnTo>
                <a:lnTo>
                  <a:pt x="44293" y="76495"/>
                </a:lnTo>
                <a:lnTo>
                  <a:pt x="44158" y="76359"/>
                </a:lnTo>
                <a:lnTo>
                  <a:pt x="44158" y="70924"/>
                </a:lnTo>
                <a:lnTo>
                  <a:pt x="44022" y="70788"/>
                </a:lnTo>
                <a:lnTo>
                  <a:pt x="43886" y="70652"/>
                </a:lnTo>
                <a:lnTo>
                  <a:pt x="43886" y="64674"/>
                </a:lnTo>
                <a:lnTo>
                  <a:pt x="43207" y="63995"/>
                </a:lnTo>
                <a:lnTo>
                  <a:pt x="42935" y="63995"/>
                </a:lnTo>
                <a:lnTo>
                  <a:pt x="41304" y="62636"/>
                </a:lnTo>
                <a:lnTo>
                  <a:pt x="41033" y="62636"/>
                </a:lnTo>
                <a:lnTo>
                  <a:pt x="38995" y="60598"/>
                </a:lnTo>
                <a:lnTo>
                  <a:pt x="38451" y="59511"/>
                </a:lnTo>
                <a:lnTo>
                  <a:pt x="37092" y="57880"/>
                </a:lnTo>
                <a:lnTo>
                  <a:pt x="36549" y="56793"/>
                </a:lnTo>
                <a:lnTo>
                  <a:pt x="36549" y="55163"/>
                </a:lnTo>
                <a:lnTo>
                  <a:pt x="36821" y="54620"/>
                </a:lnTo>
                <a:lnTo>
                  <a:pt x="37772" y="53668"/>
                </a:lnTo>
                <a:lnTo>
                  <a:pt x="38043" y="53668"/>
                </a:lnTo>
                <a:lnTo>
                  <a:pt x="38179" y="53533"/>
                </a:lnTo>
                <a:close/>
              </a:path>
            </a:pathLst>
          </a:custGeom>
          <a:solidFill>
            <a:srgbClr val="FFFFFF"/>
          </a:solidFill>
          <a:ln>
            <a:noFill/>
          </a:ln>
        </p:spPr>
        <p:txBody>
          <a:bodyPr/>
          <a:p/>
        </p:txBody>
      </p:sp>
      <p:sp>
        <p:nvSpPr>
          <p:cNvPr id="8" name="Text 6"/>
          <p:cNvSpPr/>
          <p:nvPr/>
        </p:nvSpPr>
        <p:spPr>
          <a:xfrm>
            <a:off x="676656" y="3346704"/>
            <a:ext cx="4133088" cy="960120"/>
          </a:xfrm>
          <a:prstGeom prst="rect">
            <a:avLst/>
          </a:prstGeom>
          <a:noFill/>
          <a:ln/>
        </p:spPr>
        <p:txBody>
          <a:bodyPr wrap="square" lIns="0" tIns="0" rIns="0" bIns="0" rtlCol="0" anchor="ctr"/>
          <a:lstStyle/>
          <a:p>
            <a:pPr indent="0" marL="0">
              <a:buNone/>
            </a:pPr>
            <a:r>
              <a:rPr lang="en-US" sz="2700" b="1" dirty="0">
                <a:solidFill>
                  <a:srgbClr val="FFFFFF"/>
                </a:solidFill>
                <a:latin typeface="Aptos" pitchFamily="34" charset="0"/>
                <a:ea typeface="Segoe UI" pitchFamily="34" charset="-122"/>
                <a:cs typeface="Segoe UI" pitchFamily="34" charset="-120"/>
              </a:rPr>
              <a:t>Revenu</a:t>
            </a:r>
            <a:endParaRPr lang="en-US" sz="2700" dirty="0"/>
          </a:p>
          <a:p>
            <a:pPr indent="0" marL="0">
              <a:buNone/>
            </a:pPr>
            <a:r>
              <a:rPr lang="en-US" sz="2700" b="1" dirty="0">
                <a:solidFill>
                  <a:srgbClr val="FFFFFF"/>
                </a:solidFill>
                <a:latin typeface="Aptos" pitchFamily="34" charset="0"/>
                <a:ea typeface="Segoe UI" pitchFamily="34" charset="-122"/>
                <a:cs typeface="Segoe UI" pitchFamily="34" charset="-120"/>
              </a:rPr>
              <a:t>&amp; présence d’enfants</a:t>
            </a:r>
            <a:endParaRPr lang="en-US" sz="2700" dirty="0"/>
          </a:p>
        </p:txBody>
      </p:sp>
      <p:sp>
        <p:nvSpPr>
          <p:cNvPr id="9" name="Text 7"/>
          <p:cNvSpPr/>
          <p:nvPr/>
        </p:nvSpPr>
        <p:spPr>
          <a:xfrm>
            <a:off x="676656" y="4526280"/>
            <a:ext cx="4123944" cy="740664"/>
          </a:xfrm>
          <a:prstGeom prst="rect">
            <a:avLst/>
          </a:prstGeom>
          <a:noFill/>
          <a:ln/>
        </p:spPr>
        <p:txBody>
          <a:bodyPr wrap="square" lIns="0" tIns="0" rIns="0" bIns="0" rtlCol="0" anchor="t"/>
          <a:lstStyle/>
          <a:p>
            <a:pPr indent="0" marL="0">
              <a:buNone/>
            </a:pPr>
            <a:r>
              <a:rPr lang="en-US" sz="1600" dirty="0">
                <a:solidFill>
                  <a:srgbClr val="E2E8F0"/>
                </a:solidFill>
                <a:latin typeface="Aptos" pitchFamily="34" charset="0"/>
                <a:ea typeface="Segoe UI" pitchFamily="34" charset="-122"/>
                <a:cs typeface="Segoe UI" pitchFamily="34" charset="-120"/>
              </a:rPr>
              <a:t>Des comportements observés différents.</a:t>
            </a:r>
            <a:endParaRPr lang="en-US" sz="1700" dirty="0"/>
          </a:p>
          <a:p>
            <a:pPr indent="0" marL="0">
              <a:buNone/>
            </a:pPr>
            <a:r>
              <a:rPr lang="en-US" sz="1600" dirty="0">
                <a:solidFill>
                  <a:srgbClr val="E2E8F0"/>
                </a:solidFill>
                <a:latin typeface="Aptos" pitchFamily="34" charset="0"/>
                <a:ea typeface="Segoe UI" pitchFamily="34" charset="-122"/>
                <a:cs typeface="Segoe UI" pitchFamily="34" charset="-120"/>
              </a:rPr>
              <a:t>Des actions ciblées à tester.</a:t>
            </a:r>
          </a:p>
        </p:txBody>
      </p:sp>
      <p:sp>
        <p:nvSpPr>
          <p:cNvPr id="10" name="Text 8"/>
          <p:cNvSpPr/>
          <p:nvPr/>
        </p:nvSpPr>
        <p:spPr>
          <a:xfrm>
            <a:off x="676656" y="5532120"/>
            <a:ext cx="4087368" cy="612648"/>
          </a:xfrm>
          <a:prstGeom prst="rect">
            <a:avLst/>
          </a:prstGeom>
          <a:noFill/>
          <a:ln/>
        </p:spPr>
        <p:txBody>
          <a:bodyPr wrap="square" lIns="0" tIns="0" rIns="0" bIns="0" rtlCol="0" anchor="ctr"/>
          <a:lstStyle/>
          <a:p>
            <a:pPr indent="0" marL="0">
              <a:buNone/>
            </a:pPr>
            <a:r>
              <a:rPr lang="en-US" sz="2000" b="1" dirty="0">
                <a:solidFill>
                  <a:srgbClr val="93C5FD"/>
                </a:solidFill>
                <a:latin typeface="Aptos" pitchFamily="34" charset="0"/>
                <a:ea typeface="Segoe UI" pitchFamily="34" charset="-122"/>
                <a:cs typeface="Segoe UI" pitchFamily="34" charset="-120"/>
              </a:rPr>
              <a:t>Des hypothèses commerciales</a:t>
            </a:r>
            <a:endParaRPr lang="en-US" sz="2200" dirty="0"/>
          </a:p>
          <a:p>
            <a:pPr indent="0" marL="0">
              <a:buNone/>
            </a:pPr>
            <a:r>
              <a:rPr lang="en-US" sz="2000" b="1" dirty="0">
                <a:solidFill>
                  <a:srgbClr val="93C5FD"/>
                </a:solidFill>
                <a:latin typeface="Aptos" pitchFamily="34" charset="0"/>
                <a:ea typeface="Segoe UI" pitchFamily="34" charset="-122"/>
                <a:cs typeface="Segoe UI" pitchFamily="34" charset="-120"/>
              </a:rPr>
              <a:t>à valider expérimentalement</a:t>
            </a:r>
          </a:p>
        </p:txBody>
      </p:sp>
      <p:sp>
        <p:nvSpPr>
          <p:cNvPr id="11" name="Shape 9"/>
          <p:cNvSpPr/>
          <p:nvPr/>
        </p:nvSpPr>
        <p:spPr>
          <a:xfrm>
            <a:off x="5102352" y="1792224"/>
            <a:ext cx="6583680" cy="4544568"/>
          </a:xfrm>
          <a:prstGeom prst="roundRect">
            <a:avLst>
              <a:gd name="adj" fmla="val 2817"/>
            </a:avLst>
          </a:prstGeom>
          <a:solidFill>
            <a:srgbClr val="243F59"/>
          </a:solidFill>
          <a:ln w="12700">
            <a:solidFill>
              <a:srgbClr val="243F59">
                <a:alpha val="0"/>
              </a:srgbClr>
            </a:solidFill>
            <a:prstDash val="solid"/>
          </a:ln>
        </p:spPr>
        <p:txBody>
          <a:bodyPr/>
          <a:p/>
        </p:txBody>
      </p:sp>
      <p:sp>
        <p:nvSpPr>
          <p:cNvPr id="12" name="Text 10"/>
          <p:cNvSpPr/>
          <p:nvPr/>
        </p:nvSpPr>
        <p:spPr>
          <a:xfrm>
            <a:off x="5376672" y="2029968"/>
            <a:ext cx="6007608" cy="384048"/>
          </a:xfrm>
          <a:prstGeom prst="rect">
            <a:avLst/>
          </a:prstGeom>
          <a:noFill/>
          <a:ln/>
        </p:spPr>
        <p:txBody>
          <a:bodyPr wrap="square" lIns="0" tIns="0" rIns="0" bIns="0" rtlCol="0" anchor="ctr"/>
          <a:lstStyle/>
          <a:p>
            <a:pPr indent="0" marL="0">
              <a:buNone/>
            </a:pPr>
            <a:r>
              <a:rPr lang="en-US" sz="2700" b="1" dirty="0">
                <a:solidFill>
                  <a:srgbClr val="FFFFFF"/>
                </a:solidFill>
                <a:latin typeface="Aptos" pitchFamily="34" charset="0"/>
                <a:ea typeface="Segoe UI" pitchFamily="34" charset="-122"/>
                <a:cs typeface="Segoe UI" pitchFamily="34" charset="-120"/>
              </a:rPr>
              <a:t>Limites à garder en vue</a:t>
            </a:r>
            <a:endParaRPr lang="en-US" sz="2700" dirty="0"/>
          </a:p>
        </p:txBody>
      </p:sp>
      <p:sp>
        <p:nvSpPr>
          <p:cNvPr id="13" name="Shape 11"/>
          <p:cNvSpPr/>
          <p:nvPr/>
        </p:nvSpPr>
        <p:spPr>
          <a:xfrm>
            <a:off x="5394960" y="2798064"/>
            <a:ext cx="256032" cy="256032"/>
          </a:xfrm>
          <a:prstGeom prst="ellipse">
            <a:avLst/>
          </a:prstGeom>
          <a:solidFill>
            <a:srgbClr val="1D4ED8"/>
          </a:solidFill>
          <a:ln w="12700">
            <a:solidFill>
              <a:srgbClr val="1D4ED8">
                <a:alpha val="0"/>
              </a:srgbClr>
            </a:solidFill>
            <a:prstDash val="solid"/>
          </a:ln>
        </p:spPr>
        <p:txBody>
          <a:bodyPr/>
          <a:p/>
        </p:txBody>
      </p:sp>
      <p:sp>
        <p:nvSpPr>
          <p:cNvPr id="14" name="Text 12"/>
          <p:cNvSpPr/>
          <p:nvPr/>
        </p:nvSpPr>
        <p:spPr>
          <a:xfrm>
            <a:off x="5422392" y="2816352"/>
            <a:ext cx="201168" cy="173736"/>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Segoe UI" pitchFamily="34" charset="-122"/>
                <a:cs typeface="Segoe UI" pitchFamily="34" charset="-120"/>
              </a:rPr>
              <a:t>1</a:t>
            </a:r>
            <a:endParaRPr lang="en-US" sz="1000" dirty="0"/>
          </a:p>
        </p:txBody>
      </p:sp>
      <p:sp>
        <p:nvSpPr>
          <p:cNvPr id="15" name="Text 13"/>
          <p:cNvSpPr/>
          <p:nvPr/>
        </p:nvSpPr>
        <p:spPr>
          <a:xfrm>
            <a:off x="5861304" y="2724912"/>
            <a:ext cx="5486400" cy="548640"/>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Segoe UI" pitchFamily="34" charset="-122"/>
                <a:cs typeface="Segoe UI" pitchFamily="34" charset="-120"/>
              </a:rPr>
              <a:t>Séparation modérée : silhouette 0,304.</a:t>
            </a:r>
            <a:endParaRPr lang="en-US" sz="1600" dirty="0"/>
          </a:p>
          <a:p>
            <a:pPr indent="0" marL="0">
              <a:buNone/>
            </a:pPr>
            <a:r>
              <a:rPr lang="en-US" sz="1400" dirty="0">
                <a:solidFill>
                  <a:srgbClr val="FFFFFF"/>
                </a:solidFill>
                <a:latin typeface="Aptos" pitchFamily="34" charset="0"/>
                <a:ea typeface="Segoe UI" pitchFamily="34" charset="-122"/>
                <a:cs typeface="Segoe UI" pitchFamily="34" charset="-120"/>
              </a:rPr>
              <a:t>Deux et trois groupes ont de meilleurs indices.</a:t>
            </a:r>
          </a:p>
        </p:txBody>
      </p:sp>
      <p:sp>
        <p:nvSpPr>
          <p:cNvPr id="16" name="Shape 14"/>
          <p:cNvSpPr/>
          <p:nvPr/>
        </p:nvSpPr>
        <p:spPr>
          <a:xfrm>
            <a:off x="5394960" y="3493008"/>
            <a:ext cx="256032" cy="256032"/>
          </a:xfrm>
          <a:prstGeom prst="ellipse">
            <a:avLst/>
          </a:prstGeom>
          <a:solidFill>
            <a:srgbClr val="1D4ED8"/>
          </a:solidFill>
          <a:ln w="12700">
            <a:solidFill>
              <a:srgbClr val="1D4ED8">
                <a:alpha val="0"/>
              </a:srgbClr>
            </a:solidFill>
            <a:prstDash val="solid"/>
          </a:ln>
        </p:spPr>
        <p:txBody>
          <a:bodyPr/>
          <a:p/>
        </p:txBody>
      </p:sp>
      <p:sp>
        <p:nvSpPr>
          <p:cNvPr id="17" name="Text 15"/>
          <p:cNvSpPr/>
          <p:nvPr/>
        </p:nvSpPr>
        <p:spPr>
          <a:xfrm>
            <a:off x="5422392" y="3511296"/>
            <a:ext cx="201168" cy="173736"/>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Segoe UI" pitchFamily="34" charset="-122"/>
                <a:cs typeface="Segoe UI" pitchFamily="34" charset="-120"/>
              </a:rPr>
              <a:t>2</a:t>
            </a:r>
            <a:endParaRPr lang="en-US" sz="1000" dirty="0"/>
          </a:p>
        </p:txBody>
      </p:sp>
      <p:sp>
        <p:nvSpPr>
          <p:cNvPr id="18" name="Text 16"/>
          <p:cNvSpPr/>
          <p:nvPr/>
        </p:nvSpPr>
        <p:spPr>
          <a:xfrm>
            <a:off x="5861304" y="3419856"/>
            <a:ext cx="5486400" cy="548640"/>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Segoe UI" pitchFamily="34" charset="-122"/>
                <a:cs typeface="Segoe UI" pitchFamily="34" charset="-120"/>
              </a:rPr>
              <a:t>Quatre axes conservent 61,0 % de variance.</a:t>
            </a:r>
            <a:endParaRPr lang="en-US" sz="1600" dirty="0"/>
          </a:p>
          <a:p>
            <a:pPr indent="0" marL="0">
              <a:buNone/>
            </a:pPr>
            <a:r>
              <a:rPr lang="en-US" sz="1400" dirty="0">
                <a:solidFill>
                  <a:srgbClr val="FFFFFF"/>
                </a:solidFill>
                <a:latin typeface="Aptos" pitchFamily="34" charset="0"/>
                <a:ea typeface="Segoe UI" pitchFamily="34" charset="-122"/>
                <a:cs typeface="Segoe UI" pitchFamily="34" charset="-120"/>
              </a:rPr>
              <a:t>Coude KMeans ; modèle final Ward.</a:t>
            </a:r>
          </a:p>
        </p:txBody>
      </p:sp>
      <p:sp>
        <p:nvSpPr>
          <p:cNvPr id="19" name="Shape 17"/>
          <p:cNvSpPr/>
          <p:nvPr/>
        </p:nvSpPr>
        <p:spPr>
          <a:xfrm>
            <a:off x="5394960" y="4187952"/>
            <a:ext cx="256032" cy="256032"/>
          </a:xfrm>
          <a:prstGeom prst="ellipse">
            <a:avLst/>
          </a:prstGeom>
          <a:solidFill>
            <a:srgbClr val="1D4ED8"/>
          </a:solidFill>
          <a:ln w="12700">
            <a:solidFill>
              <a:srgbClr val="1D4ED8">
                <a:alpha val="0"/>
              </a:srgbClr>
            </a:solidFill>
            <a:prstDash val="solid"/>
          </a:ln>
        </p:spPr>
        <p:txBody>
          <a:bodyPr/>
          <a:p/>
        </p:txBody>
      </p:sp>
      <p:sp>
        <p:nvSpPr>
          <p:cNvPr id="20" name="Text 18"/>
          <p:cNvSpPr/>
          <p:nvPr/>
        </p:nvSpPr>
        <p:spPr>
          <a:xfrm>
            <a:off x="5422392" y="4206240"/>
            <a:ext cx="201168" cy="173736"/>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Segoe UI" pitchFamily="34" charset="-122"/>
                <a:cs typeface="Segoe UI" pitchFamily="34" charset="-120"/>
              </a:rPr>
              <a:t>3</a:t>
            </a:r>
            <a:endParaRPr lang="en-US" sz="1000" dirty="0"/>
          </a:p>
        </p:txBody>
      </p:sp>
      <p:sp>
        <p:nvSpPr>
          <p:cNvPr id="21" name="Text 19"/>
          <p:cNvSpPr/>
          <p:nvPr/>
        </p:nvSpPr>
        <p:spPr>
          <a:xfrm>
            <a:off x="5861304" y="4114800"/>
            <a:ext cx="5486400" cy="548640"/>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Segoe UI" pitchFamily="34" charset="-122"/>
                <a:cs typeface="Segoe UI" pitchFamily="34" charset="-120"/>
              </a:rPr>
              <a:t>Variables de dépenses et de foyer redondantes.</a:t>
            </a:r>
            <a:endParaRPr lang="en-US" sz="1600" dirty="0"/>
          </a:p>
          <a:p>
            <a:pPr indent="0" marL="0">
              <a:buNone/>
            </a:pPr>
            <a:r>
              <a:rPr lang="en-US" sz="1400" dirty="0">
                <a:solidFill>
                  <a:srgbClr val="FFFFFF"/>
                </a:solidFill>
                <a:latin typeface="Aptos" pitchFamily="34" charset="0"/>
                <a:ea typeface="Segoe UI" pitchFamily="34" charset="-122"/>
                <a:cs typeface="Segoe UI" pitchFamily="34" charset="-120"/>
              </a:rPr>
              <a:t>Encodage alphabétique de l’éducation.</a:t>
            </a:r>
          </a:p>
        </p:txBody>
      </p:sp>
      <p:sp>
        <p:nvSpPr>
          <p:cNvPr id="22" name="Shape 20"/>
          <p:cNvSpPr/>
          <p:nvPr/>
        </p:nvSpPr>
        <p:spPr>
          <a:xfrm>
            <a:off x="5394960" y="4882896"/>
            <a:ext cx="256032" cy="256032"/>
          </a:xfrm>
          <a:prstGeom prst="ellipse">
            <a:avLst/>
          </a:prstGeom>
          <a:solidFill>
            <a:srgbClr val="1D4ED8"/>
          </a:solidFill>
          <a:ln w="12700">
            <a:solidFill>
              <a:srgbClr val="1D4ED8">
                <a:alpha val="0"/>
              </a:srgbClr>
            </a:solidFill>
            <a:prstDash val="solid"/>
          </a:ln>
        </p:spPr>
        <p:txBody>
          <a:bodyPr/>
          <a:p/>
        </p:txBody>
      </p:sp>
      <p:sp>
        <p:nvSpPr>
          <p:cNvPr id="23" name="Text 21"/>
          <p:cNvSpPr/>
          <p:nvPr/>
        </p:nvSpPr>
        <p:spPr>
          <a:xfrm>
            <a:off x="5422392" y="4901184"/>
            <a:ext cx="201168" cy="173736"/>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Segoe UI" pitchFamily="34" charset="-122"/>
                <a:cs typeface="Segoe UI" pitchFamily="34" charset="-120"/>
              </a:rPr>
              <a:t>4</a:t>
            </a:r>
            <a:endParaRPr lang="en-US" sz="1000" dirty="0"/>
          </a:p>
        </p:txBody>
      </p:sp>
      <p:sp>
        <p:nvSpPr>
          <p:cNvPr id="24" name="Text 22"/>
          <p:cNvSpPr/>
          <p:nvPr/>
        </p:nvSpPr>
        <p:spPr>
          <a:xfrm>
            <a:off x="5861304" y="4809744"/>
            <a:ext cx="5486400" cy="548640"/>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Segoe UI" pitchFamily="34" charset="-122"/>
                <a:cs typeface="Segoe UI" pitchFamily="34" charset="-120"/>
              </a:rPr>
              <a:t>Achats promotionnels inclus dans le clustering.</a:t>
            </a:r>
            <a:endParaRPr lang="en-US" sz="1600" dirty="0"/>
          </a:p>
          <a:p>
            <a:pPr indent="0" marL="0">
              <a:buNone/>
            </a:pPr>
            <a:r>
              <a:rPr lang="en-US" sz="1400" dirty="0">
                <a:solidFill>
                  <a:srgbClr val="FFFFFF"/>
                </a:solidFill>
                <a:latin typeface="Aptos" pitchFamily="34" charset="0"/>
                <a:ea typeface="Segoe UI" pitchFamily="34" charset="-122"/>
                <a:cs typeface="Segoe UI" pitchFamily="34" charset="-120"/>
              </a:rPr>
              <a:t>Stabilité sur de nouveaux clients non mesurée.</a:t>
            </a:r>
          </a:p>
        </p:txBody>
      </p:sp>
      <p:sp>
        <p:nvSpPr>
          <p:cNvPr id="25" name="Shape 23"/>
          <p:cNvSpPr/>
          <p:nvPr/>
        </p:nvSpPr>
        <p:spPr>
          <a:xfrm>
            <a:off x="5394960" y="5577840"/>
            <a:ext cx="256032" cy="256032"/>
          </a:xfrm>
          <a:prstGeom prst="ellipse">
            <a:avLst/>
          </a:prstGeom>
          <a:solidFill>
            <a:srgbClr val="1D4ED8"/>
          </a:solidFill>
          <a:ln w="12700">
            <a:solidFill>
              <a:srgbClr val="1D4ED8">
                <a:alpha val="0"/>
              </a:srgbClr>
            </a:solidFill>
            <a:prstDash val="solid"/>
          </a:ln>
        </p:spPr>
        <p:txBody>
          <a:bodyPr/>
          <a:p/>
        </p:txBody>
      </p:sp>
      <p:sp>
        <p:nvSpPr>
          <p:cNvPr id="26" name="Text 24"/>
          <p:cNvSpPr/>
          <p:nvPr/>
        </p:nvSpPr>
        <p:spPr>
          <a:xfrm>
            <a:off x="5422392" y="5596128"/>
            <a:ext cx="201168" cy="173736"/>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Segoe UI" pitchFamily="34" charset="-122"/>
                <a:cs typeface="Segoe UI" pitchFamily="34" charset="-120"/>
              </a:rPr>
              <a:t>5</a:t>
            </a:r>
            <a:endParaRPr lang="en-US" sz="1000" dirty="0"/>
          </a:p>
        </p:txBody>
      </p:sp>
      <p:sp>
        <p:nvSpPr>
          <p:cNvPr id="27" name="Text 25"/>
          <p:cNvSpPr/>
          <p:nvPr/>
        </p:nvSpPr>
        <p:spPr>
          <a:xfrm>
            <a:off x="5861304" y="5504688"/>
            <a:ext cx="5486400" cy="548640"/>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Segoe UI" pitchFamily="34" charset="-122"/>
                <a:cs typeface="Segoe UI" pitchFamily="34" charset="-120"/>
              </a:rPr>
              <a:t>24 revenus supprimés : biais à évaluer.</a:t>
            </a:r>
            <a:endParaRPr lang="en-US" sz="1600" dirty="0"/>
          </a:p>
          <a:p>
            <a:pPr indent="0" marL="0">
              <a:buNone/>
            </a:pPr>
            <a:r>
              <a:rPr lang="en-US" sz="1400" dirty="0">
                <a:solidFill>
                  <a:srgbClr val="FFFFFF"/>
                </a:solidFill>
                <a:latin typeface="Aptos" pitchFamily="34" charset="0"/>
                <a:ea typeface="Segoe UI" pitchFamily="34" charset="-122"/>
                <a:cs typeface="Segoe UI" pitchFamily="34" charset="-120"/>
              </a:rPr>
              <a:t>Aucun effet causal des actions n’est démontré.</a:t>
            </a:r>
          </a:p>
        </p:txBody>
      </p:sp>
      <p:sp>
        <p:nvSpPr>
          <p:cNvPr id="28" name="Text 26"/>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E2E8F0"/>
                </a:solidFill>
                <a:latin typeface="Aptos" pitchFamily="34" charset="0"/>
                <a:ea typeface="Segoe UI" pitchFamily="34" charset="-122"/>
                <a:cs typeface="Segoe UI" pitchFamily="34" charset="-120"/>
              </a:rPr>
              <a:t>Customer Personality Analysis · Projet collectif ENSEA · Abdoulaye KONE</a:t>
            </a:r>
            <a:endParaRPr lang="en-US" sz="1000" dirty="0"/>
          </a:p>
        </p:txBody>
      </p:sp>
      <p:sp>
        <p:nvSpPr>
          <p:cNvPr id="29" name="Text 27"/>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E2E8F0"/>
                </a:solidFill>
                <a:latin typeface="Aptos" pitchFamily="34" charset="0"/>
                <a:ea typeface="Segoe UI" pitchFamily="34" charset="-122"/>
                <a:cs typeface="Segoe U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29184"/>
            <a:ext cx="11301984" cy="685800"/>
          </a:xfrm>
          <a:prstGeom prst="rect">
            <a:avLst/>
          </a:prstGeom>
          <a:noFill/>
          <a:ln/>
        </p:spPr>
        <p:txBody>
          <a:bodyPr wrap="square" lIns="0" tIns="0" rIns="0" bIns="0" rtlCol="0" anchor="ctr"/>
          <a:lstStyle/>
          <a:p>
            <a:pPr indent="0" marL="0">
              <a:buNone/>
            </a:pPr>
            <a:r>
              <a:rPr lang="en-US" sz="4200" b="1" dirty="0">
                <a:solidFill>
                  <a:srgbClr val="2563EB"/>
                </a:solidFill>
                <a:latin typeface="Aptos" pitchFamily="34" charset="0"/>
                <a:ea typeface="Segoe UI" pitchFamily="34" charset="-122"/>
                <a:cs typeface="Segoe UI" pitchFamily="34" charset="-120"/>
              </a:rPr>
              <a:t>17. Sources &amp; équipe</a:t>
            </a:r>
            <a:endParaRPr lang="en-US" sz="4200" dirty="0"/>
          </a:p>
        </p:txBody>
      </p:sp>
      <p:sp>
        <p:nvSpPr>
          <p:cNvPr id="3" name="Text 1"/>
          <p:cNvSpPr/>
          <p:nvPr/>
        </p:nvSpPr>
        <p:spPr>
          <a:xfrm>
            <a:off x="457200" y="1088136"/>
            <a:ext cx="11228832" cy="347472"/>
          </a:xfrm>
          <a:prstGeom prst="rect">
            <a:avLst/>
          </a:prstGeom>
          <a:noFill/>
          <a:ln/>
        </p:spPr>
        <p:txBody>
          <a:bodyPr wrap="square" lIns="0" tIns="0" rIns="0" bIns="0" rtlCol="0" anchor="ctr"/>
          <a:lstStyle/>
          <a:p>
            <a:pPr indent="0" marL="0">
              <a:buNone/>
            </a:pPr>
            <a:r>
              <a:rPr lang="en-US" sz="1700" dirty="0">
                <a:solidFill>
                  <a:srgbClr val="17324D"/>
                </a:solidFill>
                <a:latin typeface="Aptos" pitchFamily="34" charset="0"/>
                <a:ea typeface="Segoe UI" pitchFamily="34" charset="-122"/>
                <a:cs typeface="Segoe UI" pitchFamily="34" charset="-120"/>
              </a:rPr>
              <a:t>Sources, contributions et cadre du projet collectif ENSEA.</a:t>
            </a:r>
            <a:endParaRPr lang="en-US" sz="1700" dirty="0"/>
          </a:p>
        </p:txBody>
      </p:sp>
      <p:sp>
        <p:nvSpPr>
          <p:cNvPr id="4" name="Text 2"/>
          <p:cNvSpPr/>
          <p:nvPr/>
        </p:nvSpPr>
        <p:spPr>
          <a:xfrm>
            <a:off x="393192" y="6510528"/>
            <a:ext cx="10607040" cy="164592"/>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Customer Personality Analysis · Projet collectif ENSEA · Abdoulaye KONE</a:t>
            </a:r>
            <a:endParaRPr lang="en-US" sz="1000" dirty="0"/>
          </a:p>
        </p:txBody>
      </p:sp>
      <p:sp>
        <p:nvSpPr>
          <p:cNvPr id="5" name="Text 3"/>
          <p:cNvSpPr/>
          <p:nvPr/>
        </p:nvSpPr>
        <p:spPr>
          <a:xfrm>
            <a:off x="11558016" y="6492240"/>
            <a:ext cx="228600" cy="201168"/>
          </a:xfrm>
          <a:prstGeom prst="rect">
            <a:avLst/>
          </a:prstGeom>
          <a:noFill/>
          <a:ln/>
        </p:spPr>
        <p:txBody>
          <a:bodyPr wrap="square" lIns="0" tIns="0" rIns="0" bIns="0" rtlCol="0" anchor="ctr"/>
          <a:lstStyle/>
          <a:p>
            <a:pPr indent="0" marL="0">
              <a:buNone/>
            </a:pPr>
            <a:r>
              <a:rPr lang="en-US" sz="1000" dirty="0">
                <a:solidFill>
                  <a:srgbClr val="334155"/>
                </a:solidFill>
                <a:latin typeface="Aptos" pitchFamily="34" charset="0"/>
                <a:ea typeface="Segoe UI" pitchFamily="34" charset="-122"/>
                <a:cs typeface="Segoe UI" pitchFamily="34" charset="-120"/>
              </a:rPr>
              <a:t>17</a:t>
            </a:r>
            <a:endParaRPr lang="en-US" sz="1000" dirty="0"/>
          </a:p>
        </p:txBody>
      </p:sp>
      <p:sp>
        <p:nvSpPr>
          <p:cNvPr id="7" name="Shape 4"/>
          <p:cNvSpPr/>
          <p:nvPr/>
        </p:nvSpPr>
        <p:spPr>
          <a:xfrm>
            <a:off x="466344" y="1783080"/>
            <a:ext cx="11201400" cy="1316736"/>
          </a:xfrm>
          <a:prstGeom prst="roundRect">
            <a:avLst>
              <a:gd name="adj" fmla="val 9722"/>
            </a:avLst>
          </a:prstGeom>
          <a:solidFill>
            <a:srgbClr val="EFF6FF"/>
          </a:solidFill>
          <a:ln w="12700">
            <a:solidFill>
              <a:srgbClr val="EFF6FF">
                <a:alpha val="0"/>
              </a:srgbClr>
            </a:solidFill>
            <a:prstDash val="solid"/>
          </a:ln>
        </p:spPr>
        <p:txBody>
          <a:bodyPr/>
          <a:p/>
        </p:txBody>
      </p:sp>
      <p:sp>
        <p:nvSpPr>
          <p:cNvPr id="8" name="Shape 5"/>
          <p:cNvSpPr/>
          <p:nvPr/>
        </p:nvSpPr>
        <p:spPr>
          <a:xfrm>
            <a:off x="694944" y="1975104"/>
            <a:ext cx="923544" cy="923544"/>
          </a:xfrm>
          <a:prstGeom prst="ellipse">
            <a:avLst/>
          </a:prstGeom>
          <a:solidFill>
            <a:srgbClr val="1D4ED8"/>
          </a:solidFill>
          <a:ln w="12700">
            <a:solidFill>
              <a:srgbClr val="1D4ED8">
                <a:alpha val="0"/>
              </a:srgbClr>
            </a:solidFill>
            <a:prstDash val="solid"/>
          </a:ln>
        </p:spPr>
        <p:txBody>
          <a:bodyPr/>
          <a:p/>
        </p:txBody>
      </p:sp>
      <p:sp>
        <p:nvSpPr>
          <p:cNvPr id="9" name="VECTOR_database_70"/>
          <p:cNvSpPr/>
          <p:nvPr/>
        </p:nvSpPr>
        <p:spPr>
          <a:xfrm>
            <a:off x="694944" y="1975104"/>
            <a:ext cx="923544" cy="923544"/>
          </a:xfrm>
          <a:custGeom>
            <a:avLst/>
            <a:gdLst/>
            <a:ahLst/>
            <a:cxnLst/>
            <a:rect l="0" t="0" r="r" b="b"/>
            <a:pathLst>
              <a:path w="100000" h="100000" fill="norm" stroke="false" extrusionOk="false">
                <a:moveTo>
                  <a:pt x="41154" y="22308"/>
                </a:moveTo>
                <a:lnTo>
                  <a:pt x="41538" y="21923"/>
                </a:lnTo>
                <a:lnTo>
                  <a:pt x="53846" y="21923"/>
                </a:lnTo>
                <a:lnTo>
                  <a:pt x="54231" y="22308"/>
                </a:lnTo>
                <a:lnTo>
                  <a:pt x="54615" y="22692"/>
                </a:lnTo>
                <a:lnTo>
                  <a:pt x="58462" y="22692"/>
                </a:lnTo>
                <a:lnTo>
                  <a:pt x="58846" y="23077"/>
                </a:lnTo>
                <a:lnTo>
                  <a:pt x="59231" y="23462"/>
                </a:lnTo>
                <a:lnTo>
                  <a:pt x="60000" y="23462"/>
                </a:lnTo>
                <a:lnTo>
                  <a:pt x="60769" y="23462"/>
                </a:lnTo>
                <a:lnTo>
                  <a:pt x="62308" y="24231"/>
                </a:lnTo>
                <a:lnTo>
                  <a:pt x="65769" y="27692"/>
                </a:lnTo>
                <a:lnTo>
                  <a:pt x="65769" y="63077"/>
                </a:lnTo>
                <a:lnTo>
                  <a:pt x="63077" y="65769"/>
                </a:lnTo>
                <a:lnTo>
                  <a:pt x="60000" y="67308"/>
                </a:lnTo>
                <a:lnTo>
                  <a:pt x="52308" y="68846"/>
                </a:lnTo>
                <a:lnTo>
                  <a:pt x="40769" y="68846"/>
                </a:lnTo>
                <a:lnTo>
                  <a:pt x="40385" y="68462"/>
                </a:lnTo>
                <a:lnTo>
                  <a:pt x="40000" y="68077"/>
                </a:lnTo>
                <a:lnTo>
                  <a:pt x="36923" y="68077"/>
                </a:lnTo>
                <a:lnTo>
                  <a:pt x="36538" y="67692"/>
                </a:lnTo>
                <a:lnTo>
                  <a:pt x="36154" y="67308"/>
                </a:lnTo>
                <a:lnTo>
                  <a:pt x="35385" y="67308"/>
                </a:lnTo>
                <a:lnTo>
                  <a:pt x="34615" y="67308"/>
                </a:lnTo>
                <a:lnTo>
                  <a:pt x="31538" y="65769"/>
                </a:lnTo>
                <a:lnTo>
                  <a:pt x="28846" y="63077"/>
                </a:lnTo>
                <a:lnTo>
                  <a:pt x="28846" y="55385"/>
                </a:lnTo>
                <a:lnTo>
                  <a:pt x="29231" y="55000"/>
                </a:lnTo>
                <a:lnTo>
                  <a:pt x="29615" y="54615"/>
                </a:lnTo>
                <a:lnTo>
                  <a:pt x="28846" y="53077"/>
                </a:lnTo>
                <a:lnTo>
                  <a:pt x="28846" y="46923"/>
                </a:lnTo>
                <a:lnTo>
                  <a:pt x="29231" y="46538"/>
                </a:lnTo>
                <a:lnTo>
                  <a:pt x="29615" y="46154"/>
                </a:lnTo>
                <a:lnTo>
                  <a:pt x="29615" y="43846"/>
                </a:lnTo>
                <a:lnTo>
                  <a:pt x="29231" y="43462"/>
                </a:lnTo>
                <a:lnTo>
                  <a:pt x="28846" y="43077"/>
                </a:lnTo>
                <a:lnTo>
                  <a:pt x="28846" y="28462"/>
                </a:lnTo>
                <a:lnTo>
                  <a:pt x="31538" y="25000"/>
                </a:lnTo>
                <a:lnTo>
                  <a:pt x="34615" y="23462"/>
                </a:lnTo>
                <a:lnTo>
                  <a:pt x="35385" y="23462"/>
                </a:lnTo>
                <a:lnTo>
                  <a:pt x="36154" y="23462"/>
                </a:lnTo>
                <a:lnTo>
                  <a:pt x="36538" y="23077"/>
                </a:lnTo>
                <a:lnTo>
                  <a:pt x="36923" y="22692"/>
                </a:lnTo>
                <a:lnTo>
                  <a:pt x="40769" y="22692"/>
                </a:lnTo>
                <a:lnTo>
                  <a:pt x="41154" y="22308"/>
                </a:lnTo>
                <a:close/>
                <a:moveTo>
                  <a:pt x="40769" y="24231"/>
                </a:moveTo>
                <a:lnTo>
                  <a:pt x="40385" y="24615"/>
                </a:lnTo>
                <a:lnTo>
                  <a:pt x="40000" y="25000"/>
                </a:lnTo>
                <a:lnTo>
                  <a:pt x="37692" y="25000"/>
                </a:lnTo>
                <a:lnTo>
                  <a:pt x="37308" y="25385"/>
                </a:lnTo>
                <a:lnTo>
                  <a:pt x="36923" y="25769"/>
                </a:lnTo>
                <a:lnTo>
                  <a:pt x="36154" y="25769"/>
                </a:lnTo>
                <a:lnTo>
                  <a:pt x="35385" y="25769"/>
                </a:lnTo>
                <a:lnTo>
                  <a:pt x="33846" y="26538"/>
                </a:lnTo>
                <a:lnTo>
                  <a:pt x="31154" y="29231"/>
                </a:lnTo>
                <a:lnTo>
                  <a:pt x="31154" y="30000"/>
                </a:lnTo>
                <a:lnTo>
                  <a:pt x="31154" y="30769"/>
                </a:lnTo>
                <a:lnTo>
                  <a:pt x="33846" y="33462"/>
                </a:lnTo>
                <a:lnTo>
                  <a:pt x="35385" y="34231"/>
                </a:lnTo>
                <a:lnTo>
                  <a:pt x="36154" y="34231"/>
                </a:lnTo>
                <a:lnTo>
                  <a:pt x="36923" y="34231"/>
                </a:lnTo>
                <a:lnTo>
                  <a:pt x="37308" y="34615"/>
                </a:lnTo>
                <a:lnTo>
                  <a:pt x="37692" y="35000"/>
                </a:lnTo>
                <a:lnTo>
                  <a:pt x="40000" y="35000"/>
                </a:lnTo>
                <a:lnTo>
                  <a:pt x="40385" y="35385"/>
                </a:lnTo>
                <a:lnTo>
                  <a:pt x="40769" y="35769"/>
                </a:lnTo>
                <a:lnTo>
                  <a:pt x="53077" y="35769"/>
                </a:lnTo>
                <a:lnTo>
                  <a:pt x="53462" y="35385"/>
                </a:lnTo>
                <a:lnTo>
                  <a:pt x="56923" y="35000"/>
                </a:lnTo>
                <a:lnTo>
                  <a:pt x="57308" y="34615"/>
                </a:lnTo>
                <a:lnTo>
                  <a:pt x="57692" y="34231"/>
                </a:lnTo>
                <a:lnTo>
                  <a:pt x="58462" y="34231"/>
                </a:lnTo>
                <a:lnTo>
                  <a:pt x="59231" y="34231"/>
                </a:lnTo>
                <a:lnTo>
                  <a:pt x="62308" y="32692"/>
                </a:lnTo>
                <a:lnTo>
                  <a:pt x="63462" y="31538"/>
                </a:lnTo>
                <a:lnTo>
                  <a:pt x="63462" y="28462"/>
                </a:lnTo>
                <a:lnTo>
                  <a:pt x="62308" y="27308"/>
                </a:lnTo>
                <a:lnTo>
                  <a:pt x="59231" y="25769"/>
                </a:lnTo>
                <a:lnTo>
                  <a:pt x="58462" y="25769"/>
                </a:lnTo>
                <a:lnTo>
                  <a:pt x="57692" y="25769"/>
                </a:lnTo>
                <a:lnTo>
                  <a:pt x="57308" y="25385"/>
                </a:lnTo>
                <a:lnTo>
                  <a:pt x="56923" y="25000"/>
                </a:lnTo>
                <a:lnTo>
                  <a:pt x="54615" y="25000"/>
                </a:lnTo>
                <a:lnTo>
                  <a:pt x="54231" y="24615"/>
                </a:lnTo>
                <a:lnTo>
                  <a:pt x="53846" y="24231"/>
                </a:lnTo>
                <a:lnTo>
                  <a:pt x="40769" y="24231"/>
                </a:lnTo>
                <a:close/>
                <a:moveTo>
                  <a:pt x="31538" y="35000"/>
                </a:moveTo>
                <a:lnTo>
                  <a:pt x="31154" y="35385"/>
                </a:lnTo>
                <a:lnTo>
                  <a:pt x="31154" y="41538"/>
                </a:lnTo>
                <a:lnTo>
                  <a:pt x="34615" y="44231"/>
                </a:lnTo>
                <a:lnTo>
                  <a:pt x="35385" y="44231"/>
                </a:lnTo>
                <a:lnTo>
                  <a:pt x="36154" y="44231"/>
                </a:lnTo>
                <a:lnTo>
                  <a:pt x="36538" y="44615"/>
                </a:lnTo>
                <a:lnTo>
                  <a:pt x="36923" y="45000"/>
                </a:lnTo>
                <a:lnTo>
                  <a:pt x="40000" y="45000"/>
                </a:lnTo>
                <a:lnTo>
                  <a:pt x="40385" y="45385"/>
                </a:lnTo>
                <a:lnTo>
                  <a:pt x="40769" y="45769"/>
                </a:lnTo>
                <a:lnTo>
                  <a:pt x="53846" y="45769"/>
                </a:lnTo>
                <a:lnTo>
                  <a:pt x="54231" y="45385"/>
                </a:lnTo>
                <a:lnTo>
                  <a:pt x="54615" y="45000"/>
                </a:lnTo>
                <a:lnTo>
                  <a:pt x="56923" y="45000"/>
                </a:lnTo>
                <a:lnTo>
                  <a:pt x="57308" y="44615"/>
                </a:lnTo>
                <a:lnTo>
                  <a:pt x="57692" y="44231"/>
                </a:lnTo>
                <a:lnTo>
                  <a:pt x="58462" y="44231"/>
                </a:lnTo>
                <a:lnTo>
                  <a:pt x="59231" y="44231"/>
                </a:lnTo>
                <a:lnTo>
                  <a:pt x="62308" y="42692"/>
                </a:lnTo>
                <a:lnTo>
                  <a:pt x="63462" y="41538"/>
                </a:lnTo>
                <a:lnTo>
                  <a:pt x="63462" y="40769"/>
                </a:lnTo>
                <a:lnTo>
                  <a:pt x="63462" y="40000"/>
                </a:lnTo>
                <a:lnTo>
                  <a:pt x="63462" y="35385"/>
                </a:lnTo>
                <a:lnTo>
                  <a:pt x="63077" y="35000"/>
                </a:lnTo>
                <a:lnTo>
                  <a:pt x="61538" y="35769"/>
                </a:lnTo>
                <a:lnTo>
                  <a:pt x="60769" y="35769"/>
                </a:lnTo>
                <a:lnTo>
                  <a:pt x="60000" y="35769"/>
                </a:lnTo>
                <a:lnTo>
                  <a:pt x="59615" y="36154"/>
                </a:lnTo>
                <a:lnTo>
                  <a:pt x="59231" y="36538"/>
                </a:lnTo>
                <a:lnTo>
                  <a:pt x="58462" y="36538"/>
                </a:lnTo>
                <a:lnTo>
                  <a:pt x="57692" y="36538"/>
                </a:lnTo>
                <a:lnTo>
                  <a:pt x="57308" y="36923"/>
                </a:lnTo>
                <a:lnTo>
                  <a:pt x="56923" y="37308"/>
                </a:lnTo>
                <a:lnTo>
                  <a:pt x="56154" y="37308"/>
                </a:lnTo>
                <a:lnTo>
                  <a:pt x="55385" y="37308"/>
                </a:lnTo>
                <a:lnTo>
                  <a:pt x="55000" y="37692"/>
                </a:lnTo>
                <a:lnTo>
                  <a:pt x="54615" y="38077"/>
                </a:lnTo>
                <a:lnTo>
                  <a:pt x="49231" y="38077"/>
                </a:lnTo>
                <a:lnTo>
                  <a:pt x="47308" y="39231"/>
                </a:lnTo>
                <a:lnTo>
                  <a:pt x="46923" y="41154"/>
                </a:lnTo>
                <a:lnTo>
                  <a:pt x="46538" y="39231"/>
                </a:lnTo>
                <a:lnTo>
                  <a:pt x="45385" y="38077"/>
                </a:lnTo>
                <a:lnTo>
                  <a:pt x="40000" y="38077"/>
                </a:lnTo>
                <a:lnTo>
                  <a:pt x="39615" y="37692"/>
                </a:lnTo>
                <a:lnTo>
                  <a:pt x="39231" y="37308"/>
                </a:lnTo>
                <a:lnTo>
                  <a:pt x="36923" y="37308"/>
                </a:lnTo>
                <a:lnTo>
                  <a:pt x="36538" y="36923"/>
                </a:lnTo>
                <a:lnTo>
                  <a:pt x="36154" y="36538"/>
                </a:lnTo>
                <a:lnTo>
                  <a:pt x="35385" y="36538"/>
                </a:lnTo>
                <a:lnTo>
                  <a:pt x="34615" y="36538"/>
                </a:lnTo>
                <a:lnTo>
                  <a:pt x="31538" y="35000"/>
                </a:lnTo>
                <a:close/>
                <a:moveTo>
                  <a:pt x="32308" y="45000"/>
                </a:moveTo>
                <a:lnTo>
                  <a:pt x="31154" y="46154"/>
                </a:lnTo>
                <a:lnTo>
                  <a:pt x="31154" y="51538"/>
                </a:lnTo>
                <a:lnTo>
                  <a:pt x="32308" y="52692"/>
                </a:lnTo>
                <a:lnTo>
                  <a:pt x="35385" y="54231"/>
                </a:lnTo>
                <a:lnTo>
                  <a:pt x="36154" y="54231"/>
                </a:lnTo>
                <a:lnTo>
                  <a:pt x="36923" y="54231"/>
                </a:lnTo>
                <a:lnTo>
                  <a:pt x="40000" y="55769"/>
                </a:lnTo>
                <a:lnTo>
                  <a:pt x="54615" y="55769"/>
                </a:lnTo>
                <a:lnTo>
                  <a:pt x="55000" y="55385"/>
                </a:lnTo>
                <a:lnTo>
                  <a:pt x="55385" y="55000"/>
                </a:lnTo>
                <a:lnTo>
                  <a:pt x="58462" y="55000"/>
                </a:lnTo>
                <a:lnTo>
                  <a:pt x="62308" y="52692"/>
                </a:lnTo>
                <a:lnTo>
                  <a:pt x="63077" y="52692"/>
                </a:lnTo>
                <a:lnTo>
                  <a:pt x="63462" y="52308"/>
                </a:lnTo>
                <a:lnTo>
                  <a:pt x="63462" y="45385"/>
                </a:lnTo>
                <a:lnTo>
                  <a:pt x="63077" y="45000"/>
                </a:lnTo>
                <a:lnTo>
                  <a:pt x="60000" y="46538"/>
                </a:lnTo>
                <a:lnTo>
                  <a:pt x="56154" y="47308"/>
                </a:lnTo>
                <a:lnTo>
                  <a:pt x="55769" y="47692"/>
                </a:lnTo>
                <a:lnTo>
                  <a:pt x="55385" y="48077"/>
                </a:lnTo>
                <a:lnTo>
                  <a:pt x="39231" y="48077"/>
                </a:lnTo>
                <a:lnTo>
                  <a:pt x="38846" y="47692"/>
                </a:lnTo>
                <a:lnTo>
                  <a:pt x="38462" y="47308"/>
                </a:lnTo>
                <a:lnTo>
                  <a:pt x="37692" y="47308"/>
                </a:lnTo>
                <a:lnTo>
                  <a:pt x="36923" y="47308"/>
                </a:lnTo>
                <a:lnTo>
                  <a:pt x="32308" y="45000"/>
                </a:lnTo>
                <a:close/>
                <a:moveTo>
                  <a:pt x="62308" y="55000"/>
                </a:moveTo>
                <a:lnTo>
                  <a:pt x="60769" y="56538"/>
                </a:lnTo>
                <a:lnTo>
                  <a:pt x="60000" y="56538"/>
                </a:lnTo>
                <a:lnTo>
                  <a:pt x="59231" y="56538"/>
                </a:lnTo>
                <a:lnTo>
                  <a:pt x="58846" y="56923"/>
                </a:lnTo>
                <a:lnTo>
                  <a:pt x="58462" y="57308"/>
                </a:lnTo>
                <a:lnTo>
                  <a:pt x="56154" y="57308"/>
                </a:lnTo>
                <a:lnTo>
                  <a:pt x="53077" y="58846"/>
                </a:lnTo>
                <a:lnTo>
                  <a:pt x="52692" y="58462"/>
                </a:lnTo>
                <a:lnTo>
                  <a:pt x="52308" y="58077"/>
                </a:lnTo>
                <a:lnTo>
                  <a:pt x="50000" y="58077"/>
                </a:lnTo>
                <a:lnTo>
                  <a:pt x="48462" y="58846"/>
                </a:lnTo>
                <a:lnTo>
                  <a:pt x="47692" y="60385"/>
                </a:lnTo>
                <a:lnTo>
                  <a:pt x="45385" y="58077"/>
                </a:lnTo>
                <a:lnTo>
                  <a:pt x="40000" y="58077"/>
                </a:lnTo>
                <a:lnTo>
                  <a:pt x="39615" y="57692"/>
                </a:lnTo>
                <a:lnTo>
                  <a:pt x="39231" y="57308"/>
                </a:lnTo>
                <a:lnTo>
                  <a:pt x="36154" y="57308"/>
                </a:lnTo>
                <a:lnTo>
                  <a:pt x="35769" y="56923"/>
                </a:lnTo>
                <a:lnTo>
                  <a:pt x="35385" y="56538"/>
                </a:lnTo>
                <a:lnTo>
                  <a:pt x="31538" y="55769"/>
                </a:lnTo>
                <a:lnTo>
                  <a:pt x="31154" y="56154"/>
                </a:lnTo>
                <a:lnTo>
                  <a:pt x="31154" y="61538"/>
                </a:lnTo>
                <a:lnTo>
                  <a:pt x="31538" y="61923"/>
                </a:lnTo>
                <a:lnTo>
                  <a:pt x="33846" y="64231"/>
                </a:lnTo>
                <a:lnTo>
                  <a:pt x="35385" y="65000"/>
                </a:lnTo>
                <a:lnTo>
                  <a:pt x="37692" y="65000"/>
                </a:lnTo>
                <a:lnTo>
                  <a:pt x="38077" y="65385"/>
                </a:lnTo>
                <a:lnTo>
                  <a:pt x="38462" y="65769"/>
                </a:lnTo>
                <a:lnTo>
                  <a:pt x="43077" y="65769"/>
                </a:lnTo>
                <a:lnTo>
                  <a:pt x="43462" y="66154"/>
                </a:lnTo>
                <a:lnTo>
                  <a:pt x="43846" y="66538"/>
                </a:lnTo>
                <a:lnTo>
                  <a:pt x="51538" y="66538"/>
                </a:lnTo>
                <a:lnTo>
                  <a:pt x="51923" y="66154"/>
                </a:lnTo>
                <a:lnTo>
                  <a:pt x="52308" y="65769"/>
                </a:lnTo>
                <a:lnTo>
                  <a:pt x="56923" y="65769"/>
                </a:lnTo>
                <a:lnTo>
                  <a:pt x="57308" y="65385"/>
                </a:lnTo>
                <a:lnTo>
                  <a:pt x="57692" y="65000"/>
                </a:lnTo>
                <a:lnTo>
                  <a:pt x="58462" y="65000"/>
                </a:lnTo>
                <a:lnTo>
                  <a:pt x="59231" y="65000"/>
                </a:lnTo>
                <a:lnTo>
                  <a:pt x="62308" y="63462"/>
                </a:lnTo>
                <a:lnTo>
                  <a:pt x="63462" y="62308"/>
                </a:lnTo>
                <a:lnTo>
                  <a:pt x="63462" y="55385"/>
                </a:lnTo>
                <a:lnTo>
                  <a:pt x="63077" y="55000"/>
                </a:lnTo>
                <a:lnTo>
                  <a:pt x="62308" y="55000"/>
                </a:lnTo>
                <a:close/>
              </a:path>
            </a:pathLst>
          </a:custGeom>
          <a:solidFill>
            <a:srgbClr val="FFFFFF"/>
          </a:solidFill>
          <a:ln>
            <a:noFill/>
          </a:ln>
        </p:spPr>
        <p:txBody>
          <a:bodyPr/>
          <a:p/>
        </p:txBody>
      </p:sp>
      <p:sp>
        <p:nvSpPr>
          <p:cNvPr id="10" name="Text 7"/>
          <p:cNvSpPr/>
          <p:nvPr/>
        </p:nvSpPr>
        <p:spPr>
          <a:xfrm>
            <a:off x="1920240" y="1993392"/>
            <a:ext cx="2532888" cy="246888"/>
          </a:xfrm>
          <a:prstGeom prst="rect">
            <a:avLst/>
          </a:prstGeom>
          <a:noFill/>
          <a:ln/>
        </p:spPr>
        <p:txBody>
          <a:bodyPr wrap="square" lIns="0" tIns="0" rIns="0" bIns="0" rtlCol="0" anchor="ctr"/>
          <a:lstStyle/>
          <a:p>
            <a:pPr indent="0" marL="0">
              <a:buNone/>
            </a:pPr>
            <a:r>
              <a:rPr lang="en-US" sz="1500" b="1" dirty="0">
                <a:solidFill>
                  <a:srgbClr val="1D4ED8"/>
                </a:solidFill>
                <a:latin typeface="Aptos" pitchFamily="34" charset="0"/>
                <a:ea typeface="Segoe UI" pitchFamily="34" charset="-122"/>
                <a:cs typeface="Segoe UI" pitchFamily="34" charset="-120"/>
              </a:rPr>
              <a:t>Données</a:t>
            </a:r>
            <a:endParaRPr lang="en-US" sz="1500" dirty="0"/>
          </a:p>
        </p:txBody>
      </p:sp>
      <p:sp>
        <p:nvSpPr>
          <p:cNvPr id="11" name="Text 8"/>
          <p:cNvSpPr/>
          <p:nvPr/>
        </p:nvSpPr>
        <p:spPr>
          <a:xfrm>
            <a:off x="1920240" y="2368296"/>
            <a:ext cx="9390888" cy="329184"/>
          </a:xfrm>
          <a:prstGeom prst="rect">
            <a:avLst/>
          </a:prstGeom>
          <a:noFill/>
          <a:ln/>
        </p:spPr>
        <p:txBody>
          <a:bodyPr wrap="square" lIns="0" tIns="0" rIns="0" bIns="0" rtlCol="0" anchor="ctr"/>
          <a:lstStyle/>
          <a:p>
            <a:pPr indent="0" marL="0">
              <a:buNone/>
            </a:pPr>
            <a:r>
              <a:rPr lang="en-US" sz="2500" b="1" dirty="0">
                <a:solidFill>
                  <a:srgbClr val="17324D"/>
                </a:solidFill>
                <a:latin typeface="Aptos" pitchFamily="34" charset="0"/>
                <a:ea typeface="Segoe UI" pitchFamily="34" charset="-122"/>
                <a:cs typeface="Segoe UI" pitchFamily="34" charset="-120"/>
              </a:rPr>
              <a:t>Customer Personality Analysis</a:t>
            </a:r>
            <a:endParaRPr lang="en-US" sz="2500" dirty="0"/>
          </a:p>
        </p:txBody>
      </p:sp>
      <p:sp>
        <p:nvSpPr>
          <p:cNvPr id="12" name="Text 9"/>
          <p:cNvSpPr/>
          <p:nvPr/>
        </p:nvSpPr>
        <p:spPr>
          <a:xfrm>
            <a:off x="1920240" y="2770632"/>
            <a:ext cx="9326880" cy="219456"/>
          </a:xfrm>
          <a:prstGeom prst="rect">
            <a:avLst/>
          </a:prstGeom>
          <a:noFill/>
          <a:ln/>
        </p:spPr>
        <p:txBody>
          <a:bodyPr wrap="square" lIns="0" tIns="0" rIns="0" bIns="0" rtlCol="0" anchor="ctr"/>
          <a:lstStyle/>
          <a:p>
            <a:pPr indent="0" marL="0">
              <a:buNone/>
            </a:pPr>
            <a:r>
              <a:rPr lang="en-US" sz="1500" dirty="0">
                <a:solidFill>
                  <a:srgbClr val="334155"/>
                </a:solidFill>
                <a:latin typeface="Aptos" pitchFamily="34" charset="0"/>
                <a:ea typeface="Segoe UI" pitchFamily="34" charset="-122"/>
                <a:cs typeface="Segoe UI" pitchFamily="34" charset="-120"/>
              </a:rPr>
              <a:t>Dataset public Kaggle, par Akash Patel.</a:t>
            </a:r>
            <a:endParaRPr lang="en-US" sz="1500" dirty="0"/>
          </a:p>
        </p:txBody>
      </p:sp>
      <p:sp>
        <p:nvSpPr>
          <p:cNvPr id="13" name="Shape 10"/>
          <p:cNvSpPr/>
          <p:nvPr/>
        </p:nvSpPr>
        <p:spPr>
          <a:xfrm>
            <a:off x="466344" y="3300984"/>
            <a:ext cx="11201400" cy="1316736"/>
          </a:xfrm>
          <a:prstGeom prst="roundRect">
            <a:avLst>
              <a:gd name="adj" fmla="val 9722"/>
            </a:avLst>
          </a:prstGeom>
          <a:solidFill>
            <a:srgbClr val="F0FDFA"/>
          </a:solidFill>
          <a:ln w="12700">
            <a:solidFill>
              <a:srgbClr val="F0FDFA">
                <a:alpha val="0"/>
              </a:srgbClr>
            </a:solidFill>
            <a:prstDash val="solid"/>
          </a:ln>
        </p:spPr>
        <p:txBody>
          <a:bodyPr/>
          <a:p/>
        </p:txBody>
      </p:sp>
      <p:sp>
        <p:nvSpPr>
          <p:cNvPr id="14" name="Shape 11"/>
          <p:cNvSpPr/>
          <p:nvPr/>
        </p:nvSpPr>
        <p:spPr>
          <a:xfrm>
            <a:off x="694944" y="3493008"/>
            <a:ext cx="923544" cy="923544"/>
          </a:xfrm>
          <a:prstGeom prst="ellipse">
            <a:avLst/>
          </a:prstGeom>
          <a:solidFill>
            <a:srgbClr val="0F766E"/>
          </a:solidFill>
          <a:ln w="12700">
            <a:solidFill>
              <a:srgbClr val="0F766E">
                <a:alpha val="0"/>
              </a:srgbClr>
            </a:solidFill>
            <a:prstDash val="solid"/>
          </a:ln>
        </p:spPr>
        <p:txBody>
          <a:bodyPr/>
          <a:p/>
        </p:txBody>
      </p:sp>
      <p:sp>
        <p:nvSpPr>
          <p:cNvPr id="15" name="VECTOR_document_71"/>
          <p:cNvSpPr/>
          <p:nvPr/>
        </p:nvSpPr>
        <p:spPr>
          <a:xfrm>
            <a:off x="694944" y="3493008"/>
            <a:ext cx="923544" cy="923544"/>
          </a:xfrm>
          <a:custGeom>
            <a:avLst/>
            <a:gdLst/>
            <a:ahLst/>
            <a:cxnLst/>
            <a:rect l="0" t="0" r="r" b="b"/>
            <a:pathLst>
              <a:path w="100000" h="100000" fill="norm" stroke="false" extrusionOk="false">
                <a:moveTo>
                  <a:pt x="39286" y="25325"/>
                </a:moveTo>
                <a:lnTo>
                  <a:pt x="39610" y="25000"/>
                </a:lnTo>
                <a:lnTo>
                  <a:pt x="49351" y="25000"/>
                </a:lnTo>
                <a:lnTo>
                  <a:pt x="49675" y="25325"/>
                </a:lnTo>
                <a:lnTo>
                  <a:pt x="50000" y="25649"/>
                </a:lnTo>
                <a:lnTo>
                  <a:pt x="60390" y="25649"/>
                </a:lnTo>
                <a:lnTo>
                  <a:pt x="73052" y="38312"/>
                </a:lnTo>
                <a:lnTo>
                  <a:pt x="73701" y="39610"/>
                </a:lnTo>
                <a:lnTo>
                  <a:pt x="73701" y="72727"/>
                </a:lnTo>
                <a:lnTo>
                  <a:pt x="73052" y="74026"/>
                </a:lnTo>
                <a:lnTo>
                  <a:pt x="70779" y="76299"/>
                </a:lnTo>
                <a:lnTo>
                  <a:pt x="69156" y="76623"/>
                </a:lnTo>
                <a:lnTo>
                  <a:pt x="68831" y="76948"/>
                </a:lnTo>
                <a:lnTo>
                  <a:pt x="39610" y="76948"/>
                </a:lnTo>
                <a:lnTo>
                  <a:pt x="39286" y="76623"/>
                </a:lnTo>
                <a:lnTo>
                  <a:pt x="38961" y="76299"/>
                </a:lnTo>
                <a:lnTo>
                  <a:pt x="38312" y="76299"/>
                </a:lnTo>
                <a:lnTo>
                  <a:pt x="37662" y="76299"/>
                </a:lnTo>
                <a:lnTo>
                  <a:pt x="35390" y="74026"/>
                </a:lnTo>
                <a:lnTo>
                  <a:pt x="34740" y="72727"/>
                </a:lnTo>
                <a:lnTo>
                  <a:pt x="34740" y="29221"/>
                </a:lnTo>
                <a:lnTo>
                  <a:pt x="35390" y="27922"/>
                </a:lnTo>
                <a:lnTo>
                  <a:pt x="37662" y="25649"/>
                </a:lnTo>
                <a:lnTo>
                  <a:pt x="39286" y="25325"/>
                </a:lnTo>
                <a:close/>
                <a:moveTo>
                  <a:pt x="39610" y="28247"/>
                </a:moveTo>
                <a:lnTo>
                  <a:pt x="37987" y="29870"/>
                </a:lnTo>
                <a:lnTo>
                  <a:pt x="37987" y="72078"/>
                </a:lnTo>
                <a:lnTo>
                  <a:pt x="39610" y="73701"/>
                </a:lnTo>
                <a:lnTo>
                  <a:pt x="68831" y="73701"/>
                </a:lnTo>
                <a:lnTo>
                  <a:pt x="70455" y="72078"/>
                </a:lnTo>
                <a:lnTo>
                  <a:pt x="70455" y="41558"/>
                </a:lnTo>
                <a:lnTo>
                  <a:pt x="70130" y="41234"/>
                </a:lnTo>
                <a:lnTo>
                  <a:pt x="60390" y="41234"/>
                </a:lnTo>
                <a:lnTo>
                  <a:pt x="58117" y="38961"/>
                </a:lnTo>
                <a:lnTo>
                  <a:pt x="58117" y="29221"/>
                </a:lnTo>
                <a:lnTo>
                  <a:pt x="57143" y="28247"/>
                </a:lnTo>
                <a:lnTo>
                  <a:pt x="39610" y="28247"/>
                </a:lnTo>
                <a:close/>
                <a:moveTo>
                  <a:pt x="61039" y="30844"/>
                </a:moveTo>
                <a:lnTo>
                  <a:pt x="60714" y="31169"/>
                </a:lnTo>
                <a:lnTo>
                  <a:pt x="60714" y="37013"/>
                </a:lnTo>
                <a:lnTo>
                  <a:pt x="61688" y="37987"/>
                </a:lnTo>
                <a:lnTo>
                  <a:pt x="67532" y="37987"/>
                </a:lnTo>
                <a:lnTo>
                  <a:pt x="67857" y="37662"/>
                </a:lnTo>
                <a:lnTo>
                  <a:pt x="67857" y="37013"/>
                </a:lnTo>
                <a:lnTo>
                  <a:pt x="67532" y="36688"/>
                </a:lnTo>
                <a:lnTo>
                  <a:pt x="66883" y="36688"/>
                </a:lnTo>
                <a:lnTo>
                  <a:pt x="66558" y="36364"/>
                </a:lnTo>
                <a:lnTo>
                  <a:pt x="66558" y="35714"/>
                </a:lnTo>
                <a:lnTo>
                  <a:pt x="61688" y="30844"/>
                </a:lnTo>
                <a:lnTo>
                  <a:pt x="61039" y="30844"/>
                </a:lnTo>
                <a:close/>
                <a:moveTo>
                  <a:pt x="45130" y="47403"/>
                </a:moveTo>
                <a:lnTo>
                  <a:pt x="45455" y="47078"/>
                </a:lnTo>
                <a:lnTo>
                  <a:pt x="62338" y="47078"/>
                </a:lnTo>
                <a:lnTo>
                  <a:pt x="63961" y="48701"/>
                </a:lnTo>
                <a:lnTo>
                  <a:pt x="63961" y="49351"/>
                </a:lnTo>
                <a:lnTo>
                  <a:pt x="62987" y="50325"/>
                </a:lnTo>
                <a:lnTo>
                  <a:pt x="46753" y="50325"/>
                </a:lnTo>
                <a:lnTo>
                  <a:pt x="46429" y="50649"/>
                </a:lnTo>
                <a:lnTo>
                  <a:pt x="46104" y="50974"/>
                </a:lnTo>
                <a:lnTo>
                  <a:pt x="44481" y="50000"/>
                </a:lnTo>
                <a:lnTo>
                  <a:pt x="44481" y="48052"/>
                </a:lnTo>
                <a:lnTo>
                  <a:pt x="44805" y="47727"/>
                </a:lnTo>
                <a:lnTo>
                  <a:pt x="45130" y="47403"/>
                </a:lnTo>
                <a:close/>
                <a:moveTo>
                  <a:pt x="44481" y="55844"/>
                </a:moveTo>
                <a:lnTo>
                  <a:pt x="44805" y="55519"/>
                </a:lnTo>
                <a:lnTo>
                  <a:pt x="62987" y="55519"/>
                </a:lnTo>
                <a:lnTo>
                  <a:pt x="63961" y="56494"/>
                </a:lnTo>
                <a:lnTo>
                  <a:pt x="63961" y="57143"/>
                </a:lnTo>
                <a:lnTo>
                  <a:pt x="62987" y="58117"/>
                </a:lnTo>
                <a:lnTo>
                  <a:pt x="62662" y="58442"/>
                </a:lnTo>
                <a:lnTo>
                  <a:pt x="62338" y="58766"/>
                </a:lnTo>
                <a:lnTo>
                  <a:pt x="45455" y="58766"/>
                </a:lnTo>
                <a:lnTo>
                  <a:pt x="43831" y="57143"/>
                </a:lnTo>
                <a:lnTo>
                  <a:pt x="44481" y="55844"/>
                </a:lnTo>
                <a:close/>
                <a:moveTo>
                  <a:pt x="45130" y="63636"/>
                </a:moveTo>
                <a:lnTo>
                  <a:pt x="45455" y="63312"/>
                </a:lnTo>
                <a:lnTo>
                  <a:pt x="55195" y="63312"/>
                </a:lnTo>
                <a:lnTo>
                  <a:pt x="56169" y="64286"/>
                </a:lnTo>
                <a:lnTo>
                  <a:pt x="56169" y="64935"/>
                </a:lnTo>
                <a:lnTo>
                  <a:pt x="56169" y="65584"/>
                </a:lnTo>
                <a:lnTo>
                  <a:pt x="55195" y="66558"/>
                </a:lnTo>
                <a:lnTo>
                  <a:pt x="45455" y="66558"/>
                </a:lnTo>
                <a:lnTo>
                  <a:pt x="43831" y="64935"/>
                </a:lnTo>
                <a:lnTo>
                  <a:pt x="45130" y="63636"/>
                </a:lnTo>
                <a:close/>
              </a:path>
            </a:pathLst>
          </a:custGeom>
          <a:solidFill>
            <a:srgbClr val="FFFFFF"/>
          </a:solidFill>
          <a:ln>
            <a:noFill/>
          </a:ln>
        </p:spPr>
        <p:txBody>
          <a:bodyPr/>
          <a:p/>
        </p:txBody>
      </p:sp>
      <p:sp>
        <p:nvSpPr>
          <p:cNvPr id="16" name="Text 13"/>
          <p:cNvSpPr/>
          <p:nvPr/>
        </p:nvSpPr>
        <p:spPr>
          <a:xfrm>
            <a:off x="1920240" y="3511296"/>
            <a:ext cx="2532888" cy="246888"/>
          </a:xfrm>
          <a:prstGeom prst="rect">
            <a:avLst/>
          </a:prstGeom>
          <a:noFill/>
          <a:ln/>
        </p:spPr>
        <p:txBody>
          <a:bodyPr wrap="square" lIns="0" tIns="0" rIns="0" bIns="0" rtlCol="0" anchor="ctr"/>
          <a:lstStyle/>
          <a:p>
            <a:pPr indent="0" marL="0">
              <a:buNone/>
            </a:pPr>
            <a:r>
              <a:rPr lang="en-US" sz="1500" b="1" dirty="0">
                <a:solidFill>
                  <a:srgbClr val="0F766E"/>
                </a:solidFill>
                <a:latin typeface="Aptos" pitchFamily="34" charset="0"/>
                <a:ea typeface="Segoe UI" pitchFamily="34" charset="-122"/>
                <a:cs typeface="Segoe UI" pitchFamily="34" charset="-120"/>
              </a:rPr>
              <a:t>Démarche de référence</a:t>
            </a:r>
            <a:endParaRPr lang="en-US" sz="1500" dirty="0"/>
          </a:p>
        </p:txBody>
      </p:sp>
      <p:sp>
        <p:nvSpPr>
          <p:cNvPr id="17" name="Text 14"/>
          <p:cNvSpPr/>
          <p:nvPr/>
        </p:nvSpPr>
        <p:spPr>
          <a:xfrm>
            <a:off x="1920240" y="3886200"/>
            <a:ext cx="9390888" cy="329184"/>
          </a:xfrm>
          <a:prstGeom prst="rect">
            <a:avLst/>
          </a:prstGeom>
          <a:noFill/>
          <a:ln/>
        </p:spPr>
        <p:txBody>
          <a:bodyPr wrap="square" lIns="0" tIns="0" rIns="0" bIns="0" rtlCol="0" anchor="ctr"/>
          <a:lstStyle/>
          <a:p>
            <a:pPr indent="0" marL="0">
              <a:buNone/>
            </a:pPr>
            <a:r>
              <a:rPr lang="en-US" sz="2500" b="1" dirty="0">
                <a:solidFill>
                  <a:srgbClr val="17324D"/>
                </a:solidFill>
                <a:latin typeface="Aptos" pitchFamily="34" charset="0"/>
                <a:ea typeface="Segoe UI" pitchFamily="34" charset="-122"/>
                <a:cs typeface="Segoe UI" pitchFamily="34" charset="-120"/>
              </a:rPr>
              <a:t>Customer Segmentation: Clustering</a:t>
            </a:r>
            <a:endParaRPr lang="en-US" sz="2500" dirty="0"/>
          </a:p>
        </p:txBody>
      </p:sp>
      <p:sp>
        <p:nvSpPr>
          <p:cNvPr id="18" name="Text 15"/>
          <p:cNvSpPr/>
          <p:nvPr/>
        </p:nvSpPr>
        <p:spPr>
          <a:xfrm>
            <a:off x="1920240" y="4288536"/>
            <a:ext cx="9326880" cy="219456"/>
          </a:xfrm>
          <a:prstGeom prst="rect">
            <a:avLst/>
          </a:prstGeom>
          <a:noFill/>
          <a:ln/>
        </p:spPr>
        <p:txBody>
          <a:bodyPr wrap="square" lIns="0" tIns="0" rIns="0" bIns="0" rtlCol="0" anchor="ctr"/>
          <a:lstStyle/>
          <a:p>
            <a:pPr indent="0" marL="0">
              <a:buNone/>
            </a:pPr>
            <a:r>
              <a:rPr lang="en-US" sz="1500" dirty="0">
                <a:solidFill>
                  <a:srgbClr val="334155"/>
                </a:solidFill>
                <a:latin typeface="Aptos" pitchFamily="34" charset="0"/>
                <a:ea typeface="Segoe UI" pitchFamily="34" charset="-122"/>
                <a:cs typeface="Segoe UI" pitchFamily="34" charset="-120"/>
              </a:rPr>
              <a:t>Notebook Kaggle de Karnika Kapoor.</a:t>
            </a:r>
            <a:endParaRPr lang="en-US" sz="1500" dirty="0"/>
          </a:p>
        </p:txBody>
      </p:sp>
      <p:sp>
        <p:nvSpPr>
          <p:cNvPr id="19" name="Shape 16"/>
          <p:cNvSpPr/>
          <p:nvPr/>
        </p:nvSpPr>
        <p:spPr>
          <a:xfrm>
            <a:off x="466344" y="4818888"/>
            <a:ext cx="11201400" cy="1316736"/>
          </a:xfrm>
          <a:prstGeom prst="roundRect">
            <a:avLst>
              <a:gd name="adj" fmla="val 9722"/>
            </a:avLst>
          </a:prstGeom>
          <a:solidFill>
            <a:srgbClr val="F3F4F6"/>
          </a:solidFill>
          <a:ln w="12700">
            <a:solidFill>
              <a:srgbClr val="F3F4F6">
                <a:alpha val="0"/>
              </a:srgbClr>
            </a:solidFill>
            <a:prstDash val="solid"/>
          </a:ln>
        </p:spPr>
        <p:txBody>
          <a:bodyPr/>
          <a:p/>
        </p:txBody>
      </p:sp>
      <p:sp>
        <p:nvSpPr>
          <p:cNvPr id="20" name="Shape 17"/>
          <p:cNvSpPr/>
          <p:nvPr/>
        </p:nvSpPr>
        <p:spPr>
          <a:xfrm>
            <a:off x="694944" y="5010912"/>
            <a:ext cx="923544" cy="923544"/>
          </a:xfrm>
          <a:prstGeom prst="ellipse">
            <a:avLst/>
          </a:prstGeom>
          <a:solidFill>
            <a:srgbClr val="6D28D9"/>
          </a:solidFill>
          <a:ln w="12700">
            <a:solidFill>
              <a:srgbClr val="6D28D9">
                <a:alpha val="0"/>
              </a:srgbClr>
            </a:solidFill>
            <a:prstDash val="solid"/>
          </a:ln>
        </p:spPr>
        <p:txBody>
          <a:bodyPr/>
          <a:p/>
        </p:txBody>
      </p:sp>
      <p:sp>
        <p:nvSpPr>
          <p:cNvPr id="21" name="VECTOR_graduation_72"/>
          <p:cNvSpPr/>
          <p:nvPr/>
        </p:nvSpPr>
        <p:spPr>
          <a:xfrm>
            <a:off x="694944" y="5010912"/>
            <a:ext cx="923544" cy="923544"/>
          </a:xfrm>
          <a:custGeom>
            <a:avLst/>
            <a:gdLst/>
            <a:ahLst/>
            <a:cxnLst/>
            <a:rect l="0" t="0" r="r" b="b"/>
            <a:pathLst>
              <a:path w="100000" h="100000" fill="norm" stroke="false" extrusionOk="false">
                <a:moveTo>
                  <a:pt x="45635" y="33333"/>
                </a:moveTo>
                <a:lnTo>
                  <a:pt x="47619" y="32937"/>
                </a:lnTo>
                <a:lnTo>
                  <a:pt x="48016" y="33333"/>
                </a:lnTo>
                <a:lnTo>
                  <a:pt x="48413" y="33730"/>
                </a:lnTo>
                <a:lnTo>
                  <a:pt x="49206" y="33730"/>
                </a:lnTo>
                <a:lnTo>
                  <a:pt x="50000" y="33730"/>
                </a:lnTo>
                <a:lnTo>
                  <a:pt x="55556" y="36905"/>
                </a:lnTo>
                <a:lnTo>
                  <a:pt x="56349" y="36905"/>
                </a:lnTo>
                <a:lnTo>
                  <a:pt x="57143" y="36905"/>
                </a:lnTo>
                <a:lnTo>
                  <a:pt x="73016" y="44841"/>
                </a:lnTo>
                <a:lnTo>
                  <a:pt x="74206" y="46032"/>
                </a:lnTo>
                <a:lnTo>
                  <a:pt x="74206" y="48413"/>
                </a:lnTo>
                <a:lnTo>
                  <a:pt x="73016" y="49603"/>
                </a:lnTo>
                <a:lnTo>
                  <a:pt x="68254" y="51984"/>
                </a:lnTo>
                <a:lnTo>
                  <a:pt x="67460" y="51984"/>
                </a:lnTo>
                <a:lnTo>
                  <a:pt x="66667" y="51984"/>
                </a:lnTo>
                <a:lnTo>
                  <a:pt x="63095" y="53968"/>
                </a:lnTo>
                <a:lnTo>
                  <a:pt x="63095" y="69841"/>
                </a:lnTo>
                <a:lnTo>
                  <a:pt x="62302" y="71429"/>
                </a:lnTo>
                <a:lnTo>
                  <a:pt x="58730" y="74206"/>
                </a:lnTo>
                <a:lnTo>
                  <a:pt x="55556" y="75794"/>
                </a:lnTo>
                <a:lnTo>
                  <a:pt x="54762" y="75794"/>
                </a:lnTo>
                <a:lnTo>
                  <a:pt x="53968" y="75794"/>
                </a:lnTo>
                <a:lnTo>
                  <a:pt x="50794" y="77381"/>
                </a:lnTo>
                <a:lnTo>
                  <a:pt x="48413" y="77381"/>
                </a:lnTo>
                <a:lnTo>
                  <a:pt x="42857" y="77381"/>
                </a:lnTo>
                <a:lnTo>
                  <a:pt x="42460" y="76984"/>
                </a:lnTo>
                <a:lnTo>
                  <a:pt x="42063" y="76587"/>
                </a:lnTo>
                <a:lnTo>
                  <a:pt x="39683" y="76587"/>
                </a:lnTo>
                <a:lnTo>
                  <a:pt x="34921" y="74206"/>
                </a:lnTo>
                <a:lnTo>
                  <a:pt x="31349" y="71429"/>
                </a:lnTo>
                <a:lnTo>
                  <a:pt x="30556" y="69841"/>
                </a:lnTo>
                <a:lnTo>
                  <a:pt x="30556" y="53968"/>
                </a:lnTo>
                <a:lnTo>
                  <a:pt x="21429" y="49603"/>
                </a:lnTo>
                <a:lnTo>
                  <a:pt x="19444" y="47619"/>
                </a:lnTo>
                <a:lnTo>
                  <a:pt x="20635" y="44841"/>
                </a:lnTo>
                <a:lnTo>
                  <a:pt x="23810" y="43254"/>
                </a:lnTo>
                <a:lnTo>
                  <a:pt x="24603" y="43254"/>
                </a:lnTo>
                <a:lnTo>
                  <a:pt x="25397" y="43254"/>
                </a:lnTo>
                <a:lnTo>
                  <a:pt x="42063" y="34524"/>
                </a:lnTo>
                <a:lnTo>
                  <a:pt x="42857" y="34524"/>
                </a:lnTo>
                <a:lnTo>
                  <a:pt x="43651" y="34524"/>
                </a:lnTo>
                <a:lnTo>
                  <a:pt x="45635" y="33333"/>
                </a:lnTo>
                <a:close/>
                <a:moveTo>
                  <a:pt x="45238" y="36905"/>
                </a:moveTo>
                <a:lnTo>
                  <a:pt x="26190" y="46429"/>
                </a:lnTo>
                <a:lnTo>
                  <a:pt x="25794" y="46825"/>
                </a:lnTo>
                <a:lnTo>
                  <a:pt x="25794" y="47619"/>
                </a:lnTo>
                <a:lnTo>
                  <a:pt x="27778" y="48810"/>
                </a:lnTo>
                <a:lnTo>
                  <a:pt x="28571" y="48810"/>
                </a:lnTo>
                <a:lnTo>
                  <a:pt x="29365" y="48810"/>
                </a:lnTo>
                <a:lnTo>
                  <a:pt x="45238" y="56746"/>
                </a:lnTo>
                <a:lnTo>
                  <a:pt x="48810" y="56349"/>
                </a:lnTo>
                <a:lnTo>
                  <a:pt x="50794" y="55952"/>
                </a:lnTo>
                <a:lnTo>
                  <a:pt x="54762" y="53571"/>
                </a:lnTo>
                <a:lnTo>
                  <a:pt x="55556" y="53571"/>
                </a:lnTo>
                <a:lnTo>
                  <a:pt x="56349" y="53571"/>
                </a:lnTo>
                <a:lnTo>
                  <a:pt x="63492" y="49603"/>
                </a:lnTo>
                <a:lnTo>
                  <a:pt x="64286" y="49603"/>
                </a:lnTo>
                <a:lnTo>
                  <a:pt x="65079" y="49603"/>
                </a:lnTo>
                <a:lnTo>
                  <a:pt x="68254" y="48016"/>
                </a:lnTo>
                <a:lnTo>
                  <a:pt x="68651" y="47619"/>
                </a:lnTo>
                <a:lnTo>
                  <a:pt x="68651" y="46825"/>
                </a:lnTo>
                <a:lnTo>
                  <a:pt x="61905" y="43254"/>
                </a:lnTo>
                <a:lnTo>
                  <a:pt x="61111" y="43254"/>
                </a:lnTo>
                <a:lnTo>
                  <a:pt x="60317" y="43254"/>
                </a:lnTo>
                <a:lnTo>
                  <a:pt x="50000" y="37698"/>
                </a:lnTo>
                <a:lnTo>
                  <a:pt x="49206" y="37698"/>
                </a:lnTo>
                <a:lnTo>
                  <a:pt x="48413" y="37698"/>
                </a:lnTo>
                <a:lnTo>
                  <a:pt x="48016" y="37302"/>
                </a:lnTo>
                <a:lnTo>
                  <a:pt x="47619" y="36905"/>
                </a:lnTo>
                <a:lnTo>
                  <a:pt x="45238" y="36905"/>
                </a:lnTo>
                <a:close/>
                <a:moveTo>
                  <a:pt x="34921" y="55952"/>
                </a:moveTo>
                <a:lnTo>
                  <a:pt x="34524" y="56349"/>
                </a:lnTo>
                <a:lnTo>
                  <a:pt x="34524" y="69048"/>
                </a:lnTo>
                <a:lnTo>
                  <a:pt x="36508" y="71032"/>
                </a:lnTo>
                <a:lnTo>
                  <a:pt x="39683" y="72619"/>
                </a:lnTo>
                <a:lnTo>
                  <a:pt x="40476" y="72619"/>
                </a:lnTo>
                <a:lnTo>
                  <a:pt x="41270" y="72619"/>
                </a:lnTo>
                <a:lnTo>
                  <a:pt x="41667" y="73016"/>
                </a:lnTo>
                <a:lnTo>
                  <a:pt x="42063" y="73413"/>
                </a:lnTo>
                <a:lnTo>
                  <a:pt x="51587" y="73413"/>
                </a:lnTo>
                <a:lnTo>
                  <a:pt x="51984" y="73016"/>
                </a:lnTo>
                <a:lnTo>
                  <a:pt x="52381" y="72619"/>
                </a:lnTo>
                <a:lnTo>
                  <a:pt x="53175" y="72619"/>
                </a:lnTo>
                <a:lnTo>
                  <a:pt x="53968" y="72619"/>
                </a:lnTo>
                <a:lnTo>
                  <a:pt x="57143" y="71032"/>
                </a:lnTo>
                <a:lnTo>
                  <a:pt x="59127" y="69048"/>
                </a:lnTo>
                <a:lnTo>
                  <a:pt x="59127" y="56349"/>
                </a:lnTo>
                <a:lnTo>
                  <a:pt x="58730" y="55952"/>
                </a:lnTo>
                <a:lnTo>
                  <a:pt x="49206" y="60714"/>
                </a:lnTo>
                <a:lnTo>
                  <a:pt x="45238" y="60714"/>
                </a:lnTo>
                <a:lnTo>
                  <a:pt x="39683" y="57540"/>
                </a:lnTo>
                <a:lnTo>
                  <a:pt x="38889" y="57540"/>
                </a:lnTo>
                <a:lnTo>
                  <a:pt x="38095" y="57540"/>
                </a:lnTo>
                <a:lnTo>
                  <a:pt x="34921" y="55952"/>
                </a:lnTo>
                <a:close/>
              </a:path>
            </a:pathLst>
          </a:custGeom>
          <a:solidFill>
            <a:srgbClr val="FFFFFF"/>
          </a:solidFill>
          <a:ln>
            <a:noFill/>
          </a:ln>
        </p:spPr>
        <p:txBody>
          <a:bodyPr/>
          <a:p/>
        </p:txBody>
      </p:sp>
      <p:sp>
        <p:nvSpPr>
          <p:cNvPr id="22" name="Text 19"/>
          <p:cNvSpPr/>
          <p:nvPr/>
        </p:nvSpPr>
        <p:spPr>
          <a:xfrm>
            <a:off x="1920240" y="5029200"/>
            <a:ext cx="2532888" cy="246888"/>
          </a:xfrm>
          <a:prstGeom prst="rect">
            <a:avLst/>
          </a:prstGeom>
          <a:noFill/>
          <a:ln/>
        </p:spPr>
        <p:txBody>
          <a:bodyPr wrap="square" lIns="0" tIns="0" rIns="0" bIns="0" rtlCol="0" anchor="ctr"/>
          <a:lstStyle/>
          <a:p>
            <a:pPr indent="0" marL="0">
              <a:buNone/>
            </a:pPr>
            <a:r>
              <a:rPr lang="en-US" sz="1500" b="1" dirty="0">
                <a:solidFill>
                  <a:srgbClr val="6D28D9"/>
                </a:solidFill>
                <a:latin typeface="Aptos" pitchFamily="34" charset="0"/>
                <a:ea typeface="Segoe UI" pitchFamily="34" charset="-122"/>
                <a:cs typeface="Segoe UI" pitchFamily="34" charset="-120"/>
              </a:rPr>
              <a:t>Équipe &amp; cadre académique</a:t>
            </a:r>
            <a:endParaRPr lang="en-US" sz="1500" dirty="0"/>
          </a:p>
        </p:txBody>
      </p:sp>
      <p:sp>
        <p:nvSpPr>
          <p:cNvPr id="23" name="Text 20"/>
          <p:cNvSpPr/>
          <p:nvPr/>
        </p:nvSpPr>
        <p:spPr>
          <a:xfrm>
            <a:off x="1920240" y="5404104"/>
            <a:ext cx="9390888" cy="329184"/>
          </a:xfrm>
          <a:prstGeom prst="rect">
            <a:avLst/>
          </a:prstGeom>
          <a:noFill/>
          <a:ln/>
        </p:spPr>
        <p:txBody>
          <a:bodyPr wrap="square" lIns="0" tIns="0" rIns="0" bIns="0" rtlCol="0" anchor="ctr"/>
          <a:lstStyle/>
          <a:p>
            <a:pPr indent="0" marL="0">
              <a:buNone/>
            </a:pPr>
            <a:r>
              <a:rPr lang="en-US" sz="1800" b="1" dirty="0">
                <a:solidFill>
                  <a:srgbClr val="17324D"/>
                </a:solidFill>
                <a:latin typeface="Aptos" pitchFamily="34" charset="0"/>
                <a:ea typeface="Segoe UI" pitchFamily="34" charset="-122"/>
                <a:cs typeface="Segoe UI" pitchFamily="34" charset="-120"/>
              </a:rPr>
              <a:t>Abdoulaye KONE · N’GUESSAN Kouamé Kan Armand Loïc</a:t>
            </a:r>
            <a:endParaRPr lang="en-US" sz="2500" dirty="0"/>
          </a:p>
        </p:txBody>
      </p:sp>
      <p:sp>
        <p:nvSpPr>
          <p:cNvPr id="24" name="Text 21"/>
          <p:cNvSpPr/>
          <p:nvPr/>
        </p:nvSpPr>
        <p:spPr>
          <a:xfrm>
            <a:off x="1920240" y="5769864"/>
            <a:ext cx="9326880" cy="384048"/>
          </a:xfrm>
          <a:prstGeom prst="rect">
            <a:avLst/>
          </a:prstGeom>
          <a:noFill/>
          <a:ln/>
        </p:spPr>
        <p:txBody>
          <a:bodyPr wrap="square" lIns="0" tIns="0" rIns="0" bIns="0" rtlCol="0" anchor="ctr"/>
          <a:lstStyle/>
          <a:p>
            <a:pPr indent="0" marL="0">
              <a:buNone/>
            </a:pPr>
            <a:r>
              <a:rPr lang="en-US" sz="1200" dirty="0">
                <a:solidFill>
                  <a:srgbClr val="334155"/>
                </a:solidFill>
                <a:latin typeface="Aptos" pitchFamily="34" charset="0"/>
                <a:ea typeface="Segoe UI" pitchFamily="34" charset="-122"/>
                <a:cs typeface="Segoe UI" pitchFamily="34" charset="-120"/>
              </a:rPr>
              <a:t>SAWADOGO Wend-yam Albert · CHEFOUET CHETSONG Ghislain Joël</a:t>
            </a:r>
            <a:endParaRPr lang="en-US" sz="1500" dirty="0"/>
          </a:p>
          <a:p>
            <a:pPr indent="0" marL="0">
              <a:buNone/>
            </a:pPr>
            <a:r>
              <a:rPr lang="en-US" sz="1200" dirty="0">
                <a:solidFill>
                  <a:srgbClr val="334155"/>
                </a:solidFill>
                <a:latin typeface="Aptos" pitchFamily="34" charset="0"/>
                <a:ea typeface="Segoe UI" pitchFamily="34" charset="-122"/>
                <a:cs typeface="Segoe UI" pitchFamily="34" charset="-120"/>
              </a:rPr>
              <a:t>ENSEA Abidjan · Data Mining 2025 · Supervision : M. LALY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ENSEA Abidjan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Segmentation de la clientèle marketing — analyse et profils</dc:title>
  <dc:subject>ACP, clustering Ward, profils descriptifs et hypothèses à tester</dc:subject>
  <dc:creator>Abdoulaye KONE — projet collectif ENSEA</dc:creator>
  <cp:lastModifiedBy>ENSEA Abidjan</cp:lastModifiedBy>
  <cp:revision>1</cp:revision>
  <dcterms:created xsi:type="dcterms:W3CDTF">2026-10-13T01:08:11Z</dcterms:created>
  <dcterms:modified xsi:type="dcterms:W3CDTF">2026-10-13T01:08:11Z</dcterms:modified>
</cp:coreProperties>
</file>